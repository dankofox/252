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49" r:id="rId1"/>
  </p:sldMasterIdLst>
  <p:notesMasterIdLst>
    <p:notesMasterId r:id="rId36"/>
  </p:notesMasterIdLst>
  <p:handoutMasterIdLst>
    <p:handoutMasterId r:id="rId37"/>
  </p:handoutMasterIdLst>
  <p:sldIdLst>
    <p:sldId id="299" r:id="rId2"/>
    <p:sldId id="295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8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22" r:id="rId22"/>
    <p:sldId id="317" r:id="rId23"/>
    <p:sldId id="323" r:id="rId24"/>
    <p:sldId id="324" r:id="rId25"/>
    <p:sldId id="325" r:id="rId26"/>
    <p:sldId id="326" r:id="rId27"/>
    <p:sldId id="319" r:id="rId28"/>
    <p:sldId id="320" r:id="rId29"/>
    <p:sldId id="321" r:id="rId30"/>
    <p:sldId id="327" r:id="rId31"/>
    <p:sldId id="331" r:id="rId32"/>
    <p:sldId id="328" r:id="rId33"/>
    <p:sldId id="329" r:id="rId34"/>
    <p:sldId id="330" r:id="rId35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24D"/>
    <a:srgbClr val="5B86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5904" autoAdjust="0"/>
  </p:normalViewPr>
  <p:slideViewPr>
    <p:cSldViewPr snapToGrid="0" snapToObjects="1">
      <p:cViewPr varScale="1">
        <p:scale>
          <a:sx n="65" d="100"/>
          <a:sy n="65" d="100"/>
        </p:scale>
        <p:origin x="48" y="1411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83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h Nguyen Duc" userId="04a5c95d-4a59-4e21-b199-e9922fb46c5c" providerId="ADAL" clId="{27C2FE8E-341E-4345-8FAE-BAB215747634}"/>
    <pc:docChg chg="addSld delSld modSld">
      <pc:chgData name="Anh Nguyen Duc" userId="04a5c95d-4a59-4e21-b199-e9922fb46c5c" providerId="ADAL" clId="{27C2FE8E-341E-4345-8FAE-BAB215747634}" dt="2022-08-31T06:56:14.728" v="1"/>
      <pc:docMkLst>
        <pc:docMk/>
      </pc:docMkLst>
      <pc:sldChg chg="add">
        <pc:chgData name="Anh Nguyen Duc" userId="04a5c95d-4a59-4e21-b199-e9922fb46c5c" providerId="ADAL" clId="{27C2FE8E-341E-4345-8FAE-BAB215747634}" dt="2022-08-31T06:56:14.728" v="1"/>
        <pc:sldMkLst>
          <pc:docMk/>
          <pc:sldMk cId="378230554" sldId="358"/>
        </pc:sldMkLst>
      </pc:sldChg>
      <pc:sldChg chg="del">
        <pc:chgData name="Anh Nguyen Duc" userId="04a5c95d-4a59-4e21-b199-e9922fb46c5c" providerId="ADAL" clId="{27C2FE8E-341E-4345-8FAE-BAB215747634}" dt="2022-08-31T06:55:58.812" v="0" actId="2696"/>
        <pc:sldMkLst>
          <pc:docMk/>
          <pc:sldMk cId="2157855265" sldId="358"/>
        </pc:sldMkLst>
      </pc:sldChg>
      <pc:sldChg chg="del">
        <pc:chgData name="Anh Nguyen Duc" userId="04a5c95d-4a59-4e21-b199-e9922fb46c5c" providerId="ADAL" clId="{27C2FE8E-341E-4345-8FAE-BAB215747634}" dt="2022-08-31T06:55:58.812" v="0" actId="2696"/>
        <pc:sldMkLst>
          <pc:docMk/>
          <pc:sldMk cId="3795778222" sldId="359"/>
        </pc:sldMkLst>
      </pc:sldChg>
      <pc:sldChg chg="add">
        <pc:chgData name="Anh Nguyen Duc" userId="04a5c95d-4a59-4e21-b199-e9922fb46c5c" providerId="ADAL" clId="{27C2FE8E-341E-4345-8FAE-BAB215747634}" dt="2022-08-31T06:56:14.728" v="1"/>
        <pc:sldMkLst>
          <pc:docMk/>
          <pc:sldMk cId="3821951021" sldId="359"/>
        </pc:sldMkLst>
      </pc:sldChg>
    </pc:docChg>
  </pc:docChgLst>
  <pc:docChgLst>
    <pc:chgData name="Anh Nguyen Duc" userId="04a5c95d-4a59-4e21-b199-e9922fb46c5c" providerId="ADAL" clId="{EBDB5816-78CD-4B78-BEE7-9D3778340309}"/>
    <pc:docChg chg="delSld">
      <pc:chgData name="Anh Nguyen Duc" userId="04a5c95d-4a59-4e21-b199-e9922fb46c5c" providerId="ADAL" clId="{EBDB5816-78CD-4B78-BEE7-9D3778340309}" dt="2023-01-01T19:37:57.860" v="0" actId="47"/>
      <pc:docMkLst>
        <pc:docMk/>
      </pc:docMkLst>
      <pc:sldChg chg="del">
        <pc:chgData name="Anh Nguyen Duc" userId="04a5c95d-4a59-4e21-b199-e9922fb46c5c" providerId="ADAL" clId="{EBDB5816-78CD-4B78-BEE7-9D3778340309}" dt="2023-01-01T19:37:57.860" v="0" actId="47"/>
        <pc:sldMkLst>
          <pc:docMk/>
          <pc:sldMk cId="2202076995" sldId="340"/>
        </pc:sldMkLst>
      </pc:sldChg>
      <pc:sldChg chg="del">
        <pc:chgData name="Anh Nguyen Duc" userId="04a5c95d-4a59-4e21-b199-e9922fb46c5c" providerId="ADAL" clId="{EBDB5816-78CD-4B78-BEE7-9D3778340309}" dt="2023-01-01T19:37:57.860" v="0" actId="47"/>
        <pc:sldMkLst>
          <pc:docMk/>
          <pc:sldMk cId="3625962909" sldId="341"/>
        </pc:sldMkLst>
      </pc:sldChg>
      <pc:sldChg chg="del">
        <pc:chgData name="Anh Nguyen Duc" userId="04a5c95d-4a59-4e21-b199-e9922fb46c5c" providerId="ADAL" clId="{EBDB5816-78CD-4B78-BEE7-9D3778340309}" dt="2023-01-01T19:37:57.860" v="0" actId="47"/>
        <pc:sldMkLst>
          <pc:docMk/>
          <pc:sldMk cId="2848604392" sldId="342"/>
        </pc:sldMkLst>
      </pc:sldChg>
      <pc:sldChg chg="del">
        <pc:chgData name="Anh Nguyen Duc" userId="04a5c95d-4a59-4e21-b199-e9922fb46c5c" providerId="ADAL" clId="{EBDB5816-78CD-4B78-BEE7-9D3778340309}" dt="2023-01-01T19:37:57.860" v="0" actId="47"/>
        <pc:sldMkLst>
          <pc:docMk/>
          <pc:sldMk cId="3679953026" sldId="34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4B6B1-5441-9644-AE1C-BB7EA5DBA264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0CC7-81E2-B842-8904-673E097487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3300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78819-472C-A14B-95BF-39C94BA106B2}" type="datetimeFigureOut">
              <a:rPr lang="en-US" smtClean="0"/>
              <a:pPr/>
              <a:t>9/4/2024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4F38C2-4548-F541-8261-4C1D96E7A1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415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95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464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527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053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457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28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303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523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4822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9436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715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51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9947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789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6720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120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4288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6381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006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357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926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65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142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001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422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879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8903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02339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114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660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130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22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1"/>
              <a:t>Topics covered</a:t>
            </a:r>
          </a:p>
          <a:p>
            <a:pPr algn="l"/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Professional software development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What is meant by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Software engineering ethics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ethical issues that affect software engineering.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Suggested student projects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 brief introduction to each suggested project that can be carried out by students for this course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4F38C2-4548-F541-8261-4C1D96E7A16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940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349" y="1"/>
            <a:ext cx="12192000" cy="52938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6350" y="-24063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3897256"/>
            <a:ext cx="7772400" cy="1463040"/>
          </a:xfrm>
        </p:spPr>
        <p:txBody>
          <a:bodyPr anchor="ctr">
            <a:normAutofit/>
          </a:bodyPr>
          <a:lstStyle>
            <a:lvl1pPr algn="r">
              <a:defRPr sz="36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610600" y="3897256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err="1"/>
              <a:t>Thang</a:t>
            </a:r>
            <a:r>
              <a:rPr lang="en-US" dirty="0"/>
              <a:t> Bui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201225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34709"/>
            <a:ext cx="1278800" cy="871990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322651" y="529389"/>
            <a:ext cx="7772400" cy="23174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8000" dirty="0"/>
              <a:t>Software engineering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91768" y="6525692"/>
            <a:ext cx="74188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Adapted from https://iansommerville.com/software-engineering-book/slides/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84299" y="2410485"/>
            <a:ext cx="13580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+mj-lt"/>
              </a:rPr>
              <a:t>CO3001</a:t>
            </a:r>
          </a:p>
        </p:txBody>
      </p:sp>
    </p:spTree>
    <p:extLst>
      <p:ext uri="{BB962C8B-B14F-4D97-AF65-F5344CB8AC3E}">
        <p14:creationId xmlns:p14="http://schemas.microsoft.com/office/powerpoint/2010/main" val="2930726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3754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1"/>
            <a:ext cx="12192000" cy="577516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6350" y="1"/>
            <a:ext cx="12185652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85224"/>
            <a:ext cx="77724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3885224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4189193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6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96254"/>
            <a:ext cx="10786873" cy="12272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1524002"/>
            <a:ext cx="4965192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1011" y="1524002"/>
            <a:ext cx="5329988" cy="47853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94971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84222"/>
            <a:ext cx="10786873" cy="12392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4002"/>
            <a:ext cx="513604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346962"/>
            <a:ext cx="5136040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843" y="1524002"/>
            <a:ext cx="5394157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843" y="2346962"/>
            <a:ext cx="5394157" cy="3962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361780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991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Ch1. Introduction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95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8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Ch1. Introduction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73100"/>
            <a:ext cx="10972800" cy="58039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301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7" y="96254"/>
            <a:ext cx="10786871" cy="1215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1528012"/>
            <a:ext cx="10786872" cy="4781349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30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/>
              <a:t>Mar 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3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/>
              <a:t>Ch1. Introduction</a:t>
            </a:r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224745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4800"/>
            <a:ext cx="869947" cy="5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48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61" r:id="rId8"/>
    <p:sldLayoutId id="2147483723" r:id="rId9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400050" indent="-40005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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27063" indent="-2270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76313" indent="-1746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39825" indent="-16351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7600DC-B0CD-1F43-6577-EA035114F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45D46-2537-D833-E9C1-99770824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Aug 2024</a:t>
            </a:r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6C17DD5-9C6D-BDE9-0272-3FD1C39D1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803" y="3879583"/>
            <a:ext cx="7772400" cy="1463040"/>
          </a:xfrm>
        </p:spPr>
        <p:txBody>
          <a:bodyPr/>
          <a:lstStyle/>
          <a:p>
            <a:r>
              <a:rPr lang="en-US" dirty="0"/>
              <a:t>Chapter </a:t>
            </a:r>
            <a:r>
              <a:rPr lang="en-US" dirty="0" smtClean="0"/>
              <a:t>2- </a:t>
            </a:r>
            <a:r>
              <a:rPr lang="en-US" dirty="0"/>
              <a:t>Project evaluation and </a:t>
            </a:r>
            <a:r>
              <a:rPr lang="en-US" dirty="0" err="1"/>
              <a:t>programme</a:t>
            </a:r>
            <a:r>
              <a:rPr lang="en-US" dirty="0"/>
              <a:t> </a:t>
            </a:r>
            <a:r>
              <a:rPr lang="en-US" dirty="0" smtClean="0"/>
              <a:t>management </a:t>
            </a:r>
            <a:endParaRPr lang="vi-VN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619AF615-2E55-D393-FD5D-0D9984AC2985}"/>
              </a:ext>
            </a:extLst>
          </p:cNvPr>
          <p:cNvSpPr txBox="1">
            <a:spLocks/>
          </p:cNvSpPr>
          <p:nvPr/>
        </p:nvSpPr>
        <p:spPr>
          <a:xfrm>
            <a:off x="4038600" y="1399074"/>
            <a:ext cx="7772400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SOFTWARE </a:t>
            </a:r>
          </a:p>
          <a:p>
            <a:pPr fontAlgn="auto">
              <a:spcAft>
                <a:spcPts val="0"/>
              </a:spcAft>
            </a:pPr>
            <a:r>
              <a:rPr lang="en-US" dirty="0"/>
              <a:t>PROJECT MANAGEMENT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769912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topics to be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The business case for a </a:t>
            </a:r>
            <a:r>
              <a:rPr lang="en-US" dirty="0" smtClean="0"/>
              <a:t>project</a:t>
            </a:r>
          </a:p>
          <a:p>
            <a:r>
              <a:rPr lang="en-US" dirty="0"/>
              <a:t>Project </a:t>
            </a:r>
            <a:r>
              <a:rPr lang="en-US" dirty="0" smtClean="0"/>
              <a:t>portfolios</a:t>
            </a:r>
            <a:endParaRPr lang="en-US" dirty="0"/>
          </a:p>
          <a:p>
            <a:r>
              <a:rPr lang="en-US" dirty="0"/>
              <a:t>Project </a:t>
            </a:r>
            <a:r>
              <a:rPr lang="en-US" dirty="0" smtClean="0"/>
              <a:t>evaluation</a:t>
            </a:r>
            <a:endParaRPr lang="en-US" dirty="0"/>
          </a:p>
          <a:p>
            <a:pPr lvl="1"/>
            <a:r>
              <a:rPr lang="en-US" sz="3200" dirty="0"/>
              <a:t>Cost benefit </a:t>
            </a:r>
            <a:r>
              <a:rPr lang="en-US" sz="3200" dirty="0" smtClean="0"/>
              <a:t>analysis</a:t>
            </a:r>
          </a:p>
          <a:p>
            <a:pPr lvl="1"/>
            <a:r>
              <a:rPr lang="en-US" dirty="0"/>
              <a:t>Cash flow </a:t>
            </a:r>
            <a:r>
              <a:rPr lang="en-US" dirty="0" smtClean="0"/>
              <a:t>forecasting</a:t>
            </a:r>
            <a:endParaRPr lang="en-US" dirty="0"/>
          </a:p>
          <a:p>
            <a:r>
              <a:rPr lang="en-US" dirty="0" err="1"/>
              <a:t>Programme</a:t>
            </a:r>
            <a:r>
              <a:rPr lang="en-US" dirty="0"/>
              <a:t> </a:t>
            </a:r>
            <a:r>
              <a:rPr lang="en-US" dirty="0" smtClean="0"/>
              <a:t>management</a:t>
            </a:r>
          </a:p>
          <a:p>
            <a:r>
              <a:rPr lang="en-US" dirty="0"/>
              <a:t>Benefits </a:t>
            </a:r>
            <a:r>
              <a:rPr lang="en-US" dirty="0" smtClean="0"/>
              <a:t>management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3018077"/>
          </a:xfrm>
        </p:spPr>
        <p:txBody>
          <a:bodyPr>
            <a:noAutofit/>
          </a:bodyPr>
          <a:lstStyle/>
          <a:p>
            <a:r>
              <a:rPr lang="en-US" dirty="0"/>
              <a:t>Feasibility studies can also act as a ‘business case’</a:t>
            </a:r>
          </a:p>
          <a:p>
            <a:r>
              <a:rPr lang="en-US" dirty="0"/>
              <a:t>Provides a justification for starting the project</a:t>
            </a:r>
          </a:p>
          <a:p>
            <a:r>
              <a:rPr lang="en-US" dirty="0"/>
              <a:t>Should show that the benefits of the project will exceed development, implementation and operational costs</a:t>
            </a:r>
          </a:p>
          <a:p>
            <a:r>
              <a:rPr lang="en-US" dirty="0"/>
              <a:t>Needs to take account of business risks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96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 of a 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5489602" cy="5151243"/>
          </a:xfrm>
        </p:spPr>
        <p:txBody>
          <a:bodyPr>
            <a:noAutofit/>
          </a:bodyPr>
          <a:lstStyle/>
          <a:p>
            <a:r>
              <a:rPr lang="en-US" dirty="0"/>
              <a:t>Introduction/ background</a:t>
            </a:r>
          </a:p>
          <a:p>
            <a:r>
              <a:rPr lang="en-US" dirty="0"/>
              <a:t>The proposed project</a:t>
            </a:r>
          </a:p>
          <a:p>
            <a:r>
              <a:rPr lang="en-US" dirty="0"/>
              <a:t>The market</a:t>
            </a:r>
          </a:p>
          <a:p>
            <a:r>
              <a:rPr lang="en-US" dirty="0"/>
              <a:t>Organizational and operational </a:t>
            </a:r>
            <a:r>
              <a:rPr lang="en-US" dirty="0" smtClean="0"/>
              <a:t>infrastructure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081075" y="1311443"/>
            <a:ext cx="5489602" cy="5151243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 smtClean="0"/>
              <a:t>The benefits</a:t>
            </a:r>
          </a:p>
          <a:p>
            <a:pPr fontAlgn="auto"/>
            <a:r>
              <a:rPr lang="en-US" dirty="0" smtClean="0"/>
              <a:t>Outline implementation plan</a:t>
            </a:r>
          </a:p>
          <a:p>
            <a:pPr fontAlgn="auto"/>
            <a:r>
              <a:rPr lang="en-US" dirty="0" smtClean="0"/>
              <a:t>Costs</a:t>
            </a:r>
          </a:p>
          <a:p>
            <a:pPr fontAlgn="auto"/>
            <a:r>
              <a:rPr lang="en-US" dirty="0" smtClean="0"/>
              <a:t>The financial case</a:t>
            </a:r>
          </a:p>
          <a:p>
            <a:pPr fontAlgn="auto"/>
            <a:r>
              <a:rPr lang="en-US" dirty="0" smtClean="0"/>
              <a:t>Risks</a:t>
            </a:r>
          </a:p>
          <a:p>
            <a:pPr fontAlgn="auto"/>
            <a:r>
              <a:rPr lang="en-US" dirty="0" smtClean="0"/>
              <a:t>Management plan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191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of the 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b="1" dirty="0" smtClean="0"/>
              <a:t>Introduction/background</a:t>
            </a:r>
            <a:r>
              <a:rPr lang="en-US" dirty="0"/>
              <a:t>: describes a problem to be solved or an opportunity to be exploited</a:t>
            </a:r>
          </a:p>
          <a:p>
            <a:r>
              <a:rPr lang="en-US" b="1" dirty="0"/>
              <a:t>The proposed project</a:t>
            </a:r>
            <a:r>
              <a:rPr lang="en-US" dirty="0"/>
              <a:t>: a brief outline of the project </a:t>
            </a:r>
            <a:r>
              <a:rPr lang="en-US" dirty="0" smtClean="0"/>
              <a:t>scope</a:t>
            </a:r>
          </a:p>
          <a:p>
            <a:r>
              <a:rPr lang="en-US" b="1" dirty="0"/>
              <a:t>The market</a:t>
            </a:r>
            <a:r>
              <a:rPr lang="en-US" dirty="0"/>
              <a:t>: the project could be to develop a new product (e.g. a new computer game). The likely demand for the product would need to be </a:t>
            </a:r>
            <a:r>
              <a:rPr lang="en-US" dirty="0" smtClean="0"/>
              <a:t>assessed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14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of the 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b="1" dirty="0"/>
              <a:t>Organizational and operational infrastructure: </a:t>
            </a:r>
            <a:r>
              <a:rPr lang="en-US" dirty="0"/>
              <a:t>How the organization would need to change. This would be important where a new information system application was being introduced.</a:t>
            </a:r>
          </a:p>
          <a:p>
            <a:r>
              <a:rPr lang="en-US" b="1" dirty="0"/>
              <a:t>Benefits</a:t>
            </a:r>
            <a:r>
              <a:rPr lang="en-US" dirty="0"/>
              <a:t> These should be express in financial terms where possible. In the end it is up to the client to assess these – as they are going to pay for the project.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38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of the 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b="1" dirty="0"/>
              <a:t>Outline implementation plan</a:t>
            </a:r>
            <a:r>
              <a:rPr lang="en-US" dirty="0"/>
              <a:t>: how the project is going to be implemented. This should consider the disruption to an organization that a project might cause.</a:t>
            </a:r>
          </a:p>
          <a:p>
            <a:r>
              <a:rPr lang="en-US" b="1" dirty="0"/>
              <a:t>Costs</a:t>
            </a:r>
            <a:r>
              <a:rPr lang="en-US" dirty="0"/>
              <a:t>: the implementation plan will supply information to establish these</a:t>
            </a:r>
          </a:p>
          <a:p>
            <a:r>
              <a:rPr lang="en-US" b="1" dirty="0"/>
              <a:t>Financial analysis</a:t>
            </a:r>
            <a:r>
              <a:rPr lang="en-US" dirty="0"/>
              <a:t>: combines costs and benefit data to establish value of project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429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portfolio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The concerns of project portfolio management include:</a:t>
            </a:r>
          </a:p>
          <a:p>
            <a:r>
              <a:rPr lang="en-US" dirty="0"/>
              <a:t>Evaluating proposals for projects</a:t>
            </a:r>
          </a:p>
          <a:p>
            <a:r>
              <a:rPr lang="en-US" dirty="0"/>
              <a:t>Assessing the risk involved with projects</a:t>
            </a:r>
          </a:p>
          <a:p>
            <a:r>
              <a:rPr lang="en-US" dirty="0"/>
              <a:t>Deciding how to share resources between projects</a:t>
            </a:r>
          </a:p>
          <a:p>
            <a:r>
              <a:rPr lang="en-US" dirty="0"/>
              <a:t>Taking account of dependencies between projects</a:t>
            </a:r>
          </a:p>
          <a:p>
            <a:r>
              <a:rPr lang="en-US" dirty="0"/>
              <a:t>Removing duplication between projects</a:t>
            </a:r>
          </a:p>
          <a:p>
            <a:r>
              <a:rPr lang="en-US" dirty="0"/>
              <a:t>Checking for gaps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343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portfolio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There are three elements to PPM:</a:t>
            </a:r>
          </a:p>
          <a:p>
            <a:r>
              <a:rPr lang="en-US" dirty="0"/>
              <a:t>Project portfolio definition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Create a central record of all projects within an organization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Must decide whether to have ALL projects in the repository or, say, only ICT projects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Note difference between new product development (NPD) projects and renewal projects e.g. for process improvement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260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portfolio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5151243"/>
          </a:xfrm>
        </p:spPr>
        <p:txBody>
          <a:bodyPr>
            <a:noAutofit/>
          </a:bodyPr>
          <a:lstStyle/>
          <a:p>
            <a:r>
              <a:rPr lang="en-US" dirty="0"/>
              <a:t>Project </a:t>
            </a:r>
            <a:r>
              <a:rPr lang="en-US" dirty="0" smtClean="0"/>
              <a:t>portfolio </a:t>
            </a:r>
            <a:r>
              <a:rPr lang="en-US" dirty="0" smtClean="0"/>
              <a:t>management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 smtClean="0"/>
              <a:t>Actual costing and performance of projects can be recorded and assessed</a:t>
            </a:r>
          </a:p>
          <a:p>
            <a:r>
              <a:rPr lang="en-US" dirty="0"/>
              <a:t>Project portfolio </a:t>
            </a:r>
            <a:r>
              <a:rPr lang="en-US" dirty="0" smtClean="0"/>
              <a:t>optimization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Information gathered above can be used achieve better balance of projects e.g. some that are risky but potentially very valuable balanced by less risky but less valuable </a:t>
            </a:r>
            <a:r>
              <a:rPr lang="en-US" sz="3200" dirty="0" smtClean="0"/>
              <a:t>projects</a:t>
            </a:r>
          </a:p>
          <a:p>
            <a:pPr marL="0" indent="0">
              <a:buNone/>
            </a:pPr>
            <a:r>
              <a:rPr lang="en-US" dirty="0"/>
              <a:t>You may want to allow some work to be done outside the portfolio e.g. quick fixes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18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benefit analysis (CBA)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This relates to an individual project. You need </a:t>
            </a:r>
            <a:r>
              <a:rPr lang="en-US" dirty="0" smtClean="0"/>
              <a:t>to:</a:t>
            </a:r>
            <a:endParaRPr lang="en-US" dirty="0" smtClean="0"/>
          </a:p>
          <a:p>
            <a:r>
              <a:rPr lang="en-US" dirty="0"/>
              <a:t>Identify all the costs which could be:</a:t>
            </a:r>
            <a:endParaRPr lang="en-US" dirty="0" smtClean="0"/>
          </a:p>
          <a:p>
            <a:pPr lvl="1"/>
            <a:r>
              <a:rPr lang="en-US" sz="3200" dirty="0"/>
              <a:t>Development </a:t>
            </a:r>
            <a:r>
              <a:rPr lang="en-US" sz="3200" dirty="0" smtClean="0"/>
              <a:t>costs</a:t>
            </a:r>
            <a:endParaRPr lang="en-US" sz="3200" dirty="0" smtClean="0"/>
          </a:p>
          <a:p>
            <a:pPr lvl="1"/>
            <a:r>
              <a:rPr lang="en-US" sz="3200" dirty="0" smtClean="0"/>
              <a:t>Set-up</a:t>
            </a:r>
          </a:p>
          <a:p>
            <a:pPr lvl="1"/>
            <a:r>
              <a:rPr lang="en-US" sz="3200" dirty="0"/>
              <a:t>Operational </a:t>
            </a:r>
            <a:r>
              <a:rPr lang="en-US" sz="3200" dirty="0" smtClean="0"/>
              <a:t>costs</a:t>
            </a:r>
            <a:endParaRPr lang="en-US" dirty="0"/>
          </a:p>
          <a:p>
            <a:r>
              <a:rPr lang="en-US" dirty="0"/>
              <a:t>Identify the value of </a:t>
            </a:r>
            <a:r>
              <a:rPr lang="en-US" dirty="0" smtClean="0"/>
              <a:t>benefits</a:t>
            </a:r>
            <a:endParaRPr lang="en-US" dirty="0" smtClean="0"/>
          </a:p>
          <a:p>
            <a:r>
              <a:rPr lang="en-US" dirty="0"/>
              <a:t>Check benefits are greater than </a:t>
            </a:r>
            <a:r>
              <a:rPr lang="en-US" dirty="0" smtClean="0"/>
              <a:t>costs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98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Product/system life cycle cash flows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The timing of costs and income for a product of system needs to be estimated.</a:t>
            </a:r>
          </a:p>
          <a:p>
            <a:r>
              <a:rPr lang="en-US" dirty="0"/>
              <a:t>The development of the project will incur costs.</a:t>
            </a:r>
          </a:p>
          <a:p>
            <a:r>
              <a:rPr lang="en-US" dirty="0"/>
              <a:t>When the system or product is released it will generate income that gradually pays off costs</a:t>
            </a:r>
          </a:p>
          <a:p>
            <a:r>
              <a:rPr lang="en-US" dirty="0"/>
              <a:t>Some costs may relate to decommissioning – think of demolishing a nuclear power station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9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Product/system life cycle cash flows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735015" y="2004646"/>
            <a:ext cx="8827477" cy="3105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920240" y="3576320"/>
            <a:ext cx="83312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2357120" y="2153920"/>
            <a:ext cx="0" cy="28143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2357120" y="3571240"/>
            <a:ext cx="2047240" cy="883920"/>
          </a:xfrm>
          <a:custGeom>
            <a:avLst/>
            <a:gdLst>
              <a:gd name="connsiteX0" fmla="*/ 0 w 2047240"/>
              <a:gd name="connsiteY0" fmla="*/ 0 h 883920"/>
              <a:gd name="connsiteX1" fmla="*/ 1310640 w 2047240"/>
              <a:gd name="connsiteY1" fmla="*/ 883920 h 883920"/>
              <a:gd name="connsiteX2" fmla="*/ 2047240 w 2047240"/>
              <a:gd name="connsiteY2" fmla="*/ 0 h 88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47240" h="883920">
                <a:moveTo>
                  <a:pt x="0" y="0"/>
                </a:moveTo>
                <a:cubicBezTo>
                  <a:pt x="484716" y="441960"/>
                  <a:pt x="969433" y="883920"/>
                  <a:pt x="1310640" y="883920"/>
                </a:cubicBezTo>
                <a:cubicBezTo>
                  <a:pt x="1651847" y="883920"/>
                  <a:pt x="1849543" y="441960"/>
                  <a:pt x="2047240" y="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 24"/>
          <p:cNvSpPr/>
          <p:nvPr/>
        </p:nvSpPr>
        <p:spPr>
          <a:xfrm>
            <a:off x="4404360" y="2636520"/>
            <a:ext cx="5140960" cy="939800"/>
          </a:xfrm>
          <a:custGeom>
            <a:avLst/>
            <a:gdLst>
              <a:gd name="connsiteX0" fmla="*/ 0 w 5140960"/>
              <a:gd name="connsiteY0" fmla="*/ 939800 h 939800"/>
              <a:gd name="connsiteX1" fmla="*/ 1310640 w 5140960"/>
              <a:gd name="connsiteY1" fmla="*/ 0 h 939800"/>
              <a:gd name="connsiteX2" fmla="*/ 5140960 w 5140960"/>
              <a:gd name="connsiteY2" fmla="*/ 939800 h 93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0960" h="939800">
                <a:moveTo>
                  <a:pt x="0" y="939800"/>
                </a:moveTo>
                <a:cubicBezTo>
                  <a:pt x="226906" y="469900"/>
                  <a:pt x="453813" y="0"/>
                  <a:pt x="1310640" y="0"/>
                </a:cubicBezTo>
                <a:cubicBezTo>
                  <a:pt x="2167467" y="0"/>
                  <a:pt x="3654213" y="469900"/>
                  <a:pt x="5140960" y="939800"/>
                </a:cubicBez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 25"/>
          <p:cNvSpPr/>
          <p:nvPr/>
        </p:nvSpPr>
        <p:spPr>
          <a:xfrm>
            <a:off x="9535160" y="3571240"/>
            <a:ext cx="406400" cy="416561"/>
          </a:xfrm>
          <a:custGeom>
            <a:avLst/>
            <a:gdLst>
              <a:gd name="connsiteX0" fmla="*/ 0 w 406400"/>
              <a:gd name="connsiteY0" fmla="*/ 0 h 416561"/>
              <a:gd name="connsiteX1" fmla="*/ 248920 w 406400"/>
              <a:gd name="connsiteY1" fmla="*/ 416560 h 416561"/>
              <a:gd name="connsiteX2" fmla="*/ 406400 w 406400"/>
              <a:gd name="connsiteY2" fmla="*/ 5080 h 416561"/>
              <a:gd name="connsiteX3" fmla="*/ 406400 w 406400"/>
              <a:gd name="connsiteY3" fmla="*/ 5080 h 416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400" h="416561">
                <a:moveTo>
                  <a:pt x="0" y="0"/>
                </a:moveTo>
                <a:cubicBezTo>
                  <a:pt x="90593" y="207856"/>
                  <a:pt x="181187" y="415713"/>
                  <a:pt x="248920" y="416560"/>
                </a:cubicBezTo>
                <a:cubicBezTo>
                  <a:pt x="316653" y="417407"/>
                  <a:pt x="406400" y="5080"/>
                  <a:pt x="406400" y="5080"/>
                </a:cubicBezTo>
                <a:lnTo>
                  <a:pt x="406400" y="508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ontent Placeholder 2"/>
          <p:cNvSpPr>
            <a:spLocks noGrp="1"/>
          </p:cNvSpPr>
          <p:nvPr>
            <p:ph idx="1"/>
          </p:nvPr>
        </p:nvSpPr>
        <p:spPr>
          <a:xfrm rot="16200000">
            <a:off x="1432052" y="4039224"/>
            <a:ext cx="1439970" cy="46359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Expenditure</a:t>
            </a:r>
            <a:endParaRPr lang="en-US" sz="2000" dirty="0"/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 rot="16200000">
            <a:off x="1694515" y="2613017"/>
            <a:ext cx="947716" cy="478922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sz="2000" dirty="0" smtClean="0"/>
              <a:t>Income</a:t>
            </a:r>
            <a:endParaRPr lang="en-US" sz="2000" dirty="0"/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7897756" y="3689635"/>
            <a:ext cx="636644" cy="335679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Font typeface="Wingdings" panose="05000000000000000000" pitchFamily="2" charset="2"/>
              <a:buNone/>
            </a:pPr>
            <a:r>
              <a:rPr lang="en-US" sz="2000" dirty="0" smtClean="0"/>
              <a:t>Time</a:t>
            </a:r>
            <a:endParaRPr lang="en-US" sz="2000" dirty="0"/>
          </a:p>
        </p:txBody>
      </p:sp>
      <p:cxnSp>
        <p:nvCxnSpPr>
          <p:cNvPr id="31" name="Straight Arrow Connector 30"/>
          <p:cNvCxnSpPr>
            <a:stCxn id="29" idx="3"/>
          </p:cNvCxnSpPr>
          <p:nvPr/>
        </p:nvCxnSpPr>
        <p:spPr>
          <a:xfrm flipV="1">
            <a:off x="8534400" y="3857474"/>
            <a:ext cx="44958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500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profit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1866" y="1309901"/>
            <a:ext cx="5851532" cy="3707932"/>
          </a:xfrm>
        </p:spPr>
        <p:txBody>
          <a:bodyPr>
            <a:noAutofit/>
          </a:bodyPr>
          <a:lstStyle/>
          <a:p>
            <a:r>
              <a:rPr lang="en-US" dirty="0"/>
              <a:t>‘Year 0’ represents all the costs before system is operation</a:t>
            </a:r>
          </a:p>
          <a:p>
            <a:r>
              <a:rPr lang="en-US" dirty="0"/>
              <a:t>‘Cash-flow’ is value of income less outgoing</a:t>
            </a:r>
          </a:p>
          <a:p>
            <a:r>
              <a:rPr lang="en-US" dirty="0"/>
              <a:t>Net profit value of all the cash-flows for the lifetime of the application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498511"/>
              </p:ext>
            </p:extLst>
          </p:nvPr>
        </p:nvGraphicFramePr>
        <p:xfrm>
          <a:off x="871727" y="1311443"/>
          <a:ext cx="4918380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2289">
                  <a:extLst>
                    <a:ext uri="{9D8B030D-6E8A-4147-A177-3AD203B41FA5}">
                      <a16:colId xmlns:a16="http://schemas.microsoft.com/office/drawing/2014/main" val="4073271626"/>
                    </a:ext>
                  </a:extLst>
                </a:gridCol>
                <a:gridCol w="2576091">
                  <a:extLst>
                    <a:ext uri="{9D8B030D-6E8A-4147-A177-3AD203B41FA5}">
                      <a16:colId xmlns:a16="http://schemas.microsoft.com/office/drawing/2014/main" val="17044440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Cash-flow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046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-100,000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515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1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23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20,000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55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100,000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891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Net profit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50,000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9639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8121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Pay back period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2"/>
            <a:ext cx="10786872" cy="9548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This is the time it takes to start generating a surplus of income over outgoings. What would it be below?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9671154"/>
              </p:ext>
            </p:extLst>
          </p:nvPr>
        </p:nvGraphicFramePr>
        <p:xfrm>
          <a:off x="1998513" y="2380903"/>
          <a:ext cx="8166765" cy="405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405">
                  <a:extLst>
                    <a:ext uri="{9D8B030D-6E8A-4147-A177-3AD203B41FA5}">
                      <a16:colId xmlns:a16="http://schemas.microsoft.com/office/drawing/2014/main" val="4073271626"/>
                    </a:ext>
                  </a:extLst>
                </a:gridCol>
                <a:gridCol w="2807180">
                  <a:extLst>
                    <a:ext uri="{9D8B030D-6E8A-4147-A177-3AD203B41FA5}">
                      <a16:colId xmlns:a16="http://schemas.microsoft.com/office/drawing/2014/main" val="1704444023"/>
                    </a:ext>
                  </a:extLst>
                </a:gridCol>
                <a:gridCol w="2807180">
                  <a:extLst>
                    <a:ext uri="{9D8B030D-6E8A-4147-A177-3AD203B41FA5}">
                      <a16:colId xmlns:a16="http://schemas.microsoft.com/office/drawing/2014/main" val="63184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Cash-flow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Accumulated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046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rgbClr val="FF0000"/>
                          </a:solidFill>
                        </a:rPr>
                        <a:t>-100,000</a:t>
                      </a:r>
                      <a:endParaRPr lang="en-US" sz="32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rgbClr val="FF0000"/>
                          </a:solidFill>
                        </a:rPr>
                        <a:t>-100,000</a:t>
                      </a:r>
                      <a:endParaRPr lang="en-US" sz="32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rgbClr val="FF0000"/>
                          </a:solidFill>
                        </a:rPr>
                        <a:t>-90,000</a:t>
                      </a:r>
                      <a:endParaRPr lang="en-US" sz="32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515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rgbClr val="FF0000"/>
                          </a:solidFill>
                        </a:rPr>
                        <a:t>-80,000</a:t>
                      </a:r>
                      <a:endParaRPr lang="en-US" sz="32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1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rgbClr val="FF0000"/>
                          </a:solidFill>
                        </a:rPr>
                        <a:t>-70,000</a:t>
                      </a:r>
                      <a:endParaRPr lang="en-US" sz="32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23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20,000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rgbClr val="FF0000"/>
                          </a:solidFill>
                        </a:rPr>
                        <a:t>-50,000</a:t>
                      </a:r>
                      <a:endParaRPr lang="en-US" sz="32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55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100,000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50,000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8910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939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on investment (ROI)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2906616"/>
            <a:ext cx="10786872" cy="3094893"/>
          </a:xfrm>
        </p:spPr>
        <p:txBody>
          <a:bodyPr>
            <a:noAutofit/>
          </a:bodyPr>
          <a:lstStyle/>
          <a:p>
            <a:r>
              <a:rPr lang="en-US" dirty="0"/>
              <a:t>In the previous </a:t>
            </a:r>
            <a:r>
              <a:rPr lang="en-US" dirty="0" smtClean="0"/>
              <a:t>example</a:t>
            </a:r>
            <a:endParaRPr lang="en-US" dirty="0"/>
          </a:p>
          <a:p>
            <a:pPr lvl="1"/>
            <a:r>
              <a:rPr lang="en-US" sz="3200" dirty="0"/>
              <a:t>average annual </a:t>
            </a:r>
            <a:r>
              <a:rPr lang="en-US" sz="3200" dirty="0" smtClean="0"/>
              <a:t>profit</a:t>
            </a:r>
          </a:p>
          <a:p>
            <a:pPr marL="400050" lvl="1" indent="0">
              <a:buNone/>
            </a:pPr>
            <a:r>
              <a:rPr lang="en-US" sz="3200" dirty="0" smtClean="0"/>
              <a:t>		= 50,000/5</a:t>
            </a:r>
          </a:p>
          <a:p>
            <a:pPr marL="400050" lvl="1" indent="0">
              <a:buNone/>
            </a:pPr>
            <a:r>
              <a:rPr lang="en-US" sz="3200" dirty="0" smtClean="0"/>
              <a:t>		= 10,000</a:t>
            </a:r>
            <a:endParaRPr lang="en-US" sz="1600" dirty="0" smtClean="0"/>
          </a:p>
          <a:p>
            <a:pPr lvl="1"/>
            <a:r>
              <a:rPr lang="en-US" sz="3200" dirty="0" smtClean="0"/>
              <a:t>ROI		= 10,000/100,000 X 100</a:t>
            </a:r>
          </a:p>
          <a:p>
            <a:pPr marL="400050" lvl="1" indent="0">
              <a:buNone/>
            </a:pPr>
            <a:r>
              <a:rPr lang="en-US" sz="3200" dirty="0" smtClean="0"/>
              <a:t>			=10%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88460" y="1828310"/>
            <a:ext cx="10786872" cy="516305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 fontAlgn="auto">
              <a:buFont typeface="Wingdings 3" pitchFamily="18" charset="2"/>
              <a:buNone/>
            </a:pPr>
            <a:r>
              <a:rPr lang="en-US" sz="3200" dirty="0" smtClean="0"/>
              <a:t>ROI =				</a:t>
            </a:r>
            <a:r>
              <a:rPr lang="en-US" sz="3200" dirty="0"/>
              <a:t>	</a:t>
            </a:r>
            <a:r>
              <a:rPr lang="en-US" sz="3200" dirty="0" smtClean="0"/>
              <a:t>	</a:t>
            </a:r>
            <a:r>
              <a:rPr lang="en-US" sz="3200" dirty="0" err="1" smtClean="0"/>
              <a:t>X100</a:t>
            </a:r>
            <a:endParaRPr lang="en-US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255051" y="1448603"/>
            <a:ext cx="4485718" cy="516305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 fontAlgn="auto">
              <a:buFont typeface="Wingdings 3" pitchFamily="18" charset="2"/>
              <a:buNone/>
            </a:pPr>
            <a:r>
              <a:rPr lang="en-US" sz="3200" dirty="0" smtClean="0"/>
              <a:t>Average annual profit</a:t>
            </a: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255051" y="2087268"/>
            <a:ext cx="4485718" cy="516305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 fontAlgn="auto">
              <a:buFont typeface="Wingdings 3" pitchFamily="18" charset="2"/>
              <a:buNone/>
            </a:pPr>
            <a:r>
              <a:rPr lang="en-US" sz="3200" dirty="0" smtClean="0"/>
              <a:t>Total investment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2450123" y="2086462"/>
            <a:ext cx="429064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1418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 present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2"/>
            <a:ext cx="10786872" cy="3463554"/>
          </a:xfrm>
        </p:spPr>
        <p:txBody>
          <a:bodyPr>
            <a:noAutofit/>
          </a:bodyPr>
          <a:lstStyle/>
          <a:p>
            <a:r>
              <a:rPr lang="en-US" dirty="0"/>
              <a:t>Would you rather I gave you £100 today or in 12 months time?</a:t>
            </a:r>
          </a:p>
          <a:p>
            <a:r>
              <a:rPr lang="en-US" dirty="0"/>
              <a:t>If I gave you £100 now you could put it in savings account and get interest on it.</a:t>
            </a:r>
          </a:p>
          <a:p>
            <a:r>
              <a:rPr lang="en-US" dirty="0"/>
              <a:t>If the interest rate was 10% how much would I have to invest now to get £100 in a year’s time?</a:t>
            </a:r>
          </a:p>
          <a:p>
            <a:r>
              <a:rPr lang="en-US" dirty="0"/>
              <a:t>This figure is the net present value of £100 in one year’s time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691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Discount factor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436570"/>
          </a:xfrm>
        </p:spPr>
        <p:txBody>
          <a:bodyPr>
            <a:noAutofit/>
          </a:bodyPr>
          <a:lstStyle/>
          <a:p>
            <a:r>
              <a:rPr lang="en-US" dirty="0"/>
              <a:t>Discount factor = 1/(</a:t>
            </a:r>
            <a:r>
              <a:rPr lang="en-US" dirty="0" err="1" smtClean="0"/>
              <a:t>1+r</a:t>
            </a:r>
            <a:r>
              <a:rPr lang="en-US" dirty="0" smtClean="0"/>
              <a:t>)</a:t>
            </a:r>
            <a:r>
              <a:rPr lang="en-US" baseline="30000" dirty="0" smtClean="0"/>
              <a:t>t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i="1" dirty="0" smtClean="0"/>
              <a:t>r</a:t>
            </a:r>
            <a:r>
              <a:rPr lang="en-US" dirty="0" smtClean="0"/>
              <a:t> </a:t>
            </a:r>
            <a:r>
              <a:rPr lang="en-US" dirty="0"/>
              <a:t>is the interest rate (e.g. 10% is 0.10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t</a:t>
            </a:r>
            <a:r>
              <a:rPr lang="en-US" dirty="0" smtClean="0"/>
              <a:t> </a:t>
            </a:r>
            <a:r>
              <a:rPr lang="en-US" dirty="0"/>
              <a:t>is the number of years</a:t>
            </a:r>
            <a:endParaRPr lang="en-US" dirty="0" smtClean="0"/>
          </a:p>
          <a:p>
            <a:r>
              <a:rPr lang="en-US" dirty="0"/>
              <a:t>In the case of 10% rate and one year</a:t>
            </a:r>
          </a:p>
          <a:p>
            <a:r>
              <a:rPr lang="en-US" dirty="0"/>
              <a:t>Discount factor = 1/(1+0.10) =</a:t>
            </a:r>
          </a:p>
          <a:p>
            <a:r>
              <a:rPr lang="en-US" dirty="0"/>
              <a:t>In the case of 10% rate and two years</a:t>
            </a:r>
          </a:p>
          <a:p>
            <a:r>
              <a:rPr lang="en-US" dirty="0"/>
              <a:t>Discount factor = 1/(1.10 x 1.10) =0.8294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52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discount factors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750532"/>
              </p:ext>
            </p:extLst>
          </p:nvPr>
        </p:nvGraphicFramePr>
        <p:xfrm>
          <a:off x="914399" y="1311443"/>
          <a:ext cx="10304464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7816">
                  <a:extLst>
                    <a:ext uri="{9D8B030D-6E8A-4147-A177-3AD203B41FA5}">
                      <a16:colId xmlns:a16="http://schemas.microsoft.com/office/drawing/2014/main" val="4073271626"/>
                    </a:ext>
                  </a:extLst>
                </a:gridCol>
                <a:gridCol w="2297723">
                  <a:extLst>
                    <a:ext uri="{9D8B030D-6E8A-4147-A177-3AD203B41FA5}">
                      <a16:colId xmlns:a16="http://schemas.microsoft.com/office/drawing/2014/main" val="1704444023"/>
                    </a:ext>
                  </a:extLst>
                </a:gridCol>
                <a:gridCol w="2825262">
                  <a:extLst>
                    <a:ext uri="{9D8B030D-6E8A-4147-A177-3AD203B41FA5}">
                      <a16:colId xmlns:a16="http://schemas.microsoft.com/office/drawing/2014/main" val="63184955"/>
                    </a:ext>
                  </a:extLst>
                </a:gridCol>
                <a:gridCol w="3903663">
                  <a:extLst>
                    <a:ext uri="{9D8B030D-6E8A-4147-A177-3AD203B41FA5}">
                      <a16:colId xmlns:a16="http://schemas.microsoft.com/office/drawing/2014/main" val="1621758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Cash-flow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Discount factor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Discounted cash flow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046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-100,000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1,0000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-100,000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334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0,9091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9,091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3515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0,8264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8,264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11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0,7513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7,513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0233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20,000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0,6830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13,660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551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100,000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0,6209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62,090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891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err="1" smtClean="0">
                          <a:solidFill>
                            <a:schemeClr val="tx1"/>
                          </a:solidFill>
                        </a:rPr>
                        <a:t>NPV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0" dirty="0" smtClean="0">
                          <a:solidFill>
                            <a:schemeClr val="tx1"/>
                          </a:solidFill>
                        </a:rPr>
                        <a:t>618</a:t>
                      </a:r>
                      <a:endParaRPr lang="en-US" sz="3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157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0436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rate of return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 smtClean="0"/>
              <a:t>Internal </a:t>
            </a:r>
            <a:r>
              <a:rPr lang="en-US" dirty="0"/>
              <a:t>rate of return (IRR) is the discount rate that would produce an </a:t>
            </a:r>
            <a:r>
              <a:rPr lang="en-US" dirty="0" err="1"/>
              <a:t>NPV</a:t>
            </a:r>
            <a:r>
              <a:rPr lang="en-US" dirty="0"/>
              <a:t> of 0 for the project</a:t>
            </a:r>
          </a:p>
          <a:p>
            <a:r>
              <a:rPr lang="en-US" dirty="0"/>
              <a:t>Can be used to compare different investment opportunities</a:t>
            </a:r>
          </a:p>
          <a:p>
            <a:r>
              <a:rPr lang="en-US" dirty="0"/>
              <a:t>There is a Microsoft Excel function which can be used to calculate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788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uncertainty: Risk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project A might appear to give a better return than B but could be riskier</a:t>
            </a:r>
          </a:p>
          <a:p>
            <a:r>
              <a:rPr lang="en-US" dirty="0"/>
              <a:t>Could draw up draw a project risk matrix for each project to assess risks – see next overhead</a:t>
            </a:r>
          </a:p>
          <a:p>
            <a:r>
              <a:rPr lang="en-US" dirty="0"/>
              <a:t>For riskier projects could use higher discount rates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924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 project risk matrix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1190625"/>
            <a:ext cx="1062990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181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491" y="1311443"/>
            <a:ext cx="6456325" cy="492523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934308" y="1078523"/>
            <a:ext cx="7010400" cy="53921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212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Programme</a:t>
            </a:r>
            <a:r>
              <a:rPr lang="en-US" dirty="0"/>
              <a:t>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One definition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/>
              <a:t>‘a group of projects that are managed in a </a:t>
            </a:r>
            <a:r>
              <a:rPr lang="en-US" dirty="0" err="1"/>
              <a:t>co-ordinated</a:t>
            </a:r>
            <a:r>
              <a:rPr lang="en-US" dirty="0"/>
              <a:t> </a:t>
            </a:r>
            <a:r>
              <a:rPr lang="en-US" dirty="0" smtClean="0"/>
              <a:t>	way </a:t>
            </a:r>
            <a:r>
              <a:rPr lang="en-US" dirty="0"/>
              <a:t>to gain benefits that would not be possible were the </a:t>
            </a:r>
            <a:r>
              <a:rPr lang="en-US" dirty="0" smtClean="0"/>
              <a:t>	projects </a:t>
            </a:r>
            <a:r>
              <a:rPr lang="en-US" dirty="0"/>
              <a:t>to be managed independently’ </a:t>
            </a: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		Ferns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122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Programmes</a:t>
            </a:r>
            <a:r>
              <a:rPr lang="en-US" dirty="0"/>
              <a:t> may be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 smtClean="0"/>
              <a:t>Strategic</a:t>
            </a:r>
            <a:endParaRPr lang="en-US" dirty="0" smtClean="0"/>
          </a:p>
          <a:p>
            <a:r>
              <a:rPr lang="en-US" dirty="0"/>
              <a:t>Business cycle </a:t>
            </a:r>
            <a:r>
              <a:rPr lang="en-US" dirty="0" err="1" smtClean="0"/>
              <a:t>programmes</a:t>
            </a:r>
            <a:endParaRPr lang="en-US" dirty="0"/>
          </a:p>
          <a:p>
            <a:r>
              <a:rPr lang="en-US" dirty="0"/>
              <a:t>Infrastructure </a:t>
            </a:r>
            <a:r>
              <a:rPr lang="en-US" dirty="0" err="1"/>
              <a:t>programmes</a:t>
            </a:r>
            <a:endParaRPr lang="en-US" dirty="0"/>
          </a:p>
          <a:p>
            <a:r>
              <a:rPr lang="en-US" dirty="0"/>
              <a:t>Research and development </a:t>
            </a:r>
            <a:r>
              <a:rPr lang="en-US" dirty="0" err="1"/>
              <a:t>programmes</a:t>
            </a:r>
            <a:endParaRPr lang="en-US" dirty="0"/>
          </a:p>
          <a:p>
            <a:r>
              <a:rPr lang="en-US" dirty="0"/>
              <a:t>Innovative </a:t>
            </a:r>
            <a:r>
              <a:rPr lang="en-US" dirty="0" smtClean="0"/>
              <a:t>partnerships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9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Programme</a:t>
            </a:r>
            <a:r>
              <a:rPr lang="en-US" dirty="0"/>
              <a:t> managers versus project managers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1" y="1319461"/>
            <a:ext cx="4774494" cy="4224013"/>
          </a:xfrm>
        </p:spPr>
        <p:txBody>
          <a:bodyPr>
            <a:noAutofit/>
          </a:bodyPr>
          <a:lstStyle/>
          <a:p>
            <a:r>
              <a:rPr lang="en-US" dirty="0" err="1"/>
              <a:t>Programme</a:t>
            </a:r>
            <a:r>
              <a:rPr lang="en-US" dirty="0"/>
              <a:t> </a:t>
            </a:r>
            <a:r>
              <a:rPr lang="en-US" dirty="0" smtClean="0"/>
              <a:t>managers</a:t>
            </a:r>
            <a:endParaRPr lang="en-US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Many simultaneous </a:t>
            </a:r>
            <a:r>
              <a:rPr lang="en-US" sz="3200" dirty="0" smtClean="0"/>
              <a:t>projects</a:t>
            </a:r>
            <a:endParaRPr lang="en-US" sz="3200" dirty="0" smtClean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Personal relationship with skilled </a:t>
            </a:r>
            <a:r>
              <a:rPr lang="en-US" sz="3200" dirty="0" smtClean="0"/>
              <a:t>resources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Optimization of resource </a:t>
            </a:r>
            <a:r>
              <a:rPr lang="en-US" sz="3200" dirty="0" smtClean="0"/>
              <a:t>use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 dirty="0"/>
              <a:t>Projects tend to be seen as </a:t>
            </a:r>
            <a:r>
              <a:rPr lang="en-US" sz="3200" dirty="0" smtClean="0"/>
              <a:t>similar</a:t>
            </a:r>
            <a:endParaRPr lang="en-US" sz="3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260123" y="1319461"/>
            <a:ext cx="5571663" cy="446001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/>
              <a:t>Project </a:t>
            </a:r>
            <a:r>
              <a:rPr lang="en-US" dirty="0" smtClean="0"/>
              <a:t>manager</a:t>
            </a:r>
          </a:p>
          <a:p>
            <a:pPr fontAlgn="auto">
              <a:buFont typeface="Wingdings" panose="05000000000000000000" pitchFamily="2" charset="2"/>
              <a:buChar char="§"/>
            </a:pPr>
            <a:r>
              <a:rPr lang="en-US" dirty="0"/>
              <a:t>One project at a </a:t>
            </a:r>
            <a:r>
              <a:rPr lang="en-US" dirty="0" smtClean="0"/>
              <a:t>time</a:t>
            </a:r>
          </a:p>
          <a:p>
            <a:pPr fontAlgn="auto">
              <a:buFont typeface="Wingdings" panose="05000000000000000000" pitchFamily="2" charset="2"/>
              <a:buChar char="§"/>
            </a:pPr>
            <a:r>
              <a:rPr lang="en-US" dirty="0"/>
              <a:t>Impersonal relationship with </a:t>
            </a:r>
            <a:r>
              <a:rPr lang="en-US" dirty="0" smtClean="0"/>
              <a:t>resources</a:t>
            </a:r>
          </a:p>
          <a:p>
            <a:pPr fontAlgn="auto">
              <a:buFont typeface="Wingdings" panose="05000000000000000000" pitchFamily="2" charset="2"/>
              <a:buChar char="§"/>
            </a:pPr>
            <a:r>
              <a:rPr lang="en-US" dirty="0"/>
              <a:t>Minimization of demand for </a:t>
            </a:r>
            <a:r>
              <a:rPr lang="en-US" dirty="0" smtClean="0"/>
              <a:t>resources</a:t>
            </a:r>
          </a:p>
          <a:p>
            <a:pPr fontAlgn="auto">
              <a:buFont typeface="Wingdings" panose="05000000000000000000" pitchFamily="2" charset="2"/>
              <a:buChar char="§"/>
            </a:pPr>
            <a:r>
              <a:rPr lang="en-US" dirty="0"/>
              <a:t>Projects tend to be seen as </a:t>
            </a:r>
            <a:r>
              <a:rPr lang="en-US" dirty="0" smtClean="0"/>
              <a:t>unique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025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</a:t>
            </a:r>
            <a:r>
              <a:rPr lang="en-US" dirty="0" err="1"/>
              <a:t>programmes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Based on </a:t>
            </a:r>
            <a:r>
              <a:rPr lang="en-US" dirty="0" err="1"/>
              <a:t>OGC</a:t>
            </a:r>
            <a:r>
              <a:rPr lang="en-US" dirty="0"/>
              <a:t> </a:t>
            </a:r>
            <a:r>
              <a:rPr lang="en-US" dirty="0" smtClean="0"/>
              <a:t>approach</a:t>
            </a:r>
            <a:endParaRPr lang="en-US" dirty="0" smtClean="0"/>
          </a:p>
          <a:p>
            <a:r>
              <a:rPr lang="en-US" dirty="0"/>
              <a:t>Initial planning document is the </a:t>
            </a:r>
            <a:r>
              <a:rPr lang="en-US" b="1" dirty="0" err="1"/>
              <a:t>Programme</a:t>
            </a:r>
            <a:r>
              <a:rPr lang="en-US" b="1" dirty="0"/>
              <a:t> Mandate </a:t>
            </a:r>
            <a:r>
              <a:rPr lang="en-US" dirty="0" smtClean="0"/>
              <a:t>describing</a:t>
            </a:r>
            <a:endParaRPr lang="en-US" dirty="0"/>
          </a:p>
          <a:p>
            <a:pPr lvl="1"/>
            <a:r>
              <a:rPr lang="en-US" sz="3200" dirty="0"/>
              <a:t>The new services/capabilities that the </a:t>
            </a:r>
            <a:r>
              <a:rPr lang="en-US" sz="3200" dirty="0" err="1"/>
              <a:t>programme</a:t>
            </a:r>
            <a:r>
              <a:rPr lang="en-US" sz="3200" dirty="0"/>
              <a:t> should </a:t>
            </a:r>
            <a:r>
              <a:rPr lang="en-US" sz="3200" dirty="0" smtClean="0"/>
              <a:t>deliver</a:t>
            </a:r>
            <a:endParaRPr lang="en-US" sz="3200" dirty="0" smtClean="0"/>
          </a:p>
          <a:p>
            <a:pPr lvl="1"/>
            <a:r>
              <a:rPr lang="en-US" sz="3200" dirty="0"/>
              <a:t>How an organization will be </a:t>
            </a:r>
            <a:r>
              <a:rPr lang="en-US" sz="3200" dirty="0" smtClean="0"/>
              <a:t>improved</a:t>
            </a:r>
          </a:p>
          <a:p>
            <a:pPr lvl="1"/>
            <a:r>
              <a:rPr lang="en-US" sz="3200" dirty="0"/>
              <a:t>Fit with existing </a:t>
            </a:r>
            <a:r>
              <a:rPr lang="en-US" sz="3200" dirty="0" err="1"/>
              <a:t>organizatioal</a:t>
            </a:r>
            <a:r>
              <a:rPr lang="en-US" sz="3200" dirty="0"/>
              <a:t> </a:t>
            </a:r>
            <a:r>
              <a:rPr lang="en-US" sz="3200" dirty="0" smtClean="0"/>
              <a:t>goals</a:t>
            </a:r>
            <a:endParaRPr lang="en-US" sz="3200" dirty="0"/>
          </a:p>
          <a:p>
            <a:r>
              <a:rPr lang="en-US" dirty="0"/>
              <a:t>A </a:t>
            </a:r>
            <a:r>
              <a:rPr lang="en-US" b="1" dirty="0" err="1"/>
              <a:t>programme</a:t>
            </a:r>
            <a:r>
              <a:rPr lang="en-US" b="1" dirty="0"/>
              <a:t> director </a:t>
            </a:r>
            <a:r>
              <a:rPr lang="en-US" dirty="0"/>
              <a:t>appointed a champion for the </a:t>
            </a:r>
            <a:r>
              <a:rPr lang="en-US" dirty="0" smtClean="0"/>
              <a:t>scheme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027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stages/documents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b="1" dirty="0"/>
              <a:t>The </a:t>
            </a:r>
            <a:r>
              <a:rPr lang="en-US" b="1" dirty="0" err="1"/>
              <a:t>programme</a:t>
            </a:r>
            <a:r>
              <a:rPr lang="en-US" b="1" dirty="0"/>
              <a:t> brief </a:t>
            </a:r>
            <a:r>
              <a:rPr lang="en-US" dirty="0"/>
              <a:t>– equivalent of a feasibility study: emphasis on costs and benefits</a:t>
            </a:r>
          </a:p>
          <a:p>
            <a:r>
              <a:rPr lang="en-US" b="1" dirty="0"/>
              <a:t>The vision statement </a:t>
            </a:r>
            <a:r>
              <a:rPr lang="en-US" dirty="0"/>
              <a:t>– explains the new capability that the organization will have</a:t>
            </a:r>
          </a:p>
          <a:p>
            <a:r>
              <a:rPr lang="en-US" b="1" dirty="0"/>
              <a:t>The blueprint </a:t>
            </a:r>
            <a:r>
              <a:rPr lang="en-US" dirty="0"/>
              <a:t>– explains the changes to be made to obtain the new capability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723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3527983"/>
            <a:ext cx="10786872" cy="3069905"/>
          </a:xfrm>
          <a:noFill/>
          <a:ln>
            <a:noFill/>
          </a:ln>
        </p:spPr>
        <p:txBody>
          <a:bodyPr>
            <a:noAutofit/>
          </a:bodyPr>
          <a:lstStyle/>
          <a:p>
            <a:r>
              <a:rPr lang="en-US" dirty="0"/>
              <a:t>Providing an organization with a capability does not guarantee that this will provide benefits envisaged – need for benefits </a:t>
            </a:r>
            <a:r>
              <a:rPr lang="en-US" dirty="0" smtClean="0"/>
              <a:t>management</a:t>
            </a:r>
          </a:p>
          <a:p>
            <a:r>
              <a:rPr lang="en-US" dirty="0" smtClean="0"/>
              <a:t>This </a:t>
            </a:r>
            <a:r>
              <a:rPr lang="en-US" dirty="0"/>
              <a:t>has to be outside the project – project will have been </a:t>
            </a:r>
            <a:r>
              <a:rPr lang="en-US" dirty="0" smtClean="0"/>
              <a:t>completed</a:t>
            </a:r>
          </a:p>
          <a:p>
            <a:r>
              <a:rPr lang="en-US" dirty="0" smtClean="0"/>
              <a:t>Therefore </a:t>
            </a:r>
            <a:r>
              <a:rPr lang="en-US" dirty="0"/>
              <a:t>done at </a:t>
            </a:r>
            <a:r>
              <a:rPr lang="en-US" dirty="0" err="1"/>
              <a:t>programme</a:t>
            </a:r>
            <a:r>
              <a:rPr lang="en-US" dirty="0"/>
              <a:t>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004646" y="1160339"/>
            <a:ext cx="1910862" cy="797170"/>
          </a:xfrm>
          <a:prstGeom prst="rect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06700" y="1160339"/>
            <a:ext cx="1910862" cy="797170"/>
          </a:xfrm>
          <a:prstGeom prst="rect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64061" y="1160339"/>
            <a:ext cx="1910862" cy="797170"/>
          </a:xfrm>
          <a:prstGeom prst="rect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506700" y="2568107"/>
            <a:ext cx="1910862" cy="797170"/>
          </a:xfrm>
          <a:prstGeom prst="rect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464061" y="2564749"/>
            <a:ext cx="1910862" cy="797170"/>
          </a:xfrm>
          <a:prstGeom prst="rect">
            <a:avLst/>
          </a:prstGeom>
          <a:solidFill>
            <a:srgbClr val="FFC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2154591" y="1298321"/>
            <a:ext cx="1858556" cy="567955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800" dirty="0">
                <a:solidFill>
                  <a:srgbClr val="0070C0"/>
                </a:solidFill>
              </a:rPr>
              <a:t>d</a:t>
            </a:r>
            <a:r>
              <a:rPr lang="en-US" sz="2800" dirty="0" smtClean="0">
                <a:solidFill>
                  <a:srgbClr val="0070C0"/>
                </a:solidFill>
              </a:rPr>
              <a:t>evelopers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5093739" y="1298321"/>
            <a:ext cx="929278" cy="567955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800" dirty="0" smtClean="0">
                <a:solidFill>
                  <a:srgbClr val="0070C0"/>
                </a:solidFill>
              </a:rPr>
              <a:t>users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8491448" y="1298320"/>
            <a:ext cx="2023663" cy="567955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800" dirty="0" smtClean="0">
                <a:solidFill>
                  <a:srgbClr val="0070C0"/>
                </a:solidFill>
              </a:rPr>
              <a:t>organization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470957" y="2533747"/>
            <a:ext cx="1982348" cy="878805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buNone/>
            </a:pPr>
            <a:r>
              <a:rPr lang="en-US" sz="2800" dirty="0" smtClean="0">
                <a:solidFill>
                  <a:srgbClr val="0070C0"/>
                </a:solidFill>
              </a:rPr>
              <a:t>the application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8795766" y="2689171"/>
            <a:ext cx="1415025" cy="567955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800" dirty="0" smtClean="0">
                <a:solidFill>
                  <a:srgbClr val="0070C0"/>
                </a:solidFill>
              </a:rPr>
              <a:t>benefits</a:t>
            </a:r>
          </a:p>
        </p:txBody>
      </p:sp>
      <p:cxnSp>
        <p:nvCxnSpPr>
          <p:cNvPr id="21" name="Elbow Connector 20"/>
          <p:cNvCxnSpPr>
            <a:stCxn id="6" idx="2"/>
            <a:endCxn id="16" idx="1"/>
          </p:cNvCxnSpPr>
          <p:nvPr/>
        </p:nvCxnSpPr>
        <p:spPr>
          <a:xfrm rot="16200000" flipH="1">
            <a:off x="3207697" y="1709889"/>
            <a:ext cx="1015641" cy="1510880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2"/>
            <a:endCxn id="16" idx="0"/>
          </p:cNvCxnSpPr>
          <p:nvPr/>
        </p:nvCxnSpPr>
        <p:spPr>
          <a:xfrm>
            <a:off x="5462131" y="1957509"/>
            <a:ext cx="0" cy="5762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6" idx="3"/>
            <a:endCxn id="10" idx="1"/>
          </p:cNvCxnSpPr>
          <p:nvPr/>
        </p:nvCxnSpPr>
        <p:spPr>
          <a:xfrm flipV="1">
            <a:off x="6453305" y="2963334"/>
            <a:ext cx="2010756" cy="98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0" idx="0"/>
            <a:endCxn id="8" idx="2"/>
          </p:cNvCxnSpPr>
          <p:nvPr/>
        </p:nvCxnSpPr>
        <p:spPr>
          <a:xfrm flipV="1">
            <a:off x="9419492" y="1957509"/>
            <a:ext cx="0" cy="60724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2"/>
          <p:cNvSpPr txBox="1">
            <a:spLocks/>
          </p:cNvSpPr>
          <p:nvPr/>
        </p:nvSpPr>
        <p:spPr>
          <a:xfrm>
            <a:off x="2976016" y="3039114"/>
            <a:ext cx="988646" cy="567955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800" dirty="0" smtClean="0"/>
              <a:t>build</a:t>
            </a:r>
          </a:p>
        </p:txBody>
      </p:sp>
      <p:sp>
        <p:nvSpPr>
          <p:cNvPr id="29" name="Content Placeholder 2"/>
          <p:cNvSpPr txBox="1">
            <a:spLocks/>
          </p:cNvSpPr>
          <p:nvPr/>
        </p:nvSpPr>
        <p:spPr>
          <a:xfrm>
            <a:off x="5587573" y="2032340"/>
            <a:ext cx="988646" cy="567955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800" dirty="0" smtClean="0"/>
              <a:t>use</a:t>
            </a:r>
          </a:p>
        </p:txBody>
      </p:sp>
      <p:sp>
        <p:nvSpPr>
          <p:cNvPr id="30" name="Content Placeholder 2"/>
          <p:cNvSpPr txBox="1">
            <a:spLocks/>
          </p:cNvSpPr>
          <p:nvPr/>
        </p:nvSpPr>
        <p:spPr>
          <a:xfrm>
            <a:off x="9519781" y="2032340"/>
            <a:ext cx="988646" cy="567955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800" dirty="0" smtClean="0"/>
              <a:t>for</a:t>
            </a:r>
          </a:p>
        </p:txBody>
      </p:sp>
      <p:sp>
        <p:nvSpPr>
          <p:cNvPr id="31" name="Content Placeholder 2"/>
          <p:cNvSpPr txBox="1">
            <a:spLocks/>
          </p:cNvSpPr>
          <p:nvPr/>
        </p:nvSpPr>
        <p:spPr>
          <a:xfrm>
            <a:off x="6676651" y="2999571"/>
            <a:ext cx="1737667" cy="567955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400050" indent="-40005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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7063" indent="-2270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76313" indent="-1746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16351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buNone/>
            </a:pPr>
            <a:r>
              <a:rPr lang="en-US" sz="2800" dirty="0" smtClean="0"/>
              <a:t>To deliver</a:t>
            </a:r>
          </a:p>
        </p:txBody>
      </p:sp>
    </p:spTree>
    <p:extLst>
      <p:ext uri="{BB962C8B-B14F-4D97-AF65-F5344CB8AC3E}">
        <p14:creationId xmlns:p14="http://schemas.microsoft.com/office/powerpoint/2010/main" val="1872399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To carry this out, you must:</a:t>
            </a:r>
            <a:endParaRPr lang="en-US" dirty="0" smtClean="0"/>
          </a:p>
          <a:p>
            <a:r>
              <a:rPr lang="en-US" dirty="0"/>
              <a:t>Define expected benefits</a:t>
            </a:r>
          </a:p>
          <a:p>
            <a:r>
              <a:rPr lang="en-US" dirty="0" err="1"/>
              <a:t>Analyse</a:t>
            </a:r>
            <a:r>
              <a:rPr lang="en-US" dirty="0"/>
              <a:t> balance between costs and benefits</a:t>
            </a:r>
          </a:p>
          <a:p>
            <a:r>
              <a:rPr lang="en-US" dirty="0"/>
              <a:t>Plan how benefits will be achieved</a:t>
            </a:r>
          </a:p>
          <a:p>
            <a:r>
              <a:rPr lang="en-US" dirty="0"/>
              <a:t>Allocate responsibilities for their achievement</a:t>
            </a:r>
          </a:p>
          <a:p>
            <a:r>
              <a:rPr lang="en-US" dirty="0"/>
              <a:t>Monitor achievement of benefits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874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These might include</a:t>
            </a:r>
            <a:r>
              <a:rPr lang="en-US" dirty="0" smtClean="0"/>
              <a:t>:</a:t>
            </a:r>
            <a:endParaRPr lang="en-US" dirty="0" smtClean="0"/>
          </a:p>
          <a:p>
            <a:r>
              <a:rPr lang="en-US" dirty="0"/>
              <a:t>Mandatory </a:t>
            </a:r>
            <a:r>
              <a:rPr lang="en-US" dirty="0" smtClean="0"/>
              <a:t>requirement</a:t>
            </a:r>
          </a:p>
          <a:p>
            <a:r>
              <a:rPr lang="en-US" dirty="0"/>
              <a:t>Improved quality of </a:t>
            </a:r>
            <a:r>
              <a:rPr lang="en-US" dirty="0" smtClean="0"/>
              <a:t>service</a:t>
            </a:r>
          </a:p>
          <a:p>
            <a:r>
              <a:rPr lang="en-US" dirty="0" smtClean="0"/>
              <a:t>Increased productivity</a:t>
            </a:r>
          </a:p>
          <a:p>
            <a:r>
              <a:rPr lang="en-US" dirty="0" smtClean="0"/>
              <a:t>More </a:t>
            </a:r>
            <a:r>
              <a:rPr lang="en-US" dirty="0"/>
              <a:t>motivated </a:t>
            </a:r>
            <a:r>
              <a:rPr lang="en-US" dirty="0" smtClean="0"/>
              <a:t>workforce</a:t>
            </a:r>
          </a:p>
          <a:p>
            <a:r>
              <a:rPr lang="en-US" dirty="0" smtClean="0"/>
              <a:t>Internal </a:t>
            </a:r>
            <a:r>
              <a:rPr lang="en-US" dirty="0"/>
              <a:t>management benefits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704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Risk reduction </a:t>
            </a:r>
            <a:endParaRPr lang="en-US" dirty="0" smtClean="0"/>
          </a:p>
          <a:p>
            <a:r>
              <a:rPr lang="en-US" dirty="0" smtClean="0"/>
              <a:t>Economies</a:t>
            </a:r>
            <a:endParaRPr lang="en-US" dirty="0"/>
          </a:p>
          <a:p>
            <a:r>
              <a:rPr lang="en-US" dirty="0"/>
              <a:t>Revenue enhancement/acceleration</a:t>
            </a:r>
          </a:p>
          <a:p>
            <a:r>
              <a:rPr lang="en-US" dirty="0"/>
              <a:t>Strategic </a:t>
            </a:r>
            <a:r>
              <a:rPr lang="en-US" dirty="0" smtClean="0"/>
              <a:t>fit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8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Quantifying benefits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Benefits can be:</a:t>
            </a:r>
            <a:endParaRPr lang="en-US" dirty="0" smtClean="0"/>
          </a:p>
          <a:p>
            <a:r>
              <a:rPr lang="en-US" dirty="0"/>
              <a:t>Quantified and valued e.g. a reduction of x staff saving £y</a:t>
            </a:r>
          </a:p>
          <a:p>
            <a:r>
              <a:rPr lang="en-US" dirty="0"/>
              <a:t>Quantified but not valued e.g. a decrease in customer complaints by x%</a:t>
            </a:r>
          </a:p>
          <a:p>
            <a:r>
              <a:rPr lang="en-US" dirty="0"/>
              <a:t>Identified but not easily quantified – e.g. public approval for a organization in the locality where it is based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8112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Remember!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460" y="1319461"/>
            <a:ext cx="10786872" cy="4224013"/>
          </a:xfrm>
        </p:spPr>
        <p:txBody>
          <a:bodyPr>
            <a:noAutofit/>
          </a:bodyPr>
          <a:lstStyle/>
          <a:p>
            <a:r>
              <a:rPr lang="en-US" dirty="0"/>
              <a:t>A project may fail not through poor management but because it should never have been started</a:t>
            </a:r>
          </a:p>
          <a:p>
            <a:r>
              <a:rPr lang="en-US" dirty="0"/>
              <a:t>A project may make a profit, but it may be possible to do something else that makes even more profit</a:t>
            </a:r>
          </a:p>
          <a:p>
            <a:r>
              <a:rPr lang="en-US" dirty="0"/>
              <a:t>A real problem is that it is often not possible to express benefits in accurate financial terms</a:t>
            </a:r>
          </a:p>
          <a:p>
            <a:r>
              <a:rPr lang="en-US" dirty="0"/>
              <a:t>Projects with the highest potential returns are often the most risky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 smtClean="0"/>
              <a:t>Ch2</a:t>
            </a:r>
            <a:r>
              <a:rPr lang="en-US" dirty="0" smtClean="0"/>
              <a:t>. Project </a:t>
            </a:r>
            <a:r>
              <a:rPr lang="en-US" dirty="0"/>
              <a:t>evaluation and </a:t>
            </a:r>
            <a:r>
              <a:rPr lang="en-US" dirty="0" err="1"/>
              <a:t>programme</a:t>
            </a:r>
            <a:r>
              <a:rPr lang="en-US" dirty="0"/>
              <a:t> management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11218863" y="6470650"/>
            <a:ext cx="973137" cy="274638"/>
          </a:xfrm>
          <a:prstGeom prst="rect">
            <a:avLst/>
          </a:prstGeom>
        </p:spPr>
        <p:txBody>
          <a:bodyPr/>
          <a:lstStyle/>
          <a:p>
            <a:fld id="{6A4D3DC4-9E7F-1C47-B729-896D53019E3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742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_SE2019s1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_SE2019s1" id="{E4EA5176-60B7-4738-A39A-85EA610AC46B}" vid="{8416C537-BC8A-42C5-99D5-28933A3097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Theme_SE2019s1</Template>
  <TotalTime>5815</TotalTime>
  <Words>3117</Words>
  <Application>Microsoft Office PowerPoint</Application>
  <PresentationFormat>Widescreen</PresentationFormat>
  <Paragraphs>620</Paragraphs>
  <Slides>34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ＭＳ Ｐゴシック</vt:lpstr>
      <vt:lpstr>Arial</vt:lpstr>
      <vt:lpstr>Calibri</vt:lpstr>
      <vt:lpstr>Tahoma</vt:lpstr>
      <vt:lpstr>Tw Cen MT</vt:lpstr>
      <vt:lpstr>Tw Cen MT Condensed</vt:lpstr>
      <vt:lpstr>Wingdings</vt:lpstr>
      <vt:lpstr>Wingdings 3</vt:lpstr>
      <vt:lpstr>Theme_SE2019s1</vt:lpstr>
      <vt:lpstr>Chapter 2- Project evaluation and programme management </vt:lpstr>
      <vt:lpstr>Main topics to be covered</vt:lpstr>
      <vt:lpstr>The business case</vt:lpstr>
      <vt:lpstr>Contents of a business case</vt:lpstr>
      <vt:lpstr>Content of the business case</vt:lpstr>
      <vt:lpstr>Content of the business case</vt:lpstr>
      <vt:lpstr>Content of the business case</vt:lpstr>
      <vt:lpstr>Project portfolio management</vt:lpstr>
      <vt:lpstr>Project portfolio management</vt:lpstr>
      <vt:lpstr>Project portfolio management</vt:lpstr>
      <vt:lpstr>Cost benefit analysis (CBA)</vt:lpstr>
      <vt:lpstr>Product/system life cycle cash flows</vt:lpstr>
      <vt:lpstr>Product/system life cycle cash flows</vt:lpstr>
      <vt:lpstr>Net profit</vt:lpstr>
      <vt:lpstr>Pay back period</vt:lpstr>
      <vt:lpstr>Return on investment (ROI)</vt:lpstr>
      <vt:lpstr>Net present value</vt:lpstr>
      <vt:lpstr>Discount factor</vt:lpstr>
      <vt:lpstr>Applying discount factors</vt:lpstr>
      <vt:lpstr>Internal rate of return</vt:lpstr>
      <vt:lpstr>Dealing with uncertainty: Risk evaluation</vt:lpstr>
      <vt:lpstr>Example of a project risk matrix</vt:lpstr>
      <vt:lpstr>Decision trees</vt:lpstr>
      <vt:lpstr>Programme management</vt:lpstr>
      <vt:lpstr>Programmes may be</vt:lpstr>
      <vt:lpstr>Programme managers versus project managers</vt:lpstr>
      <vt:lpstr>Strategic programmes</vt:lpstr>
      <vt:lpstr>Next stages/documents</vt:lpstr>
      <vt:lpstr>Benefits management</vt:lpstr>
      <vt:lpstr>Benefits management</vt:lpstr>
      <vt:lpstr>Benefits</vt:lpstr>
      <vt:lpstr>Benefits</vt:lpstr>
      <vt:lpstr>Quantifying benefits</vt:lpstr>
      <vt:lpstr>Remember!</vt:lpstr>
    </vt:vector>
  </TitlesOfParts>
  <Company>HCMUT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chap 1. Intro</dc:title>
  <dc:creator>Thang Bui</dc:creator>
  <cp:lastModifiedBy>Lộc Mai Phước</cp:lastModifiedBy>
  <cp:revision>235</cp:revision>
  <dcterms:created xsi:type="dcterms:W3CDTF">2009-12-29T10:39:27Z</dcterms:created>
  <dcterms:modified xsi:type="dcterms:W3CDTF">2024-09-04T11:02:42Z</dcterms:modified>
</cp:coreProperties>
</file>