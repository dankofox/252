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9" r:id="rId1"/>
  </p:sldMasterIdLst>
  <p:notesMasterIdLst>
    <p:notesMasterId r:id="rId36"/>
  </p:notesMasterIdLst>
  <p:handoutMasterIdLst>
    <p:handoutMasterId r:id="rId37"/>
  </p:handoutMasterIdLst>
  <p:sldIdLst>
    <p:sldId id="299" r:id="rId2"/>
    <p:sldId id="295" r:id="rId3"/>
    <p:sldId id="301" r:id="rId4"/>
    <p:sldId id="347" r:id="rId5"/>
    <p:sldId id="303" r:id="rId6"/>
    <p:sldId id="306" r:id="rId7"/>
    <p:sldId id="335" r:id="rId8"/>
    <p:sldId id="308" r:id="rId9"/>
    <p:sldId id="336" r:id="rId10"/>
    <p:sldId id="310" r:id="rId11"/>
    <p:sldId id="311" r:id="rId12"/>
    <p:sldId id="360" r:id="rId13"/>
    <p:sldId id="312" r:id="rId14"/>
    <p:sldId id="339" r:id="rId15"/>
    <p:sldId id="337" r:id="rId16"/>
    <p:sldId id="367" r:id="rId17"/>
    <p:sldId id="349" r:id="rId18"/>
    <p:sldId id="314" r:id="rId19"/>
    <p:sldId id="348" r:id="rId20"/>
    <p:sldId id="361" r:id="rId21"/>
    <p:sldId id="343" r:id="rId22"/>
    <p:sldId id="342" r:id="rId23"/>
    <p:sldId id="341" r:id="rId24"/>
    <p:sldId id="346" r:id="rId25"/>
    <p:sldId id="345" r:id="rId26"/>
    <p:sldId id="355" r:id="rId27"/>
    <p:sldId id="354" r:id="rId28"/>
    <p:sldId id="353" r:id="rId29"/>
    <p:sldId id="352" r:id="rId30"/>
    <p:sldId id="344" r:id="rId31"/>
    <p:sldId id="351" r:id="rId32"/>
    <p:sldId id="350" r:id="rId33"/>
    <p:sldId id="357" r:id="rId34"/>
    <p:sldId id="362" r:id="rId35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8A7A"/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60" autoAdjust="0"/>
    <p:restoredTop sz="96727" autoAdjust="0"/>
  </p:normalViewPr>
  <p:slideViewPr>
    <p:cSldViewPr snapToGrid="0" snapToObjects="1">
      <p:cViewPr varScale="1">
        <p:scale>
          <a:sx n="78" d="100"/>
          <a:sy n="78" d="100"/>
        </p:scale>
        <p:origin x="898" y="58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83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330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152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66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60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53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41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21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dirty="0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87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38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30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88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3062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dirty="0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144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510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537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7358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dirty="0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5256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293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3792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404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466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1738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dirty="0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062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168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887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243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708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4284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971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366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2184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950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09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82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349" y="1"/>
            <a:ext cx="12192000" cy="52938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6350" y="-24063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97256"/>
            <a:ext cx="7772400" cy="1463040"/>
          </a:xfrm>
        </p:spPr>
        <p:txBody>
          <a:bodyPr anchor="ctr">
            <a:normAutofit/>
          </a:bodyPr>
          <a:lstStyle>
            <a:lvl1pPr algn="r">
              <a:defRPr sz="36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10600" y="3897256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Thang</a:t>
            </a:r>
            <a:r>
              <a:rPr lang="en-US" dirty="0"/>
              <a:t> Bui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201225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4709"/>
            <a:ext cx="1278800" cy="871990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3322651" y="529389"/>
            <a:ext cx="7772400" cy="2317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8000" dirty="0"/>
              <a:t>Software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1768" y="6525692"/>
            <a:ext cx="74188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Adapted from https://iansommerville.com/software-engineering-book/slides/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4299" y="2410485"/>
            <a:ext cx="13580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CO3001</a:t>
            </a:r>
          </a:p>
        </p:txBody>
      </p:sp>
    </p:spTree>
    <p:extLst>
      <p:ext uri="{BB962C8B-B14F-4D97-AF65-F5344CB8AC3E}">
        <p14:creationId xmlns:p14="http://schemas.microsoft.com/office/powerpoint/2010/main" val="293072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3754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57751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6350" y="1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85224"/>
            <a:ext cx="77724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3885224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189193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62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96254"/>
            <a:ext cx="10786873" cy="12272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1524002"/>
            <a:ext cx="4965192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1011" y="1524002"/>
            <a:ext cx="5329988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9497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84222"/>
            <a:ext cx="10786873" cy="12392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4002"/>
            <a:ext cx="513604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346962"/>
            <a:ext cx="5136040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843" y="1524002"/>
            <a:ext cx="5394157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843" y="2346962"/>
            <a:ext cx="5394157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361780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991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9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8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30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7" y="96254"/>
            <a:ext cx="10786871" cy="1215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8012"/>
            <a:ext cx="10786872" cy="478134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30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3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Ch1. Introduction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224745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8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61" r:id="rId8"/>
    <p:sldLayoutId id="2147483723" r:id="rId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400050" indent="-40005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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27063" indent="-2270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01688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6313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39825" indent="-1635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7600DC-B0CD-1F43-6577-EA035114F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45D46-2537-D833-E9C1-99770824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Aug 2024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6C17DD5-9C6D-BDE9-0272-3FD1C39D1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803" y="3879583"/>
            <a:ext cx="7772400" cy="1463040"/>
          </a:xfrm>
        </p:spPr>
        <p:txBody>
          <a:bodyPr/>
          <a:lstStyle/>
          <a:p>
            <a:r>
              <a:rPr lang="en-US" dirty="0"/>
              <a:t>Chapter 04 – Selection of an appropriate project approach</a:t>
            </a:r>
            <a:endParaRPr lang="vi-VN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619AF615-2E55-D393-FD5D-0D9984AC2985}"/>
              </a:ext>
            </a:extLst>
          </p:cNvPr>
          <p:cNvSpPr txBox="1">
            <a:spLocks/>
          </p:cNvSpPr>
          <p:nvPr/>
        </p:nvSpPr>
        <p:spPr>
          <a:xfrm>
            <a:off x="4038600" y="1399074"/>
            <a:ext cx="7772400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SOFTWARE 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PROJECT MANAGEMENT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769912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Outline of lecture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364147-2629-2CFA-3E01-58B1E43BE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versus buying software </a:t>
            </a:r>
          </a:p>
          <a:p>
            <a:r>
              <a:rPr lang="en-US" dirty="0"/>
              <a:t>Taking account of the characteristics of the project </a:t>
            </a:r>
          </a:p>
          <a:p>
            <a:r>
              <a:rPr lang="en-US" dirty="0"/>
              <a:t>Process models </a:t>
            </a:r>
          </a:p>
          <a:p>
            <a:pPr lvl="1"/>
            <a:r>
              <a:rPr lang="en-US" sz="3200" dirty="0"/>
              <a:t>Waterfall </a:t>
            </a:r>
          </a:p>
          <a:p>
            <a:pPr lvl="1"/>
            <a:r>
              <a:rPr lang="en-US" sz="3200" dirty="0"/>
              <a:t>Prototyping and iterative approaches </a:t>
            </a:r>
          </a:p>
          <a:p>
            <a:pPr lvl="1"/>
            <a:r>
              <a:rPr lang="en-US" sz="3200" dirty="0"/>
              <a:t>Incremental delivery </a:t>
            </a:r>
          </a:p>
          <a:p>
            <a:r>
              <a:rPr lang="en-US" dirty="0"/>
              <a:t>Agile approaches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 of project approaches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7983C-FAB6-DA3E-B646-5447DF3BC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This lecture concerned with choosing the right approach to a particular project: variously called technical planning, project analysis, methods engineering and methods tailoring</a:t>
            </a:r>
          </a:p>
          <a:p>
            <a:r>
              <a:rPr lang="en-US" sz="3200" dirty="0"/>
              <a:t>In-house: often the methods to be used dictated by organizational standards</a:t>
            </a:r>
          </a:p>
          <a:p>
            <a:r>
              <a:rPr lang="en-US" sz="3200" dirty="0"/>
              <a:t>Suppliers: need for tailoring as different customers have different needs</a:t>
            </a:r>
          </a:p>
        </p:txBody>
      </p:sp>
    </p:spTree>
    <p:extLst>
      <p:ext uri="{BB962C8B-B14F-4D97-AF65-F5344CB8AC3E}">
        <p14:creationId xmlns:p14="http://schemas.microsoft.com/office/powerpoint/2010/main" val="3327087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or buy?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B811532-37C0-C48F-14C1-CE6ADBA634FB}"/>
              </a:ext>
            </a:extLst>
          </p:cNvPr>
          <p:cNvSpPr/>
          <p:nvPr/>
        </p:nvSpPr>
        <p:spPr>
          <a:xfrm>
            <a:off x="1986116" y="1533832"/>
            <a:ext cx="2300748" cy="10815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In-house development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31CC1B-ACC5-477C-122A-6A9784490F1D}"/>
              </a:ext>
            </a:extLst>
          </p:cNvPr>
          <p:cNvSpPr/>
          <p:nvPr/>
        </p:nvSpPr>
        <p:spPr>
          <a:xfrm>
            <a:off x="5289755" y="1533832"/>
            <a:ext cx="2300748" cy="10815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Outsource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C21248-5207-FB59-FDF9-3E22D8E71E88}"/>
              </a:ext>
            </a:extLst>
          </p:cNvPr>
          <p:cNvSpPr/>
          <p:nvPr/>
        </p:nvSpPr>
        <p:spPr>
          <a:xfrm>
            <a:off x="3713691" y="3819832"/>
            <a:ext cx="2300748" cy="10815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Build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A4A006B-44F8-2478-D275-2812B4451423}"/>
              </a:ext>
            </a:extLst>
          </p:cNvPr>
          <p:cNvSpPr/>
          <p:nvPr/>
        </p:nvSpPr>
        <p:spPr>
          <a:xfrm>
            <a:off x="7364618" y="3819832"/>
            <a:ext cx="2300748" cy="108154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Buy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ACD428-2D61-4EF5-64C2-A51288913D99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4864065" y="2615381"/>
            <a:ext cx="1576064" cy="12044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9CF05D3-314F-F10B-79D4-2952B1F0BEC7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6440129" y="2615381"/>
            <a:ext cx="2074863" cy="12044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0DA34C-5D68-AEEC-6921-E0BB80DAA2CE}"/>
              </a:ext>
            </a:extLst>
          </p:cNvPr>
          <p:cNvCxnSpPr>
            <a:cxnSpLocks/>
            <a:stCxn id="3" idx="4"/>
            <a:endCxn id="7" idx="1"/>
          </p:cNvCxnSpPr>
          <p:nvPr/>
        </p:nvCxnSpPr>
        <p:spPr>
          <a:xfrm>
            <a:off x="3136490" y="2615381"/>
            <a:ext cx="914138" cy="13628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6575E3-7F03-C06B-F7F9-5812BC444F4A}"/>
              </a:ext>
            </a:extLst>
          </p:cNvPr>
          <p:cNvCxnSpPr>
            <a:cxnSpLocks/>
            <a:stCxn id="3" idx="6"/>
            <a:endCxn id="6" idx="2"/>
          </p:cNvCxnSpPr>
          <p:nvPr/>
        </p:nvCxnSpPr>
        <p:spPr>
          <a:xfrm>
            <a:off x="4286864" y="2074607"/>
            <a:ext cx="100289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483B117-D520-1F10-D429-E7370CBB655A}"/>
              </a:ext>
            </a:extLst>
          </p:cNvPr>
          <p:cNvSpPr txBox="1"/>
          <p:nvPr/>
        </p:nvSpPr>
        <p:spPr>
          <a:xfrm>
            <a:off x="2885899" y="3028646"/>
            <a:ext cx="737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2F15B7-397E-D49D-59BE-0842ACE379D4}"/>
              </a:ext>
            </a:extLst>
          </p:cNvPr>
          <p:cNvSpPr txBox="1"/>
          <p:nvPr/>
        </p:nvSpPr>
        <p:spPr>
          <a:xfrm>
            <a:off x="4444049" y="1726772"/>
            <a:ext cx="737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B74266-0D00-015E-38DB-8A3EEB0518C5}"/>
              </a:ext>
            </a:extLst>
          </p:cNvPr>
          <p:cNvSpPr txBox="1"/>
          <p:nvPr/>
        </p:nvSpPr>
        <p:spPr>
          <a:xfrm>
            <a:off x="6069406" y="3018504"/>
            <a:ext cx="89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Either</a:t>
            </a:r>
          </a:p>
        </p:txBody>
      </p:sp>
    </p:spTree>
    <p:extLst>
      <p:ext uri="{BB962C8B-B14F-4D97-AF65-F5344CB8AC3E}">
        <p14:creationId xmlns:p14="http://schemas.microsoft.com/office/powerpoint/2010/main" val="4077655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96254"/>
            <a:ext cx="10786871" cy="1215189"/>
          </a:xfrm>
        </p:spPr>
        <p:txBody>
          <a:bodyPr anchor="ctr">
            <a:normAutofit/>
          </a:bodyPr>
          <a:lstStyle/>
          <a:p>
            <a:r>
              <a:rPr lang="en-US" dirty="0"/>
              <a:t>Some advantages of off-the-shelf (OTS) software</a:t>
            </a:r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D75969CB-B379-92FA-8BFA-0F265E47E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30" y="6470704"/>
            <a:ext cx="2154143" cy="274320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/>
              <a:t>Mar 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 anchor="ctr">
            <a:normAutofit/>
          </a:bodyPr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 hidden="1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fld id="{6A4D3DC4-9E7F-1C47-B729-896D53019E3D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02AB41-A30E-E9CB-E143-62CAC88E8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Cheaper as supplier can spread development costs over a large number of customers </a:t>
            </a:r>
          </a:p>
          <a:p>
            <a:r>
              <a:rPr lang="en-US" dirty="0"/>
              <a:t>Software already exists </a:t>
            </a:r>
          </a:p>
          <a:p>
            <a:pPr lvl="1"/>
            <a:r>
              <a:rPr lang="en-US" sz="3200" dirty="0"/>
              <a:t>Can be </a:t>
            </a:r>
            <a:r>
              <a:rPr lang="en-US" sz="3200" dirty="0" err="1"/>
              <a:t>trialled</a:t>
            </a:r>
            <a:r>
              <a:rPr lang="en-US" sz="3200" dirty="0"/>
              <a:t> by potential customer </a:t>
            </a:r>
          </a:p>
          <a:p>
            <a:pPr lvl="1"/>
            <a:r>
              <a:rPr lang="en-US" sz="3200" dirty="0"/>
              <a:t>No delay while software being developed </a:t>
            </a:r>
          </a:p>
          <a:p>
            <a:r>
              <a:rPr lang="en-US" dirty="0"/>
              <a:t>Where there have been existing users, bugs are likely to have been found and eradicated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D2DCEA30-43D6-4818-818E-CF4CEB4EADA6}"/>
              </a:ext>
            </a:extLst>
          </p:cNvPr>
          <p:cNvSpPr txBox="1">
            <a:spLocks/>
          </p:cNvSpPr>
          <p:nvPr/>
        </p:nvSpPr>
        <p:spPr>
          <a:xfrm>
            <a:off x="11218863" y="6505472"/>
            <a:ext cx="973137" cy="27463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fld id="{6A4D3DC4-9E7F-1C47-B729-896D53019E3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779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possible disadvantages of off-the- shelf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844" y="1311443"/>
            <a:ext cx="10786872" cy="5334001"/>
          </a:xfrm>
        </p:spPr>
        <p:txBody>
          <a:bodyPr>
            <a:noAutofit/>
          </a:bodyPr>
          <a:lstStyle/>
          <a:p>
            <a:r>
              <a:rPr lang="en-US" dirty="0">
                <a:highlight>
                  <a:srgbClr val="FFFFFF"/>
                </a:highlight>
              </a:rPr>
              <a:t>Customer will have same application as everyone else: no competitive advantage, but competitive advantage may come from the way application is used </a:t>
            </a:r>
          </a:p>
          <a:p>
            <a:r>
              <a:rPr lang="en-US" dirty="0">
                <a:highlight>
                  <a:srgbClr val="FFFFFF"/>
                </a:highlight>
              </a:rPr>
              <a:t>Customer may need to change the way they work in order to fit in with OTS application </a:t>
            </a:r>
          </a:p>
          <a:p>
            <a:r>
              <a:rPr lang="en-US" dirty="0">
                <a:highlight>
                  <a:srgbClr val="FFFFFF"/>
                </a:highlight>
              </a:rPr>
              <a:t>Customer does not own the code and cannot change it </a:t>
            </a:r>
          </a:p>
          <a:p>
            <a:r>
              <a:rPr lang="en-US" dirty="0">
                <a:highlight>
                  <a:srgbClr val="FFFFFF"/>
                </a:highlight>
              </a:rPr>
              <a:t>Danger of over-reliance on a single supplier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71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approach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97415-829A-DD9D-90ED-3CFD77FA6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Look at risks and uncertainties e.g.</a:t>
            </a:r>
          </a:p>
          <a:p>
            <a:pPr lvl="1"/>
            <a:r>
              <a:rPr lang="en-US" sz="3200" dirty="0"/>
              <a:t>are requirement well understood? </a:t>
            </a:r>
          </a:p>
          <a:p>
            <a:pPr lvl="1"/>
            <a:r>
              <a:rPr lang="en-US" sz="3200" dirty="0"/>
              <a:t>are technologies to be used well understood?</a:t>
            </a:r>
          </a:p>
          <a:p>
            <a:r>
              <a:rPr lang="en-US" dirty="0"/>
              <a:t>Look at the type of application being built e.g.</a:t>
            </a:r>
          </a:p>
          <a:p>
            <a:pPr lvl="1"/>
            <a:r>
              <a:rPr lang="en-US" sz="3200" dirty="0"/>
              <a:t>information system? embedded system? </a:t>
            </a:r>
          </a:p>
          <a:p>
            <a:pPr lvl="1"/>
            <a:r>
              <a:rPr lang="en-US" sz="3200" dirty="0"/>
              <a:t>criticality? differences between target and development environments?</a:t>
            </a:r>
          </a:p>
          <a:p>
            <a:r>
              <a:rPr lang="en-US" dirty="0"/>
              <a:t>Clients’ own requirements</a:t>
            </a:r>
          </a:p>
          <a:p>
            <a:pPr lvl="1"/>
            <a:r>
              <a:rPr lang="en-US" sz="3200" dirty="0"/>
              <a:t>need to use a particular method</a:t>
            </a:r>
          </a:p>
        </p:txBody>
      </p:sp>
    </p:spTree>
    <p:extLst>
      <p:ext uri="{BB962C8B-B14F-4D97-AF65-F5344CB8AC3E}">
        <p14:creationId xmlns:p14="http://schemas.microsoft.com/office/powerpoint/2010/main" val="3392482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versus speed of delivery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7DF0A-81C9-8F01-344B-1088BE376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335775"/>
            <a:ext cx="10786872" cy="4781349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dirty="0"/>
              <a:t>Structured approach </a:t>
            </a:r>
          </a:p>
          <a:p>
            <a:pPr>
              <a:lnSpc>
                <a:spcPct val="80000"/>
              </a:lnSpc>
            </a:pPr>
            <a:r>
              <a:rPr lang="en-US" dirty="0"/>
              <a:t>Also called ‘heavyweight’ approaches </a:t>
            </a:r>
          </a:p>
          <a:p>
            <a:pPr>
              <a:lnSpc>
                <a:spcPct val="80000"/>
              </a:lnSpc>
            </a:pPr>
            <a:r>
              <a:rPr lang="en-US" dirty="0"/>
              <a:t>Step-by-step methods where each step and intermediate product is carefully defined </a:t>
            </a:r>
          </a:p>
          <a:p>
            <a:pPr>
              <a:lnSpc>
                <a:spcPct val="80000"/>
              </a:lnSpc>
            </a:pPr>
            <a:r>
              <a:rPr lang="en-US" dirty="0"/>
              <a:t>Emphasis on getting quality right first time </a:t>
            </a:r>
          </a:p>
          <a:p>
            <a:pPr>
              <a:lnSpc>
                <a:spcPct val="80000"/>
              </a:lnSpc>
            </a:pPr>
            <a:r>
              <a:rPr lang="en-US" dirty="0"/>
              <a:t>Example: use of UML and USDP </a:t>
            </a:r>
          </a:p>
          <a:p>
            <a:pPr>
              <a:lnSpc>
                <a:spcPct val="80000"/>
              </a:lnSpc>
            </a:pPr>
            <a:r>
              <a:rPr lang="en-US" dirty="0"/>
              <a:t>Future vision: Model-Driven Architecture (MDA). UML supplemented with Object Constraint Language, press the button and application code generated from the UML/</a:t>
            </a:r>
            <a:r>
              <a:rPr lang="en-US" dirty="0" err="1"/>
              <a:t>OCL</a:t>
            </a:r>
            <a:r>
              <a:rPr lang="en-US" dirty="0"/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1331051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versus speed of delivery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0522431B-004B-3942-5F9A-66922CB8D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ighlight>
                  <a:srgbClr val="FFFFFF"/>
                </a:highlight>
              </a:rPr>
              <a:t>Agile methods </a:t>
            </a:r>
          </a:p>
          <a:p>
            <a:r>
              <a:rPr lang="en-US" dirty="0">
                <a:highlight>
                  <a:srgbClr val="FFFFFF"/>
                </a:highlight>
              </a:rPr>
              <a:t>Emphasis on speed of delivery rather than documentation </a:t>
            </a:r>
          </a:p>
          <a:p>
            <a:r>
              <a:rPr lang="en-US" dirty="0">
                <a:highlight>
                  <a:srgbClr val="FFFFFF"/>
                </a:highlight>
              </a:rPr>
              <a:t>RAD Rapid application development emphasized use of quickly developed prototypes </a:t>
            </a:r>
          </a:p>
          <a:p>
            <a:r>
              <a:rPr lang="en-US" dirty="0">
                <a:highlight>
                  <a:srgbClr val="FFFFFF"/>
                </a:highlight>
              </a:rPr>
              <a:t>JAD Joint application development. Requirements are identified and agreed in intensive workshops with users</a:t>
            </a:r>
            <a:endParaRPr lang="en-US" sz="3200" b="0" i="0" dirty="0">
              <a:effectLst/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63144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Choice of process models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7B060A-6B42-143D-D351-A03849B6A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‘waterfall’ also known as ‘one-shot’, ‘once-through’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incremental delivery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evolutionary development</a:t>
            </a:r>
          </a:p>
          <a:p>
            <a:pPr marL="0" indent="0">
              <a:buNone/>
            </a:pPr>
            <a:r>
              <a:rPr lang="en-US" dirty="0"/>
              <a:t>Also use of ‘agile methods’ e.g. extreme programming</a:t>
            </a:r>
          </a:p>
        </p:txBody>
      </p:sp>
    </p:spTree>
    <p:extLst>
      <p:ext uri="{BB962C8B-B14F-4D97-AF65-F5344CB8AC3E}">
        <p14:creationId xmlns:p14="http://schemas.microsoft.com/office/powerpoint/2010/main" val="3263949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F4F0A4F-7DCF-4073-C15B-AFE764084A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21760" y="907609"/>
            <a:ext cx="4357657" cy="5563095"/>
          </a:xfrm>
        </p:spPr>
      </p:pic>
    </p:spTree>
    <p:extLst>
      <p:ext uri="{BB962C8B-B14F-4D97-AF65-F5344CB8AC3E}">
        <p14:creationId xmlns:p14="http://schemas.microsoft.com/office/powerpoint/2010/main" val="1575331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1" name="Content Placeholder 16">
            <a:extLst>
              <a:ext uri="{FF2B5EF4-FFF2-40B4-BE49-F238E27FC236}">
                <a16:creationId xmlns:a16="http://schemas.microsoft.com/office/drawing/2014/main" id="{73BCAA66-6BA8-C09B-9F24-E7975E483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6" y="1500345"/>
            <a:ext cx="10786872" cy="47813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the ‘classical’ model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imposes structure on the project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every stage needs to be checked and signed off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BUT</a:t>
            </a:r>
          </a:p>
          <a:p>
            <a:pPr lvl="1">
              <a:buSzPct val="75000"/>
              <a:buFont typeface="Wingdings" panose="05000000000000000000" pitchFamily="2" charset="2"/>
              <a:buChar char="§"/>
            </a:pPr>
            <a:r>
              <a:rPr lang="en-US" sz="3200" b="0" i="0" dirty="0">
                <a:effectLst/>
                <a:highlight>
                  <a:srgbClr val="FFFFFF"/>
                </a:highlight>
              </a:rPr>
              <a:t>limited scope for iteration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V model approach is an extension of waterfall where different testing phases are identified which check the quality of different development phases</a:t>
            </a:r>
          </a:p>
        </p:txBody>
      </p:sp>
    </p:spTree>
    <p:extLst>
      <p:ext uri="{BB962C8B-B14F-4D97-AF65-F5344CB8AC3E}">
        <p14:creationId xmlns:p14="http://schemas.microsoft.com/office/powerpoint/2010/main" val="1828154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evolutionary delivery: prototyping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559" y="1311443"/>
            <a:ext cx="10786872" cy="4432415"/>
          </a:xfrm>
        </p:spPr>
        <p:txBody>
          <a:bodyPr>
            <a:noAutofit/>
          </a:bodyPr>
          <a:lstStyle/>
          <a:p>
            <a:pPr marL="0" indent="0">
              <a:lnSpc>
                <a:spcPct val="85000"/>
              </a:lnSpc>
              <a:buNone/>
            </a:pPr>
            <a:r>
              <a:rPr lang="en-US" i="1" dirty="0"/>
              <a:t>‘An iterative process of creating quickly and inexpensively live and working models to test out requirements and assumptions’</a:t>
            </a:r>
          </a:p>
          <a:p>
            <a:pPr marL="0" indent="0">
              <a:lnSpc>
                <a:spcPct val="85000"/>
              </a:lnSpc>
              <a:buNone/>
            </a:pPr>
            <a:r>
              <a:rPr lang="en-US" dirty="0"/>
              <a:t>Sprague and </a:t>
            </a:r>
            <a:r>
              <a:rPr lang="en-US" dirty="0" err="1"/>
              <a:t>McNurlin</a:t>
            </a:r>
            <a:endParaRPr lang="en-US" dirty="0"/>
          </a:p>
          <a:p>
            <a:pPr marL="0" indent="0">
              <a:lnSpc>
                <a:spcPct val="85000"/>
              </a:lnSpc>
              <a:buNone/>
            </a:pPr>
            <a:r>
              <a:rPr lang="en-US" dirty="0"/>
              <a:t>main types</a:t>
            </a:r>
          </a:p>
          <a:p>
            <a:pPr>
              <a:lnSpc>
                <a:spcPct val="85000"/>
              </a:lnSpc>
            </a:pPr>
            <a:r>
              <a:rPr lang="en-US" dirty="0"/>
              <a:t>‘throw away’ prototypes</a:t>
            </a:r>
          </a:p>
          <a:p>
            <a:pPr>
              <a:lnSpc>
                <a:spcPct val="85000"/>
              </a:lnSpc>
            </a:pPr>
            <a:r>
              <a:rPr lang="en-US" dirty="0"/>
              <a:t>evolutionary prototypes</a:t>
            </a:r>
          </a:p>
          <a:p>
            <a:pPr marL="0" indent="0">
              <a:lnSpc>
                <a:spcPct val="85000"/>
              </a:lnSpc>
              <a:buNone/>
            </a:pPr>
            <a:r>
              <a:rPr lang="en-US" dirty="0"/>
              <a:t>what is being prototyped?</a:t>
            </a:r>
          </a:p>
          <a:p>
            <a:pPr>
              <a:lnSpc>
                <a:spcPct val="85000"/>
              </a:lnSpc>
            </a:pPr>
            <a:r>
              <a:rPr lang="en-US" dirty="0"/>
              <a:t>human-computer interface</a:t>
            </a:r>
          </a:p>
          <a:p>
            <a:pPr>
              <a:lnSpc>
                <a:spcPct val="85000"/>
              </a:lnSpc>
            </a:pPr>
            <a:r>
              <a:rPr lang="en-US" dirty="0"/>
              <a:t>functionality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36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reasons for prototyping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6" y="1435950"/>
            <a:ext cx="10786872" cy="443241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learning by doing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improved communication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improved user involvement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 feedback loop is established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reduces the need for documentation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reduces maintenance costs i.e. changes after the application goes live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prototype can be used for producing expected results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99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prototyping: some dangers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62B6CF9-A5E6-A387-69A4-25CAD79BE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 may misunderstand the role of the prototype</a:t>
            </a:r>
          </a:p>
          <a:p>
            <a:r>
              <a:rPr lang="en-US" dirty="0"/>
              <a:t>lack of project control and standards possible</a:t>
            </a:r>
          </a:p>
          <a:p>
            <a:r>
              <a:rPr lang="en-US" dirty="0"/>
              <a:t>additional expense of building prototype</a:t>
            </a:r>
          </a:p>
          <a:p>
            <a:r>
              <a:rPr lang="en-US" dirty="0"/>
              <a:t>focus on user-friendly interface could be at expense of machine efficiency</a:t>
            </a:r>
          </a:p>
        </p:txBody>
      </p:sp>
    </p:spTree>
    <p:extLst>
      <p:ext uri="{BB962C8B-B14F-4D97-AF65-F5344CB8AC3E}">
        <p14:creationId xmlns:p14="http://schemas.microsoft.com/office/powerpoint/2010/main" val="4058452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ways of categorizing prototyping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62B6CF9-A5E6-A387-69A4-25CAD79BE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being learnt? </a:t>
            </a:r>
          </a:p>
          <a:p>
            <a:pPr lvl="1"/>
            <a:r>
              <a:rPr lang="en-US" sz="3200" dirty="0"/>
              <a:t>organizational prototype </a:t>
            </a:r>
          </a:p>
          <a:p>
            <a:pPr lvl="1"/>
            <a:r>
              <a:rPr lang="en-US" sz="3200" dirty="0"/>
              <a:t>hardware/software prototype (‘experimental’) </a:t>
            </a:r>
          </a:p>
          <a:p>
            <a:pPr lvl="1"/>
            <a:r>
              <a:rPr lang="en-US" sz="3200" dirty="0"/>
              <a:t>application prototype (‘exploratory’) </a:t>
            </a:r>
          </a:p>
          <a:p>
            <a:r>
              <a:rPr lang="en-US" dirty="0"/>
              <a:t>to what extent </a:t>
            </a:r>
          </a:p>
          <a:p>
            <a:pPr lvl="1"/>
            <a:r>
              <a:rPr lang="en-US" sz="3200" dirty="0"/>
              <a:t>mock-ups </a:t>
            </a:r>
          </a:p>
          <a:p>
            <a:pPr lvl="1"/>
            <a:r>
              <a:rPr lang="en-US" sz="3200" dirty="0"/>
              <a:t>simulated interaction </a:t>
            </a:r>
          </a:p>
          <a:p>
            <a:pPr lvl="1"/>
            <a:r>
              <a:rPr lang="en-US" sz="3200" dirty="0"/>
              <a:t>partial working models: vertical versus horizontal</a:t>
            </a:r>
          </a:p>
        </p:txBody>
      </p:sp>
    </p:spTree>
    <p:extLst>
      <p:ext uri="{BB962C8B-B14F-4D97-AF65-F5344CB8AC3E}">
        <p14:creationId xmlns:p14="http://schemas.microsoft.com/office/powerpoint/2010/main" val="793381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5" y="5547359"/>
            <a:ext cx="10786872" cy="536917"/>
          </a:xfrm>
        </p:spPr>
        <p:txBody>
          <a:bodyPr>
            <a:normAutofit/>
          </a:bodyPr>
          <a:lstStyle/>
          <a:p>
            <a:pPr marL="236537" indent="0" algn="ctr">
              <a:buNone/>
            </a:pPr>
            <a:r>
              <a:rPr lang="en-US" sz="3200" dirty="0"/>
              <a:t>Figure 3: Incremental delivery approach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6B5DF3-5AE8-0C72-43CD-CEF8970BE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22" y="1473519"/>
            <a:ext cx="10914755" cy="3880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091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incremental process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45E77B7-E69B-9FB7-3D61-A609810D9B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45586" y="976151"/>
            <a:ext cx="5100828" cy="5049024"/>
          </a:xfr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81717E7-E9F2-404C-7984-AE8C664258B6}"/>
              </a:ext>
            </a:extLst>
          </p:cNvPr>
          <p:cNvSpPr txBox="1">
            <a:spLocks/>
          </p:cNvSpPr>
          <p:nvPr/>
        </p:nvSpPr>
        <p:spPr>
          <a:xfrm>
            <a:off x="676885" y="5933733"/>
            <a:ext cx="10786872" cy="536917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6537" indent="0" algn="ctr" fontAlgn="auto">
              <a:buFont typeface="Wingdings" panose="05000000000000000000" pitchFamily="2" charset="2"/>
              <a:buNone/>
            </a:pPr>
            <a:r>
              <a:rPr lang="en-US" dirty="0"/>
              <a:t>Figure 4: Intentional incremental delivery</a:t>
            </a:r>
          </a:p>
        </p:txBody>
      </p:sp>
    </p:spTree>
    <p:extLst>
      <p:ext uri="{BB962C8B-B14F-4D97-AF65-F5344CB8AC3E}">
        <p14:creationId xmlns:p14="http://schemas.microsoft.com/office/powerpoint/2010/main" val="244147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</a:t>
            </a:r>
            <a:r>
              <a:rPr lang="en-US" dirty="0" err="1"/>
              <a:t>approach:benefits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77280-8D17-F8D2-27C6-85E4AE636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feedback from early stages used in developing latter stages</a:t>
            </a:r>
          </a:p>
          <a:p>
            <a:r>
              <a:rPr lang="en-US" sz="3200" dirty="0"/>
              <a:t>shorter development thresholds </a:t>
            </a:r>
          </a:p>
          <a:p>
            <a:r>
              <a:rPr lang="en-US" sz="3200" dirty="0"/>
              <a:t>user gets some benefits earlier</a:t>
            </a:r>
          </a:p>
          <a:p>
            <a:r>
              <a:rPr lang="en-US" sz="3200" dirty="0"/>
              <a:t>project may be put aside temporarily</a:t>
            </a:r>
          </a:p>
          <a:p>
            <a:r>
              <a:rPr lang="en-US" sz="3200" dirty="0"/>
              <a:t>reduces ‘gold-plating’:</a:t>
            </a:r>
          </a:p>
          <a:p>
            <a:pPr marL="0" indent="0">
              <a:buNone/>
            </a:pPr>
            <a:r>
              <a:rPr lang="en-US" sz="3200" dirty="0"/>
              <a:t>BUT there are some possible disadvantages</a:t>
            </a:r>
          </a:p>
          <a:p>
            <a:r>
              <a:rPr lang="en-US" sz="3200" dirty="0"/>
              <a:t>loss of economy of scale</a:t>
            </a:r>
          </a:p>
          <a:p>
            <a:r>
              <a:rPr lang="en-US" sz="3200" dirty="0"/>
              <a:t>‘software breakage’</a:t>
            </a:r>
          </a:p>
        </p:txBody>
      </p:sp>
    </p:spTree>
    <p:extLst>
      <p:ext uri="{BB962C8B-B14F-4D97-AF65-F5344CB8AC3E}">
        <p14:creationId xmlns:p14="http://schemas.microsoft.com/office/powerpoint/2010/main" val="4185540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outline incremental plan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77280-8D17-F8D2-27C6-85E4AE636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Steps ideally 1% to 5% of the total project</a:t>
            </a:r>
          </a:p>
          <a:p>
            <a:r>
              <a:rPr lang="en-US" dirty="0"/>
              <a:t>Non-computer steps should be included</a:t>
            </a:r>
          </a:p>
          <a:p>
            <a:r>
              <a:rPr lang="en-US" dirty="0"/>
              <a:t>ideal if a step takes one month or less: </a:t>
            </a:r>
          </a:p>
          <a:p>
            <a:pPr lvl="1"/>
            <a:r>
              <a:rPr lang="en-US" sz="3200" dirty="0"/>
              <a:t>not more than three months</a:t>
            </a:r>
          </a:p>
          <a:p>
            <a:r>
              <a:rPr lang="en-US" dirty="0"/>
              <a:t>each step should deliver some benefit to the user</a:t>
            </a:r>
          </a:p>
          <a:p>
            <a:r>
              <a:rPr lang="en-US" dirty="0"/>
              <a:t>some steps will be physically dependent on others</a:t>
            </a:r>
          </a:p>
        </p:txBody>
      </p:sp>
    </p:spTree>
    <p:extLst>
      <p:ext uri="{BB962C8B-B14F-4D97-AF65-F5344CB8AC3E}">
        <p14:creationId xmlns:p14="http://schemas.microsoft.com/office/powerpoint/2010/main" val="1377997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step first?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29C85-137A-884B-C480-431934AB1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some steps will be pre-requisite because of physical dependencies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others may be in any order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value to cost ratios may be used</a:t>
            </a:r>
          </a:p>
          <a:p>
            <a:pPr lvl="1">
              <a:buSzPct val="75000"/>
              <a:buFont typeface="Wingdings" panose="05000000000000000000" pitchFamily="2" charset="2"/>
              <a:buChar char="§"/>
            </a:pPr>
            <a:r>
              <a:rPr lang="en-US" sz="3200" dirty="0"/>
              <a:t>V/C where</a:t>
            </a:r>
          </a:p>
          <a:p>
            <a:pPr lvl="1">
              <a:buSzPct val="75000"/>
              <a:buFont typeface="Wingdings" panose="05000000000000000000" pitchFamily="2" charset="2"/>
              <a:buChar char="§"/>
            </a:pPr>
            <a:r>
              <a:rPr lang="en-US" sz="3200" dirty="0"/>
              <a:t>V is a score 1-10 representing value to customer</a:t>
            </a:r>
          </a:p>
          <a:p>
            <a:pPr lvl="1">
              <a:buSzPct val="75000"/>
              <a:buFont typeface="Wingdings" panose="05000000000000000000" pitchFamily="2" charset="2"/>
              <a:buChar char="§"/>
            </a:pPr>
            <a:r>
              <a:rPr lang="en-US" sz="3200" dirty="0"/>
              <a:t>C is a score 0-10 representing value to developers</a:t>
            </a:r>
          </a:p>
        </p:txBody>
      </p:sp>
    </p:spTree>
    <p:extLst>
      <p:ext uri="{BB962C8B-B14F-4D97-AF65-F5344CB8AC3E}">
        <p14:creationId xmlns:p14="http://schemas.microsoft.com/office/powerpoint/2010/main" val="563297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V/C ratios: an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9E2C157-5717-EB4D-D8D9-4BCD9A87BF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7905616"/>
              </p:ext>
            </p:extLst>
          </p:nvPr>
        </p:nvGraphicFramePr>
        <p:xfrm>
          <a:off x="702470" y="1529080"/>
          <a:ext cx="10787060" cy="396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6970">
                  <a:extLst>
                    <a:ext uri="{9D8B030D-6E8A-4147-A177-3AD203B41FA5}">
                      <a16:colId xmlns:a16="http://schemas.microsoft.com/office/drawing/2014/main" val="112231684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934391833"/>
                    </a:ext>
                  </a:extLst>
                </a:gridCol>
                <a:gridCol w="1899920">
                  <a:extLst>
                    <a:ext uri="{9D8B030D-6E8A-4147-A177-3AD203B41FA5}">
                      <a16:colId xmlns:a16="http://schemas.microsoft.com/office/drawing/2014/main" val="1372955973"/>
                    </a:ext>
                  </a:extLst>
                </a:gridCol>
                <a:gridCol w="1849120">
                  <a:extLst>
                    <a:ext uri="{9D8B030D-6E8A-4147-A177-3AD203B41FA5}">
                      <a16:colId xmlns:a16="http://schemas.microsoft.com/office/drawing/2014/main" val="676555741"/>
                    </a:ext>
                  </a:extLst>
                </a:gridCol>
                <a:gridCol w="1502250">
                  <a:extLst>
                    <a:ext uri="{9D8B030D-6E8A-4147-A177-3AD203B41FA5}">
                      <a16:colId xmlns:a16="http://schemas.microsoft.com/office/drawing/2014/main" val="2987213718"/>
                    </a:ext>
                  </a:extLst>
                </a:gridCol>
              </a:tblGrid>
              <a:tr h="355283">
                <a:tc>
                  <a:txBody>
                    <a:bodyPr/>
                    <a:lstStyle/>
                    <a:p>
                      <a:r>
                        <a:rPr lang="en-US" sz="3200" dirty="0"/>
                        <a:t>Step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Value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Cost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Ratio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494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Profit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2</a:t>
                      </a:r>
                      <a:r>
                        <a:rPr lang="en-US" sz="3200" baseline="30000" dirty="0"/>
                        <a:t>nd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929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Online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5</a:t>
                      </a:r>
                      <a:r>
                        <a:rPr lang="en-US" sz="3200" baseline="30000" dirty="0"/>
                        <a:t>th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590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Ad hoc enquiry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4</a:t>
                      </a:r>
                      <a:r>
                        <a:rPr lang="en-US" sz="3200" baseline="30000" dirty="0"/>
                        <a:t>th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054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Purchasing plans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3</a:t>
                      </a:r>
                      <a:r>
                        <a:rPr lang="en-US" sz="3200" baseline="30000" dirty="0"/>
                        <a:t>rd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169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dirty="0"/>
                        <a:t>Profit – based pay for managers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  <a:r>
                        <a:rPr lang="en-US" sz="3200" baseline="30000" dirty="0"/>
                        <a:t>st</a:t>
                      </a:r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941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5741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‘Agile’ methods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3276E6-AE97-701B-4738-EC877DA87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311443"/>
            <a:ext cx="10786872" cy="4781349"/>
          </a:xfrm>
        </p:spPr>
        <p:txBody>
          <a:bodyPr>
            <a:noAutofit/>
          </a:bodyPr>
          <a:lstStyle/>
          <a:p>
            <a:pPr>
              <a:lnSpc>
                <a:spcPct val="85000"/>
              </a:lnSpc>
            </a:pPr>
            <a:r>
              <a:rPr lang="en-US" dirty="0"/>
              <a:t>structured development methods have some perceived </a:t>
            </a:r>
          </a:p>
          <a:p>
            <a:pPr>
              <a:lnSpc>
                <a:spcPct val="85000"/>
              </a:lnSpc>
            </a:pPr>
            <a:r>
              <a:rPr lang="en-US" dirty="0"/>
              <a:t>Advantages</a:t>
            </a:r>
          </a:p>
          <a:p>
            <a:pPr lvl="1">
              <a:lnSpc>
                <a:spcPct val="85000"/>
              </a:lnSpc>
            </a:pPr>
            <a:r>
              <a:rPr lang="en-US" sz="3200" dirty="0"/>
              <a:t>produce large amounts of documentation which can be unread</a:t>
            </a:r>
          </a:p>
          <a:p>
            <a:pPr lvl="1">
              <a:lnSpc>
                <a:spcPct val="85000"/>
              </a:lnSpc>
            </a:pPr>
            <a:r>
              <a:rPr lang="en-US" sz="3200" dirty="0"/>
              <a:t>documentation has to be kept up to date</a:t>
            </a:r>
          </a:p>
          <a:p>
            <a:pPr lvl="1">
              <a:lnSpc>
                <a:spcPct val="85000"/>
              </a:lnSpc>
            </a:pPr>
            <a:r>
              <a:rPr lang="en-US" sz="3200" dirty="0"/>
              <a:t>division into specialist groups and need to follow procedures stifles communication</a:t>
            </a:r>
          </a:p>
          <a:p>
            <a:pPr lvl="1">
              <a:lnSpc>
                <a:spcPct val="85000"/>
              </a:lnSpc>
            </a:pPr>
            <a:r>
              <a:rPr lang="en-US" sz="3200" dirty="0"/>
              <a:t>users can be excluded from decision process</a:t>
            </a:r>
          </a:p>
          <a:p>
            <a:pPr lvl="1">
              <a:lnSpc>
                <a:spcPct val="85000"/>
              </a:lnSpc>
            </a:pPr>
            <a:r>
              <a:rPr lang="en-US" sz="3200" dirty="0"/>
              <a:t>long lead times to deliver anything etc. </a:t>
            </a:r>
            <a:r>
              <a:rPr lang="en-US" sz="3200" dirty="0" err="1"/>
              <a:t>etc</a:t>
            </a:r>
            <a:r>
              <a:rPr lang="en-US" sz="3200" dirty="0"/>
              <a:t> </a:t>
            </a:r>
          </a:p>
          <a:p>
            <a:pPr>
              <a:lnSpc>
                <a:spcPct val="85000"/>
              </a:lnSpc>
            </a:pPr>
            <a:r>
              <a:rPr lang="en-US" dirty="0"/>
              <a:t>The answer? Agile methods?</a:t>
            </a:r>
          </a:p>
        </p:txBody>
      </p:sp>
    </p:spTree>
    <p:extLst>
      <p:ext uri="{BB962C8B-B14F-4D97-AF65-F5344CB8AC3E}">
        <p14:creationId xmlns:p14="http://schemas.microsoft.com/office/powerpoint/2010/main" val="3409255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Atern</a:t>
            </a:r>
            <a:r>
              <a:rPr lang="en-US" dirty="0"/>
              <a:t>/Dynamic system development method (</a:t>
            </a:r>
            <a:r>
              <a:rPr lang="en-US" dirty="0" err="1"/>
              <a:t>DSDM</a:t>
            </a:r>
            <a:r>
              <a:rPr lang="en-US" dirty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C62BBE-7143-E343-B1D1-0EF239CFB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UK-based consortium</a:t>
            </a:r>
          </a:p>
          <a:p>
            <a:r>
              <a:rPr lang="en-US" dirty="0"/>
              <a:t>arguably </a:t>
            </a:r>
            <a:r>
              <a:rPr lang="en-US" dirty="0" err="1"/>
              <a:t>DSDM</a:t>
            </a:r>
            <a:r>
              <a:rPr lang="en-US" dirty="0"/>
              <a:t> can be seen as replacement for SSADM</a:t>
            </a:r>
          </a:p>
          <a:p>
            <a:r>
              <a:rPr lang="en-US" dirty="0" err="1"/>
              <a:t>DSDM</a:t>
            </a:r>
            <a:r>
              <a:rPr lang="en-US" dirty="0"/>
              <a:t> is more a project management approach than a development approach </a:t>
            </a:r>
          </a:p>
          <a:p>
            <a:r>
              <a:rPr lang="en-US" dirty="0"/>
              <a:t>Can still use </a:t>
            </a:r>
            <a:r>
              <a:rPr lang="en-US" dirty="0" err="1"/>
              <a:t>DFDs</a:t>
            </a:r>
            <a:r>
              <a:rPr lang="en-US" dirty="0"/>
              <a:t>, LDSs </a:t>
            </a:r>
            <a:r>
              <a:rPr lang="en-US" dirty="0" err="1"/>
              <a:t>etc</a:t>
            </a:r>
            <a:r>
              <a:rPr lang="en-US" dirty="0"/>
              <a:t>!</a:t>
            </a:r>
          </a:p>
          <a:p>
            <a:r>
              <a:rPr lang="en-US" dirty="0"/>
              <a:t>An update of </a:t>
            </a:r>
            <a:r>
              <a:rPr lang="en-US" dirty="0" err="1"/>
              <a:t>DSDM</a:t>
            </a:r>
            <a:r>
              <a:rPr lang="en-US" dirty="0"/>
              <a:t> has been badged as ‘</a:t>
            </a:r>
            <a:r>
              <a:rPr lang="en-US" dirty="0" err="1"/>
              <a:t>Atern</a:t>
            </a:r>
            <a:r>
              <a:rPr lang="en-US" dirty="0"/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39883370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Six core </a:t>
            </a:r>
            <a:r>
              <a:rPr lang="en-US" dirty="0" err="1"/>
              <a:t>Atern</a:t>
            </a:r>
            <a:r>
              <a:rPr lang="en-US" dirty="0"/>
              <a:t>/</a:t>
            </a:r>
            <a:r>
              <a:rPr lang="en-US" dirty="0" err="1"/>
              <a:t>DSDM</a:t>
            </a:r>
            <a:r>
              <a:rPr lang="en-US" dirty="0"/>
              <a:t> principles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9625B-8FF7-4001-75C3-0B6A23380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3200" dirty="0"/>
              <a:t>Focus on business need </a:t>
            </a:r>
          </a:p>
          <a:p>
            <a:pPr marL="514350" indent="-514350">
              <a:buAutoNum type="arabicPeriod"/>
            </a:pPr>
            <a:r>
              <a:rPr lang="en-US" sz="3200" dirty="0"/>
              <a:t>Delivery on time – use of time-boxing </a:t>
            </a:r>
          </a:p>
          <a:p>
            <a:pPr marL="514350" indent="-514350">
              <a:buAutoNum type="arabicPeriod"/>
            </a:pPr>
            <a:r>
              <a:rPr lang="en-US" sz="3200" dirty="0"/>
              <a:t>Collaborate </a:t>
            </a:r>
          </a:p>
          <a:p>
            <a:pPr marL="514350" indent="-514350">
              <a:buAutoNum type="arabicPeriod"/>
            </a:pPr>
            <a:r>
              <a:rPr lang="en-US" sz="3200" dirty="0"/>
              <a:t>Never compromise </a:t>
            </a:r>
            <a:r>
              <a:rPr lang="en-US" sz="3200" dirty="0" err="1"/>
              <a:t>qualitiy</a:t>
            </a:r>
            <a:r>
              <a:rPr lang="en-US" sz="3200" dirty="0"/>
              <a:t> </a:t>
            </a:r>
          </a:p>
          <a:p>
            <a:pPr marL="514350" indent="-514350">
              <a:buAutoNum type="arabicPeriod"/>
            </a:pPr>
            <a:r>
              <a:rPr lang="en-US" sz="3200" dirty="0"/>
              <a:t>Deliver iteratively </a:t>
            </a:r>
          </a:p>
          <a:p>
            <a:pPr marL="514350" indent="-514350">
              <a:buAutoNum type="arabicPeriod"/>
            </a:pPr>
            <a:r>
              <a:rPr lang="en-US" sz="3200" dirty="0"/>
              <a:t>Build incrementally</a:t>
            </a:r>
          </a:p>
        </p:txBody>
      </p:sp>
    </p:spTree>
    <p:extLst>
      <p:ext uri="{BB962C8B-B14F-4D97-AF65-F5344CB8AC3E}">
        <p14:creationId xmlns:p14="http://schemas.microsoft.com/office/powerpoint/2010/main" val="4187215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Atern</a:t>
            </a:r>
            <a:r>
              <a:rPr lang="en-US" dirty="0"/>
              <a:t>/</a:t>
            </a:r>
            <a:r>
              <a:rPr lang="en-US" dirty="0" err="1"/>
              <a:t>DSDM</a:t>
            </a:r>
            <a:r>
              <a:rPr lang="en-US" dirty="0"/>
              <a:t> framework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855AC67-54A5-501F-AD5E-CC2DC311F9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15778" y="1311442"/>
            <a:ext cx="7760443" cy="4977597"/>
          </a:xfrm>
        </p:spPr>
      </p:pic>
    </p:spTree>
    <p:extLst>
      <p:ext uri="{BB962C8B-B14F-4D97-AF65-F5344CB8AC3E}">
        <p14:creationId xmlns:p14="http://schemas.microsoft.com/office/powerpoint/2010/main" val="3004715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Atern</a:t>
            </a:r>
            <a:r>
              <a:rPr lang="en-US" dirty="0"/>
              <a:t> </a:t>
            </a:r>
            <a:r>
              <a:rPr lang="en-US" dirty="0" err="1"/>
              <a:t>DSDM</a:t>
            </a:r>
            <a:r>
              <a:rPr lang="en-US" dirty="0"/>
              <a:t>: time-boxing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9625B-8FF7-4001-75C3-0B6A23380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28012"/>
            <a:ext cx="10450117" cy="47813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time-box fixed deadline by which something has to be delivered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typically two to six weeks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MOSCOW priorities </a:t>
            </a:r>
          </a:p>
          <a:p>
            <a:pPr lvl="1">
              <a:buSzPct val="75000"/>
              <a:buFont typeface="Wingdings" panose="05000000000000000000" pitchFamily="2" charset="2"/>
              <a:buChar char="§"/>
            </a:pPr>
            <a:r>
              <a:rPr lang="en-US" sz="3200" dirty="0"/>
              <a:t>Must have - essential</a:t>
            </a:r>
          </a:p>
          <a:p>
            <a:pPr lvl="1">
              <a:buSzPct val="75000"/>
              <a:buFont typeface="Wingdings" panose="05000000000000000000" pitchFamily="2" charset="2"/>
              <a:buChar char="§"/>
            </a:pPr>
            <a:r>
              <a:rPr lang="en-US" sz="3200" dirty="0"/>
              <a:t>Should have - very important, but system could operate without</a:t>
            </a:r>
          </a:p>
          <a:p>
            <a:pPr lvl="1">
              <a:buSzPct val="75000"/>
              <a:buFont typeface="Wingdings" panose="05000000000000000000" pitchFamily="2" charset="2"/>
              <a:buChar char="§"/>
            </a:pPr>
            <a:r>
              <a:rPr lang="en-US" sz="3200" dirty="0"/>
              <a:t>Could have</a:t>
            </a:r>
          </a:p>
          <a:p>
            <a:pPr lvl="1">
              <a:buSzPct val="75000"/>
              <a:buFont typeface="Wingdings" panose="05000000000000000000" pitchFamily="2" charset="2"/>
              <a:buChar char="§"/>
            </a:pPr>
            <a:r>
              <a:rPr lang="en-US" sz="3200" dirty="0"/>
              <a:t>Want - but probably won’t get!</a:t>
            </a:r>
          </a:p>
        </p:txBody>
      </p:sp>
    </p:spTree>
    <p:extLst>
      <p:ext uri="{BB962C8B-B14F-4D97-AF65-F5344CB8AC3E}">
        <p14:creationId xmlns:p14="http://schemas.microsoft.com/office/powerpoint/2010/main" val="1079761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Extreme programming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9625B-8FF7-4001-75C3-0B6A23380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increments of one to three weeks</a:t>
            </a:r>
          </a:p>
          <a:p>
            <a:pPr lvl="1">
              <a:buSzPct val="75000"/>
              <a:buFont typeface="Wingdings" panose="05000000000000000000" pitchFamily="2" charset="2"/>
              <a:buChar char="§"/>
            </a:pPr>
            <a:r>
              <a:rPr lang="en-US" sz="3200" dirty="0"/>
              <a:t>customer can suggest improvement at any point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argued that distinction between design and building of software are artificial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code to be developed to meet current needs only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frequent re-factoring to keep code structured</a:t>
            </a:r>
          </a:p>
        </p:txBody>
      </p:sp>
    </p:spTree>
    <p:extLst>
      <p:ext uri="{BB962C8B-B14F-4D97-AF65-F5344CB8AC3E}">
        <p14:creationId xmlns:p14="http://schemas.microsoft.com/office/powerpoint/2010/main" val="3968682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extreme programming - </a:t>
            </a:r>
            <a:r>
              <a:rPr lang="en-US" dirty="0" err="1"/>
              <a:t>contd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9625B-8FF7-4001-75C3-0B6A23380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28012"/>
            <a:ext cx="10194736" cy="478134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developers work in pairs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test cases and expected results devised before software design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after testing of increment, test cases added to a consolidated set of test cases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245157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Limitations of extreme programming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A1572-1C9E-2E8C-4F44-980D765C2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28012"/>
            <a:ext cx="10649712" cy="4781349"/>
          </a:xfrm>
        </p:spPr>
        <p:txBody>
          <a:bodyPr>
            <a:noAutofit/>
          </a:bodyPr>
          <a:lstStyle/>
          <a:p>
            <a:r>
              <a:rPr lang="en-US" dirty="0"/>
              <a:t>Reliance on availability of high quality developers</a:t>
            </a:r>
          </a:p>
          <a:p>
            <a:r>
              <a:rPr lang="en-US" dirty="0"/>
              <a:t>Dependence on personal knowledge – after development knowledge of software may decay making future development less easy</a:t>
            </a:r>
          </a:p>
          <a:p>
            <a:r>
              <a:rPr lang="en-US" dirty="0"/>
              <a:t>Rationale for decisions may be lost e.g. which test case checks a particular requirement</a:t>
            </a:r>
          </a:p>
          <a:p>
            <a:r>
              <a:rPr lang="en-US" dirty="0"/>
              <a:t>Reuse of existing code less likely</a:t>
            </a:r>
          </a:p>
        </p:txBody>
      </p:sp>
    </p:spTree>
    <p:extLst>
      <p:ext uri="{BB962C8B-B14F-4D97-AF65-F5344CB8AC3E}">
        <p14:creationId xmlns:p14="http://schemas.microsoft.com/office/powerpoint/2010/main" val="41595768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Grady Booch’s concern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A1572-1C9E-2E8C-4F44-980D765C2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Booch, an OO authority, is concerned that with requirements driven projects: </a:t>
            </a:r>
          </a:p>
          <a:p>
            <a:r>
              <a:rPr lang="en-US" dirty="0"/>
              <a:t>‘Conceptual integrity sometimes suffers because this is little motivation to deal with scalability, extensibility, portability, or reusability beyond what any vague requirement might imply’</a:t>
            </a:r>
          </a:p>
          <a:p>
            <a:r>
              <a:rPr lang="en-US" dirty="0"/>
              <a:t> Tendency towards a large number of discrete functions with little common infrastructure?</a:t>
            </a:r>
          </a:p>
        </p:txBody>
      </p:sp>
    </p:spTree>
    <p:extLst>
      <p:ext uri="{BB962C8B-B14F-4D97-AF65-F5344CB8AC3E}">
        <p14:creationId xmlns:p14="http://schemas.microsoft.com/office/powerpoint/2010/main" val="2894976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macro and micro processes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A0B552B-6E20-1C51-CE62-7F5AF49F0B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29207" y="1040303"/>
            <a:ext cx="5976709" cy="5430401"/>
          </a:xfrm>
        </p:spPr>
      </p:pic>
    </p:spTree>
    <p:extLst>
      <p:ext uri="{BB962C8B-B14F-4D97-AF65-F5344CB8AC3E}">
        <p14:creationId xmlns:p14="http://schemas.microsoft.com/office/powerpoint/2010/main" val="19647931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combinations of approach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33</a:t>
            </a:fld>
            <a:endParaRPr lang="en-US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D9A8011D-A171-2E68-67B5-110E51F65A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8719149"/>
              </p:ext>
            </p:extLst>
          </p:nvPr>
        </p:nvGraphicFramePr>
        <p:xfrm>
          <a:off x="1889759" y="1803082"/>
          <a:ext cx="9379656" cy="2316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44914">
                  <a:extLst>
                    <a:ext uri="{9D8B030D-6E8A-4147-A177-3AD203B41FA5}">
                      <a16:colId xmlns:a16="http://schemas.microsoft.com/office/drawing/2014/main" val="2437108064"/>
                    </a:ext>
                  </a:extLst>
                </a:gridCol>
                <a:gridCol w="2344914">
                  <a:extLst>
                    <a:ext uri="{9D8B030D-6E8A-4147-A177-3AD203B41FA5}">
                      <a16:colId xmlns:a16="http://schemas.microsoft.com/office/drawing/2014/main" val="3528283173"/>
                    </a:ext>
                  </a:extLst>
                </a:gridCol>
                <a:gridCol w="2344914">
                  <a:extLst>
                    <a:ext uri="{9D8B030D-6E8A-4147-A177-3AD203B41FA5}">
                      <a16:colId xmlns:a16="http://schemas.microsoft.com/office/drawing/2014/main" val="621045722"/>
                    </a:ext>
                  </a:extLst>
                </a:gridCol>
                <a:gridCol w="2344914">
                  <a:extLst>
                    <a:ext uri="{9D8B030D-6E8A-4147-A177-3AD203B41FA5}">
                      <a16:colId xmlns:a16="http://schemas.microsoft.com/office/drawing/2014/main" val="308571752"/>
                    </a:ext>
                  </a:extLst>
                </a:gridCol>
              </a:tblGrid>
              <a:tr h="476692"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One-shot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Incremental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Evolutionary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376100"/>
                  </a:ext>
                </a:extLst>
              </a:tr>
              <a:tr h="4766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One-shot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Yes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Yes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No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5956282"/>
                  </a:ext>
                </a:extLst>
              </a:tr>
              <a:tr h="476692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Incremental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Yes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Yes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No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95430"/>
                  </a:ext>
                </a:extLst>
              </a:tr>
              <a:tr h="470162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Evolutionary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Yes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Yes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Yes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950747"/>
                  </a:ext>
                </a:extLst>
              </a:tr>
            </a:tbl>
          </a:graphicData>
        </a:graphic>
      </p:graphicFrame>
      <p:sp>
        <p:nvSpPr>
          <p:cNvPr id="7" name="Arrow: Right 6">
            <a:extLst>
              <a:ext uri="{FF2B5EF4-FFF2-40B4-BE49-F238E27FC236}">
                <a16:creationId xmlns:a16="http://schemas.microsoft.com/office/drawing/2014/main" id="{EEA307CB-3716-745B-7E52-CE00E960E324}"/>
              </a:ext>
            </a:extLst>
          </p:cNvPr>
          <p:cNvSpPr/>
          <p:nvPr/>
        </p:nvSpPr>
        <p:spPr>
          <a:xfrm>
            <a:off x="10291006" y="1227147"/>
            <a:ext cx="978408" cy="48463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BF14B11-0CC8-A4BD-73DE-5BD9F70E4D3C}"/>
              </a:ext>
            </a:extLst>
          </p:cNvPr>
          <p:cNvSpPr/>
          <p:nvPr/>
        </p:nvSpPr>
        <p:spPr>
          <a:xfrm flipH="1">
            <a:off x="4460746" y="1228534"/>
            <a:ext cx="978408" cy="48463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CD76F7F-71DB-E623-A7AC-F39D91696B70}"/>
              </a:ext>
            </a:extLst>
          </p:cNvPr>
          <p:cNvSpPr/>
          <p:nvPr/>
        </p:nvSpPr>
        <p:spPr>
          <a:xfrm rot="5400000">
            <a:off x="1052712" y="3673338"/>
            <a:ext cx="424667" cy="484632"/>
          </a:xfrm>
          <a:prstGeom prst="rightArrow">
            <a:avLst>
              <a:gd name="adj1" fmla="val 50000"/>
              <a:gd name="adj2" fmla="val 60482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F2FFB31C-176D-EE92-B54E-0AFAB62EB23B}"/>
              </a:ext>
            </a:extLst>
          </p:cNvPr>
          <p:cNvSpPr/>
          <p:nvPr/>
        </p:nvSpPr>
        <p:spPr>
          <a:xfrm rot="5400000" flipH="1">
            <a:off x="1067159" y="1172833"/>
            <a:ext cx="424666" cy="484632"/>
          </a:xfrm>
          <a:prstGeom prst="rightArrow">
            <a:avLst>
              <a:gd name="adj1" fmla="val 50000"/>
              <a:gd name="adj2" fmla="val 60482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A0A668-F388-F485-C213-2197BC468E94}"/>
              </a:ext>
            </a:extLst>
          </p:cNvPr>
          <p:cNvSpPr txBox="1"/>
          <p:nvPr/>
        </p:nvSpPr>
        <p:spPr>
          <a:xfrm>
            <a:off x="6906323" y="1173349"/>
            <a:ext cx="19175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n-lt"/>
              </a:rPr>
              <a:t>installation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4AFD9-BAD6-9352-75C3-8ACB591FD0BC}"/>
              </a:ext>
            </a:extLst>
          </p:cNvPr>
          <p:cNvSpPr txBox="1"/>
          <p:nvPr/>
        </p:nvSpPr>
        <p:spPr>
          <a:xfrm rot="16200000">
            <a:off x="193605" y="2373013"/>
            <a:ext cx="20427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n-lt"/>
              </a:rPr>
              <a:t>construction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80A24F5E-08B1-1A2E-F6E0-718C4FEBEBC8}"/>
              </a:ext>
            </a:extLst>
          </p:cNvPr>
          <p:cNvSpPr txBox="1">
            <a:spLocks/>
          </p:cNvSpPr>
          <p:nvPr/>
        </p:nvSpPr>
        <p:spPr>
          <a:xfrm>
            <a:off x="1024128" y="3901440"/>
            <a:ext cx="10786872" cy="2407921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en-US" dirty="0"/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EEBC6A6E-7A62-2792-3D53-ECF5F9FC3B2D}"/>
              </a:ext>
            </a:extLst>
          </p:cNvPr>
          <p:cNvSpPr txBox="1">
            <a:spLocks/>
          </p:cNvSpPr>
          <p:nvPr/>
        </p:nvSpPr>
        <p:spPr>
          <a:xfrm>
            <a:off x="1656080" y="4500880"/>
            <a:ext cx="10154920" cy="1808481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dirty="0"/>
              <a:t>one-shot or incremental installation - any construction approach possible </a:t>
            </a:r>
          </a:p>
          <a:p>
            <a:pPr fontAlgn="auto"/>
            <a:r>
              <a:rPr lang="en-US" dirty="0"/>
              <a:t>evolutionary installation implies evolutionary construction</a:t>
            </a:r>
          </a:p>
        </p:txBody>
      </p:sp>
    </p:spTree>
    <p:extLst>
      <p:ext uri="{BB962C8B-B14F-4D97-AF65-F5344CB8AC3E}">
        <p14:creationId xmlns:p14="http://schemas.microsoft.com/office/powerpoint/2010/main" val="27712386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‘rules of thumb’ about approach to be used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Ch4</a:t>
            </a:r>
            <a:r>
              <a:rPr lang="en-US" dirty="0"/>
              <a:t>. Selection of an appropriate project approach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7DF0A-81C9-8F01-344B-1088BE376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uncertainty is high </a:t>
            </a:r>
            <a:br>
              <a:rPr lang="en-US" dirty="0"/>
            </a:br>
            <a:r>
              <a:rPr lang="en-US" dirty="0"/>
              <a:t>	THEN use evolutionary approach </a:t>
            </a:r>
          </a:p>
          <a:p>
            <a:r>
              <a:rPr lang="en-US" dirty="0"/>
              <a:t>IF complexity is high but uncertainty is not </a:t>
            </a:r>
            <a:br>
              <a:rPr lang="en-US" dirty="0"/>
            </a:br>
            <a:r>
              <a:rPr lang="en-US" dirty="0"/>
              <a:t>	THEN use incremental approach </a:t>
            </a:r>
          </a:p>
          <a:p>
            <a:r>
              <a:rPr lang="en-US" dirty="0"/>
              <a:t>IF uncertainty and complexity both low </a:t>
            </a:r>
            <a:br>
              <a:rPr lang="en-US" dirty="0"/>
            </a:br>
            <a:r>
              <a:rPr lang="en-US" dirty="0"/>
              <a:t>	THEN use one-shot </a:t>
            </a:r>
          </a:p>
          <a:p>
            <a:r>
              <a:rPr lang="en-US" dirty="0"/>
              <a:t>IF schedule is tight </a:t>
            </a:r>
            <a:br>
              <a:rPr lang="en-US" dirty="0"/>
            </a:br>
            <a:r>
              <a:rPr lang="en-US" dirty="0"/>
              <a:t>	THEN use evolutionary or incremental</a:t>
            </a:r>
          </a:p>
        </p:txBody>
      </p:sp>
    </p:spTree>
    <p:extLst>
      <p:ext uri="{BB962C8B-B14F-4D97-AF65-F5344CB8AC3E}">
        <p14:creationId xmlns:p14="http://schemas.microsoft.com/office/powerpoint/2010/main" val="7142411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_SE2019s1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_SE2019s1" id="{E4EA5176-60B7-4738-A39A-85EA610AC46B}" vid="{8416C537-BC8A-42C5-99D5-28933A3097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Theme_SE2019s1</Template>
  <TotalTime>6665</TotalTime>
  <Words>3150</Words>
  <Application>Microsoft Office PowerPoint</Application>
  <PresentationFormat>Widescreen</PresentationFormat>
  <Paragraphs>598</Paragraphs>
  <Slides>34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Tw Cen MT</vt:lpstr>
      <vt:lpstr>Tw Cen MT Condensed</vt:lpstr>
      <vt:lpstr>Wingdings</vt:lpstr>
      <vt:lpstr>Wingdings 3</vt:lpstr>
      <vt:lpstr>Theme_SE2019s1</vt:lpstr>
      <vt:lpstr>Chapter 04 – Selection of an appropriate project approach</vt:lpstr>
      <vt:lpstr>Outline of lecture</vt:lpstr>
      <vt:lpstr>Selection of project approaches</vt:lpstr>
      <vt:lpstr>Build or buy?</vt:lpstr>
      <vt:lpstr>Some advantages of off-the-shelf (OTS) software</vt:lpstr>
      <vt:lpstr>Some possible disadvantages of off-the- shelf</vt:lpstr>
      <vt:lpstr>General approach</vt:lpstr>
      <vt:lpstr>Structure versus speed of delivery</vt:lpstr>
      <vt:lpstr>Structure versus speed of delivery</vt:lpstr>
      <vt:lpstr>Choice of process models</vt:lpstr>
      <vt:lpstr>Waterfall</vt:lpstr>
      <vt:lpstr>Waterfall</vt:lpstr>
      <vt:lpstr>evolutionary delivery: prototyping</vt:lpstr>
      <vt:lpstr>reasons for prototyping</vt:lpstr>
      <vt:lpstr>prototyping: some dangers</vt:lpstr>
      <vt:lpstr>other ways of categorizing prototyping</vt:lpstr>
      <vt:lpstr>Incremental delivery</vt:lpstr>
      <vt:lpstr>the incremental process</vt:lpstr>
      <vt:lpstr>incremental approach:benefits</vt:lpstr>
      <vt:lpstr>the outline incremental plan</vt:lpstr>
      <vt:lpstr>which step first?</vt:lpstr>
      <vt:lpstr>V/C ratios: an example</vt:lpstr>
      <vt:lpstr>‘Agile’ methods</vt:lpstr>
      <vt:lpstr>Atern/Dynamic system development method (DSDM)</vt:lpstr>
      <vt:lpstr>Six core Atern/DSDM principles</vt:lpstr>
      <vt:lpstr>Atern/DSDM framework</vt:lpstr>
      <vt:lpstr>Atern DSDM: time-boxing</vt:lpstr>
      <vt:lpstr>Extreme programming</vt:lpstr>
      <vt:lpstr>extreme programming - contd</vt:lpstr>
      <vt:lpstr>Limitations of extreme programming</vt:lpstr>
      <vt:lpstr>Grady Booch’s concern</vt:lpstr>
      <vt:lpstr>macro and micro processes</vt:lpstr>
      <vt:lpstr>combinations of approach</vt:lpstr>
      <vt:lpstr>‘rules of thumb’ about approach to be used</vt:lpstr>
    </vt:vector>
  </TitlesOfParts>
  <Company>HCMUT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chap 1. Intro</dc:title>
  <dc:creator>Thang Bui</dc:creator>
  <cp:lastModifiedBy>Cong Nguyen</cp:lastModifiedBy>
  <cp:revision>192</cp:revision>
  <dcterms:created xsi:type="dcterms:W3CDTF">2009-12-29T10:39:27Z</dcterms:created>
  <dcterms:modified xsi:type="dcterms:W3CDTF">2025-09-18T12:27:32Z</dcterms:modified>
</cp:coreProperties>
</file>