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4"/>
  </p:notesMasterIdLst>
  <p:handoutMasterIdLst>
    <p:handoutMasterId r:id="rId35"/>
  </p:handoutMasterIdLst>
  <p:sldIdLst>
    <p:sldId id="299" r:id="rId2"/>
    <p:sldId id="295" r:id="rId3"/>
    <p:sldId id="301" r:id="rId4"/>
    <p:sldId id="302" r:id="rId5"/>
    <p:sldId id="303" r:id="rId6"/>
    <p:sldId id="306" r:id="rId7"/>
    <p:sldId id="335" r:id="rId8"/>
    <p:sldId id="308" r:id="rId9"/>
    <p:sldId id="310" r:id="rId10"/>
    <p:sldId id="336" r:id="rId11"/>
    <p:sldId id="311" r:id="rId12"/>
    <p:sldId id="312" r:id="rId13"/>
    <p:sldId id="339" r:id="rId14"/>
    <p:sldId id="337" r:id="rId15"/>
    <p:sldId id="338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5904" autoAdjust="0"/>
  </p:normalViewPr>
  <p:slideViewPr>
    <p:cSldViewPr snapToGrid="0" snapToObjects="1">
      <p:cViewPr varScale="1">
        <p:scale>
          <a:sx n="121" d="100"/>
          <a:sy n="121" d="100"/>
        </p:scale>
        <p:origin x="547" y="91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Nguyen Duc" userId="04a5c95d-4a59-4e21-b199-e9922fb46c5c" providerId="ADAL" clId="{27C2FE8E-341E-4345-8FAE-BAB215747634}"/>
    <pc:docChg chg="addSld delSld modSld">
      <pc:chgData name="Anh Nguyen Duc" userId="04a5c95d-4a59-4e21-b199-e9922fb46c5c" providerId="ADAL" clId="{27C2FE8E-341E-4345-8FAE-BAB215747634}" dt="2022-08-31T06:56:14.728" v="1"/>
      <pc:docMkLst>
        <pc:docMk/>
      </pc:docMkLst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78230554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2157855265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3795778222" sldId="359"/>
        </pc:sldMkLst>
      </pc:sldChg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821951021" sldId="359"/>
        </pc:sldMkLst>
      </pc:sldChg>
    </pc:docChg>
  </pc:docChgLst>
  <pc:docChgLst>
    <pc:chgData name="Anh Nguyen Duc" userId="04a5c95d-4a59-4e21-b199-e9922fb46c5c" providerId="ADAL" clId="{EBDB5816-78CD-4B78-BEE7-9D3778340309}"/>
    <pc:docChg chg="delSld">
      <pc:chgData name="Anh Nguyen Duc" userId="04a5c95d-4a59-4e21-b199-e9922fb46c5c" providerId="ADAL" clId="{EBDB5816-78CD-4B78-BEE7-9D3778340309}" dt="2023-01-01T19:37:57.860" v="0" actId="47"/>
      <pc:docMkLst>
        <pc:docMk/>
      </pc:docMkLst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202076995" sldId="340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25962909" sldId="341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848604392" sldId="342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79953026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57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0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059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8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353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9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58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156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10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3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281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946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2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95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9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1- an introduction 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660972"/>
            <a:ext cx="10786872" cy="3090879"/>
          </a:xfrm>
        </p:spPr>
        <p:txBody>
          <a:bodyPr>
            <a:noAutofit/>
          </a:bodyPr>
          <a:lstStyle/>
          <a:p>
            <a:r>
              <a:rPr lang="en-US" dirty="0" smtClean="0"/>
              <a:t>In this introduction the main questions to be addressed will be:</a:t>
            </a:r>
          </a:p>
          <a:p>
            <a:pPr lvl="1"/>
            <a:r>
              <a:rPr lang="en-US" sz="3200" dirty="0" smtClean="0"/>
              <a:t>What is software project management? Is it really different from ‘ordinary’ project management?</a:t>
            </a:r>
          </a:p>
          <a:p>
            <a:pPr lvl="1"/>
            <a:r>
              <a:rPr lang="en-US" sz="3200" dirty="0" smtClean="0"/>
              <a:t>How do you know when a project has been successful? For example, do the expectations of the customer/client match those of the developers?</a:t>
            </a:r>
          </a:p>
          <a:p>
            <a:pPr marL="400050" lvl="1" indent="0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project management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37" y="1539740"/>
            <a:ext cx="10786872" cy="3641865"/>
          </a:xfrm>
        </p:spPr>
        <p:txBody>
          <a:bodyPr/>
          <a:lstStyle/>
          <a:p>
            <a:r>
              <a:rPr lang="en-US" dirty="0"/>
              <a:t>Large amounts of money are spent on ICT e.g. UK government in spent £2.3 billions on contracts for ICT and only £1.4 billions on road building</a:t>
            </a:r>
          </a:p>
          <a:p>
            <a:r>
              <a:rPr lang="en-US" dirty="0"/>
              <a:t>Project often fail – Standish Group claim only a third of ICT projects are successful. 82% were late and 43% exceeded their budget</a:t>
            </a:r>
          </a:p>
          <a:p>
            <a:r>
              <a:rPr lang="en-US" dirty="0"/>
              <a:t>Poor project management a major factor in these failures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smtClean="0"/>
              <a:t>project?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“A specific plan or design”</a:t>
            </a:r>
          </a:p>
          <a:p>
            <a:pPr marL="0" indent="0">
              <a:buNone/>
            </a:pPr>
            <a:r>
              <a:rPr lang="en-US" dirty="0"/>
              <a:t>“A planned undertaking”</a:t>
            </a:r>
          </a:p>
          <a:p>
            <a:pPr marL="0" indent="0">
              <a:buNone/>
            </a:pPr>
            <a:r>
              <a:rPr lang="en-US" dirty="0"/>
              <a:t>“A large undertaking e.g. a public works scheme</a:t>
            </a:r>
            <a:r>
              <a:rPr lang="en-US" dirty="0" smtClean="0"/>
              <a:t>”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Longmans dictionary</a:t>
            </a:r>
          </a:p>
          <a:p>
            <a:pPr marL="0" indent="0">
              <a:buNone/>
            </a:pPr>
            <a:r>
              <a:rPr lang="en-US" dirty="0"/>
              <a:t>Key points above are planning and size of task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 versus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910" y="3696628"/>
            <a:ext cx="10786872" cy="268693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‘Jobs’ – repetition of very well-defined and well understood tasks with very little uncertainty </a:t>
            </a:r>
          </a:p>
          <a:p>
            <a:pPr marL="0" indent="0">
              <a:buNone/>
            </a:pPr>
            <a:r>
              <a:rPr lang="en-US" dirty="0" smtClean="0"/>
              <a:t>‘</a:t>
            </a:r>
            <a:r>
              <a:rPr lang="en-US" dirty="0"/>
              <a:t>Exploration’ – e.g. finding a cure for cancer: the outcome is very uncertain</a:t>
            </a:r>
          </a:p>
          <a:p>
            <a:pPr marL="0" indent="0">
              <a:buNone/>
            </a:pPr>
            <a:r>
              <a:rPr lang="en-US" dirty="0"/>
              <a:t>Projects – in the middle</a:t>
            </a:r>
            <a:r>
              <a:rPr lang="en-US" dirty="0" smtClean="0"/>
              <a:t>!   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97723" y="1207477"/>
            <a:ext cx="8194431" cy="2368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hevron 7"/>
          <p:cNvSpPr/>
          <p:nvPr/>
        </p:nvSpPr>
        <p:spPr>
          <a:xfrm>
            <a:off x="6518031" y="2153035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>
            <a:off x="7816377" y="2153035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9114723" y="2153035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hevron 10"/>
          <p:cNvSpPr/>
          <p:nvPr/>
        </p:nvSpPr>
        <p:spPr>
          <a:xfrm rot="10800000">
            <a:off x="2485326" y="2153034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 rot="10800000">
            <a:off x="3783672" y="2153034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 rot="10800000">
            <a:off x="5082018" y="2153034"/>
            <a:ext cx="1207477" cy="539262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85325" y="1370111"/>
            <a:ext cx="1547413" cy="646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85324" y="2804489"/>
            <a:ext cx="1547413" cy="646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4787" y="1370112"/>
            <a:ext cx="1547413" cy="646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774786" y="2804490"/>
            <a:ext cx="1547413" cy="646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643855" y="2804490"/>
            <a:ext cx="1547413" cy="646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2785444" y="1493056"/>
            <a:ext cx="1332271" cy="56085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200" dirty="0" smtClean="0"/>
              <a:t>Routine</a:t>
            </a:r>
            <a:endParaRPr lang="en-US" sz="2200" dirty="0"/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2984735" y="2925580"/>
            <a:ext cx="933687" cy="56085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200" dirty="0" smtClean="0"/>
              <a:t>Jobs</a:t>
            </a:r>
            <a:endParaRPr lang="en-US" sz="2200" dirty="0"/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5981384" y="2925580"/>
            <a:ext cx="1472948" cy="56085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200" dirty="0" smtClean="0"/>
              <a:t>Projects</a:t>
            </a:r>
            <a:endParaRPr lang="en-US" sz="2200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8924585" y="2925580"/>
            <a:ext cx="2035656" cy="56085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200" dirty="0" smtClean="0"/>
              <a:t>Exploration</a:t>
            </a:r>
            <a:endParaRPr lang="en-US" sz="2200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8913698" y="1324818"/>
            <a:ext cx="1578456" cy="89205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2200" dirty="0" smtClean="0"/>
              <a:t>Uncertainty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2200" dirty="0" smtClean="0"/>
              <a:t>of outcome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dirty="0"/>
              <a:t>A task is more ‘project-like’ if it is</a:t>
            </a:r>
            <a:r>
              <a:rPr lang="en-US" dirty="0" smtClean="0"/>
              <a:t>:</a:t>
            </a:r>
          </a:p>
          <a:p>
            <a:pPr lvl="1"/>
            <a:r>
              <a:rPr lang="en-US" sz="3200" dirty="0" smtClean="0"/>
              <a:t>Non-routine</a:t>
            </a:r>
          </a:p>
          <a:p>
            <a:pPr lvl="1"/>
            <a:r>
              <a:rPr lang="en-US" sz="3200" dirty="0"/>
              <a:t>Planned</a:t>
            </a:r>
          </a:p>
          <a:p>
            <a:pPr lvl="1"/>
            <a:r>
              <a:rPr lang="en-US" sz="3200" dirty="0"/>
              <a:t>Aiming at a specific target</a:t>
            </a:r>
          </a:p>
          <a:p>
            <a:pPr lvl="1"/>
            <a:r>
              <a:rPr lang="en-US" sz="3200" dirty="0"/>
              <a:t>Carried out for a customer</a:t>
            </a:r>
          </a:p>
          <a:p>
            <a:pPr lvl="1"/>
            <a:r>
              <a:rPr lang="en-US" sz="3200" dirty="0"/>
              <a:t>Carried out by a temporary work group</a:t>
            </a:r>
          </a:p>
          <a:p>
            <a:pPr lvl="1"/>
            <a:r>
              <a:rPr lang="en-US" sz="3200" dirty="0"/>
              <a:t>Involving several specialisms</a:t>
            </a:r>
          </a:p>
          <a:p>
            <a:pPr lvl="1"/>
            <a:r>
              <a:rPr lang="en-US" sz="3200" dirty="0"/>
              <a:t>Made up of several different phases</a:t>
            </a:r>
          </a:p>
          <a:p>
            <a:pPr lvl="1"/>
            <a:r>
              <a:rPr lang="en-US" sz="3200" dirty="0"/>
              <a:t>Constrained by time and resources</a:t>
            </a:r>
          </a:p>
          <a:p>
            <a:pPr lvl="1"/>
            <a:r>
              <a:rPr lang="en-US" sz="3200" dirty="0"/>
              <a:t>Large and/or complex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software projects really different from other projects?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588" y="1438765"/>
            <a:ext cx="10786872" cy="3799819"/>
          </a:xfrm>
        </p:spPr>
        <p:txBody>
          <a:bodyPr>
            <a:normAutofit/>
          </a:bodyPr>
          <a:lstStyle/>
          <a:p>
            <a:r>
              <a:rPr lang="en-US" dirty="0"/>
              <a:t>Not really …</a:t>
            </a:r>
            <a:r>
              <a:rPr lang="en-US" dirty="0" smtClean="0"/>
              <a:t>but</a:t>
            </a:r>
          </a:p>
          <a:p>
            <a:pPr lvl="1"/>
            <a:r>
              <a:rPr lang="en-US" sz="3200" dirty="0"/>
              <a:t>Invisibility</a:t>
            </a:r>
          </a:p>
          <a:p>
            <a:pPr lvl="1"/>
            <a:r>
              <a:rPr lang="en-US" sz="3200" dirty="0"/>
              <a:t>Complexity</a:t>
            </a:r>
          </a:p>
          <a:p>
            <a:pPr lvl="1"/>
            <a:r>
              <a:rPr lang="en-US" sz="3200" dirty="0"/>
              <a:t>Conformity</a:t>
            </a:r>
          </a:p>
          <a:p>
            <a:pPr lvl="1"/>
            <a:r>
              <a:rPr lang="en-US" sz="3200" dirty="0"/>
              <a:t>Flexibility</a:t>
            </a:r>
          </a:p>
          <a:p>
            <a:pPr lvl="1"/>
            <a:r>
              <a:rPr lang="en-US" sz="3200" dirty="0"/>
              <a:t>make software more problematic to build than other engineered artefacts.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management versus technical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1" y="1326521"/>
            <a:ext cx="10786872" cy="479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Projects can </a:t>
            </a:r>
            <a:r>
              <a:rPr lang="en-US" dirty="0" smtClean="0"/>
              <a:t>be:</a:t>
            </a:r>
          </a:p>
          <a:p>
            <a:r>
              <a:rPr lang="en-US" b="1" dirty="0"/>
              <a:t>In-house</a:t>
            </a:r>
            <a:r>
              <a:rPr lang="en-US" dirty="0"/>
              <a:t>: clients and developers are employed by the same </a:t>
            </a:r>
            <a:r>
              <a:rPr lang="en-US" dirty="0" smtClean="0"/>
              <a:t>organization</a:t>
            </a:r>
          </a:p>
          <a:p>
            <a:r>
              <a:rPr lang="en-US" b="1" dirty="0"/>
              <a:t>Out-sourced</a:t>
            </a:r>
            <a:r>
              <a:rPr lang="en-US" dirty="0"/>
              <a:t>: clients and developers employed by different </a:t>
            </a:r>
            <a:r>
              <a:rPr lang="en-US" dirty="0" smtClean="0"/>
              <a:t>organizations</a:t>
            </a:r>
          </a:p>
          <a:p>
            <a:r>
              <a:rPr lang="en-US" dirty="0"/>
              <a:t>‘Project manager’ could be</a:t>
            </a:r>
            <a:r>
              <a:rPr lang="en-US" dirty="0" smtClean="0"/>
              <a:t>:</a:t>
            </a:r>
            <a:endParaRPr lang="en-US" sz="3200" dirty="0" smtClean="0"/>
          </a:p>
          <a:p>
            <a:pPr lvl="1"/>
            <a:r>
              <a:rPr lang="en-US" sz="3200" dirty="0"/>
              <a:t>a ‘contract manager’ in the client organization</a:t>
            </a:r>
          </a:p>
          <a:p>
            <a:pPr lvl="1"/>
            <a:r>
              <a:rPr lang="en-US" sz="3200" dirty="0"/>
              <a:t>a technical project manager in the supplier/services organization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covered by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311" y="1882519"/>
            <a:ext cx="10786872" cy="4017002"/>
          </a:xfrm>
        </p:spPr>
        <p:txBody>
          <a:bodyPr>
            <a:normAutofit/>
          </a:bodyPr>
          <a:lstStyle/>
          <a:p>
            <a:r>
              <a:rPr lang="en-US" dirty="0"/>
              <a:t>Feasibility study:</a:t>
            </a:r>
            <a:endParaRPr lang="en-US" dirty="0" smtClean="0"/>
          </a:p>
          <a:p>
            <a:pPr lvl="1"/>
            <a:r>
              <a:rPr lang="en-US" sz="3200" dirty="0"/>
              <a:t>Is project technically feasible and worthwhile from a business point of view</a:t>
            </a:r>
            <a:r>
              <a:rPr lang="en-US" sz="3200" dirty="0" smtClean="0"/>
              <a:t>?</a:t>
            </a:r>
          </a:p>
          <a:p>
            <a:r>
              <a:rPr lang="en-US" dirty="0" smtClean="0"/>
              <a:t>Planning:</a:t>
            </a:r>
          </a:p>
          <a:p>
            <a:pPr lvl="1"/>
            <a:r>
              <a:rPr lang="en-US" sz="3200" dirty="0"/>
              <a:t>Only done if project is </a:t>
            </a:r>
            <a:r>
              <a:rPr lang="en-US" sz="3200" dirty="0" smtClean="0"/>
              <a:t>feasible</a:t>
            </a:r>
          </a:p>
          <a:p>
            <a:r>
              <a:rPr lang="en-US" dirty="0" smtClean="0"/>
              <a:t>Execution:</a:t>
            </a:r>
          </a:p>
          <a:p>
            <a:pPr lvl="1"/>
            <a:r>
              <a:rPr lang="en-US" sz="3200" dirty="0"/>
              <a:t>Implement plan, but plan may be changed as we go </a:t>
            </a:r>
            <a:r>
              <a:rPr lang="en-US" sz="3200" dirty="0" smtClean="0"/>
              <a:t>along</a:t>
            </a:r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covered by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9803" y="1856890"/>
            <a:ext cx="2949996" cy="552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Feasibility </a:t>
            </a:r>
            <a:r>
              <a:rPr lang="en-US" dirty="0" smtClean="0"/>
              <a:t>study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615334" y="1699935"/>
            <a:ext cx="2249431" cy="126753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dirty="0" smtClean="0"/>
              <a:t>How do we </a:t>
            </a:r>
          </a:p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dirty="0" smtClean="0"/>
              <a:t>do it?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37465" y="3531305"/>
            <a:ext cx="870609" cy="486486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 smtClean="0"/>
              <a:t>Plan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964699" y="5137370"/>
            <a:ext cx="3020335" cy="56400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 smtClean="0"/>
              <a:t>Project execution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328224" y="3056112"/>
            <a:ext cx="1803158" cy="118637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dirty="0" smtClean="0"/>
              <a:t>Is it worth </a:t>
            </a:r>
          </a:p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dirty="0" smtClean="0"/>
              <a:t>doing?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156500" y="3830511"/>
            <a:ext cx="1341003" cy="63433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 smtClean="0"/>
              <a:t>Do it!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3362" y="1831062"/>
            <a:ext cx="3206438" cy="5627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02339" y="3493195"/>
            <a:ext cx="1448190" cy="5627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12728" y="5137370"/>
            <a:ext cx="3370385" cy="5627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953875" y="2393769"/>
            <a:ext cx="0" cy="1099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938613" y="4055902"/>
            <a:ext cx="0" cy="1080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Callout 21"/>
          <p:cNvSpPr/>
          <p:nvPr/>
        </p:nvSpPr>
        <p:spPr>
          <a:xfrm rot="10800000">
            <a:off x="1966607" y="2781988"/>
            <a:ext cx="2415193" cy="1652507"/>
          </a:xfrm>
          <a:prstGeom prst="wedgeEllipseCallout">
            <a:avLst>
              <a:gd name="adj1" fmla="val -47383"/>
              <a:gd name="adj2" fmla="val 7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Callout 22"/>
          <p:cNvSpPr/>
          <p:nvPr/>
        </p:nvSpPr>
        <p:spPr>
          <a:xfrm>
            <a:off x="6532454" y="1418583"/>
            <a:ext cx="2415193" cy="1652507"/>
          </a:xfrm>
          <a:prstGeom prst="wedgeEllipseCallout">
            <a:avLst>
              <a:gd name="adj1" fmla="val -47383"/>
              <a:gd name="adj2" fmla="val 7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Callout 23"/>
          <p:cNvSpPr/>
          <p:nvPr/>
        </p:nvSpPr>
        <p:spPr>
          <a:xfrm>
            <a:off x="8750341" y="3531305"/>
            <a:ext cx="1664696" cy="1189646"/>
          </a:xfrm>
          <a:prstGeom prst="wedgeEllipseCallout">
            <a:avLst>
              <a:gd name="adj1" fmla="val -47383"/>
              <a:gd name="adj2" fmla="val 7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software development life-cycle (ISO 12207)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85327" y="1443448"/>
            <a:ext cx="4082305" cy="986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10167" y="1545631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93140" y="1845131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Architecture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18447" y="2141156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0847" y="2630809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53820" y="2930309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79127" y="3415320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93427" y="3711345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76400" y="4010845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01707" y="4306870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54107" y="4600806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37080" y="4900306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62387" y="5387781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76687" y="5683806"/>
            <a:ext cx="1366520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 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085327" y="2536110"/>
            <a:ext cx="4082305" cy="677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085326" y="3311968"/>
            <a:ext cx="4082305" cy="1882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085327" y="5290752"/>
            <a:ext cx="4082305" cy="687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5400000">
            <a:off x="6109650" y="3612104"/>
            <a:ext cx="4534628" cy="19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Process implementation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 rot="5400000">
            <a:off x="7598302" y="1838049"/>
            <a:ext cx="854699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Requirements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 rot="5400000">
            <a:off x="7598302" y="2799095"/>
            <a:ext cx="854699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Design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 rot="5400000">
            <a:off x="7088163" y="4158714"/>
            <a:ext cx="1874976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Code and test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5400000">
            <a:off x="7438910" y="5393886"/>
            <a:ext cx="833117" cy="540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</a:rPr>
              <a:t>Installation/acceptance support 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 rot="16200000">
            <a:off x="3901562" y="1715976"/>
            <a:ext cx="560950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</a:t>
            </a:r>
            <a:r>
              <a:rPr lang="en-US" sz="1000" dirty="0" smtClean="0">
                <a:solidFill>
                  <a:schemeClr val="tx1"/>
                </a:solidFill>
              </a:rPr>
              <a:t>ystem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324087" y="1534159"/>
            <a:ext cx="0" cy="5609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324087" y="2095110"/>
            <a:ext cx="0" cy="250569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324087" y="4600806"/>
            <a:ext cx="0" cy="496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324087" y="5336689"/>
            <a:ext cx="0" cy="59645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 rot="16200000">
            <a:off x="3848452" y="5535754"/>
            <a:ext cx="680808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software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 rot="16200000">
            <a:off x="3905838" y="4765957"/>
            <a:ext cx="560950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</a:t>
            </a:r>
            <a:r>
              <a:rPr lang="en-US" sz="1000" dirty="0" smtClean="0">
                <a:solidFill>
                  <a:schemeClr val="tx1"/>
                </a:solidFill>
              </a:rPr>
              <a:t>ystem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 rot="16200000">
            <a:off x="3852520" y="3612686"/>
            <a:ext cx="680808" cy="19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software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12207 life-cycle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Requirements </a:t>
            </a:r>
            <a:r>
              <a:rPr lang="en-US" dirty="0" smtClean="0"/>
              <a:t>analysis:</a:t>
            </a:r>
          </a:p>
          <a:p>
            <a:pPr lvl="1"/>
            <a:r>
              <a:rPr lang="en-US" sz="3200" dirty="0"/>
              <a:t>Requirements elicitation: what does the client need?</a:t>
            </a:r>
          </a:p>
          <a:p>
            <a:pPr lvl="1"/>
            <a:r>
              <a:rPr lang="en-US" sz="3200" dirty="0"/>
              <a:t>Analysis: converting ‘customer-facing’ requirements into equivalents that developers can </a:t>
            </a:r>
            <a:r>
              <a:rPr lang="en-US" sz="3200" dirty="0" smtClean="0"/>
              <a:t>understand</a:t>
            </a:r>
          </a:p>
          <a:p>
            <a:pPr lvl="1"/>
            <a:r>
              <a:rPr lang="en-US" sz="3200" dirty="0"/>
              <a:t>Requirements will </a:t>
            </a:r>
            <a:r>
              <a:rPr lang="en-US" sz="3200" dirty="0" smtClean="0"/>
              <a:t>cover: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Functions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Quality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Resource </a:t>
            </a:r>
            <a:r>
              <a:rPr lang="en-US" sz="3200" dirty="0"/>
              <a:t>constraints i.e. costs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12207 life-cycle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Requirements </a:t>
            </a:r>
            <a:r>
              <a:rPr lang="en-US" dirty="0" smtClean="0"/>
              <a:t>analysis:</a:t>
            </a:r>
          </a:p>
          <a:p>
            <a:pPr lvl="1"/>
            <a:r>
              <a:rPr lang="en-US" sz="3200" dirty="0"/>
              <a:t>Requirements elicitation: what does the client need?</a:t>
            </a:r>
          </a:p>
          <a:p>
            <a:pPr lvl="1"/>
            <a:r>
              <a:rPr lang="en-US" sz="3200" dirty="0"/>
              <a:t>Analysis: converting ‘customer-facing’ requirements into equivalents that developers can </a:t>
            </a:r>
            <a:r>
              <a:rPr lang="en-US" sz="3200" dirty="0" smtClean="0"/>
              <a:t>understand</a:t>
            </a:r>
          </a:p>
          <a:p>
            <a:pPr lvl="1"/>
            <a:r>
              <a:rPr lang="en-US" sz="3200" dirty="0"/>
              <a:t>Requirements will </a:t>
            </a:r>
            <a:r>
              <a:rPr lang="en-US" sz="3200" dirty="0" smtClean="0"/>
              <a:t>cover: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Functions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Quality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3200" dirty="0" smtClean="0"/>
              <a:t>Resource </a:t>
            </a:r>
            <a:r>
              <a:rPr lang="en-US" sz="3200" dirty="0"/>
              <a:t>constraints i.e. costs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12207 life-cycle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5034700"/>
          </a:xfrm>
        </p:spPr>
        <p:txBody>
          <a:bodyPr>
            <a:normAutofit/>
          </a:bodyPr>
          <a:lstStyle/>
          <a:p>
            <a:r>
              <a:rPr lang="en-US" dirty="0"/>
              <a:t>Architecture </a:t>
            </a:r>
            <a:r>
              <a:rPr lang="en-US" dirty="0" smtClean="0"/>
              <a:t>design</a:t>
            </a:r>
          </a:p>
          <a:p>
            <a:pPr lvl="1"/>
            <a:r>
              <a:rPr lang="en-US" sz="3200" dirty="0"/>
              <a:t>Based on system </a:t>
            </a:r>
            <a:r>
              <a:rPr lang="en-US" sz="3200" dirty="0" smtClean="0"/>
              <a:t>requirements</a:t>
            </a:r>
          </a:p>
          <a:p>
            <a:pPr lvl="1"/>
            <a:r>
              <a:rPr lang="en-US" sz="3200" dirty="0"/>
              <a:t>Defines components of system: hardware, software, </a:t>
            </a:r>
            <a:r>
              <a:rPr lang="en-US" sz="3200" dirty="0" smtClean="0"/>
              <a:t>organizational</a:t>
            </a:r>
          </a:p>
          <a:p>
            <a:pPr lvl="1"/>
            <a:r>
              <a:rPr lang="en-US" sz="3200" dirty="0"/>
              <a:t>Software requirements will come out of this</a:t>
            </a:r>
          </a:p>
          <a:p>
            <a:r>
              <a:rPr lang="en-US" dirty="0"/>
              <a:t>Code and </a:t>
            </a:r>
            <a:r>
              <a:rPr lang="en-US" dirty="0" smtClean="0"/>
              <a:t>test</a:t>
            </a:r>
          </a:p>
          <a:p>
            <a:pPr lvl="1"/>
            <a:r>
              <a:rPr lang="en-US" sz="3200" dirty="0"/>
              <a:t>Of individual </a:t>
            </a:r>
            <a:r>
              <a:rPr lang="en-US" sz="3200" dirty="0" smtClean="0"/>
              <a:t>components</a:t>
            </a:r>
            <a:endParaRPr lang="en-US" sz="3200" dirty="0"/>
          </a:p>
          <a:p>
            <a:r>
              <a:rPr lang="en-US" dirty="0" smtClean="0"/>
              <a:t>Integration</a:t>
            </a:r>
            <a:endParaRPr lang="en-US" dirty="0"/>
          </a:p>
          <a:p>
            <a:pPr lvl="1"/>
            <a:r>
              <a:rPr lang="en-US" sz="3200" dirty="0"/>
              <a:t>Putting the components </a:t>
            </a:r>
            <a:r>
              <a:rPr lang="en-US" sz="3200" dirty="0" smtClean="0"/>
              <a:t>together</a:t>
            </a:r>
            <a:endParaRPr lang="en-US" sz="3200" dirty="0"/>
          </a:p>
          <a:p>
            <a:pPr marL="976312" lvl="4" indent="0">
              <a:buNone/>
            </a:pPr>
            <a:endParaRPr lang="en-US" sz="32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</a:t>
            </a:r>
            <a:r>
              <a:rPr lang="en-US" dirty="0" smtClean="0"/>
              <a:t>12207 </a:t>
            </a:r>
            <a:r>
              <a:rPr lang="en-US" dirty="0"/>
              <a:t>life-cycle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0"/>
            <a:ext cx="10786872" cy="5034700"/>
          </a:xfrm>
        </p:spPr>
        <p:txBody>
          <a:bodyPr>
            <a:normAutofit/>
          </a:bodyPr>
          <a:lstStyle/>
          <a:p>
            <a:r>
              <a:rPr lang="en-US" dirty="0"/>
              <a:t>Qualification </a:t>
            </a:r>
            <a:r>
              <a:rPr lang="en-US" dirty="0" smtClean="0"/>
              <a:t>testing</a:t>
            </a:r>
          </a:p>
          <a:p>
            <a:pPr lvl="1"/>
            <a:r>
              <a:rPr lang="en-US" sz="3200" dirty="0"/>
              <a:t>Testing the system (not just the software)</a:t>
            </a:r>
            <a:endParaRPr lang="en-US" sz="3200" dirty="0" smtClean="0"/>
          </a:p>
          <a:p>
            <a:r>
              <a:rPr lang="en-US" dirty="0" smtClean="0"/>
              <a:t>Installation</a:t>
            </a:r>
          </a:p>
          <a:p>
            <a:pPr lvl="1"/>
            <a:r>
              <a:rPr lang="en-US" sz="3200" dirty="0"/>
              <a:t>The process of making the system </a:t>
            </a:r>
            <a:r>
              <a:rPr lang="en-US" sz="3200" dirty="0" smtClean="0"/>
              <a:t>operational</a:t>
            </a:r>
          </a:p>
          <a:p>
            <a:pPr lvl="1"/>
            <a:r>
              <a:rPr lang="en-US" sz="3200" dirty="0"/>
              <a:t>Includes setting up standing data, setting system parameters, installing on operational hardware platforms, user training </a:t>
            </a:r>
            <a:r>
              <a:rPr lang="en-US" sz="3200" dirty="0" err="1" smtClean="0"/>
              <a:t>etc</a:t>
            </a:r>
            <a:endParaRPr lang="en-US" sz="3200" dirty="0"/>
          </a:p>
          <a:p>
            <a:r>
              <a:rPr lang="en-US" dirty="0"/>
              <a:t>Acceptance </a:t>
            </a:r>
            <a:r>
              <a:rPr lang="en-US" dirty="0" smtClean="0"/>
              <a:t>support</a:t>
            </a:r>
            <a:endParaRPr lang="en-US" dirty="0"/>
          </a:p>
          <a:p>
            <a:pPr lvl="1"/>
            <a:r>
              <a:rPr lang="en-US" sz="3200" dirty="0"/>
              <a:t>Including maintenance and </a:t>
            </a:r>
            <a:r>
              <a:rPr lang="en-US" sz="3200" dirty="0" smtClean="0"/>
              <a:t>enhancement</a:t>
            </a:r>
            <a:endParaRPr lang="en-US" sz="3200" dirty="0"/>
          </a:p>
          <a:p>
            <a:pPr marL="976312" lvl="4" indent="0">
              <a:buNone/>
            </a:pPr>
            <a:endParaRPr lang="en-US" sz="32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Plans, methods and methodologies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86173" y="2471594"/>
            <a:ext cx="3675195" cy="289969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15696" y="4670784"/>
            <a:ext cx="1808074" cy="58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70C0"/>
                </a:solidFill>
              </a:rPr>
              <a:t>Methods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22250" y="3517173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74650" y="3669573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727050" y="3821973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879450" y="3974373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72722" y="4151851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764026" y="2801472"/>
            <a:ext cx="1689904" cy="86810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45336" y="4292823"/>
            <a:ext cx="1808074" cy="58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70C0"/>
                </a:solidFill>
              </a:rPr>
              <a:t>Plan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48878" y="2121042"/>
            <a:ext cx="1808074" cy="58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Context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31441" y="1496685"/>
            <a:ext cx="4315787" cy="58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smtClean="0">
                <a:solidFill>
                  <a:schemeClr val="tx1"/>
                </a:solidFill>
              </a:rPr>
              <a:t>Methodology = a set of methods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24127" y="5606698"/>
            <a:ext cx="3240427" cy="58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smtClean="0">
                <a:solidFill>
                  <a:schemeClr val="tx1"/>
                </a:solidFill>
              </a:rPr>
              <a:t>A way of working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1949" y="5120325"/>
            <a:ext cx="6600703" cy="904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3200" dirty="0" smtClean="0">
                <a:solidFill>
                  <a:schemeClr val="tx1"/>
                </a:solidFill>
              </a:rPr>
              <a:t>+ start and end dates for each activity, staffing, tools and </a:t>
            </a:r>
            <a:r>
              <a:rPr lang="en-US" sz="3200" dirty="0" smtClean="0">
                <a:solidFill>
                  <a:srgbClr val="FF0000"/>
                </a:solidFill>
              </a:rPr>
              <a:t>materials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</a:rPr>
              <a:t>etc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3" idx="3"/>
            <a:endCxn id="14" idx="1"/>
          </p:cNvCxnSpPr>
          <p:nvPr/>
        </p:nvCxnSpPr>
        <p:spPr>
          <a:xfrm>
            <a:off x="4569354" y="4408424"/>
            <a:ext cx="1803368" cy="177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5" idx="2"/>
            <a:endCxn id="14" idx="3"/>
          </p:cNvCxnSpPr>
          <p:nvPr/>
        </p:nvCxnSpPr>
        <p:spPr>
          <a:xfrm flipH="1">
            <a:off x="8062626" y="3669573"/>
            <a:ext cx="1546352" cy="916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ways of categorizing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184" y="1606069"/>
            <a:ext cx="10786872" cy="3382620"/>
          </a:xfrm>
        </p:spPr>
        <p:txBody>
          <a:bodyPr/>
          <a:lstStyle/>
          <a:p>
            <a:r>
              <a:rPr lang="en-US" dirty="0" smtClean="0"/>
              <a:t>Distinguishing </a:t>
            </a:r>
            <a:r>
              <a:rPr lang="en-US" dirty="0"/>
              <a:t>different types of project is important as different types of task need different project approaches </a:t>
            </a:r>
            <a:r>
              <a:rPr lang="en-US" dirty="0" err="1" smtClean="0"/>
              <a:t>e.g</a:t>
            </a:r>
            <a:endParaRPr lang="en-US" dirty="0" smtClean="0"/>
          </a:p>
          <a:p>
            <a:pPr lvl="1"/>
            <a:r>
              <a:rPr lang="en-US" sz="3200" dirty="0"/>
              <a:t>Voluntary systems (such as computer games) versus compulsory systems e.g. the order processing system in an </a:t>
            </a:r>
            <a:r>
              <a:rPr lang="en-US" sz="3200" dirty="0" smtClean="0"/>
              <a:t>organization</a:t>
            </a:r>
          </a:p>
          <a:p>
            <a:pPr lvl="1"/>
            <a:r>
              <a:rPr lang="en-US" sz="3200" dirty="0"/>
              <a:t>Information systems versus embedded </a:t>
            </a:r>
            <a:r>
              <a:rPr lang="en-US" sz="3200" dirty="0" smtClean="0"/>
              <a:t>systems</a:t>
            </a:r>
          </a:p>
          <a:p>
            <a:pPr lvl="1"/>
            <a:r>
              <a:rPr lang="en-US" sz="3200" dirty="0"/>
              <a:t>Objective-based versus </a:t>
            </a:r>
            <a:r>
              <a:rPr lang="en-US" sz="3200" dirty="0" smtClean="0"/>
              <a:t>product-based</a:t>
            </a:r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60" y="1429637"/>
            <a:ext cx="11371160" cy="4528514"/>
          </a:xfrm>
        </p:spPr>
        <p:txBody>
          <a:bodyPr>
            <a:normAutofit/>
          </a:bodyPr>
          <a:lstStyle/>
          <a:p>
            <a:r>
              <a:rPr lang="en-US" dirty="0"/>
              <a:t>These are people who have a stake or interest in the project</a:t>
            </a:r>
          </a:p>
          <a:p>
            <a:r>
              <a:rPr lang="en-US" dirty="0"/>
              <a:t>In general, they could be users/clients </a:t>
            </a:r>
            <a:r>
              <a:rPr lang="en-US" dirty="0" smtClean="0"/>
              <a:t>or developers/implementers</a:t>
            </a:r>
          </a:p>
          <a:p>
            <a:r>
              <a:rPr lang="en-US" dirty="0" smtClean="0"/>
              <a:t>They could be:</a:t>
            </a:r>
          </a:p>
          <a:p>
            <a:pPr lvl="1"/>
            <a:r>
              <a:rPr lang="en-US" sz="3200" dirty="0"/>
              <a:t>Within the project </a:t>
            </a:r>
            <a:r>
              <a:rPr lang="en-US" sz="3200" dirty="0" smtClean="0"/>
              <a:t>team</a:t>
            </a:r>
          </a:p>
          <a:p>
            <a:pPr lvl="1"/>
            <a:r>
              <a:rPr lang="en-US" sz="3200" dirty="0"/>
              <a:t>Outside the project team, but within the same </a:t>
            </a:r>
            <a:r>
              <a:rPr lang="en-US" sz="3200" dirty="0" smtClean="0"/>
              <a:t>organization</a:t>
            </a:r>
          </a:p>
          <a:p>
            <a:pPr lvl="1"/>
            <a:r>
              <a:rPr lang="en-US" sz="3200" dirty="0"/>
              <a:t>Outside both the project team and the </a:t>
            </a:r>
            <a:r>
              <a:rPr lang="en-US" sz="3200" dirty="0" smtClean="0"/>
              <a:t>organization</a:t>
            </a:r>
          </a:p>
          <a:p>
            <a:r>
              <a:rPr lang="en-US" dirty="0"/>
              <a:t>Different stakeholders may have different objectives – need to define common project objectives</a:t>
            </a:r>
            <a:endParaRPr lang="en-US" sz="3200" dirty="0" smtClean="0"/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04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3186"/>
            <a:ext cx="10786872" cy="4898166"/>
          </a:xfrm>
        </p:spPr>
        <p:txBody>
          <a:bodyPr>
            <a:normAutofit/>
          </a:bodyPr>
          <a:lstStyle/>
          <a:p>
            <a:r>
              <a:rPr lang="en-US" dirty="0"/>
              <a:t>Answering the question ‘What do we have to do to have a success</a:t>
            </a:r>
            <a:r>
              <a:rPr lang="en-US" dirty="0" smtClean="0"/>
              <a:t>?’</a:t>
            </a:r>
          </a:p>
          <a:p>
            <a:r>
              <a:rPr lang="en-US" dirty="0"/>
              <a:t>Need for a project </a:t>
            </a:r>
            <a:r>
              <a:rPr lang="en-US" dirty="0" smtClean="0"/>
              <a:t>authority</a:t>
            </a:r>
          </a:p>
          <a:p>
            <a:pPr lvl="1"/>
            <a:r>
              <a:rPr lang="en-US" sz="3200" dirty="0"/>
              <a:t>Sets the project </a:t>
            </a:r>
            <a:r>
              <a:rPr lang="en-US" sz="3200" dirty="0" smtClean="0"/>
              <a:t>scope</a:t>
            </a:r>
            <a:endParaRPr lang="en-US" sz="3200" dirty="0"/>
          </a:p>
          <a:p>
            <a:pPr lvl="1"/>
            <a:r>
              <a:rPr lang="en-US" sz="3200" dirty="0"/>
              <a:t>Allocates/approves </a:t>
            </a:r>
            <a:r>
              <a:rPr lang="en-US" sz="3200" dirty="0" smtClean="0"/>
              <a:t>costs</a:t>
            </a:r>
          </a:p>
          <a:p>
            <a:r>
              <a:rPr lang="en-US" dirty="0"/>
              <a:t>Could be one person - or a </a:t>
            </a:r>
            <a:r>
              <a:rPr lang="en-US" dirty="0" smtClean="0"/>
              <a:t>group</a:t>
            </a:r>
            <a:endParaRPr lang="en-US" dirty="0"/>
          </a:p>
          <a:p>
            <a:pPr lvl="1"/>
            <a:r>
              <a:rPr lang="en-US" sz="3200" dirty="0"/>
              <a:t>Project Board</a:t>
            </a:r>
          </a:p>
          <a:p>
            <a:pPr lvl="1"/>
            <a:r>
              <a:rPr lang="en-US" sz="3200" dirty="0"/>
              <a:t>Project Management Board</a:t>
            </a:r>
          </a:p>
          <a:p>
            <a:pPr lvl="1"/>
            <a:r>
              <a:rPr lang="en-US" sz="3200" dirty="0"/>
              <a:t>Steering </a:t>
            </a:r>
            <a:r>
              <a:rPr lang="en-US" sz="3200" dirty="0" smtClean="0"/>
              <a:t>committee</a:t>
            </a:r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4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97" y="1320205"/>
            <a:ext cx="10786872" cy="3602539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Informally, the objective of a project can be defined by completing the statement:</a:t>
            </a:r>
          </a:p>
          <a:p>
            <a:pPr marL="912812" lvl="4" indent="0">
              <a:buNone/>
            </a:pPr>
            <a:r>
              <a:rPr lang="en-US" sz="3200" dirty="0"/>
              <a:t>The project will be regarded as a success if……….</a:t>
            </a:r>
          </a:p>
          <a:p>
            <a:pPr marL="912812" lvl="4" indent="0">
              <a:buNone/>
            </a:pPr>
            <a:r>
              <a:rPr lang="en-US" sz="3200" dirty="0"/>
              <a:t>…………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Rather like post-conditions for the project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Focus on what will be put in place, rather than how activities will be carried out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6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should be SMART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331780"/>
            <a:ext cx="10786872" cy="4930124"/>
          </a:xfrm>
        </p:spPr>
        <p:txBody>
          <a:bodyPr>
            <a:normAutofit/>
          </a:bodyPr>
          <a:lstStyle/>
          <a:p>
            <a:r>
              <a:rPr lang="en-US" dirty="0"/>
              <a:t>S – specific, that is, concrete and well-defined</a:t>
            </a:r>
          </a:p>
          <a:p>
            <a:r>
              <a:rPr lang="en-US" dirty="0"/>
              <a:t>M – measurable, that is, satisfaction of the objective can be objectively judged</a:t>
            </a:r>
          </a:p>
          <a:p>
            <a:r>
              <a:rPr lang="en-US" dirty="0"/>
              <a:t>A – achievable, that is, it is within the power of the individual or group concerned to meet the target</a:t>
            </a:r>
          </a:p>
          <a:p>
            <a:r>
              <a:rPr lang="en-US" dirty="0"/>
              <a:t>R – relevant, the objective must relevant to the true purpose of the project</a:t>
            </a:r>
          </a:p>
          <a:p>
            <a:r>
              <a:rPr lang="en-US" dirty="0"/>
              <a:t>T – time constrained: there is defined point in time by which the objective should be achieved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44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Goals/sub-objectives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35" y="1311443"/>
            <a:ext cx="10786872" cy="3839291"/>
          </a:xfrm>
        </p:spPr>
        <p:txBody>
          <a:bodyPr>
            <a:normAutofit/>
          </a:bodyPr>
          <a:lstStyle/>
          <a:p>
            <a:r>
              <a:rPr lang="en-US" dirty="0"/>
              <a:t>These are steps along the way to achieving the objective</a:t>
            </a:r>
          </a:p>
          <a:p>
            <a:r>
              <a:rPr lang="en-US" dirty="0"/>
              <a:t>Informally, these can be defined by completing the sentence</a:t>
            </a:r>
          </a:p>
          <a:p>
            <a:r>
              <a:rPr lang="en-US" dirty="0"/>
              <a:t>To reach objective X, the following must be in place</a:t>
            </a:r>
          </a:p>
          <a:p>
            <a:r>
              <a:rPr lang="en-US" dirty="0"/>
              <a:t>A……………</a:t>
            </a:r>
          </a:p>
          <a:p>
            <a:r>
              <a:rPr lang="en-US" dirty="0"/>
              <a:t>B……………</a:t>
            </a:r>
          </a:p>
          <a:p>
            <a:r>
              <a:rPr lang="en-US" dirty="0"/>
              <a:t>C……………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2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Goals/sub-objectives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162" y="1384249"/>
            <a:ext cx="10786872" cy="3673888"/>
          </a:xfrm>
        </p:spPr>
        <p:txBody>
          <a:bodyPr>
            <a:normAutofit/>
          </a:bodyPr>
          <a:lstStyle/>
          <a:p>
            <a:r>
              <a:rPr lang="en-US" dirty="0"/>
              <a:t>Often a goal can be allocated to an individual</a:t>
            </a:r>
          </a:p>
          <a:p>
            <a:r>
              <a:rPr lang="en-US" dirty="0"/>
              <a:t>Individual might have the capability of achieving goal on their own, but not the overall objective e.g.</a:t>
            </a:r>
          </a:p>
          <a:p>
            <a:r>
              <a:rPr lang="en-US" dirty="0"/>
              <a:t>Overall objective – user satisfaction with software product</a:t>
            </a:r>
          </a:p>
          <a:p>
            <a:r>
              <a:rPr lang="en-US" dirty="0"/>
              <a:t>Analyst goal – accurate requirements</a:t>
            </a:r>
          </a:p>
          <a:p>
            <a:r>
              <a:rPr lang="en-US" dirty="0"/>
              <a:t>Developer goal – reliable </a:t>
            </a:r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48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43354"/>
            <a:ext cx="10786872" cy="3880332"/>
          </a:xfrm>
        </p:spPr>
        <p:txBody>
          <a:bodyPr>
            <a:normAutofit/>
          </a:bodyPr>
          <a:lstStyle/>
          <a:p>
            <a:r>
              <a:rPr lang="en-US" dirty="0"/>
              <a:t>How do we know that the goal or objective has been achieved</a:t>
            </a:r>
            <a:r>
              <a:rPr lang="en-US" dirty="0" smtClean="0"/>
              <a:t>?</a:t>
            </a:r>
          </a:p>
          <a:p>
            <a:r>
              <a:rPr lang="en-US" dirty="0"/>
              <a:t>By a practical test, that can be objectively assessed.</a:t>
            </a:r>
          </a:p>
          <a:p>
            <a:r>
              <a:rPr lang="en-US" dirty="0"/>
              <a:t>e.g. for user satisfaction with software </a:t>
            </a:r>
            <a:r>
              <a:rPr lang="en-US" dirty="0" smtClean="0"/>
              <a:t>product:</a:t>
            </a:r>
          </a:p>
          <a:p>
            <a:pPr lvl="1"/>
            <a:r>
              <a:rPr lang="en-US" sz="3200" dirty="0"/>
              <a:t>Repeat business – they buy further products from </a:t>
            </a:r>
            <a:r>
              <a:rPr lang="en-US" sz="3200" dirty="0" smtClean="0"/>
              <a:t>us</a:t>
            </a:r>
          </a:p>
          <a:p>
            <a:pPr lvl="1"/>
            <a:r>
              <a:rPr lang="en-US" sz="3200" dirty="0"/>
              <a:t>Number of complaints – if low </a:t>
            </a:r>
            <a:r>
              <a:rPr lang="en-US" sz="3200" dirty="0" err="1"/>
              <a:t>etc</a:t>
            </a:r>
            <a:r>
              <a:rPr lang="en-US" sz="3200" dirty="0"/>
              <a:t> </a:t>
            </a:r>
            <a:r>
              <a:rPr lang="en-US" sz="3200" dirty="0" err="1" smtClean="0"/>
              <a:t>etc</a:t>
            </a:r>
            <a:endParaRPr lang="en-US" sz="3200" dirty="0" smtClean="0"/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89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7562" y="1311443"/>
            <a:ext cx="5143980" cy="4872941"/>
          </a:xfrm>
        </p:spPr>
        <p:txBody>
          <a:bodyPr/>
          <a:lstStyle/>
          <a:p>
            <a:r>
              <a:rPr lang="en-US" dirty="0"/>
              <a:t>Benefits of delivered project must outweigh costs</a:t>
            </a:r>
            <a:r>
              <a:rPr lang="en-US" dirty="0" smtClean="0"/>
              <a:t>:</a:t>
            </a:r>
          </a:p>
          <a:p>
            <a:r>
              <a:rPr lang="en-US" dirty="0"/>
              <a:t>Costs include</a:t>
            </a:r>
            <a:endParaRPr lang="en-US" dirty="0" smtClean="0"/>
          </a:p>
          <a:p>
            <a:pPr lvl="1"/>
            <a:r>
              <a:rPr lang="en-US" sz="3200" dirty="0" smtClean="0"/>
              <a:t>Development</a:t>
            </a:r>
          </a:p>
          <a:p>
            <a:pPr lvl="1"/>
            <a:r>
              <a:rPr lang="en-US" sz="3200" dirty="0" smtClean="0"/>
              <a:t>Operation</a:t>
            </a:r>
          </a:p>
          <a:p>
            <a:r>
              <a:rPr lang="en-US" dirty="0"/>
              <a:t>Benefits.</a:t>
            </a:r>
            <a:endParaRPr lang="en-US" dirty="0" smtClean="0"/>
          </a:p>
          <a:p>
            <a:pPr lvl="1"/>
            <a:r>
              <a:rPr lang="en-US" sz="3200" dirty="0" smtClean="0"/>
              <a:t>Quantifiable</a:t>
            </a:r>
          </a:p>
          <a:p>
            <a:pPr lvl="1"/>
            <a:r>
              <a:rPr lang="en-US" sz="3200" dirty="0" smtClean="0"/>
              <a:t>Non-quantifiable</a:t>
            </a:r>
            <a:endParaRPr lang="en-US" sz="3200" dirty="0"/>
          </a:p>
          <a:p>
            <a:pPr marL="400050" lvl="1" indent="0">
              <a:buNone/>
            </a:pPr>
            <a:endParaRPr lang="en-US" sz="3200" dirty="0" smtClean="0"/>
          </a:p>
          <a:p>
            <a:pPr marL="40005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24127" y="2056459"/>
            <a:ext cx="1250066" cy="3669174"/>
          </a:xfrm>
          <a:prstGeom prst="rect">
            <a:avLst/>
          </a:prstGeom>
          <a:solidFill>
            <a:srgbClr val="FFC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rgbClr val="0070C0"/>
                </a:solidFill>
              </a:rPr>
              <a:t>$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1155" y="3159889"/>
            <a:ext cx="1250066" cy="2565744"/>
          </a:xfrm>
          <a:prstGeom prst="rect">
            <a:avLst/>
          </a:prstGeom>
          <a:solidFill>
            <a:srgbClr val="FFC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rgbClr val="0070C0"/>
                </a:solidFill>
              </a:rPr>
              <a:t>$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1413" y="5725633"/>
            <a:ext cx="4247909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533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success/failure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113" y="1428412"/>
            <a:ext cx="10786872" cy="662570"/>
          </a:xfrm>
        </p:spPr>
        <p:txBody>
          <a:bodyPr/>
          <a:lstStyle/>
          <a:p>
            <a:r>
              <a:rPr lang="en-US" dirty="0"/>
              <a:t>Degree to which objectives are met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25113" y="4249001"/>
            <a:ext cx="10786872" cy="203605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In general if, for example, project is running out of </a:t>
            </a:r>
            <a:r>
              <a:rPr lang="en-US" dirty="0" smtClean="0"/>
              <a:t>time, this </a:t>
            </a:r>
            <a:r>
              <a:rPr lang="en-US" dirty="0"/>
              <a:t>can be recovered for by reducing scope or </a:t>
            </a:r>
            <a:r>
              <a:rPr lang="en-US" dirty="0" smtClean="0"/>
              <a:t>increasing costs</a:t>
            </a:r>
            <a:r>
              <a:rPr lang="en-US" dirty="0"/>
              <a:t>. Similarly costs and scope can be protected </a:t>
            </a:r>
            <a:r>
              <a:rPr lang="en-US" dirty="0" smtClean="0"/>
              <a:t>by adjusting </a:t>
            </a:r>
            <a:r>
              <a:rPr lang="en-US" dirty="0"/>
              <a:t>other corners of the ‘project triangle</a:t>
            </a:r>
            <a:r>
              <a:rPr lang="en-US" dirty="0" smtClean="0"/>
              <a:t>’.</a:t>
            </a:r>
            <a:endParaRPr lang="en-US" dirty="0"/>
          </a:p>
        </p:txBody>
      </p:sp>
      <p:sp>
        <p:nvSpPr>
          <p:cNvPr id="7" name="Isosceles Triangle 6"/>
          <p:cNvSpPr/>
          <p:nvPr/>
        </p:nvSpPr>
        <p:spPr>
          <a:xfrm>
            <a:off x="4417069" y="2559958"/>
            <a:ext cx="3402957" cy="1331088"/>
          </a:xfrm>
          <a:prstGeom prst="triangle">
            <a:avLst/>
          </a:prstGeom>
          <a:solidFill>
            <a:srgbClr val="FFC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135838" y="2059167"/>
            <a:ext cx="3965420" cy="66257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scope (of deliverables)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443235" y="3584348"/>
            <a:ext cx="1059316" cy="66257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101257" y="3558835"/>
            <a:ext cx="1059316" cy="66257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 smtClean="0"/>
              <a:t>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13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501895"/>
            <a:ext cx="10786872" cy="2965933"/>
          </a:xfrm>
        </p:spPr>
        <p:txBody>
          <a:bodyPr>
            <a:normAutofit/>
          </a:bodyPr>
          <a:lstStyle/>
          <a:p>
            <a:r>
              <a:rPr lang="en-US" dirty="0"/>
              <a:t>These can relate to longer term, less directly tangible </a:t>
            </a:r>
            <a:r>
              <a:rPr lang="en-US" dirty="0" smtClean="0"/>
              <a:t>assets</a:t>
            </a:r>
          </a:p>
          <a:p>
            <a:pPr lvl="1"/>
            <a:r>
              <a:rPr lang="en-US" sz="3200" dirty="0"/>
              <a:t>Improved skill and knowledge</a:t>
            </a:r>
          </a:p>
          <a:p>
            <a:pPr lvl="1"/>
            <a:r>
              <a:rPr lang="en-US" sz="3200" dirty="0"/>
              <a:t>Creation of assets that can be used on future projects e.g. software libraries</a:t>
            </a:r>
          </a:p>
          <a:p>
            <a:pPr lvl="1"/>
            <a:r>
              <a:rPr lang="en-US" sz="3200" dirty="0"/>
              <a:t>Improved customer relationships that lead to repeat business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13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1442"/>
            <a:ext cx="10786872" cy="5159208"/>
          </a:xfrm>
        </p:spPr>
        <p:txBody>
          <a:bodyPr>
            <a:normAutofit/>
          </a:bodyPr>
          <a:lstStyle/>
          <a:p>
            <a:r>
              <a:rPr lang="en-US" dirty="0"/>
              <a:t>This involves the following activities:</a:t>
            </a:r>
            <a:endParaRPr lang="en-US" dirty="0" smtClean="0"/>
          </a:p>
          <a:p>
            <a:pPr lvl="1"/>
            <a:r>
              <a:rPr lang="en-US" sz="3200" dirty="0"/>
              <a:t>Planning – deciding what is to be done</a:t>
            </a:r>
          </a:p>
          <a:p>
            <a:pPr lvl="1"/>
            <a:r>
              <a:rPr lang="en-US" sz="3200" dirty="0"/>
              <a:t>Organizing – making arrangements</a:t>
            </a:r>
          </a:p>
          <a:p>
            <a:pPr lvl="1"/>
            <a:r>
              <a:rPr lang="en-US" sz="3200" dirty="0"/>
              <a:t>Staffing – selecting the right people for the job</a:t>
            </a:r>
          </a:p>
          <a:p>
            <a:pPr lvl="1"/>
            <a:r>
              <a:rPr lang="en-US" sz="3200" dirty="0"/>
              <a:t>Directing – giving </a:t>
            </a:r>
            <a:r>
              <a:rPr lang="en-US" sz="3200" dirty="0" smtClean="0"/>
              <a:t>instructions</a:t>
            </a:r>
            <a:endParaRPr lang="en-US" sz="3200" dirty="0"/>
          </a:p>
          <a:p>
            <a:pPr lvl="1"/>
            <a:r>
              <a:rPr lang="en-US" sz="3200" dirty="0"/>
              <a:t>Monitoring – checking on progress</a:t>
            </a:r>
          </a:p>
          <a:p>
            <a:pPr lvl="1"/>
            <a:r>
              <a:rPr lang="en-US" sz="3200" dirty="0"/>
              <a:t>Controlling – taking action to remedy hold-ups</a:t>
            </a:r>
          </a:p>
          <a:p>
            <a:pPr lvl="1"/>
            <a:r>
              <a:rPr lang="en-US" sz="3200" dirty="0"/>
              <a:t>Innovating – coming up with solutions when problems emerge</a:t>
            </a:r>
          </a:p>
          <a:p>
            <a:pPr lvl="1"/>
            <a:r>
              <a:rPr lang="en-US" sz="3200" dirty="0"/>
              <a:t>Representing – liaising with clients, users, developers and other stakeholders</a:t>
            </a:r>
            <a:endParaRPr lang="en-US" sz="32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14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control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23488" y="1388720"/>
            <a:ext cx="4565904" cy="4711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168004" y="5028848"/>
            <a:ext cx="727664" cy="21575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000" dirty="0" smtClean="0"/>
              <a:t>Modelling</a:t>
            </a:r>
            <a:endParaRPr lang="en-US" sz="1000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78869" y="3000199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Data</a:t>
            </a:r>
          </a:p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collection</a:t>
            </a:r>
            <a:endParaRPr lang="en-US" sz="1000" dirty="0" smtClean="0"/>
          </a:p>
        </p:txBody>
      </p:sp>
      <p:sp>
        <p:nvSpPr>
          <p:cNvPr id="15" name="Cloud 14"/>
          <p:cNvSpPr/>
          <p:nvPr/>
        </p:nvSpPr>
        <p:spPr>
          <a:xfrm>
            <a:off x="6206840" y="1697733"/>
            <a:ext cx="914400" cy="914400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330506" y="1968031"/>
            <a:ext cx="667067" cy="34194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The </a:t>
            </a:r>
          </a:p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real world</a:t>
            </a:r>
            <a:endParaRPr lang="en-US" sz="1000" dirty="0" smtClean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178869" y="3821700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Data</a:t>
            </a:r>
          </a:p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processing</a:t>
            </a:r>
            <a:endParaRPr lang="en-US" sz="1000" dirty="0" smtClean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178869" y="4583922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Making</a:t>
            </a:r>
          </a:p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Decisions/plans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188329" y="5413423"/>
            <a:ext cx="970341" cy="32752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000" dirty="0" smtClean="0"/>
              <a:t>Implementation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178868" y="5341749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1000" dirty="0" smtClean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046666" y="3821700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Define </a:t>
            </a:r>
            <a:endParaRPr lang="en-US" sz="1000" dirty="0" smtClean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smtClean="0"/>
              <a:t>objectives</a:t>
            </a:r>
            <a:endParaRPr lang="en-US" sz="1000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4046666" y="4952456"/>
            <a:ext cx="970341" cy="3685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/>
          </a:p>
        </p:txBody>
      </p:sp>
      <p:cxnSp>
        <p:nvCxnSpPr>
          <p:cNvPr id="26" name="Straight Arrow Connector 25"/>
          <p:cNvCxnSpPr>
            <a:stCxn id="15" idx="1"/>
            <a:endCxn id="11" idx="0"/>
          </p:cNvCxnSpPr>
          <p:nvPr/>
        </p:nvCxnSpPr>
        <p:spPr>
          <a:xfrm>
            <a:off x="6664040" y="2611159"/>
            <a:ext cx="0" cy="389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1" idx="2"/>
            <a:endCxn id="18" idx="0"/>
          </p:cNvCxnSpPr>
          <p:nvPr/>
        </p:nvCxnSpPr>
        <p:spPr>
          <a:xfrm>
            <a:off x="6664040" y="3368733"/>
            <a:ext cx="0" cy="45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2"/>
            <a:endCxn id="19" idx="0"/>
          </p:cNvCxnSpPr>
          <p:nvPr/>
        </p:nvCxnSpPr>
        <p:spPr>
          <a:xfrm>
            <a:off x="6664040" y="4190234"/>
            <a:ext cx="0" cy="393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9" idx="2"/>
            <a:endCxn id="21" idx="0"/>
          </p:cNvCxnSpPr>
          <p:nvPr/>
        </p:nvCxnSpPr>
        <p:spPr>
          <a:xfrm flipH="1">
            <a:off x="6664039" y="4952456"/>
            <a:ext cx="1" cy="3892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1" idx="3"/>
          </p:cNvCxnSpPr>
          <p:nvPr/>
        </p:nvCxnSpPr>
        <p:spPr>
          <a:xfrm>
            <a:off x="7149209" y="5526016"/>
            <a:ext cx="5516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endCxn id="15" idx="0"/>
          </p:cNvCxnSpPr>
          <p:nvPr/>
        </p:nvCxnSpPr>
        <p:spPr>
          <a:xfrm rot="16200000" flipV="1">
            <a:off x="5725108" y="3550303"/>
            <a:ext cx="3371084" cy="58034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endCxn id="23" idx="3"/>
          </p:cNvCxnSpPr>
          <p:nvPr/>
        </p:nvCxnSpPr>
        <p:spPr>
          <a:xfrm rot="10800000" flipV="1">
            <a:off x="5017008" y="4952455"/>
            <a:ext cx="1313499" cy="184267"/>
          </a:xfrm>
          <a:prstGeom prst="bentConnector3">
            <a:avLst>
              <a:gd name="adj1" fmla="val -1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23" idx="0"/>
            <a:endCxn id="19" idx="1"/>
          </p:cNvCxnSpPr>
          <p:nvPr/>
        </p:nvCxnSpPr>
        <p:spPr>
          <a:xfrm rot="5400000" flipH="1" flipV="1">
            <a:off x="5263220" y="4036807"/>
            <a:ext cx="184267" cy="16470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22" idx="2"/>
          </p:cNvCxnSpPr>
          <p:nvPr/>
        </p:nvCxnSpPr>
        <p:spPr>
          <a:xfrm flipH="1">
            <a:off x="4531836" y="4190234"/>
            <a:ext cx="1" cy="221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>
            <a:off x="4531836" y="4411980"/>
            <a:ext cx="1798671" cy="171942"/>
          </a:xfrm>
          <a:prstGeom prst="bentConnector3">
            <a:avLst>
              <a:gd name="adj1" fmla="val 9999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/>
          <p:nvPr/>
        </p:nvCxnSpPr>
        <p:spPr>
          <a:xfrm rot="10800000" flipV="1">
            <a:off x="5726430" y="4190233"/>
            <a:ext cx="567690" cy="94111"/>
          </a:xfrm>
          <a:prstGeom prst="bentConnector3">
            <a:avLst>
              <a:gd name="adj1" fmla="val 33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flipV="1">
            <a:off x="5726429" y="3558540"/>
            <a:ext cx="937609" cy="725805"/>
          </a:xfrm>
          <a:prstGeom prst="bentConnector3">
            <a:avLst>
              <a:gd name="adj1" fmla="val 62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ontent Placeholder 2"/>
          <p:cNvSpPr txBox="1">
            <a:spLocks/>
          </p:cNvSpPr>
          <p:nvPr/>
        </p:nvSpPr>
        <p:spPr>
          <a:xfrm>
            <a:off x="6655571" y="5039227"/>
            <a:ext cx="727664" cy="21575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000" dirty="0" smtClean="0"/>
              <a:t>Decisions</a:t>
            </a:r>
            <a:endParaRPr lang="en-US" sz="1000" dirty="0" smtClean="0"/>
          </a:p>
        </p:txBody>
      </p:sp>
      <p:sp>
        <p:nvSpPr>
          <p:cNvPr id="66" name="Content Placeholder 2"/>
          <p:cNvSpPr txBox="1">
            <a:spLocks/>
          </p:cNvSpPr>
          <p:nvPr/>
        </p:nvSpPr>
        <p:spPr>
          <a:xfrm>
            <a:off x="6700746" y="4287385"/>
            <a:ext cx="727664" cy="21575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000" dirty="0" smtClean="0"/>
              <a:t>Information</a:t>
            </a:r>
            <a:endParaRPr lang="en-US" sz="1000" dirty="0" smtClean="0"/>
          </a:p>
        </p:txBody>
      </p:sp>
      <p:sp>
        <p:nvSpPr>
          <p:cNvPr id="67" name="Content Placeholder 2"/>
          <p:cNvSpPr txBox="1">
            <a:spLocks/>
          </p:cNvSpPr>
          <p:nvPr/>
        </p:nvSpPr>
        <p:spPr>
          <a:xfrm>
            <a:off x="6655571" y="3492917"/>
            <a:ext cx="486772" cy="21575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000" dirty="0" smtClean="0"/>
              <a:t>Data</a:t>
            </a:r>
            <a:endParaRPr lang="en-US" sz="1000" dirty="0" smtClean="0"/>
          </a:p>
        </p:txBody>
      </p:sp>
      <p:sp>
        <p:nvSpPr>
          <p:cNvPr id="68" name="Content Placeholder 2"/>
          <p:cNvSpPr txBox="1">
            <a:spLocks/>
          </p:cNvSpPr>
          <p:nvPr/>
        </p:nvSpPr>
        <p:spPr>
          <a:xfrm>
            <a:off x="7107942" y="1940004"/>
            <a:ext cx="674617" cy="215750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000" dirty="0" smtClean="0"/>
              <a:t>Actions</a:t>
            </a:r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1695360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311443"/>
            <a:ext cx="10786872" cy="4580071"/>
          </a:xfrm>
        </p:spPr>
        <p:txBody>
          <a:bodyPr>
            <a:normAutofit/>
          </a:bodyPr>
          <a:lstStyle/>
          <a:p>
            <a:r>
              <a:rPr lang="en-US" dirty="0"/>
              <a:t>Data – the raw </a:t>
            </a:r>
            <a:r>
              <a:rPr lang="en-US" dirty="0" smtClean="0"/>
              <a:t>details</a:t>
            </a:r>
          </a:p>
          <a:p>
            <a:pPr lvl="1"/>
            <a:r>
              <a:rPr lang="en-US" sz="3200" dirty="0"/>
              <a:t>e.g. ‘6,000 documents processed at location X</a:t>
            </a:r>
            <a:r>
              <a:rPr lang="en-US" sz="3200" dirty="0" smtClean="0"/>
              <a:t>’</a:t>
            </a:r>
          </a:p>
          <a:p>
            <a:r>
              <a:rPr lang="en-US" dirty="0"/>
              <a:t>Information – the data is processed to produce something that is meaningful and </a:t>
            </a:r>
            <a:r>
              <a:rPr lang="en-US" dirty="0" smtClean="0"/>
              <a:t>useful</a:t>
            </a:r>
          </a:p>
          <a:p>
            <a:pPr lvl="1"/>
            <a:r>
              <a:rPr lang="en-US" sz="3200" dirty="0"/>
              <a:t>e.g. ‘productivity is 100 documents a day</a:t>
            </a:r>
            <a:r>
              <a:rPr lang="en-US" sz="3200" dirty="0" smtClean="0"/>
              <a:t>’</a:t>
            </a:r>
            <a:endParaRPr lang="en-US" dirty="0"/>
          </a:p>
          <a:p>
            <a:r>
              <a:rPr lang="en-US" dirty="0"/>
              <a:t>Comparison with </a:t>
            </a:r>
            <a:r>
              <a:rPr lang="en-US" dirty="0" smtClean="0"/>
              <a:t>objectives/goals</a:t>
            </a:r>
            <a:endParaRPr lang="en-US" dirty="0"/>
          </a:p>
          <a:p>
            <a:pPr lvl="1"/>
            <a:r>
              <a:rPr lang="en-US" sz="3200" dirty="0"/>
              <a:t>e.g. we will not meet target of processing all documents by 31st </a:t>
            </a:r>
            <a:r>
              <a:rPr lang="en-US" sz="3200" dirty="0" smtClean="0"/>
              <a:t>March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01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736" y="1343353"/>
            <a:ext cx="10786872" cy="3834034"/>
          </a:xfrm>
        </p:spPr>
        <p:txBody>
          <a:bodyPr>
            <a:normAutofit/>
          </a:bodyPr>
          <a:lstStyle/>
          <a:p>
            <a:r>
              <a:rPr lang="en-US" dirty="0"/>
              <a:t>Modelling – working out the probable outcomes of various </a:t>
            </a:r>
            <a:r>
              <a:rPr lang="en-US" dirty="0" smtClean="0"/>
              <a:t>decisions</a:t>
            </a:r>
          </a:p>
          <a:p>
            <a:pPr lvl="1"/>
            <a:r>
              <a:rPr lang="en-US" sz="3200" dirty="0"/>
              <a:t>e.g. if we employ two more staff at location X how quickly can we get the documents processed</a:t>
            </a:r>
            <a:r>
              <a:rPr lang="en-US" sz="3200" dirty="0" smtClean="0"/>
              <a:t>?</a:t>
            </a:r>
          </a:p>
          <a:p>
            <a:r>
              <a:rPr lang="en-US" dirty="0"/>
              <a:t>Implementation – carrying out the remedial actions that have been decided upon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65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in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310" y="1311443"/>
            <a:ext cx="10786872" cy="4158125"/>
          </a:xfrm>
        </p:spPr>
        <p:txBody>
          <a:bodyPr>
            <a:normAutofit/>
          </a:bodyPr>
          <a:lstStyle/>
          <a:p>
            <a:r>
              <a:rPr lang="en-US" dirty="0"/>
              <a:t>Projects are non-routine - thus </a:t>
            </a:r>
            <a:r>
              <a:rPr lang="en-US" dirty="0" smtClean="0"/>
              <a:t>uncertain</a:t>
            </a:r>
          </a:p>
          <a:p>
            <a:r>
              <a:rPr lang="en-US" dirty="0"/>
              <a:t>The particular problems of projects e.g. lack of </a:t>
            </a:r>
            <a:r>
              <a:rPr lang="en-US" dirty="0" smtClean="0"/>
              <a:t>visibility</a:t>
            </a:r>
            <a:endParaRPr lang="en-US" dirty="0"/>
          </a:p>
          <a:p>
            <a:r>
              <a:rPr lang="en-US" dirty="0"/>
              <a:t>Clear objectives which can be objectively assessed are </a:t>
            </a:r>
            <a:r>
              <a:rPr lang="en-US" dirty="0" smtClean="0"/>
              <a:t>essential</a:t>
            </a:r>
            <a:endParaRPr lang="en-US" dirty="0"/>
          </a:p>
          <a:p>
            <a:r>
              <a:rPr lang="en-US" dirty="0"/>
              <a:t>Stuff happens. Not usually possible to keep precisely plan – need for </a:t>
            </a:r>
            <a:r>
              <a:rPr lang="en-US" dirty="0" smtClean="0"/>
              <a:t>control</a:t>
            </a:r>
            <a:endParaRPr lang="en-US" dirty="0"/>
          </a:p>
          <a:p>
            <a:r>
              <a:rPr lang="en-US" dirty="0"/>
              <a:t>Communicate, communicate, communicate</a:t>
            </a:r>
            <a:r>
              <a:rPr lang="en-US" dirty="0" smtClean="0"/>
              <a:t>!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</a:t>
            </a:r>
            <a:r>
              <a:rPr lang="en-US" dirty="0"/>
              <a:t>.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23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5635</TotalTime>
  <Words>3020</Words>
  <Application>Microsoft Office PowerPoint</Application>
  <PresentationFormat>Widescreen</PresentationFormat>
  <Paragraphs>591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ＭＳ Ｐゴシック</vt:lpstr>
      <vt:lpstr>Arial</vt:lpstr>
      <vt:lpstr>Calibri</vt:lpstr>
      <vt:lpstr>Tahoma</vt:lpstr>
      <vt:lpstr>Tw Cen MT</vt:lpstr>
      <vt:lpstr>Tw Cen MT Condensed</vt:lpstr>
      <vt:lpstr>Wingdings</vt:lpstr>
      <vt:lpstr>Wingdings 3</vt:lpstr>
      <vt:lpstr>Theme_SE2019s1</vt:lpstr>
      <vt:lpstr>Chapter 1- an introduction </vt:lpstr>
      <vt:lpstr>Outline of talk</vt:lpstr>
      <vt:lpstr>Why is project management important?</vt:lpstr>
      <vt:lpstr>What is a project?</vt:lpstr>
      <vt:lpstr>Jobs versus projects</vt:lpstr>
      <vt:lpstr>Characteristics of projects</vt:lpstr>
      <vt:lpstr>Are software projects really different from other projects?</vt:lpstr>
      <vt:lpstr>Contract management versus technical project management</vt:lpstr>
      <vt:lpstr>Activities covered by project management</vt:lpstr>
      <vt:lpstr>Activities covered by project management</vt:lpstr>
      <vt:lpstr>The software development life-cycle (ISO 12207)</vt:lpstr>
      <vt:lpstr>ISO 12207 life-cycle</vt:lpstr>
      <vt:lpstr>ISO 12207 life-cycle</vt:lpstr>
      <vt:lpstr>ISO 12207 life-cycle</vt:lpstr>
      <vt:lpstr>ISO 12207 life-cycle</vt:lpstr>
      <vt:lpstr>Plans, methods and methodologies</vt:lpstr>
      <vt:lpstr>Some ways of categorizing projects</vt:lpstr>
      <vt:lpstr>Stakeholders</vt:lpstr>
      <vt:lpstr>Setting objectives</vt:lpstr>
      <vt:lpstr>Objectives</vt:lpstr>
      <vt:lpstr>Objectives should be SMART</vt:lpstr>
      <vt:lpstr>Goals/sub-objectives</vt:lpstr>
      <vt:lpstr>Goals/sub-objectives continued</vt:lpstr>
      <vt:lpstr>Measures of effectiveness</vt:lpstr>
      <vt:lpstr>The business case</vt:lpstr>
      <vt:lpstr>Project success/failure</vt:lpstr>
      <vt:lpstr>Other success criteria</vt:lpstr>
      <vt:lpstr>What is management?</vt:lpstr>
      <vt:lpstr>Management control</vt:lpstr>
      <vt:lpstr>Management control</vt:lpstr>
      <vt:lpstr>Management control</vt:lpstr>
      <vt:lpstr>Key points in lecture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Lộc Mai Phước</cp:lastModifiedBy>
  <cp:revision>184</cp:revision>
  <dcterms:created xsi:type="dcterms:W3CDTF">2009-12-29T10:39:27Z</dcterms:created>
  <dcterms:modified xsi:type="dcterms:W3CDTF">2024-09-04T07:55:36Z</dcterms:modified>
</cp:coreProperties>
</file>