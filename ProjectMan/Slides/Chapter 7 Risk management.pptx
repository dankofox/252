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33"/>
  </p:notesMasterIdLst>
  <p:handoutMasterIdLst>
    <p:handoutMasterId r:id="rId34"/>
  </p:handoutMasterIdLst>
  <p:sldIdLst>
    <p:sldId id="299" r:id="rId2"/>
    <p:sldId id="295" r:id="rId3"/>
    <p:sldId id="301" r:id="rId4"/>
    <p:sldId id="347" r:id="rId5"/>
    <p:sldId id="356" r:id="rId6"/>
    <p:sldId id="306" r:id="rId7"/>
    <p:sldId id="348" r:id="rId8"/>
    <p:sldId id="335" r:id="rId9"/>
    <p:sldId id="349" r:id="rId10"/>
    <p:sldId id="308" r:id="rId11"/>
    <p:sldId id="310" r:id="rId12"/>
    <p:sldId id="336" r:id="rId13"/>
    <p:sldId id="311" r:id="rId14"/>
    <p:sldId id="312" r:id="rId15"/>
    <p:sldId id="339" r:id="rId16"/>
    <p:sldId id="337" r:id="rId17"/>
    <p:sldId id="338" r:id="rId18"/>
    <p:sldId id="314" r:id="rId19"/>
    <p:sldId id="315" r:id="rId20"/>
    <p:sldId id="343" r:id="rId21"/>
    <p:sldId id="342" r:id="rId22"/>
    <p:sldId id="341" r:id="rId23"/>
    <p:sldId id="346" r:id="rId24"/>
    <p:sldId id="345" r:id="rId25"/>
    <p:sldId id="344" r:id="rId26"/>
    <p:sldId id="355" r:id="rId27"/>
    <p:sldId id="354" r:id="rId28"/>
    <p:sldId id="353" r:id="rId29"/>
    <p:sldId id="352" r:id="rId30"/>
    <p:sldId id="351" r:id="rId31"/>
    <p:sldId id="350" r:id="rId3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0" autoAdjust="0"/>
    <p:restoredTop sz="96727" autoAdjust="0"/>
  </p:normalViewPr>
  <p:slideViewPr>
    <p:cSldViewPr snapToGrid="0" snapToObjects="1">
      <p:cViewPr varScale="1">
        <p:scale>
          <a:sx n="78" d="100"/>
          <a:sy n="78" d="100"/>
        </p:scale>
        <p:origin x="898" y="58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60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40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55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93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53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46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738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06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6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87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36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617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09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26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29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282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1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7 – Risk management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64147-2629-2CFA-3E01-58B1E43B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dirty="0"/>
              <a:t>This lecture will touch upon:</a:t>
            </a:r>
          </a:p>
          <a:p>
            <a:pPr>
              <a:lnSpc>
                <a:spcPct val="85000"/>
              </a:lnSpc>
            </a:pPr>
            <a:r>
              <a:rPr lang="en-US" dirty="0"/>
              <a:t>Definition of ‘risk’ and ‘risk management’</a:t>
            </a:r>
          </a:p>
          <a:p>
            <a:pPr>
              <a:lnSpc>
                <a:spcPct val="85000"/>
              </a:lnSpc>
            </a:pPr>
            <a:r>
              <a:rPr lang="en-US" dirty="0"/>
              <a:t>Some ways of categorizing risk</a:t>
            </a:r>
          </a:p>
          <a:p>
            <a:pPr>
              <a:lnSpc>
                <a:spcPct val="85000"/>
              </a:lnSpc>
            </a:pPr>
            <a:r>
              <a:rPr lang="en-US" dirty="0"/>
              <a:t>Risk management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Risk identification – what are the risks to a project?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Risk analysis – which ones are really serious?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Risk planning – what shall we do?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Risk monitoring – has the planning worked?</a:t>
            </a:r>
          </a:p>
          <a:p>
            <a:pPr>
              <a:lnSpc>
                <a:spcPct val="85000"/>
              </a:lnSpc>
            </a:pPr>
            <a:r>
              <a:rPr lang="en-US" dirty="0"/>
              <a:t>We will also look at PERT risk and critical chains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definitions of risk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983C-FAB6-DA3E-B646-5447DF3B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‘the chance of exposure to the adverse consequences of future events’ </a:t>
            </a:r>
            <a:r>
              <a:rPr lang="en-US" dirty="0" err="1"/>
              <a:t>PRINCE2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‘an uncertain event or condition that, if it occurs, has a positive or negative effect on a project’s objectives’ PM-BOK</a:t>
            </a:r>
          </a:p>
          <a:p>
            <a:r>
              <a:rPr lang="en-US" dirty="0"/>
              <a:t>Risks relate to possible future problems, not current ones</a:t>
            </a:r>
          </a:p>
          <a:p>
            <a:r>
              <a:rPr lang="en-US" dirty="0"/>
              <a:t>They involve a possible cause and its effect(s) e.g. developer leaves &gt; task delayed</a:t>
            </a:r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risk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F9039B8-91A1-5731-3EDE-024C31187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7104" y="1399933"/>
            <a:ext cx="8740916" cy="4617409"/>
          </a:xfrm>
        </p:spPr>
      </p:pic>
    </p:spTree>
    <p:extLst>
      <p:ext uri="{BB962C8B-B14F-4D97-AF65-F5344CB8AC3E}">
        <p14:creationId xmlns:p14="http://schemas.microsoft.com/office/powerpoint/2010/main" val="407765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framework for dealing with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374543"/>
            <a:ext cx="10474354" cy="5013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highlight>
                  <a:srgbClr val="FFFFFF"/>
                </a:highlight>
              </a:rPr>
              <a:t>The planning for risk includes these steps: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Risk identification – what risks might there be?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Risk analysis and prioritization – which are the most serious risks?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Risk planning – what are we going to do about them?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Risk monitoring – what is the current state of the risk?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65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09" y="1311443"/>
            <a:ext cx="10786872" cy="5334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highlight>
                  <a:srgbClr val="FFFFFF"/>
                </a:highlight>
              </a:rPr>
              <a:t>Approaches to identifying risks include: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Use of checklists – usually based on the experience of past projects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Brainstorming – getting knowledgeable stakeholders together to pool concerns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Causal mapping – identifying possible chains of cause and effect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Boehm’s top 10 development risks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D6B8CDA-0143-8CEF-D712-96BA059EC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418583"/>
              </p:ext>
            </p:extLst>
          </p:nvPr>
        </p:nvGraphicFramePr>
        <p:xfrm>
          <a:off x="1023938" y="1525999"/>
          <a:ext cx="10787062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1908">
                  <a:extLst>
                    <a:ext uri="{9D8B030D-6E8A-4147-A177-3AD203B41FA5}">
                      <a16:colId xmlns:a16="http://schemas.microsoft.com/office/drawing/2014/main" val="2030712623"/>
                    </a:ext>
                  </a:extLst>
                </a:gridCol>
                <a:gridCol w="7825154">
                  <a:extLst>
                    <a:ext uri="{9D8B030D-6E8A-4147-A177-3AD203B41FA5}">
                      <a16:colId xmlns:a16="http://schemas.microsoft.com/office/drawing/2014/main" val="3903504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Risk reduction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01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/>
                        <a:t>Personnel </a:t>
                      </a:r>
                      <a:r>
                        <a:rPr lang="en-US" sz="3200" dirty="0"/>
                        <a:t>shortfalls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Staffing with top talent; job matching; teambuilding; training and career development; early scheduling of key personnel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Unrealistic time and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Multiple estimation techniques; design to cost; incremental development; recording and analysis of past projects; standardization of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17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84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Boehm’s top 10 development risks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D6B8CDA-0143-8CEF-D712-96BA059EC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653246"/>
              </p:ext>
            </p:extLst>
          </p:nvPr>
        </p:nvGraphicFramePr>
        <p:xfrm>
          <a:off x="1023936" y="1311443"/>
          <a:ext cx="10787062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972">
                  <a:extLst>
                    <a:ext uri="{9D8B030D-6E8A-4147-A177-3AD203B41FA5}">
                      <a16:colId xmlns:a16="http://schemas.microsoft.com/office/drawing/2014/main" val="2030712623"/>
                    </a:ext>
                  </a:extLst>
                </a:gridCol>
                <a:gridCol w="6981090">
                  <a:extLst>
                    <a:ext uri="{9D8B030D-6E8A-4147-A177-3AD203B41FA5}">
                      <a16:colId xmlns:a16="http://schemas.microsoft.com/office/drawing/2014/main" val="3903504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Risk reduction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01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Developing the wrong software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dirty="0"/>
                        <a:t>Improved software evaluation; formal specification methods; user surveys; prototyping; early user manuals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54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Developing the wrong user interface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Prototyping; task analysis; user involvement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614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Boehm’s top ten risk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7CF37C5-8D0E-8176-DDDF-71359E3ED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895269"/>
              </p:ext>
            </p:extLst>
          </p:nvPr>
        </p:nvGraphicFramePr>
        <p:xfrm>
          <a:off x="1023938" y="1528763"/>
          <a:ext cx="10787062" cy="44734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616">
                  <a:extLst>
                    <a:ext uri="{9D8B030D-6E8A-4147-A177-3AD203B41FA5}">
                      <a16:colId xmlns:a16="http://schemas.microsoft.com/office/drawing/2014/main" val="2056133633"/>
                    </a:ext>
                  </a:extLst>
                </a:gridCol>
                <a:gridCol w="6500446">
                  <a:extLst>
                    <a:ext uri="{9D8B030D-6E8A-4147-A177-3AD203B41FA5}">
                      <a16:colId xmlns:a16="http://schemas.microsoft.com/office/drawing/2014/main" val="4210975609"/>
                    </a:ext>
                  </a:extLst>
                </a:gridCol>
              </a:tblGrid>
              <a:tr h="1293974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Gold plating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Requirements scrubbing, prototyping, design to cost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28407"/>
                  </a:ext>
                </a:extLst>
              </a:tr>
              <a:tr h="12939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Late changes to requirements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Change control, incremental development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767934"/>
                  </a:ext>
                </a:extLst>
              </a:tr>
              <a:tr h="1885505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Shortfalls in externally supplied components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Benchmarking, inspections, formal specifications, contractual agreements, quality controls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93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68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Boehm’s top ten risk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7CF37C5-8D0E-8176-DDDF-71359E3ED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368680"/>
              </p:ext>
            </p:extLst>
          </p:nvPr>
        </p:nvGraphicFramePr>
        <p:xfrm>
          <a:off x="1023938" y="1528763"/>
          <a:ext cx="10787062" cy="4450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616">
                  <a:extLst>
                    <a:ext uri="{9D8B030D-6E8A-4147-A177-3AD203B41FA5}">
                      <a16:colId xmlns:a16="http://schemas.microsoft.com/office/drawing/2014/main" val="2056133633"/>
                    </a:ext>
                  </a:extLst>
                </a:gridCol>
                <a:gridCol w="6500446">
                  <a:extLst>
                    <a:ext uri="{9D8B030D-6E8A-4147-A177-3AD203B41FA5}">
                      <a16:colId xmlns:a16="http://schemas.microsoft.com/office/drawing/2014/main" val="4210975609"/>
                    </a:ext>
                  </a:extLst>
                </a:gridCol>
              </a:tblGrid>
              <a:tr h="1112502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Gold plating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Requirements scrubbing, prototyping, design to cost</a:t>
                      </a:r>
                      <a:endParaRPr lang="en-US" sz="3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28407"/>
                  </a:ext>
                </a:extLst>
              </a:tr>
              <a:tr h="1112502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Shortfalls in externally performed tasks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Quality assurance procedures, competitive design </a:t>
                      </a:r>
                      <a:r>
                        <a:rPr lang="en-US" sz="3200" b="0" kern="1200" dirty="0" err="1">
                          <a:solidFill>
                            <a:schemeClr val="dk1"/>
                          </a:solidFill>
                          <a:effectLst/>
                        </a:rPr>
                        <a:t>etc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85033"/>
                  </a:ext>
                </a:extLst>
              </a:tr>
              <a:tr h="1112502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Real time performance problems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Simulation, prototyping, tuning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908611"/>
                  </a:ext>
                </a:extLst>
              </a:tr>
              <a:tr h="1112502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Development technically too difficult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Technical analysis, cost-benefit analysis, prototyping , training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515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prioritization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B060A-6B42-143D-D351-A03849B6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93" y="1528012"/>
            <a:ext cx="11383108" cy="4781349"/>
          </a:xfrm>
        </p:spPr>
        <p:txBody>
          <a:bodyPr>
            <a:normAutofit/>
          </a:bodyPr>
          <a:lstStyle/>
          <a:p>
            <a:r>
              <a:rPr lang="en-US" dirty="0"/>
              <a:t>Risk exposure (RE) = (potential damage) x (probability of occurrence) Ideally</a:t>
            </a:r>
          </a:p>
          <a:p>
            <a:r>
              <a:rPr lang="en-US" b="1" dirty="0"/>
              <a:t>Potential damage</a:t>
            </a:r>
            <a:r>
              <a:rPr lang="en-US" dirty="0"/>
              <a:t>: a money value e.g. a flood would cause £0.5 millions of damage</a:t>
            </a:r>
          </a:p>
          <a:p>
            <a:r>
              <a:rPr lang="en-US" b="1" dirty="0"/>
              <a:t>Probability</a:t>
            </a:r>
            <a:r>
              <a:rPr lang="en-US" dirty="0"/>
              <a:t> 0.00 (absolutely no chance) to 1.00 (absolutely certain) </a:t>
            </a:r>
            <a:r>
              <a:rPr lang="en-US" dirty="0" err="1"/>
              <a:t>e.g</a:t>
            </a:r>
            <a:r>
              <a:rPr lang="en-US" dirty="0"/>
              <a:t> (one in hundred chance)</a:t>
            </a:r>
          </a:p>
          <a:p>
            <a:r>
              <a:rPr lang="en-US" dirty="0"/>
              <a:t>RE = £</a:t>
            </a:r>
            <a:r>
              <a:rPr lang="en-US" dirty="0" err="1"/>
              <a:t>0.5m</a:t>
            </a:r>
            <a:r>
              <a:rPr lang="en-US" dirty="0"/>
              <a:t> x 0.01 = £5,000</a:t>
            </a:r>
          </a:p>
          <a:p>
            <a:r>
              <a:rPr lang="en-US" dirty="0"/>
              <a:t>Crudely analogous to the amount needed for an insurance premium</a:t>
            </a:r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probability: qualitative descriptors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FB34D91-B0E5-009F-9E69-D2E617DB3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684626"/>
              </p:ext>
            </p:extLst>
          </p:nvPr>
        </p:nvGraphicFramePr>
        <p:xfrm>
          <a:off x="1023938" y="1528763"/>
          <a:ext cx="10499848" cy="412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0800">
                  <a:extLst>
                    <a:ext uri="{9D8B030D-6E8A-4147-A177-3AD203B41FA5}">
                      <a16:colId xmlns:a16="http://schemas.microsoft.com/office/drawing/2014/main" val="565625239"/>
                    </a:ext>
                  </a:extLst>
                </a:gridCol>
                <a:gridCol w="6729048">
                  <a:extLst>
                    <a:ext uri="{9D8B030D-6E8A-4147-A177-3AD203B41FA5}">
                      <a16:colId xmlns:a16="http://schemas.microsoft.com/office/drawing/2014/main" val="274510401"/>
                    </a:ext>
                  </a:extLst>
                </a:gridCol>
              </a:tblGrid>
              <a:tr h="824352">
                <a:tc>
                  <a:txBody>
                    <a:bodyPr/>
                    <a:lstStyle/>
                    <a:p>
                      <a:r>
                        <a:rPr lang="en-US" sz="3200" i="1" dirty="0"/>
                        <a:t>Probability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i="1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366054"/>
                  </a:ext>
                </a:extLst>
              </a:tr>
              <a:tr h="824352">
                <a:tc>
                  <a:txBody>
                    <a:bodyPr/>
                    <a:lstStyle/>
                    <a:p>
                      <a:r>
                        <a:rPr lang="en-US" sz="3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dk1"/>
                          </a:solidFill>
                          <a:effectLst/>
                        </a:rPr>
                        <a:t>Greater than 50% chance of happening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03333"/>
                  </a:ext>
                </a:extLst>
              </a:tr>
              <a:tr h="824352">
                <a:tc>
                  <a:txBody>
                    <a:bodyPr/>
                    <a:lstStyle/>
                    <a:p>
                      <a:r>
                        <a:rPr lang="en-US" sz="3200" dirty="0"/>
                        <a:t>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30-50% chance of happening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8590"/>
                  </a:ext>
                </a:extLst>
              </a:tr>
              <a:tr h="824352">
                <a:tc>
                  <a:txBody>
                    <a:bodyPr/>
                    <a:lstStyle/>
                    <a:p>
                      <a:r>
                        <a:rPr lang="en-US" sz="32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10-29% chance of happening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9586"/>
                  </a:ext>
                </a:extLst>
              </a:tr>
              <a:tr h="824352">
                <a:tc>
                  <a:txBody>
                    <a:bodyPr/>
                    <a:lstStyle/>
                    <a:p>
                      <a:r>
                        <a:rPr lang="en-US" sz="32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Less than 10% chance of happening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736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descriptors of impact on cost and associated range values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2B8F4CA-677E-077E-7C71-F6EC6B033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823560"/>
              </p:ext>
            </p:extLst>
          </p:nvPr>
        </p:nvGraphicFramePr>
        <p:xfrm>
          <a:off x="1023938" y="1528762"/>
          <a:ext cx="10787062" cy="4391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4708">
                  <a:extLst>
                    <a:ext uri="{9D8B030D-6E8A-4147-A177-3AD203B41FA5}">
                      <a16:colId xmlns:a16="http://schemas.microsoft.com/office/drawing/2014/main" val="3943975807"/>
                    </a:ext>
                  </a:extLst>
                </a:gridCol>
                <a:gridCol w="8282354">
                  <a:extLst>
                    <a:ext uri="{9D8B030D-6E8A-4147-A177-3AD203B41FA5}">
                      <a16:colId xmlns:a16="http://schemas.microsoft.com/office/drawing/2014/main" val="1882409331"/>
                    </a:ext>
                  </a:extLst>
                </a:gridCol>
              </a:tblGrid>
              <a:tr h="893870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Impact level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Range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483279"/>
                  </a:ext>
                </a:extLst>
              </a:tr>
              <a:tr h="815912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Greater than 30% above budgeted expenditure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54838"/>
                  </a:ext>
                </a:extLst>
              </a:tr>
              <a:tr h="893870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Significant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20 to 29% above budgeted expenditure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708285"/>
                  </a:ext>
                </a:extLst>
              </a:tr>
              <a:tr h="893870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Moderate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10 to 19% above budgeted expenditure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194203"/>
                  </a:ext>
                </a:extLst>
              </a:tr>
              <a:tr h="893870"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Low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kern="1200" dirty="0">
                          <a:solidFill>
                            <a:schemeClr val="tx1"/>
                          </a:solidFill>
                          <a:effectLst/>
                        </a:rPr>
                        <a:t>Within 10% of budgeted expenditure.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61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impact matrix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71297BB-1B99-AA5C-70B8-7B0944241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50036" y="1002464"/>
            <a:ext cx="5302484" cy="5468186"/>
          </a:xfrm>
        </p:spPr>
      </p:pic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Risks can be dealt with by:</a:t>
            </a:r>
          </a:p>
          <a:p>
            <a:r>
              <a:rPr lang="en-US" dirty="0"/>
              <a:t>Risk acceptance</a:t>
            </a:r>
          </a:p>
          <a:p>
            <a:r>
              <a:rPr lang="en-US" dirty="0"/>
              <a:t>Risk avoidance</a:t>
            </a:r>
          </a:p>
          <a:p>
            <a:r>
              <a:rPr lang="en-US" dirty="0"/>
              <a:t>Risk reduction</a:t>
            </a:r>
          </a:p>
          <a:p>
            <a:r>
              <a:rPr lang="en-US" dirty="0"/>
              <a:t>Risk transfer</a:t>
            </a:r>
          </a:p>
          <a:p>
            <a:r>
              <a:rPr lang="en-US" dirty="0"/>
              <a:t>Risk mitigation/contingency measures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reduction leverage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4648326"/>
          </a:xfrm>
        </p:spPr>
        <p:txBody>
          <a:bodyPr>
            <a:normAutofit/>
          </a:bodyPr>
          <a:lstStyle/>
          <a:p>
            <a:pPr marL="808037" indent="-571500"/>
            <a:r>
              <a:rPr lang="en-US" dirty="0"/>
              <a:t>Risk reduction leverage = (</a:t>
            </a:r>
            <a:r>
              <a:rPr lang="en-US" dirty="0" err="1"/>
              <a:t>RE</a:t>
            </a:r>
            <a:r>
              <a:rPr lang="en-US" baseline="-25000" dirty="0" err="1"/>
              <a:t>before</a:t>
            </a:r>
            <a:r>
              <a:rPr lang="en-US" dirty="0"/>
              <a:t>- </a:t>
            </a:r>
            <a:r>
              <a:rPr lang="en-US" dirty="0" err="1"/>
              <a:t>RE</a:t>
            </a:r>
            <a:r>
              <a:rPr lang="en-US" baseline="-25000" dirty="0" err="1"/>
              <a:t>after</a:t>
            </a:r>
            <a:r>
              <a:rPr lang="en-US" dirty="0"/>
              <a:t>)/</a:t>
            </a:r>
            <a:br>
              <a:rPr lang="en-US" dirty="0"/>
            </a:br>
            <a:r>
              <a:rPr lang="en-US" dirty="0"/>
              <a:t>(cost of risk reduction)</a:t>
            </a:r>
          </a:p>
          <a:p>
            <a:pPr marL="808037" indent="-571500"/>
            <a:r>
              <a:rPr lang="en-US" dirty="0" err="1"/>
              <a:t>RE</a:t>
            </a:r>
            <a:r>
              <a:rPr lang="en-US" baseline="-25000" dirty="0" err="1"/>
              <a:t>before</a:t>
            </a:r>
            <a:r>
              <a:rPr lang="en-US" dirty="0"/>
              <a:t> is risk exposure before risk reduction e.g. 1% chance of a fire causing £</a:t>
            </a:r>
            <a:r>
              <a:rPr lang="en-US" dirty="0" err="1"/>
              <a:t>200k</a:t>
            </a:r>
            <a:r>
              <a:rPr lang="en-US" dirty="0"/>
              <a:t> damage</a:t>
            </a:r>
          </a:p>
          <a:p>
            <a:pPr marL="808037" indent="-571500"/>
            <a:r>
              <a:rPr lang="en-US" dirty="0" err="1"/>
              <a:t>RE</a:t>
            </a:r>
            <a:r>
              <a:rPr lang="en-US" baseline="-25000" dirty="0" err="1"/>
              <a:t>after</a:t>
            </a:r>
            <a:r>
              <a:rPr lang="en-US" dirty="0"/>
              <a:t> is risk exposure after risk reduction e.g. fire alarm costing £500 reduces probability of fire damage to 0.5%</a:t>
            </a:r>
          </a:p>
          <a:p>
            <a:pPr marL="808037" indent="-571500"/>
            <a:r>
              <a:rPr lang="en-US" dirty="0"/>
              <a:t>RRL = (1% of £</a:t>
            </a:r>
            <a:r>
              <a:rPr lang="en-US" dirty="0" err="1"/>
              <a:t>200k</a:t>
            </a:r>
            <a:r>
              <a:rPr lang="en-US" dirty="0"/>
              <a:t>)-(0.5% of £</a:t>
            </a:r>
            <a:r>
              <a:rPr lang="en-US" dirty="0" err="1"/>
              <a:t>200k</a:t>
            </a:r>
            <a:r>
              <a:rPr lang="en-US" dirty="0"/>
              <a:t>)/£500 = 2</a:t>
            </a:r>
          </a:p>
          <a:p>
            <a:pPr marL="808037" indent="-571500"/>
            <a:r>
              <a:rPr lang="en-US" dirty="0"/>
              <a:t>RRL &gt; 1.00 therefore worth doing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chart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F5BA22-00CD-0B24-CB4E-BF6C7CD89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1118" y="1573162"/>
            <a:ext cx="9098511" cy="4458498"/>
          </a:xfrm>
        </p:spPr>
      </p:pic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PERT to evaluate the effects of uncertainty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Three estimates are produced for each activity</a:t>
            </a:r>
          </a:p>
          <a:p>
            <a:r>
              <a:rPr lang="en-US" dirty="0"/>
              <a:t>Most likely time (m)</a:t>
            </a:r>
          </a:p>
          <a:p>
            <a:r>
              <a:rPr lang="en-US" dirty="0"/>
              <a:t>Optimistic time (a)</a:t>
            </a:r>
          </a:p>
          <a:p>
            <a:r>
              <a:rPr lang="en-US" dirty="0"/>
              <a:t>Pessimistic (b)</a:t>
            </a:r>
          </a:p>
          <a:p>
            <a:r>
              <a:rPr lang="en-US" dirty="0"/>
              <a:t>‘expected time’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 = (a + </a:t>
            </a:r>
            <a:r>
              <a:rPr lang="en-US" dirty="0" err="1"/>
              <a:t>4m</a:t>
            </a:r>
            <a:r>
              <a:rPr lang="en-US" dirty="0"/>
              <a:t> +b) / 6</a:t>
            </a:r>
          </a:p>
          <a:p>
            <a:r>
              <a:rPr lang="en-US" dirty="0"/>
              <a:t>‘activity standard deviation’ S = (b-a)/6</a:t>
            </a:r>
          </a:p>
        </p:txBody>
      </p: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chain of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2B9BC70-5448-A196-683E-D530D288D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453456"/>
              </p:ext>
            </p:extLst>
          </p:nvPr>
        </p:nvGraphicFramePr>
        <p:xfrm>
          <a:off x="945280" y="2979174"/>
          <a:ext cx="10787058" cy="302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7843">
                  <a:extLst>
                    <a:ext uri="{9D8B030D-6E8A-4147-A177-3AD203B41FA5}">
                      <a16:colId xmlns:a16="http://schemas.microsoft.com/office/drawing/2014/main" val="59984543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1047368850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3524425796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3428712210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2538951847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2286868985"/>
                    </a:ext>
                  </a:extLst>
                </a:gridCol>
              </a:tblGrid>
              <a:tr h="757084">
                <a:tc>
                  <a:txBody>
                    <a:bodyPr/>
                    <a:lstStyle/>
                    <a:p>
                      <a:r>
                        <a:rPr lang="en-US" sz="32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t</a:t>
                      </a:r>
                      <a:r>
                        <a:rPr lang="en-US" sz="3200" baseline="-25000" dirty="0" err="1"/>
                        <a:t>e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134559"/>
                  </a:ext>
                </a:extLst>
              </a:tr>
              <a:tr h="757084">
                <a:tc>
                  <a:txBody>
                    <a:bodyPr/>
                    <a:lstStyle/>
                    <a:p>
                      <a:r>
                        <a:rPr lang="en-US" sz="3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811540"/>
                  </a:ext>
                </a:extLst>
              </a:tr>
              <a:tr h="757084">
                <a:tc>
                  <a:txBody>
                    <a:bodyPr/>
                    <a:lstStyle/>
                    <a:p>
                      <a:r>
                        <a:rPr lang="en-US" sz="3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417852"/>
                  </a:ext>
                </a:extLst>
              </a:tr>
              <a:tr h="757084">
                <a:tc>
                  <a:txBody>
                    <a:bodyPr/>
                    <a:lstStyle/>
                    <a:p>
                      <a:r>
                        <a:rPr lang="en-US" sz="3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345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96940F7-6480-F24D-75B7-43ECD18B6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546" y="1377514"/>
            <a:ext cx="80105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07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chain of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29C85-137A-884B-C480-431934AB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What would be the expected duration of the chain A + B + C?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Answer: 12.66 + 10.33 + 25.66 </a:t>
            </a:r>
            <a:r>
              <a:rPr lang="en-US" dirty="0" err="1"/>
              <a:t>i.e</a:t>
            </a:r>
            <a:r>
              <a:rPr lang="en-US" dirty="0"/>
              <a:t> 48.65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What would be the standard deviation for A + B+ C?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Answer: square root of ( 1</a:t>
            </a:r>
            <a:r>
              <a:rPr lang="en-US" baseline="30000" dirty="0"/>
              <a:t>2</a:t>
            </a:r>
            <a:r>
              <a:rPr lang="en-US" dirty="0"/>
              <a:t> + 1</a:t>
            </a:r>
            <a:r>
              <a:rPr lang="en-US" baseline="30000" dirty="0"/>
              <a:t>2</a:t>
            </a:r>
            <a:r>
              <a:rPr lang="en-US" dirty="0"/>
              <a:t> + 3</a:t>
            </a:r>
            <a:r>
              <a:rPr lang="en-US" baseline="30000" dirty="0"/>
              <a:t>2</a:t>
            </a:r>
            <a:r>
              <a:rPr lang="en-US" dirty="0"/>
              <a:t> ) i.e.</a:t>
            </a:r>
          </a:p>
          <a:p>
            <a:pPr marL="0" indent="0">
              <a:buNone/>
            </a:pPr>
            <a:r>
              <a:rPr lang="en-US" dirty="0"/>
              <a:t>3.32</a:t>
            </a:r>
          </a:p>
        </p:txBody>
      </p:sp>
    </p:spTree>
    <p:extLst>
      <p:ext uri="{BB962C8B-B14F-4D97-AF65-F5344CB8AC3E}">
        <p14:creationId xmlns:p14="http://schemas.microsoft.com/office/powerpoint/2010/main" val="563297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the likelihood of meeting a target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6C81F-D567-6AA5-0C8C-E09F1EB5D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the target for completing </a:t>
            </a:r>
            <a:r>
              <a:rPr lang="en-US" dirty="0" err="1"/>
              <a:t>A+B+C</a:t>
            </a:r>
            <a:r>
              <a:rPr lang="en-US" dirty="0"/>
              <a:t> was 52 days (T)</a:t>
            </a:r>
          </a:p>
          <a:p>
            <a:r>
              <a:rPr lang="en-US" dirty="0"/>
              <a:t>Calculate the z value thus z = (T –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)/s</a:t>
            </a:r>
          </a:p>
          <a:p>
            <a:r>
              <a:rPr lang="en-US" dirty="0"/>
              <a:t>In this example z = ( 52 – 48.33 )/3.32 i.e. 1.01</a:t>
            </a:r>
          </a:p>
          <a:p>
            <a:r>
              <a:rPr lang="en-US" dirty="0"/>
              <a:t>Look up in table of z values – see next overhead</a:t>
            </a:r>
          </a:p>
        </p:txBody>
      </p:sp>
    </p:spTree>
    <p:extLst>
      <p:ext uri="{BB962C8B-B14F-4D97-AF65-F5344CB8AC3E}">
        <p14:creationId xmlns:p14="http://schemas.microsoft.com/office/powerpoint/2010/main" val="151574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of z values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D27E96-37AA-3BE3-C0EE-36F16F6E2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9131" y="1219850"/>
            <a:ext cx="7927759" cy="525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55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chain concept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7881FF-0ADC-8065-09B3-C1BA13EA5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14353" y="1623454"/>
            <a:ext cx="5763293" cy="4625043"/>
          </a:xfr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B0CC01D-CC6B-7CD2-B13A-A7D458AF115A}"/>
              </a:ext>
            </a:extLst>
          </p:cNvPr>
          <p:cNvSpPr txBox="1">
            <a:spLocks/>
          </p:cNvSpPr>
          <p:nvPr/>
        </p:nvSpPr>
        <p:spPr>
          <a:xfrm>
            <a:off x="3352800" y="1126021"/>
            <a:ext cx="5486400" cy="497433"/>
          </a:xfrm>
          <a:prstGeom prst="rect">
            <a:avLst/>
          </a:prstGeom>
        </p:spPr>
        <p:txBody>
          <a:bodyPr vert="horz" lIns="45720" tIns="45720" rIns="45720" bIns="45720" rtlCol="0">
            <a:normAutofit lnSpcReduction="10000"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b="0" i="0" dirty="0">
                <a:effectLst/>
                <a:highlight>
                  <a:srgbClr val="FFFFFF"/>
                </a:highlight>
              </a:rPr>
              <a:t>Traditional planning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37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chain approach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381291" cy="47813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 problem with estimates of task duration: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Estimators add a safety zone to estimate to take account of possible difficulties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Developers work to the estimate + safety zone, so time is lost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No advantage is taken of opportunities where tasks can finish early – and provide a buffer for later activities</a:t>
            </a:r>
          </a:p>
        </p:txBody>
      </p:sp>
    </p:spTree>
    <p:extLst>
      <p:ext uri="{BB962C8B-B14F-4D97-AF65-F5344CB8AC3E}">
        <p14:creationId xmlns:p14="http://schemas.microsoft.com/office/powerpoint/2010/main" val="4187215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chain approach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One answer to this:</a:t>
            </a:r>
          </a:p>
          <a:p>
            <a:r>
              <a:rPr lang="en-US" dirty="0"/>
              <a:t>Ask the estimators for two estimates</a:t>
            </a:r>
          </a:p>
          <a:p>
            <a:pPr lvl="1"/>
            <a:r>
              <a:rPr lang="en-US" sz="3200" dirty="0"/>
              <a:t>Most likely duration: 50% chance of meeting this</a:t>
            </a:r>
          </a:p>
          <a:p>
            <a:pPr lvl="1"/>
            <a:r>
              <a:rPr lang="en-US" sz="3200" dirty="0"/>
              <a:t>Comfort zone: additional time needed to have 95% chance</a:t>
            </a:r>
          </a:p>
          <a:p>
            <a:r>
              <a:rPr lang="en-US" dirty="0"/>
              <a:t>Schedule all activities suing most likely values and starting all activities on latest start dates</a:t>
            </a:r>
          </a:p>
        </p:txBody>
      </p:sp>
    </p:spTree>
    <p:extLst>
      <p:ext uri="{BB962C8B-B14F-4D97-AF65-F5344CB8AC3E}">
        <p14:creationId xmlns:p14="http://schemas.microsoft.com/office/powerpoint/2010/main" val="4159576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likely and comfort zone estimates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13B2279-88FB-6371-4649-613A3E191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995309"/>
              </p:ext>
            </p:extLst>
          </p:nvPr>
        </p:nvGraphicFramePr>
        <p:xfrm>
          <a:off x="1178865" y="1228807"/>
          <a:ext cx="10039998" cy="521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008620599"/>
                    </a:ext>
                  </a:extLst>
                </a:gridCol>
                <a:gridCol w="2458065">
                  <a:extLst>
                    <a:ext uri="{9D8B030D-6E8A-4147-A177-3AD203B41FA5}">
                      <a16:colId xmlns:a16="http://schemas.microsoft.com/office/drawing/2014/main" val="2013887792"/>
                    </a:ext>
                  </a:extLst>
                </a:gridCol>
                <a:gridCol w="3215148">
                  <a:extLst>
                    <a:ext uri="{9D8B030D-6E8A-4147-A177-3AD203B41FA5}">
                      <a16:colId xmlns:a16="http://schemas.microsoft.com/office/drawing/2014/main" val="1693837115"/>
                    </a:ext>
                  </a:extLst>
                </a:gridCol>
                <a:gridCol w="2537985">
                  <a:extLst>
                    <a:ext uri="{9D8B030D-6E8A-4147-A177-3AD203B41FA5}">
                      <a16:colId xmlns:a16="http://schemas.microsoft.com/office/drawing/2014/main" val="123740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Most likely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Plus comfort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Comfort zone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8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00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24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45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613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5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894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05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61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339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chain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the critical chain – same a critical path but resource constraints also taken into account</a:t>
            </a:r>
          </a:p>
          <a:p>
            <a:r>
              <a:rPr lang="en-US" dirty="0"/>
              <a:t>Put a project buffer at the end of the critical chain with duration 50% of sum of comfort zones of the activities on the critical chain.</a:t>
            </a:r>
          </a:p>
        </p:txBody>
      </p:sp>
    </p:spTree>
    <p:extLst>
      <p:ext uri="{BB962C8B-B14F-4D97-AF65-F5344CB8AC3E}">
        <p14:creationId xmlns:p14="http://schemas.microsoft.com/office/powerpoint/2010/main" val="3167232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chain -continued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subsidiary chains of activities feed into critical chain, add feeding buffer</a:t>
            </a:r>
          </a:p>
          <a:p>
            <a:r>
              <a:rPr lang="en-US" dirty="0"/>
              <a:t>Duration of feeding buffer 50% of sum of comfort zones of activities in the feeding chain</a:t>
            </a:r>
          </a:p>
          <a:p>
            <a:r>
              <a:rPr lang="en-US" dirty="0"/>
              <a:t>Where there are parallel chains, take the longest and sum those activities</a:t>
            </a:r>
          </a:p>
        </p:txBody>
      </p:sp>
    </p:spTree>
    <p:extLst>
      <p:ext uri="{BB962C8B-B14F-4D97-AF65-F5344CB8AC3E}">
        <p14:creationId xmlns:p14="http://schemas.microsoft.com/office/powerpoint/2010/main" val="3802643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 employing critical chain concepts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9C51E8-A69E-D077-C8E9-BD9013826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17391" y="1132232"/>
            <a:ext cx="5157217" cy="5338418"/>
          </a:xfrm>
        </p:spPr>
      </p:pic>
    </p:spTree>
    <p:extLst>
      <p:ext uri="{BB962C8B-B14F-4D97-AF65-F5344CB8AC3E}">
        <p14:creationId xmlns:p14="http://schemas.microsoft.com/office/powerpoint/2010/main" val="2908492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Executing the critical chain – based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chain of tasks is started earlier than scheduled, but once it has started is finished as soon as possible</a:t>
            </a:r>
          </a:p>
          <a:p>
            <a:r>
              <a:rPr lang="en-US" dirty="0"/>
              <a:t>This means the activity following the current one starts as soon as the current one is completed, even if this is early – the relay race principle</a:t>
            </a:r>
          </a:p>
        </p:txBody>
      </p:sp>
    </p:spTree>
    <p:extLst>
      <p:ext uri="{BB962C8B-B14F-4D97-AF65-F5344CB8AC3E}">
        <p14:creationId xmlns:p14="http://schemas.microsoft.com/office/powerpoint/2010/main" val="2995884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Executing the critical chain-based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Ch7</a:t>
            </a:r>
            <a:r>
              <a:rPr lang="en-US" dirty="0"/>
              <a:t>. Risk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Buffers are divided into three zones:</a:t>
            </a:r>
          </a:p>
          <a:p>
            <a:r>
              <a:rPr lang="en-US" dirty="0"/>
              <a:t>Green: the first 33%. No action required</a:t>
            </a:r>
          </a:p>
          <a:p>
            <a:r>
              <a:rPr lang="en-US" dirty="0"/>
              <a:t>Amber : the next 33%. Plan is formulated</a:t>
            </a:r>
          </a:p>
          <a:p>
            <a:r>
              <a:rPr lang="en-US" dirty="0"/>
              <a:t>Red : last 33%. Plan is executed.</a:t>
            </a:r>
          </a:p>
        </p:txBody>
      </p:sp>
    </p:spTree>
    <p:extLst>
      <p:ext uri="{BB962C8B-B14F-4D97-AF65-F5344CB8AC3E}">
        <p14:creationId xmlns:p14="http://schemas.microsoft.com/office/powerpoint/2010/main" val="3782818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6289</TotalTime>
  <Words>2843</Words>
  <Application>Microsoft Office PowerPoint</Application>
  <PresentationFormat>Widescreen</PresentationFormat>
  <Paragraphs>544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7 – Risk management</vt:lpstr>
      <vt:lpstr>Risk management</vt:lpstr>
      <vt:lpstr>Some definitions of risk</vt:lpstr>
      <vt:lpstr>Categories of risk</vt:lpstr>
      <vt:lpstr>A framework for dealing with risk</vt:lpstr>
      <vt:lpstr>Risk identification</vt:lpstr>
      <vt:lpstr>Boehm’s top 10 development risks</vt:lpstr>
      <vt:lpstr>Boehm’s top 10 development risks</vt:lpstr>
      <vt:lpstr>Boehm’s top ten risk - continued</vt:lpstr>
      <vt:lpstr>Boehm’s top ten risk - continued</vt:lpstr>
      <vt:lpstr>Risk prioritization</vt:lpstr>
      <vt:lpstr>Risk probability: qualitative descriptors</vt:lpstr>
      <vt:lpstr>Qualitative descriptors of impact on cost and associated range values</vt:lpstr>
      <vt:lpstr>Probability impact matrix</vt:lpstr>
      <vt:lpstr>Risk planning</vt:lpstr>
      <vt:lpstr>Risk reduction leverage</vt:lpstr>
      <vt:lpstr>Probability chart</vt:lpstr>
      <vt:lpstr>Using PERT to evaluate the effects of uncertainty</vt:lpstr>
      <vt:lpstr>A chain of activities</vt:lpstr>
      <vt:lpstr>A chain of activities</vt:lpstr>
      <vt:lpstr>Assessing the likelihood of meeting a target</vt:lpstr>
      <vt:lpstr>Graph of z values</vt:lpstr>
      <vt:lpstr>Critical chain concept</vt:lpstr>
      <vt:lpstr>Critical chain approach</vt:lpstr>
      <vt:lpstr>Critical chain approach</vt:lpstr>
      <vt:lpstr>Most likely and comfort zone estimates</vt:lpstr>
      <vt:lpstr>Critical chain - continued</vt:lpstr>
      <vt:lpstr>Critical chain -continued</vt:lpstr>
      <vt:lpstr>Plan employing critical chain concepts</vt:lpstr>
      <vt:lpstr>Executing the critical chain – based plan</vt:lpstr>
      <vt:lpstr>Executing the critical chain-based plan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Cong Nguyen</cp:lastModifiedBy>
  <cp:revision>185</cp:revision>
  <dcterms:created xsi:type="dcterms:W3CDTF">2009-12-29T10:39:27Z</dcterms:created>
  <dcterms:modified xsi:type="dcterms:W3CDTF">2025-10-17T00:31:30Z</dcterms:modified>
</cp:coreProperties>
</file>