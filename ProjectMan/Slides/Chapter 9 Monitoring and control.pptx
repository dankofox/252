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26"/>
  </p:notesMasterIdLst>
  <p:handoutMasterIdLst>
    <p:handoutMasterId r:id="rId27"/>
  </p:handoutMasterIdLst>
  <p:sldIdLst>
    <p:sldId id="299" r:id="rId2"/>
    <p:sldId id="295" r:id="rId3"/>
    <p:sldId id="301" r:id="rId4"/>
    <p:sldId id="302" r:id="rId5"/>
    <p:sldId id="303" r:id="rId6"/>
    <p:sldId id="306" r:id="rId7"/>
    <p:sldId id="335" r:id="rId8"/>
    <p:sldId id="308" r:id="rId9"/>
    <p:sldId id="310" r:id="rId10"/>
    <p:sldId id="336" r:id="rId11"/>
    <p:sldId id="311" r:id="rId12"/>
    <p:sldId id="312" r:id="rId13"/>
    <p:sldId id="339" r:id="rId14"/>
    <p:sldId id="337" r:id="rId15"/>
    <p:sldId id="338" r:id="rId16"/>
    <p:sldId id="314" r:id="rId17"/>
    <p:sldId id="315" r:id="rId18"/>
    <p:sldId id="343" r:id="rId19"/>
    <p:sldId id="342" r:id="rId20"/>
    <p:sldId id="341" r:id="rId21"/>
    <p:sldId id="346" r:id="rId22"/>
    <p:sldId id="345" r:id="rId23"/>
    <p:sldId id="344" r:id="rId24"/>
    <p:sldId id="340" r:id="rId2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57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70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9-Monitoring and control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control cycle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8ABE91-14E6-4394-3A92-1990168BA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9775" y="983196"/>
            <a:ext cx="4863610" cy="558873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CF58DD-B132-6232-C34E-F95F1F354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4392" y="1539875"/>
            <a:ext cx="8978453" cy="439102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1600" y="1528013"/>
            <a:ext cx="7899400" cy="3073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Checkpoints – predetermined times when progress is checked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Event driven: check takes place when a particular event has been achieved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Time driven: date of the check is pre-determined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76AD7A-34A9-9B32-19BD-30D459A6A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83" y="1528012"/>
            <a:ext cx="3045605" cy="3073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141C16-4B56-1B52-E959-040CC356ECEB}"/>
              </a:ext>
            </a:extLst>
          </p:cNvPr>
          <p:cNvSpPr txBox="1">
            <a:spLocks/>
          </p:cNvSpPr>
          <p:nvPr/>
        </p:nvSpPr>
        <p:spPr>
          <a:xfrm>
            <a:off x="740832" y="4791913"/>
            <a:ext cx="9698567" cy="206608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Frequency of reporting</a:t>
            </a:r>
          </a:p>
          <a:p>
            <a:pPr fontAlgn="auto">
              <a:buFont typeface="Wingdings" panose="05000000000000000000" pitchFamily="2" charset="2"/>
              <a:buChar char="ü"/>
            </a:pPr>
            <a:r>
              <a:rPr lang="en-US" dirty="0">
                <a:highlight>
                  <a:srgbClr val="FFFFFF"/>
                </a:highlight>
              </a:rPr>
              <a:t>The higher the management level then generally the longer the gaps between checkpoints</a:t>
            </a:r>
          </a:p>
        </p:txBody>
      </p:sp>
    </p:spTree>
    <p:extLst>
      <p:ext uri="{BB962C8B-B14F-4D97-AF65-F5344CB8AC3E}">
        <p14:creationId xmlns:p14="http://schemas.microsoft.com/office/powerpoint/2010/main" val="100331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Collecting progress details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Need to collect data about:</a:t>
            </a:r>
          </a:p>
          <a:p>
            <a:r>
              <a:rPr lang="en-US" dirty="0"/>
              <a:t>Achievements</a:t>
            </a:r>
          </a:p>
          <a:p>
            <a:r>
              <a:rPr lang="en-US" dirty="0"/>
              <a:t>Costs</a:t>
            </a:r>
          </a:p>
          <a:p>
            <a:pPr marL="0" indent="0">
              <a:buNone/>
            </a:pPr>
            <a:r>
              <a:rPr lang="en-US" dirty="0"/>
              <a:t>A big problem: how to deal with partial completions 99% completion syndrome</a:t>
            </a:r>
          </a:p>
          <a:p>
            <a:pPr marL="0" indent="0">
              <a:buNone/>
            </a:pPr>
            <a:r>
              <a:rPr lang="en-US" dirty="0"/>
              <a:t>Possible solutions:</a:t>
            </a:r>
          </a:p>
          <a:p>
            <a:r>
              <a:rPr lang="en-US" dirty="0"/>
              <a:t>Control of products, not activities</a:t>
            </a:r>
          </a:p>
          <a:p>
            <a:r>
              <a:rPr lang="en-US" dirty="0"/>
              <a:t>Subdivide into lots of sub-activities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C36E214-54C7-B1C0-8F1D-5BF23DBC055C}"/>
              </a:ext>
            </a:extLst>
          </p:cNvPr>
          <p:cNvSpPr txBox="1">
            <a:spLocks/>
          </p:cNvSpPr>
          <p:nvPr/>
        </p:nvSpPr>
        <p:spPr>
          <a:xfrm>
            <a:off x="10940299" y="6485731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Red/Amber/Green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</a:rPr>
              <a:t>Identify key tasks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Break down into sub-tasks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Assess subtasks as: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Green – ‘on target’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Amber – ‘not on target but recoverable’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Red – ‘not on target and recoverable only with difficulty’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Status of ‘critical’ tasks is particularly important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066764-AC29-AA33-1A5A-55691E3B8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1649" y="881062"/>
            <a:ext cx="7328702" cy="5341937"/>
          </a:xfrm>
        </p:spPr>
      </p:pic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04E1FE-3302-A116-0D22-E7A98643E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8064" y="843548"/>
            <a:ext cx="7675871" cy="548105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Slip </a:t>
            </a:r>
            <a:r>
              <a:rPr lang="en-US" dirty="0" err="1"/>
              <a:t>charst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timeline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31AE28-BFC6-38EB-BF46-AA377F3C4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63689" y="825500"/>
            <a:ext cx="5064621" cy="5207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monitoring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A project could be late because the staff originally committed have not been deployed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In this case the project will be behind time but under budget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A project could be on time but only because additional resources have been added and so be over budget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Need to monitor both achievements and costs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786872" cy="47813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Planned value (PV) or Budgeted cost of work scheduled (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BCWS</a:t>
            </a:r>
            <a:r>
              <a:rPr lang="en-US" b="0" i="0" dirty="0">
                <a:effectLst/>
                <a:highlight>
                  <a:srgbClr val="FFFFFF"/>
                </a:highlight>
              </a:rPr>
              <a:t>) – original estimate of the effort/cost to complete a task (compare with idea of a ‘price’)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Earned value (EV) or Budgeted cost of work performed (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BCWP</a:t>
            </a:r>
            <a:r>
              <a:rPr lang="en-US" b="0" i="0" dirty="0">
                <a:effectLst/>
                <a:highlight>
                  <a:srgbClr val="FFFFFF"/>
                </a:highlight>
              </a:rPr>
              <a:t>) – total of PVs for the work completed at this time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Work completed allocated on the basis</a:t>
            </a:r>
          </a:p>
          <a:p>
            <a:pPr lvl="1"/>
            <a:r>
              <a:rPr lang="en-US" sz="3200" dirty="0"/>
              <a:t>50/50 half allocated at start, the other half on completion. These proportions can vary e.g. 0/100, 75/25 </a:t>
            </a:r>
            <a:r>
              <a:rPr lang="en-US" sz="3200" dirty="0" err="1"/>
              <a:t>etc</a:t>
            </a:r>
            <a:endParaRPr lang="en-US" sz="3200" dirty="0"/>
          </a:p>
          <a:p>
            <a:pPr lvl="1"/>
            <a:r>
              <a:rPr lang="en-US" sz="3200" dirty="0"/>
              <a:t>Milestone current value depends on the milestones achieved</a:t>
            </a:r>
          </a:p>
          <a:p>
            <a:pPr lvl="1"/>
            <a:r>
              <a:rPr lang="en-US" sz="3200" dirty="0"/>
              <a:t>Units processed</a:t>
            </a:r>
          </a:p>
          <a:p>
            <a:r>
              <a:rPr lang="en-US" dirty="0"/>
              <a:t>Can use money values, or staff effort as a surrogate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" y="1311443"/>
            <a:ext cx="10786872" cy="488288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Tasks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Specify module 5 days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Code module 8 days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Test module 6 days</a:t>
            </a:r>
          </a:p>
          <a:p>
            <a:pPr>
              <a:lnSpc>
                <a:spcPct val="80000"/>
              </a:lnSpc>
            </a:pPr>
            <a:r>
              <a:rPr lang="en-US" dirty="0"/>
              <a:t>At the beginning of day 20, PV = 19 days</a:t>
            </a:r>
          </a:p>
          <a:p>
            <a:pPr>
              <a:lnSpc>
                <a:spcPct val="80000"/>
              </a:lnSpc>
            </a:pPr>
            <a:r>
              <a:rPr lang="en-US" dirty="0"/>
              <a:t>If everything but testing completed EV = 13 days</a:t>
            </a:r>
          </a:p>
          <a:p>
            <a:pPr>
              <a:lnSpc>
                <a:spcPct val="80000"/>
              </a:lnSpc>
            </a:pPr>
            <a:r>
              <a:rPr lang="en-US" dirty="0"/>
              <a:t>Schedule variance = EV-PV </a:t>
            </a:r>
            <a:r>
              <a:rPr lang="en-US" dirty="0" err="1"/>
              <a:t>i.e</a:t>
            </a:r>
            <a:r>
              <a:rPr lang="en-US" dirty="0"/>
              <a:t> = -6</a:t>
            </a:r>
          </a:p>
          <a:p>
            <a:pPr>
              <a:lnSpc>
                <a:spcPct val="80000"/>
              </a:lnSpc>
            </a:pPr>
            <a:r>
              <a:rPr lang="en-US" dirty="0"/>
              <a:t>Schedule performance indicator (SPI) = 13/19 = 0.68</a:t>
            </a:r>
          </a:p>
          <a:p>
            <a:pPr>
              <a:lnSpc>
                <a:spcPct val="80000"/>
              </a:lnSpc>
            </a:pPr>
            <a:r>
              <a:rPr lang="en-US" dirty="0"/>
              <a:t>SV negative or SPI &lt;1.00, project behind schedule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analysis – actual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Autofit/>
          </a:bodyPr>
          <a:lstStyle/>
          <a:p>
            <a:pPr marL="808037" indent="-571500">
              <a:lnSpc>
                <a:spcPct val="80000"/>
              </a:lnSpc>
            </a:pPr>
            <a:r>
              <a:rPr lang="en-US" dirty="0"/>
              <a:t>Actual cost (AC) is also known as Actual cost of work performed (</a:t>
            </a:r>
            <a:r>
              <a:rPr lang="en-US" dirty="0" err="1"/>
              <a:t>ACWP</a:t>
            </a:r>
            <a:r>
              <a:rPr lang="en-US" dirty="0"/>
              <a:t>)</a:t>
            </a:r>
          </a:p>
          <a:p>
            <a:pPr marL="808037" indent="-571500">
              <a:lnSpc>
                <a:spcPct val="80000"/>
              </a:lnSpc>
            </a:pPr>
            <a:r>
              <a:rPr lang="en-US" dirty="0"/>
              <a:t>In previous example, if</a:t>
            </a:r>
          </a:p>
          <a:p>
            <a:pPr marL="1035050" lvl="1" indent="-571500">
              <a:lnSpc>
                <a:spcPct val="80000"/>
              </a:lnSpc>
            </a:pPr>
            <a:r>
              <a:rPr lang="en-US" sz="3200" dirty="0"/>
              <a:t>‘Specify module’ actually took 3 days</a:t>
            </a:r>
          </a:p>
          <a:p>
            <a:pPr marL="1035050" lvl="1" indent="-571500">
              <a:lnSpc>
                <a:spcPct val="80000"/>
              </a:lnSpc>
            </a:pPr>
            <a:r>
              <a:rPr lang="en-US" sz="3200" dirty="0"/>
              <a:t>‘Code module’ actually took 4 days</a:t>
            </a:r>
          </a:p>
          <a:p>
            <a:pPr marL="808037" indent="-571500">
              <a:lnSpc>
                <a:spcPct val="80000"/>
              </a:lnSpc>
            </a:pPr>
            <a:r>
              <a:rPr lang="en-US" dirty="0"/>
              <a:t>Actual cost = 7 days</a:t>
            </a:r>
          </a:p>
          <a:p>
            <a:pPr marL="808037" indent="-571500">
              <a:lnSpc>
                <a:spcPct val="80000"/>
              </a:lnSpc>
            </a:pPr>
            <a:r>
              <a:rPr lang="en-US" dirty="0"/>
              <a:t>Cost variance (CV) = EV-AC </a:t>
            </a:r>
            <a:r>
              <a:rPr lang="en-US" dirty="0" err="1"/>
              <a:t>i.e</a:t>
            </a:r>
            <a:r>
              <a:rPr lang="en-US" dirty="0"/>
              <a:t> = 6 days</a:t>
            </a:r>
          </a:p>
          <a:p>
            <a:pPr marL="808037" indent="-571500">
              <a:lnSpc>
                <a:spcPct val="80000"/>
              </a:lnSpc>
            </a:pPr>
            <a:r>
              <a:rPr lang="en-US" dirty="0"/>
              <a:t>Cost performance indicator = 13/7 = 1.86</a:t>
            </a:r>
          </a:p>
          <a:p>
            <a:pPr marL="808037" indent="-571500">
              <a:lnSpc>
                <a:spcPct val="80000"/>
              </a:lnSpc>
            </a:pPr>
            <a:r>
              <a:rPr lang="en-US" dirty="0"/>
              <a:t>Positive CV or CPI &gt; 1.00 means project within budget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analysis – actual costs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0A071-29BC-D6B1-8ED7-41F53B6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CPI can be used to produce new cost estimate</a:t>
            </a:r>
          </a:p>
          <a:p>
            <a:r>
              <a:rPr lang="en-US" dirty="0"/>
              <a:t>Budget at completion (BAC) – current budget allocated to total costs of project</a:t>
            </a:r>
          </a:p>
          <a:p>
            <a:r>
              <a:rPr lang="en-US" dirty="0"/>
              <a:t>Estimate at completion (</a:t>
            </a:r>
            <a:r>
              <a:rPr lang="en-US" dirty="0" err="1"/>
              <a:t>EAC</a:t>
            </a:r>
            <a:r>
              <a:rPr lang="en-US" dirty="0"/>
              <a:t>) – updated estimate = BAC/CPI</a:t>
            </a:r>
          </a:p>
          <a:p>
            <a:pPr lvl="1"/>
            <a:r>
              <a:rPr lang="en-US" sz="3200" dirty="0"/>
              <a:t>e.g. say budget at completion is £19,000 and CPI is 1.86</a:t>
            </a:r>
          </a:p>
          <a:p>
            <a:pPr lvl="1"/>
            <a:r>
              <a:rPr lang="en-US" sz="3200" dirty="0" err="1"/>
              <a:t>EAC</a:t>
            </a:r>
            <a:r>
              <a:rPr lang="en-US" sz="3200" dirty="0"/>
              <a:t> = BAC/CPI = £10,215 (projected costs reduced because work being completed in less time)</a:t>
            </a:r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variance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variance (TV) – difference between time when specified EV should have been reached and time it actually was</a:t>
            </a:r>
          </a:p>
          <a:p>
            <a:r>
              <a:rPr lang="en-US" dirty="0"/>
              <a:t>For example say an EV of £19000 was supposed to have been reached on 1st April and it was actually reached on 1st July then TV = - 3 months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chart with revised forecasts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878C3B-562D-DE9B-728D-94727BFFA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6221" y="1132803"/>
            <a:ext cx="8119558" cy="5021812"/>
          </a:xfrm>
        </p:spPr>
      </p:pic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monitoring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might focus more on monitoring certain types of activity e.g.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Critical path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Activities with no free float – if delayed later dependent activities are delayed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Activities with less than a specified float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High risk activities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Activities using critical resources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back on track: options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6C81F-D567-6AA5-0C8C-E09F1EB5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Renegotiate the deadline – if not possible then</a:t>
            </a:r>
          </a:p>
          <a:p>
            <a:r>
              <a:rPr lang="en-US" dirty="0"/>
              <a:t>Try to shorten critical path e.g.</a:t>
            </a:r>
          </a:p>
          <a:p>
            <a:pPr lvl="1"/>
            <a:r>
              <a:rPr lang="en-US" sz="3200" dirty="0"/>
              <a:t>Work overtime</a:t>
            </a:r>
          </a:p>
          <a:p>
            <a:pPr lvl="1"/>
            <a:r>
              <a:rPr lang="en-US" sz="3200" dirty="0"/>
              <a:t>Re-allocate staff from less pressing work</a:t>
            </a:r>
          </a:p>
          <a:p>
            <a:pPr lvl="1"/>
            <a:r>
              <a:rPr lang="en-US" sz="3200" dirty="0"/>
              <a:t>Buy in more staff</a:t>
            </a:r>
          </a:p>
          <a:p>
            <a:r>
              <a:rPr lang="en-US" dirty="0"/>
              <a:t>Reconsider activity dependencies</a:t>
            </a:r>
          </a:p>
          <a:p>
            <a:pPr lvl="1"/>
            <a:r>
              <a:rPr lang="en-US" sz="3200" dirty="0"/>
              <a:t>Over-lap the activities so that the start of one activity does not have to wait for completion of another</a:t>
            </a:r>
          </a:p>
          <a:p>
            <a:pPr lvl="1"/>
            <a:r>
              <a:rPr lang="en-US" sz="3200" dirty="0"/>
              <a:t>Split activities</a:t>
            </a:r>
          </a:p>
        </p:txBody>
      </p:sp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planning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76E6-AE97-701B-4738-EC877DA87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changes could affect</a:t>
            </a:r>
          </a:p>
          <a:p>
            <a:pPr lvl="1"/>
            <a:r>
              <a:rPr lang="en-US" sz="3200" dirty="0"/>
              <a:t>Users</a:t>
            </a:r>
          </a:p>
          <a:p>
            <a:pPr lvl="1"/>
            <a:r>
              <a:rPr lang="en-US" sz="3200" dirty="0"/>
              <a:t>The business case (e.g. costs increase reducing the potential profits of delivered software product)</a:t>
            </a:r>
          </a:p>
          <a:p>
            <a:r>
              <a:rPr lang="en-US" dirty="0"/>
              <a:t>These changes could be to</a:t>
            </a:r>
          </a:p>
          <a:p>
            <a:pPr lvl="1"/>
            <a:r>
              <a:rPr lang="en-US" sz="3200" dirty="0"/>
              <a:t>Delivery date</a:t>
            </a:r>
          </a:p>
          <a:p>
            <a:pPr lvl="1"/>
            <a:r>
              <a:rPr lang="en-US" sz="3200" dirty="0"/>
              <a:t>Scope</a:t>
            </a:r>
          </a:p>
          <a:p>
            <a:pPr lvl="1"/>
            <a:r>
              <a:rPr lang="en-US" sz="3200" dirty="0"/>
              <a:t>Cost</a:t>
            </a:r>
          </a:p>
          <a:p>
            <a:r>
              <a:rPr lang="en-US" dirty="0"/>
              <a:t>In these cases an exception report is needed</a:t>
            </a:r>
          </a:p>
        </p:txBody>
      </p:sp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planning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2BBE-7143-E343-B1D1-0EF239C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First stage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Write an </a:t>
            </a:r>
            <a:r>
              <a:rPr lang="en-US" sz="3200" b="1" dirty="0"/>
              <a:t>exception report </a:t>
            </a:r>
            <a:r>
              <a:rPr lang="en-US" sz="3200" dirty="0"/>
              <a:t>for sponsors (perhaps through project board)</a:t>
            </a:r>
          </a:p>
          <a:p>
            <a:pPr lvl="2">
              <a:lnSpc>
                <a:spcPct val="80000"/>
              </a:lnSpc>
            </a:pPr>
            <a:r>
              <a:rPr lang="en-US" sz="3200" dirty="0"/>
              <a:t>Explaining problems</a:t>
            </a:r>
          </a:p>
          <a:p>
            <a:pPr lvl="2">
              <a:lnSpc>
                <a:spcPct val="80000"/>
              </a:lnSpc>
            </a:pPr>
            <a:r>
              <a:rPr lang="en-US" sz="3200" dirty="0"/>
              <a:t>Setting out options for resolution</a:t>
            </a:r>
          </a:p>
          <a:p>
            <a:pPr>
              <a:lnSpc>
                <a:spcPct val="80000"/>
              </a:lnSpc>
            </a:pPr>
            <a:r>
              <a:rPr lang="en-US" dirty="0"/>
              <a:t>Second stage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Sponsor selects an option ( or identifies another option)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Project manager produces an exception plan implementing selected option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Exception plan is reviewed and accepted/rejected by sponsors/Project Board</a:t>
            </a:r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role of configuration librarian: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Identifying items that need to be subject to change control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Management of a central repository of the master copies of software and documentation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Administering change procedures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Maintenance of access records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change control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users might perceive the need for a change</a:t>
            </a:r>
          </a:p>
          <a:p>
            <a:r>
              <a:rPr lang="en-US" dirty="0"/>
              <a:t>User management decide that the change is valid and worthwhile and pass it to development management</a:t>
            </a:r>
          </a:p>
          <a:p>
            <a:r>
              <a:rPr lang="en-US" dirty="0"/>
              <a:t>A developer is assigned to assess the practicality and cost of making the change</a:t>
            </a:r>
          </a:p>
          <a:p>
            <a:r>
              <a:rPr lang="en-US" dirty="0"/>
              <a:t>Development management report back to user management on the cost of the change; user management decide whether to go ahead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 process contd.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Ch9</a:t>
            </a:r>
            <a:r>
              <a:rPr lang="en-US" dirty="0"/>
              <a:t>. Monitoring and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A24D5-9EC8-BFD0-69D6-952F3323B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developers are authorized to make copies of components to be modified</a:t>
            </a:r>
          </a:p>
          <a:p>
            <a:r>
              <a:rPr lang="en-US" dirty="0"/>
              <a:t>Copies modified. After initial testing, a test version might be released to users for acceptance testing</a:t>
            </a:r>
          </a:p>
          <a:p>
            <a:r>
              <a:rPr lang="en-US" dirty="0"/>
              <a:t>When users are satisfied then operational release authorized – master configuration items updated</a:t>
            </a:r>
          </a:p>
        </p:txBody>
      </p:sp>
    </p:spTree>
    <p:extLst>
      <p:ext uri="{BB962C8B-B14F-4D97-AF65-F5344CB8AC3E}">
        <p14:creationId xmlns:p14="http://schemas.microsoft.com/office/powerpoint/2010/main" val="2622664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5819</TotalTime>
  <Words>2197</Words>
  <Application>Microsoft Office PowerPoint</Application>
  <PresentationFormat>Widescreen</PresentationFormat>
  <Paragraphs>378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9-Monitoring and control</vt:lpstr>
      <vt:lpstr>The control cycle</vt:lpstr>
      <vt:lpstr>Responsibilities</vt:lpstr>
      <vt:lpstr>Assessing progress</vt:lpstr>
      <vt:lpstr>Collecting progress details</vt:lpstr>
      <vt:lpstr>Red/Amber/Green reporting</vt:lpstr>
      <vt:lpstr>Gantt charts</vt:lpstr>
      <vt:lpstr>Slip charst</vt:lpstr>
      <vt:lpstr>The timeline</vt:lpstr>
      <vt:lpstr>Cost monitoring</vt:lpstr>
      <vt:lpstr>Earned value analysis</vt:lpstr>
      <vt:lpstr>Accounting conventions</vt:lpstr>
      <vt:lpstr>Earned value – an example</vt:lpstr>
      <vt:lpstr>Earned value analysis – actual cost</vt:lpstr>
      <vt:lpstr>Earned value analysis – actual costs</vt:lpstr>
      <vt:lpstr>Time variance</vt:lpstr>
      <vt:lpstr>Earned value chart with revised forecasts</vt:lpstr>
      <vt:lpstr>Prioritizing monitoring</vt:lpstr>
      <vt:lpstr>Getting back on track: options</vt:lpstr>
      <vt:lpstr>Exception planning</vt:lpstr>
      <vt:lpstr>Exception planning - continued</vt:lpstr>
      <vt:lpstr>Change control</vt:lpstr>
      <vt:lpstr>Typical change control process</vt:lpstr>
      <vt:lpstr>Change control process contd.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183</cp:revision>
  <dcterms:created xsi:type="dcterms:W3CDTF">2009-12-29T10:39:27Z</dcterms:created>
  <dcterms:modified xsi:type="dcterms:W3CDTF">2024-09-16T01:56:48Z</dcterms:modified>
</cp:coreProperties>
</file>