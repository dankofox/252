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49" r:id="rId1"/>
  </p:sldMasterIdLst>
  <p:notesMasterIdLst>
    <p:notesMasterId r:id="rId37"/>
  </p:notesMasterIdLst>
  <p:handoutMasterIdLst>
    <p:handoutMasterId r:id="rId38"/>
  </p:handoutMasterIdLst>
  <p:sldIdLst>
    <p:sldId id="299" r:id="rId2"/>
    <p:sldId id="295" r:id="rId3"/>
    <p:sldId id="301" r:id="rId4"/>
    <p:sldId id="347" r:id="rId5"/>
    <p:sldId id="303" r:id="rId6"/>
    <p:sldId id="306" r:id="rId7"/>
    <p:sldId id="335" r:id="rId8"/>
    <p:sldId id="308" r:id="rId9"/>
    <p:sldId id="310" r:id="rId10"/>
    <p:sldId id="336" r:id="rId11"/>
    <p:sldId id="311" r:id="rId12"/>
    <p:sldId id="312" r:id="rId13"/>
    <p:sldId id="339" r:id="rId14"/>
    <p:sldId id="337" r:id="rId15"/>
    <p:sldId id="349" r:id="rId16"/>
    <p:sldId id="338" r:id="rId17"/>
    <p:sldId id="314" r:id="rId18"/>
    <p:sldId id="348" r:id="rId19"/>
    <p:sldId id="315" r:id="rId20"/>
    <p:sldId id="343" r:id="rId21"/>
    <p:sldId id="342" r:id="rId22"/>
    <p:sldId id="341" r:id="rId23"/>
    <p:sldId id="346" r:id="rId24"/>
    <p:sldId id="345" r:id="rId25"/>
    <p:sldId id="356" r:id="rId26"/>
    <p:sldId id="355" r:id="rId27"/>
    <p:sldId id="354" r:id="rId28"/>
    <p:sldId id="353" r:id="rId29"/>
    <p:sldId id="352" r:id="rId30"/>
    <p:sldId id="344" r:id="rId31"/>
    <p:sldId id="351" r:id="rId32"/>
    <p:sldId id="350" r:id="rId33"/>
    <p:sldId id="357" r:id="rId34"/>
    <p:sldId id="358" r:id="rId35"/>
    <p:sldId id="359" r:id="rId36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8693"/>
    <a:srgbClr val="464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60" autoAdjust="0"/>
    <p:restoredTop sz="96727" autoAdjust="0"/>
  </p:normalViewPr>
  <p:slideViewPr>
    <p:cSldViewPr snapToGrid="0" snapToObjects="1">
      <p:cViewPr varScale="1">
        <p:scale>
          <a:sx n="155" d="100"/>
          <a:sy n="155" d="100"/>
        </p:scale>
        <p:origin x="576" y="114"/>
      </p:cViewPr>
      <p:guideLst>
        <p:guide orient="horz" pos="2160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283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4B6B1-5441-9644-AE1C-BB7EA5DBA264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0CC7-81E2-B842-8904-673E0974872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330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8819-472C-A14B-95BF-39C94BA106B2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38C2-4548-F541-8261-4C1D96E7A1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152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266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260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053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441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721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787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30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38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388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144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2510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537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5256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311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293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3792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4531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466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1738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062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0168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887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3861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0243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7708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4284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5971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0366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2184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9508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09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2776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47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349" y="1"/>
            <a:ext cx="12192000" cy="52938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6350" y="-24063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897256"/>
            <a:ext cx="7772400" cy="1463040"/>
          </a:xfrm>
        </p:spPr>
        <p:txBody>
          <a:bodyPr anchor="ctr">
            <a:normAutofit/>
          </a:bodyPr>
          <a:lstStyle>
            <a:lvl1pPr algn="r">
              <a:defRPr sz="36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610600" y="3897256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Thang</a:t>
            </a:r>
            <a:r>
              <a:rPr lang="en-US" dirty="0"/>
              <a:t> Bui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4201225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34709"/>
            <a:ext cx="1278800" cy="871990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3322651" y="529389"/>
            <a:ext cx="7772400" cy="2317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8000" dirty="0"/>
              <a:t>Software engineering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91768" y="6525692"/>
            <a:ext cx="741883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Adapted from https://iansommerville.com/software-engineering-book/slides/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4299" y="2410485"/>
            <a:ext cx="13580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+mj-lt"/>
              </a:rPr>
              <a:t>CO3001</a:t>
            </a:r>
          </a:p>
        </p:txBody>
      </p:sp>
    </p:spTree>
    <p:extLst>
      <p:ext uri="{BB962C8B-B14F-4D97-AF65-F5344CB8AC3E}">
        <p14:creationId xmlns:p14="http://schemas.microsoft.com/office/powerpoint/2010/main" val="2930726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37547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2192000" cy="57751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6350" y="1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85224"/>
            <a:ext cx="77724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3885224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4189193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62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96254"/>
            <a:ext cx="10786873" cy="12272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1524002"/>
            <a:ext cx="4965192" cy="4785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1011" y="1524002"/>
            <a:ext cx="5329988" cy="4785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94971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84222"/>
            <a:ext cx="10786873" cy="12392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1524002"/>
            <a:ext cx="513604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346962"/>
            <a:ext cx="5136040" cy="3962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843" y="1524002"/>
            <a:ext cx="5394157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843" y="2346962"/>
            <a:ext cx="5394157" cy="3962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3617807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991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9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Ch1. Introduction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73100"/>
            <a:ext cx="10972800" cy="580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85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Ch1. Introduction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73100"/>
            <a:ext cx="10972800" cy="58039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301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7" y="96254"/>
            <a:ext cx="10786871" cy="1215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1528012"/>
            <a:ext cx="10786872" cy="4781349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30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3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Ch1. Introduction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224745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487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61" r:id="rId8"/>
    <p:sldLayoutId id="2147483723" r:id="rId9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400050" indent="-40005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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27063" indent="-22701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01688" indent="-1746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76313" indent="-1746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39825" indent="-16351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7600DC-B0CD-1F43-6577-EA035114F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45D46-2537-D833-E9C1-99770824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Aug 2024</a:t>
            </a: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6C17DD5-9C6D-BDE9-0272-3FD1C39D1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803" y="3879583"/>
            <a:ext cx="7772400" cy="1463040"/>
          </a:xfrm>
        </p:spPr>
        <p:txBody>
          <a:bodyPr/>
          <a:lstStyle/>
          <a:p>
            <a:r>
              <a:rPr lang="en-US" dirty="0"/>
              <a:t>Chapter 12 – working in teams</a:t>
            </a:r>
            <a:endParaRPr lang="vi-VN" dirty="0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619AF615-2E55-D393-FD5D-0D9984AC2985}"/>
              </a:ext>
            </a:extLst>
          </p:cNvPr>
          <p:cNvSpPr txBox="1">
            <a:spLocks/>
          </p:cNvSpPr>
          <p:nvPr/>
        </p:nvSpPr>
        <p:spPr>
          <a:xfrm>
            <a:off x="4038600" y="1399074"/>
            <a:ext cx="7772400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SOFTWARE 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PROJECT MANAGEMENT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769912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Becoming a team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364147-2629-2CFA-3E01-58B1E43BE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Five basic stages of development: </a:t>
            </a:r>
          </a:p>
          <a:p>
            <a:pPr lvl="1"/>
            <a:r>
              <a:rPr lang="en-US" sz="3200" dirty="0"/>
              <a:t>Forming</a:t>
            </a:r>
          </a:p>
          <a:p>
            <a:pPr lvl="1"/>
            <a:r>
              <a:rPr lang="en-US" sz="3200" dirty="0"/>
              <a:t>Storming</a:t>
            </a:r>
          </a:p>
          <a:p>
            <a:pPr lvl="1"/>
            <a:r>
              <a:rPr lang="en-US" sz="3200" dirty="0"/>
              <a:t>Norming</a:t>
            </a:r>
          </a:p>
          <a:p>
            <a:pPr lvl="1"/>
            <a:r>
              <a:rPr lang="en-US" sz="3200" dirty="0" err="1"/>
              <a:t>Peforming</a:t>
            </a:r>
            <a:endParaRPr lang="en-US" sz="3200" dirty="0"/>
          </a:p>
          <a:p>
            <a:pPr lvl="1"/>
            <a:r>
              <a:rPr lang="en-US" sz="3200" dirty="0"/>
              <a:t>Adjourning </a:t>
            </a:r>
          </a:p>
          <a:p>
            <a:r>
              <a:rPr lang="en-US" dirty="0"/>
              <a:t>Classification associated with Tuckman and Jensen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Balanced teams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7983C-FAB6-DA3E-B646-5447DF3BC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Meredith Belbin studied the performance of top executives carrying out group work at the Hendon Management Centre </a:t>
            </a:r>
          </a:p>
          <a:p>
            <a:r>
              <a:rPr lang="en-US" dirty="0"/>
              <a:t>Tried putting the ‘best’ people together in ‘Apollo’ teams – almost invariably did badly </a:t>
            </a:r>
          </a:p>
          <a:p>
            <a:r>
              <a:rPr lang="en-US" dirty="0"/>
              <a:t>Identified the need for a balance of skills and management roles in a successful team</a:t>
            </a:r>
          </a:p>
        </p:txBody>
      </p:sp>
    </p:spTree>
    <p:extLst>
      <p:ext uri="{BB962C8B-B14F-4D97-AF65-F5344CB8AC3E}">
        <p14:creationId xmlns:p14="http://schemas.microsoft.com/office/powerpoint/2010/main" val="3327087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team roles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7983C-FAB6-DA3E-B646-5447DF3BC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err="1"/>
              <a:t>co-ordinator</a:t>
            </a:r>
            <a:r>
              <a:rPr lang="en-US" dirty="0"/>
              <a:t> – good at chairing meetings </a:t>
            </a:r>
          </a:p>
          <a:p>
            <a:r>
              <a:rPr lang="en-US" dirty="0"/>
              <a:t>The ‘plant’ – an idea generator </a:t>
            </a:r>
          </a:p>
          <a:p>
            <a:r>
              <a:rPr lang="en-US" dirty="0"/>
              <a:t>The monitor-evaluator – good at evaluating ideas </a:t>
            </a:r>
          </a:p>
          <a:p>
            <a:r>
              <a:rPr lang="en-US" dirty="0"/>
              <a:t>The shaper – helps direct team’s efforts </a:t>
            </a:r>
          </a:p>
          <a:p>
            <a:r>
              <a:rPr lang="en-US" dirty="0"/>
              <a:t>The team worker – skilled at creating a good working environment</a:t>
            </a:r>
          </a:p>
        </p:txBody>
      </p:sp>
    </p:spTree>
    <p:extLst>
      <p:ext uri="{BB962C8B-B14F-4D97-AF65-F5344CB8AC3E}">
        <p14:creationId xmlns:p14="http://schemas.microsoft.com/office/powerpoint/2010/main" val="4077655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96254"/>
            <a:ext cx="10786871" cy="1215189"/>
          </a:xfrm>
        </p:spPr>
        <p:txBody>
          <a:bodyPr anchor="ctr">
            <a:normAutofit/>
          </a:bodyPr>
          <a:lstStyle/>
          <a:p>
            <a:r>
              <a:rPr lang="en-US" dirty="0"/>
              <a:t>Belbin management roles - continued </a:t>
            </a:r>
          </a:p>
        </p:txBody>
      </p:sp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D75969CB-B379-92FA-8BFA-0F265E47E7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30" y="6470704"/>
            <a:ext cx="2154143" cy="274320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US"/>
              <a:t>Mar 2021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 anchor="ctr">
            <a:normAutofit/>
          </a:bodyPr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 hidden="1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fld id="{6A4D3DC4-9E7F-1C47-B729-896D53019E3D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02AB41-A30E-E9CB-E143-62CAC88E8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resource investigator – adept at finding resources, including information </a:t>
            </a:r>
          </a:p>
          <a:p>
            <a:r>
              <a:rPr lang="en-US" dirty="0"/>
              <a:t>The completer-finisher – concerned with getting tasks completed </a:t>
            </a:r>
          </a:p>
          <a:p>
            <a:r>
              <a:rPr lang="en-US" dirty="0"/>
              <a:t>The implementer – a good team player who is willing to undertake less attractive tasks if they are needed for team success </a:t>
            </a:r>
          </a:p>
          <a:p>
            <a:r>
              <a:rPr lang="en-US" dirty="0"/>
              <a:t>The specialist – the ‘techie’ who likes to acquire knowledge for its own sake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28E3E042-00BC-ED14-E1D6-F469ADD6B9F2}"/>
              </a:ext>
            </a:extLst>
          </p:cNvPr>
          <p:cNvSpPr txBox="1">
            <a:spLocks/>
          </p:cNvSpPr>
          <p:nvPr/>
        </p:nvSpPr>
        <p:spPr>
          <a:xfrm>
            <a:off x="11218863" y="6470704"/>
            <a:ext cx="973137" cy="27463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fld id="{6A4D3DC4-9E7F-1C47-B729-896D53019E3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779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609" y="1311443"/>
            <a:ext cx="10786872" cy="5334001"/>
          </a:xfrm>
        </p:spPr>
        <p:txBody>
          <a:bodyPr>
            <a:normAutofit/>
          </a:bodyPr>
          <a:lstStyle/>
          <a:p>
            <a:r>
              <a:rPr lang="en-US" b="0" i="0" dirty="0">
                <a:effectLst/>
                <a:highlight>
                  <a:srgbClr val="FFFFFF"/>
                </a:highlight>
              </a:rPr>
              <a:t>Some tasks are better carried out collectively while other tasks are better delegated to individuals </a:t>
            </a:r>
          </a:p>
          <a:p>
            <a:pPr lvl="1"/>
            <a:r>
              <a:rPr lang="en-US" sz="3200" b="0" i="0" dirty="0">
                <a:effectLst/>
                <a:highlight>
                  <a:srgbClr val="FFFFFF"/>
                </a:highlight>
              </a:rPr>
              <a:t>Additive tasks – the effort of each participant is summed </a:t>
            </a:r>
          </a:p>
          <a:p>
            <a:pPr lvl="1"/>
            <a:r>
              <a:rPr lang="en-US" sz="3200" b="0" i="0" dirty="0">
                <a:effectLst/>
                <a:highlight>
                  <a:srgbClr val="FFFFFF"/>
                </a:highlight>
              </a:rPr>
              <a:t>Compensatory tasks – the judgements of individual group members are summed – errors of some compensated for by judgements of others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271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performance - continued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797415-829A-DD9D-90ED-3CFD77FA6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Disjunctive tasks – there is only one correct answer – someone must: </a:t>
            </a:r>
          </a:p>
          <a:p>
            <a:pPr lvl="1"/>
            <a:r>
              <a:rPr lang="en-US" sz="3200" dirty="0"/>
              <a:t>Come up with right answer </a:t>
            </a:r>
          </a:p>
          <a:p>
            <a:pPr lvl="1"/>
            <a:r>
              <a:rPr lang="en-US" sz="3200" dirty="0"/>
              <a:t>Persuade the other that they are right </a:t>
            </a:r>
          </a:p>
          <a:p>
            <a:r>
              <a:rPr lang="en-US" dirty="0"/>
              <a:t>Conjunctive – the task is only finished when all components have been completed</a:t>
            </a:r>
          </a:p>
        </p:txBody>
      </p:sp>
    </p:spTree>
    <p:extLst>
      <p:ext uri="{BB962C8B-B14F-4D97-AF65-F5344CB8AC3E}">
        <p14:creationId xmlns:p14="http://schemas.microsoft.com/office/powerpoint/2010/main" val="3392482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‘Social loafing’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7DF0A-81C9-8F01-344B-1088BE376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Tendency for some team participants to ‘coast’ and let others do the work </a:t>
            </a:r>
          </a:p>
          <a:p>
            <a:r>
              <a:rPr lang="en-US" dirty="0"/>
              <a:t>Also tendency not to assist other team members who have problems </a:t>
            </a:r>
          </a:p>
          <a:p>
            <a:r>
              <a:rPr lang="en-US" dirty="0"/>
              <a:t>Suggested counter-measures: </a:t>
            </a:r>
          </a:p>
          <a:p>
            <a:pPr lvl="1"/>
            <a:r>
              <a:rPr lang="en-US" sz="3200" dirty="0"/>
              <a:t>Make individual contributions identifiable </a:t>
            </a:r>
          </a:p>
          <a:p>
            <a:pPr lvl="1"/>
            <a:r>
              <a:rPr lang="en-US" sz="3200" dirty="0"/>
              <a:t>Consciously involve group members ( ‘loafer’ could in fact just be shy!) </a:t>
            </a:r>
          </a:p>
          <a:p>
            <a:pPr lvl="1"/>
            <a:r>
              <a:rPr lang="en-US" sz="3200" dirty="0"/>
              <a:t>Reward ‘team players’</a:t>
            </a:r>
          </a:p>
        </p:txBody>
      </p:sp>
    </p:spTree>
    <p:extLst>
      <p:ext uri="{BB962C8B-B14F-4D97-AF65-F5344CB8AC3E}">
        <p14:creationId xmlns:p14="http://schemas.microsoft.com/office/powerpoint/2010/main" val="1331051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Barriers to good team decisions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7B060A-6B42-143D-D351-A03849B6A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Inter-personal conflicts – see earlier section on team formation</a:t>
            </a:r>
          </a:p>
          <a:p>
            <a:r>
              <a:rPr lang="en-US" dirty="0"/>
              <a:t> Conflicts tend to be a dampened by emergence of group norms – shared group opinions and attitudes </a:t>
            </a:r>
          </a:p>
          <a:p>
            <a:r>
              <a:rPr lang="en-US" dirty="0"/>
              <a:t>Risky shift – people in groups are more likely to make risky decisions than they would as individuals</a:t>
            </a:r>
          </a:p>
        </p:txBody>
      </p:sp>
    </p:spTree>
    <p:extLst>
      <p:ext uri="{BB962C8B-B14F-4D97-AF65-F5344CB8AC3E}">
        <p14:creationId xmlns:p14="http://schemas.microsoft.com/office/powerpoint/2010/main" val="3263949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Delphi approach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0522431B-004B-3942-5F9A-66922CB8D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avoid dominant personalities intruding the following approach is adopted</a:t>
            </a:r>
          </a:p>
          <a:p>
            <a:pPr lvl="1"/>
            <a:r>
              <a:rPr lang="en-US" sz="3200" dirty="0"/>
              <a:t>Enlist co-operation of experts </a:t>
            </a:r>
          </a:p>
          <a:p>
            <a:pPr lvl="1"/>
            <a:r>
              <a:rPr lang="en-US" sz="3200" dirty="0"/>
              <a:t>Moderator presents experts with problem </a:t>
            </a:r>
          </a:p>
          <a:p>
            <a:pPr lvl="1"/>
            <a:r>
              <a:rPr lang="en-US" sz="3200" dirty="0"/>
              <a:t>Experts send in their recommendations to the moderator </a:t>
            </a:r>
          </a:p>
          <a:p>
            <a:pPr lvl="1"/>
            <a:r>
              <a:rPr lang="en-US" sz="3200" dirty="0"/>
              <a:t>Recommendations are collated and circulated to all experts </a:t>
            </a:r>
          </a:p>
          <a:p>
            <a:pPr lvl="1"/>
            <a:r>
              <a:rPr lang="en-US" sz="3200" dirty="0"/>
              <a:t>Experts comment on ideas of others and modify their own recommendation if so moved </a:t>
            </a:r>
          </a:p>
          <a:p>
            <a:pPr lvl="1"/>
            <a:r>
              <a:rPr lang="en-US" sz="3200" dirty="0"/>
              <a:t>If moderator detects a consensus, stop; else back to 4</a:t>
            </a:r>
            <a:endParaRPr lang="en-US" sz="3200" b="0" i="0" dirty="0">
              <a:effectLst/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63144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‘heedfulness’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1" name="Content Placeholder 16">
            <a:extLst>
              <a:ext uri="{FF2B5EF4-FFF2-40B4-BE49-F238E27FC236}">
                <a16:creationId xmlns:a16="http://schemas.microsoft.com/office/drawing/2014/main" id="{73BCAA66-6BA8-C09B-9F24-E7975E483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528012"/>
            <a:ext cx="10786872" cy="47813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Where group members are aware of the activities of other members that contribute to overall group success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Impression of a ‘collective mind’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Some attempts to promote this: </a:t>
            </a:r>
          </a:p>
          <a:p>
            <a:pPr lvl="1"/>
            <a:r>
              <a:rPr lang="en-US" sz="3200" b="0" i="0" dirty="0">
                <a:effectLst/>
                <a:highlight>
                  <a:srgbClr val="FFFFFF"/>
                </a:highlight>
              </a:rPr>
              <a:t>Egoless programming </a:t>
            </a:r>
          </a:p>
          <a:p>
            <a:pPr lvl="1"/>
            <a:r>
              <a:rPr lang="en-US" sz="3200" b="0" i="0" dirty="0">
                <a:effectLst/>
                <a:highlight>
                  <a:srgbClr val="FFFFFF"/>
                </a:highlight>
              </a:rPr>
              <a:t>Chief programmer teams </a:t>
            </a:r>
          </a:p>
          <a:p>
            <a:pPr lvl="1"/>
            <a:r>
              <a:rPr lang="en-US" sz="3200" b="0" i="0" dirty="0">
                <a:effectLst/>
                <a:highlight>
                  <a:srgbClr val="FFFFFF"/>
                </a:highlight>
              </a:rPr>
              <a:t>XP </a:t>
            </a:r>
          </a:p>
          <a:p>
            <a:pPr lvl="1"/>
            <a:r>
              <a:rPr lang="en-US" sz="3200" b="0" i="0" dirty="0">
                <a:effectLst/>
                <a:highlight>
                  <a:srgbClr val="FFFFFF"/>
                </a:highlight>
              </a:rPr>
              <a:t>Scrum</a:t>
            </a:r>
          </a:p>
        </p:txBody>
      </p:sp>
    </p:spTree>
    <p:extLst>
      <p:ext uri="{BB962C8B-B14F-4D97-AF65-F5344CB8AC3E}">
        <p14:creationId xmlns:p14="http://schemas.microsoft.com/office/powerpoint/2010/main" val="1575331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Egoless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886" y="1435950"/>
            <a:ext cx="10786872" cy="4432415"/>
          </a:xfrm>
        </p:spPr>
        <p:txBody>
          <a:bodyPr>
            <a:normAutofit/>
          </a:bodyPr>
          <a:lstStyle/>
          <a:p>
            <a:r>
              <a:rPr lang="en-US" dirty="0"/>
              <a:t>Gerry Weinberg noted a tendency for programmers to be protective of their code and to resist perceived criticisms by others of the code </a:t>
            </a:r>
          </a:p>
          <a:p>
            <a:r>
              <a:rPr lang="en-US" dirty="0"/>
              <a:t>Encouraged programmers to read each others code </a:t>
            </a:r>
          </a:p>
          <a:p>
            <a:r>
              <a:rPr lang="en-US" dirty="0"/>
              <a:t>Argued that software should become communal, not personal – hence ‘egoless programming’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836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Chief programmer teams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886" y="1435950"/>
            <a:ext cx="10786872" cy="443241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Fred Brooks was concerned about the need to maintain ‘design consistency’ in large software systems </a:t>
            </a:r>
          </a:p>
          <a:p>
            <a:r>
              <a:rPr lang="en-US" dirty="0"/>
              <a:t>Appointment of key programmers, </a:t>
            </a:r>
            <a:r>
              <a:rPr lang="en-US" b="1" dirty="0"/>
              <a:t>Chief Programmers</a:t>
            </a:r>
            <a:r>
              <a:rPr lang="en-US" dirty="0"/>
              <a:t>, with responsibilities for defining requirements, designing, writing and test software code </a:t>
            </a:r>
          </a:p>
          <a:p>
            <a:r>
              <a:rPr lang="en-US" dirty="0"/>
              <a:t>Assisted by a support team: </a:t>
            </a:r>
            <a:r>
              <a:rPr lang="en-US" b="1" dirty="0"/>
              <a:t>co-pilot</a:t>
            </a:r>
            <a:r>
              <a:rPr lang="en-US" dirty="0"/>
              <a:t> – shared coding, editor who made typed in new or changed code, </a:t>
            </a:r>
            <a:r>
              <a:rPr lang="en-US" b="1" dirty="0"/>
              <a:t>program clerk</a:t>
            </a:r>
            <a:r>
              <a:rPr lang="en-US" dirty="0"/>
              <a:t> who wrote and maintained documentation and </a:t>
            </a:r>
            <a:r>
              <a:rPr lang="en-US" b="1" dirty="0"/>
              <a:t>tester</a:t>
            </a:r>
            <a:r>
              <a:rPr lang="en-US" dirty="0"/>
              <a:t> </a:t>
            </a:r>
          </a:p>
          <a:p>
            <a:r>
              <a:rPr lang="en-US" dirty="0"/>
              <a:t>Problem – finding staff capable of the chief programmer role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899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Extreme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885" y="1435951"/>
            <a:ext cx="10786872" cy="4648326"/>
          </a:xfrm>
        </p:spPr>
        <p:txBody>
          <a:bodyPr>
            <a:normAutofit/>
          </a:bodyPr>
          <a:lstStyle/>
          <a:p>
            <a:pPr marL="808037" indent="-571500"/>
            <a:r>
              <a:rPr lang="en-US" dirty="0"/>
              <a:t>XP can be seen as an attempt to improve team heedfulness and reduce the length of communication paths (the time between something being recorded and it being used)</a:t>
            </a:r>
          </a:p>
          <a:p>
            <a:pPr marL="1035050" lvl="1" indent="-571500"/>
            <a:r>
              <a:rPr lang="en-US" sz="3200" dirty="0"/>
              <a:t>Software code enhanced to be self-documenting </a:t>
            </a:r>
          </a:p>
          <a:p>
            <a:pPr marL="1035050" lvl="1" indent="-571500"/>
            <a:r>
              <a:rPr lang="en-US" sz="3200" dirty="0"/>
              <a:t>Software regularly refactored to clarify its structure </a:t>
            </a:r>
          </a:p>
          <a:p>
            <a:pPr marL="1035050" lvl="1" indent="-571500"/>
            <a:r>
              <a:rPr lang="en-US" sz="3200" dirty="0"/>
              <a:t>Test cases/expected results created before coding – acts as a supplementary specification </a:t>
            </a:r>
          </a:p>
          <a:p>
            <a:pPr marL="1035050" lvl="1" indent="-571500"/>
            <a:r>
              <a:rPr lang="en-US" sz="3200" dirty="0"/>
              <a:t>Pair programming – a development of the co-pilot concept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452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885" y="1435951"/>
            <a:ext cx="10786872" cy="4648326"/>
          </a:xfrm>
        </p:spPr>
        <p:txBody>
          <a:bodyPr>
            <a:normAutofit/>
          </a:bodyPr>
          <a:lstStyle/>
          <a:p>
            <a:pPr marL="808037" indent="-571500"/>
            <a:r>
              <a:rPr lang="en-US" dirty="0"/>
              <a:t>Named as an analogy to a rugby scrum – all pushing together </a:t>
            </a:r>
          </a:p>
          <a:p>
            <a:pPr marL="808037" indent="-571500"/>
            <a:r>
              <a:rPr lang="en-US" dirty="0"/>
              <a:t>Originally designed for new product development where ‘time-to-market’ is important </a:t>
            </a:r>
          </a:p>
          <a:p>
            <a:pPr marL="808037" indent="-571500"/>
            <a:r>
              <a:rPr lang="en-US" dirty="0"/>
              <a:t>‘Sprints’ increments of typically one to four weeks </a:t>
            </a:r>
          </a:p>
          <a:p>
            <a:pPr marL="808037" indent="-571500"/>
            <a:r>
              <a:rPr lang="en-US" dirty="0"/>
              <a:t>Daily ‘scrums’ – daily stand-up meetings of about 15 minutes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091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- continued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80A071-29BC-D6B1-8ED7-41F53B668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Unlike XP, requirements are frozen during a sprint </a:t>
            </a:r>
          </a:p>
          <a:p>
            <a:r>
              <a:rPr lang="en-US" dirty="0"/>
              <a:t>At the beginning of the sprint there is a sprint planning meeting where requirements are prioritized </a:t>
            </a:r>
          </a:p>
          <a:p>
            <a:r>
              <a:rPr lang="en-US" dirty="0"/>
              <a:t>At end of sprint, a review meeting where work is reviewed and requirements may be changed or added to</a:t>
            </a:r>
          </a:p>
        </p:txBody>
      </p:sp>
    </p:spTree>
    <p:extLst>
      <p:ext uri="{BB962C8B-B14F-4D97-AF65-F5344CB8AC3E}">
        <p14:creationId xmlns:p14="http://schemas.microsoft.com/office/powerpoint/2010/main" val="17151327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Co-ordination of dependencies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377280-8D17-F8D2-27C6-85E4AE636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The previous discussion on team heedfulness focused (mainly) in communication inside the team </a:t>
            </a:r>
          </a:p>
          <a:p>
            <a:r>
              <a:rPr lang="en-US" dirty="0"/>
              <a:t>What sort of communications are needed between teams and other units </a:t>
            </a:r>
          </a:p>
        </p:txBody>
      </p:sp>
    </p:spTree>
    <p:extLst>
      <p:ext uri="{BB962C8B-B14F-4D97-AF65-F5344CB8AC3E}">
        <p14:creationId xmlns:p14="http://schemas.microsoft.com/office/powerpoint/2010/main" val="2441473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Co-ordination of dependencies – continued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377280-8D17-F8D2-27C6-85E4AE636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Co-ordination theory has identified the following types of coordination: </a:t>
            </a:r>
          </a:p>
          <a:p>
            <a:pPr lvl="1"/>
            <a:r>
              <a:rPr lang="en-US" sz="3200" dirty="0"/>
              <a:t>Shared resources. e.g. where several projects need the services of scarce technical experts for certain parts of the project. </a:t>
            </a:r>
          </a:p>
          <a:p>
            <a:pPr lvl="1"/>
            <a:r>
              <a:rPr lang="en-US" sz="3200" dirty="0"/>
              <a:t>Producer-customer (‘right time’) relationships. A project activity may depend on a product being delivered first. </a:t>
            </a:r>
          </a:p>
          <a:p>
            <a:pPr lvl="1"/>
            <a:r>
              <a:rPr lang="en-US" sz="3200" dirty="0"/>
              <a:t>Task-subtask dependencies. In order to complete a task a sequence of subtasks have to be carried out.</a:t>
            </a:r>
          </a:p>
        </p:txBody>
      </p:sp>
    </p:spTree>
    <p:extLst>
      <p:ext uri="{BB962C8B-B14F-4D97-AF65-F5344CB8AC3E}">
        <p14:creationId xmlns:p14="http://schemas.microsoft.com/office/powerpoint/2010/main" val="41855407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Coordination of dependencies - continued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FCF7315-E681-10B3-8ECB-F8A7FAA9D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93" y="1528012"/>
            <a:ext cx="11336593" cy="4781349"/>
          </a:xfrm>
        </p:spPr>
        <p:txBody>
          <a:bodyPr>
            <a:noAutofit/>
          </a:bodyPr>
          <a:lstStyle/>
          <a:p>
            <a:pPr lvl="1"/>
            <a:r>
              <a:rPr lang="en-US" sz="3200" dirty="0"/>
              <a:t>Accessibility (‘right place’) dependencies. This type of dependency is of more relevance to activities that require movement over a large geographical area, but arranging the delivery and installation of IT equipment might be identified as such. </a:t>
            </a:r>
          </a:p>
          <a:p>
            <a:pPr lvl="1"/>
            <a:r>
              <a:rPr lang="en-US" sz="3200" dirty="0"/>
              <a:t>Usability (‘right thing’) dependencies. Broader concern than the design of user interfaces: relates to the general question of fitness for purpose, e.g. the satisfaction of business requirements. </a:t>
            </a:r>
          </a:p>
          <a:p>
            <a:pPr lvl="1"/>
            <a:r>
              <a:rPr lang="en-US" sz="3200" dirty="0"/>
              <a:t>Fit requirements. This is ensuring that different system components work together effectively.</a:t>
            </a:r>
          </a:p>
        </p:txBody>
      </p:sp>
    </p:spTree>
    <p:extLst>
      <p:ext uri="{BB962C8B-B14F-4D97-AF65-F5344CB8AC3E}">
        <p14:creationId xmlns:p14="http://schemas.microsoft.com/office/powerpoint/2010/main" val="2993507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‘virtual projects’?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429C85-137A-884B-C480-431934AB1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physical needs of software developers (according to an IBM report):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100 square feet of floor space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30 square feet of work surface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Dividers at least 6 feet high to muffle noise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Demarco and Lister found clear statistical links between noise and coding error rates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One answer: send the developers home!</a:t>
            </a:r>
          </a:p>
        </p:txBody>
      </p:sp>
    </p:spTree>
    <p:extLst>
      <p:ext uri="{BB962C8B-B14F-4D97-AF65-F5344CB8AC3E}">
        <p14:creationId xmlns:p14="http://schemas.microsoft.com/office/powerpoint/2010/main" val="5632976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advantages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96C81F-D567-6AA5-0C8C-E09F1EB5D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use staff from developing countries – lower costs </a:t>
            </a:r>
          </a:p>
          <a:p>
            <a:r>
              <a:rPr lang="en-US" dirty="0"/>
              <a:t>Can use short term contracts: </a:t>
            </a:r>
          </a:p>
          <a:p>
            <a:pPr lvl="1"/>
            <a:r>
              <a:rPr lang="en-US" sz="3200" dirty="0"/>
              <a:t>Reduction in overheads related to use of premises </a:t>
            </a:r>
          </a:p>
          <a:p>
            <a:pPr lvl="1"/>
            <a:r>
              <a:rPr lang="en-US" sz="3200" dirty="0"/>
              <a:t>Reduction in staff costs, training, holidays, pensions etc. </a:t>
            </a:r>
          </a:p>
          <a:p>
            <a:r>
              <a:rPr lang="en-US" dirty="0"/>
              <a:t>Can use specialist staff for specific jobs</a:t>
            </a:r>
          </a:p>
        </p:txBody>
      </p:sp>
    </p:spTree>
    <p:extLst>
      <p:ext uri="{BB962C8B-B14F-4D97-AF65-F5344CB8AC3E}">
        <p14:creationId xmlns:p14="http://schemas.microsoft.com/office/powerpoint/2010/main" val="1515741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advantages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3276E6-AE97-701B-4738-EC877DA87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Productivity of home workers can be higher – fewer distractions </a:t>
            </a:r>
          </a:p>
          <a:p>
            <a:r>
              <a:rPr lang="en-US" dirty="0"/>
              <a:t>Can take advantage of time zone differences e.g. overnight system testing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092553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challenges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C62BBE-7143-E343-B1D1-0EF239CFB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 requirements have to be carefully specified </a:t>
            </a:r>
          </a:p>
          <a:p>
            <a:r>
              <a:rPr lang="en-US" dirty="0"/>
              <a:t>Procedures need to be formally documented </a:t>
            </a:r>
          </a:p>
          <a:p>
            <a:r>
              <a:rPr lang="en-US" dirty="0"/>
              <a:t>Co-ordination can be difficult </a:t>
            </a:r>
          </a:p>
          <a:p>
            <a:r>
              <a:rPr lang="en-US" dirty="0"/>
              <a:t>Payment methods need to be modified – piece-rates or fixed price, rather then day-rates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883370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challenges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99625B-8FF7-4001-75C3-0B6A23380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Possible lack of trust when there is no face-to-face contact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Assessment of quality of delivered products needs to be rigorous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Different time zones can cause communication and co-ordination problems</a:t>
            </a:r>
          </a:p>
        </p:txBody>
      </p:sp>
    </p:spTree>
    <p:extLst>
      <p:ext uri="{BB962C8B-B14F-4D97-AF65-F5344CB8AC3E}">
        <p14:creationId xmlns:p14="http://schemas.microsoft.com/office/powerpoint/2010/main" val="41872152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Time/place constraints on communication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25</a:t>
            </a:fld>
            <a:endParaRPr lang="en-US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617EEA9B-8407-ABCE-D06A-5EA1ABD946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8843851"/>
              </p:ext>
            </p:extLst>
          </p:nvPr>
        </p:nvGraphicFramePr>
        <p:xfrm>
          <a:off x="1023939" y="1528762"/>
          <a:ext cx="9720453" cy="42629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40151">
                  <a:extLst>
                    <a:ext uri="{9D8B030D-6E8A-4147-A177-3AD203B41FA5}">
                      <a16:colId xmlns:a16="http://schemas.microsoft.com/office/drawing/2014/main" val="2576313115"/>
                    </a:ext>
                  </a:extLst>
                </a:gridCol>
                <a:gridCol w="3240151">
                  <a:extLst>
                    <a:ext uri="{9D8B030D-6E8A-4147-A177-3AD203B41FA5}">
                      <a16:colId xmlns:a16="http://schemas.microsoft.com/office/drawing/2014/main" val="2090127015"/>
                    </a:ext>
                  </a:extLst>
                </a:gridCol>
                <a:gridCol w="3240151">
                  <a:extLst>
                    <a:ext uri="{9D8B030D-6E8A-4147-A177-3AD203B41FA5}">
                      <a16:colId xmlns:a16="http://schemas.microsoft.com/office/drawing/2014/main" val="866746629"/>
                    </a:ext>
                  </a:extLst>
                </a:gridCol>
              </a:tblGrid>
              <a:tr h="1354239"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Same place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Different place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756964"/>
                  </a:ext>
                </a:extLst>
              </a:tr>
              <a:tr h="1354239">
                <a:tc>
                  <a:txBody>
                    <a:bodyPr/>
                    <a:lstStyle/>
                    <a:p>
                      <a:r>
                        <a:rPr lang="en-US" sz="3200" dirty="0"/>
                        <a:t>Same time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Meetings, interviews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Telephone,</a:t>
                      </a:r>
                      <a:br>
                        <a:rPr lang="en-US" sz="3200" dirty="0"/>
                      </a:br>
                      <a:r>
                        <a:rPr lang="en-US" sz="3200" dirty="0"/>
                        <a:t>Instant messaging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803804"/>
                  </a:ext>
                </a:extLst>
              </a:tr>
              <a:tr h="1483621">
                <a:tc>
                  <a:txBody>
                    <a:bodyPr/>
                    <a:lstStyle/>
                    <a:p>
                      <a:r>
                        <a:rPr lang="en-US" sz="3200" dirty="0"/>
                        <a:t>Different times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Notice boards </a:t>
                      </a:r>
                      <a:br>
                        <a:rPr lang="en-US" sz="3200" dirty="0"/>
                      </a:br>
                      <a:r>
                        <a:rPr lang="en-US" sz="3200" dirty="0"/>
                        <a:t>Pigeon-holes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Email</a:t>
                      </a:r>
                      <a:br>
                        <a:rPr lang="en-US" sz="3200" dirty="0"/>
                      </a:br>
                      <a:r>
                        <a:rPr lang="en-US" sz="3200" dirty="0"/>
                        <a:t>Voicemail</a:t>
                      </a:r>
                    </a:p>
                    <a:p>
                      <a:r>
                        <a:rPr lang="en-US" sz="3200" dirty="0"/>
                        <a:t>Documents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958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61524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factors influencing communication genres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99625B-8FF7-4001-75C3-0B6A23380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Size and complexity of information – </a:t>
            </a:r>
            <a:r>
              <a:rPr lang="en-US" dirty="0" err="1"/>
              <a:t>favours</a:t>
            </a:r>
            <a:r>
              <a:rPr lang="en-US" dirty="0"/>
              <a:t> documents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Familiarity of context e.g. terminology – where low, two-way communication </a:t>
            </a:r>
            <a:r>
              <a:rPr lang="en-US" dirty="0" err="1"/>
              <a:t>favoured</a:t>
            </a:r>
            <a:r>
              <a:rPr lang="en-US" dirty="0"/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Personally sensitive – it has to be face-to-face communication here</a:t>
            </a:r>
          </a:p>
        </p:txBody>
      </p:sp>
    </p:spTree>
    <p:extLst>
      <p:ext uri="{BB962C8B-B14F-4D97-AF65-F5344CB8AC3E}">
        <p14:creationId xmlns:p14="http://schemas.microsoft.com/office/powerpoint/2010/main" val="30047151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method of communication depends on stage of project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99625B-8FF7-4001-75C3-0B6A23380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Early stages </a:t>
            </a:r>
          </a:p>
          <a:p>
            <a:pPr lvl="1"/>
            <a:r>
              <a:rPr lang="en-US" sz="3200" dirty="0"/>
              <a:t>Need to build trust </a:t>
            </a:r>
          </a:p>
          <a:p>
            <a:pPr lvl="1"/>
            <a:r>
              <a:rPr lang="en-US" sz="3200" dirty="0"/>
              <a:t>Establishing context </a:t>
            </a:r>
          </a:p>
          <a:p>
            <a:pPr lvl="1"/>
            <a:r>
              <a:rPr lang="en-US" sz="3200" dirty="0"/>
              <a:t>Making important ‘global’ decisions </a:t>
            </a:r>
          </a:p>
          <a:p>
            <a:pPr lvl="1"/>
            <a:r>
              <a:rPr lang="en-US" sz="3200" dirty="0" err="1"/>
              <a:t>Favours</a:t>
            </a:r>
            <a:r>
              <a:rPr lang="en-US" sz="3200" dirty="0"/>
              <a:t> same time/ same place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Intermediate stages </a:t>
            </a:r>
          </a:p>
          <a:p>
            <a:pPr lvl="1"/>
            <a:r>
              <a:rPr lang="en-US" sz="3200" dirty="0"/>
              <a:t>Often involves the </a:t>
            </a:r>
            <a:r>
              <a:rPr lang="en-US" sz="3200" dirty="0" err="1"/>
              <a:t>paralled</a:t>
            </a:r>
            <a:r>
              <a:rPr lang="en-US" sz="3200" dirty="0"/>
              <a:t> detailed design of components </a:t>
            </a:r>
          </a:p>
          <a:p>
            <a:pPr lvl="1"/>
            <a:r>
              <a:rPr lang="en-US" sz="3200" dirty="0"/>
              <a:t>Need for clarification of interfaces </a:t>
            </a:r>
            <a:r>
              <a:rPr lang="en-US" sz="3200" dirty="0" err="1"/>
              <a:t>etc</a:t>
            </a:r>
            <a:r>
              <a:rPr lang="en-US" sz="3200" dirty="0"/>
              <a:t> </a:t>
            </a:r>
          </a:p>
          <a:p>
            <a:pPr lvl="1"/>
            <a:r>
              <a:rPr lang="en-US" sz="3200" dirty="0" err="1"/>
              <a:t>Favours</a:t>
            </a:r>
            <a:r>
              <a:rPr lang="en-US" sz="3200" dirty="0"/>
              <a:t> same time/different place</a:t>
            </a:r>
          </a:p>
        </p:txBody>
      </p:sp>
    </p:spTree>
    <p:extLst>
      <p:ext uri="{BB962C8B-B14F-4D97-AF65-F5344CB8AC3E}">
        <p14:creationId xmlns:p14="http://schemas.microsoft.com/office/powerpoint/2010/main" val="10797611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method of communication depends on stage of project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99625B-8FF7-4001-75C3-0B6A23380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Implementation stages </a:t>
            </a:r>
          </a:p>
          <a:p>
            <a:pPr lvl="1"/>
            <a:r>
              <a:rPr lang="en-US" sz="3200" dirty="0"/>
              <a:t>Design is relatively clear </a:t>
            </a:r>
          </a:p>
          <a:p>
            <a:pPr lvl="1"/>
            <a:r>
              <a:rPr lang="en-US" sz="3200" dirty="0"/>
              <a:t>Domain and context familiar </a:t>
            </a:r>
          </a:p>
          <a:p>
            <a:pPr lvl="1"/>
            <a:r>
              <a:rPr lang="en-US" sz="3200" dirty="0"/>
              <a:t>Small amounts of operational data need to be exchanged </a:t>
            </a:r>
          </a:p>
          <a:p>
            <a:pPr lvl="1"/>
            <a:r>
              <a:rPr lang="en-US" sz="3200" dirty="0" err="1"/>
              <a:t>Favours</a:t>
            </a:r>
            <a:r>
              <a:rPr lang="en-US" sz="3200" dirty="0"/>
              <a:t> different time/different place communications e.g. e-mail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Face to face co-ordination meetings – the ‘heartbeat’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39686825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Communications plans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99625B-8FF7-4001-75C3-0B6A23380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755" y="1528012"/>
            <a:ext cx="11336593" cy="478134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As we have seen choosing the right communication methods is crucial in a project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Therefore, a good idea to create a communication plan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Stages</a:t>
            </a:r>
            <a:r>
              <a:rPr lang="en-US" dirty="0"/>
              <a:t> of creating a communication plan</a:t>
            </a:r>
          </a:p>
          <a:p>
            <a:pPr lvl="1"/>
            <a:r>
              <a:rPr lang="en-US" sz="3200" dirty="0"/>
              <a:t>Identify all the major stakeholders for the project – see chapter 1</a:t>
            </a:r>
          </a:p>
          <a:p>
            <a:pPr lvl="1"/>
            <a:r>
              <a:rPr lang="en-US" sz="3200" dirty="0"/>
              <a:t>Create a plan for the project – see chapter 3 </a:t>
            </a:r>
          </a:p>
          <a:p>
            <a:pPr lvl="1"/>
            <a:r>
              <a:rPr lang="en-US" sz="3200" dirty="0"/>
              <a:t>Identify stakeholder and communication needs for each stage of the project </a:t>
            </a:r>
          </a:p>
          <a:p>
            <a:pPr lvl="1"/>
            <a:r>
              <a:rPr lang="en-US" sz="3200" dirty="0"/>
              <a:t>Document in a communication plan</a:t>
            </a:r>
          </a:p>
        </p:txBody>
      </p:sp>
    </p:spTree>
    <p:extLst>
      <p:ext uri="{BB962C8B-B14F-4D97-AF65-F5344CB8AC3E}">
        <p14:creationId xmlns:p14="http://schemas.microsoft.com/office/powerpoint/2010/main" val="9245157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Content of a communication plan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9A1572-1C9E-2E8C-4F44-980D765C2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528012"/>
            <a:ext cx="10649712" cy="47813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For each communication event and channel, identify: </a:t>
            </a:r>
          </a:p>
          <a:p>
            <a:r>
              <a:rPr lang="en-US" dirty="0"/>
              <a:t>What. This contains the name of a particular communication event, </a:t>
            </a:r>
            <a:r>
              <a:rPr lang="en-US" dirty="0" err="1"/>
              <a:t>e.g</a:t>
            </a:r>
            <a:r>
              <a:rPr lang="en-US" dirty="0"/>
              <a:t>, ‘kick-off meeting’, or channel, e.g. ‘project intranet site’. </a:t>
            </a:r>
          </a:p>
          <a:p>
            <a:r>
              <a:rPr lang="en-US" dirty="0"/>
              <a:t>Who/target. The target audience for the communication. </a:t>
            </a:r>
          </a:p>
          <a:p>
            <a:r>
              <a:rPr lang="en-US" dirty="0"/>
              <a:t>Purpose. What the communication is to achieve. </a:t>
            </a:r>
          </a:p>
        </p:txBody>
      </p:sp>
    </p:spTree>
    <p:extLst>
      <p:ext uri="{BB962C8B-B14F-4D97-AF65-F5344CB8AC3E}">
        <p14:creationId xmlns:p14="http://schemas.microsoft.com/office/powerpoint/2010/main" val="41595768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Content of a communication plan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9A1572-1C9E-2E8C-4F44-980D765C2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When/frequency. If the communication is by means of a single event, then a date can be supplied. If the event is a recurring one, such as a progress meeting then the frequency should be indicated. </a:t>
            </a:r>
          </a:p>
          <a:p>
            <a:r>
              <a:rPr lang="en-US" dirty="0"/>
              <a:t>Type/method. The nature of the communication, e.g., a meeting or a distributed document. </a:t>
            </a:r>
          </a:p>
          <a:p>
            <a:r>
              <a:rPr lang="en-US" dirty="0"/>
              <a:t>Responsibility. The person who initiates the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28949766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Leadership: types of authority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9A1572-1C9E-2E8C-4F44-980D765C2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Position power</a:t>
            </a:r>
          </a:p>
          <a:p>
            <a:r>
              <a:rPr lang="en-US" dirty="0"/>
              <a:t>Coercive power – able to threaten punishment </a:t>
            </a:r>
          </a:p>
          <a:p>
            <a:r>
              <a:rPr lang="en-US" dirty="0"/>
              <a:t>Connection power – have access to those who do have power </a:t>
            </a:r>
          </a:p>
          <a:p>
            <a:r>
              <a:rPr lang="en-US" dirty="0"/>
              <a:t>Legitimate power – based on a person’s title conferring a special status </a:t>
            </a:r>
          </a:p>
          <a:p>
            <a:r>
              <a:rPr lang="en-US" dirty="0"/>
              <a:t>Reward power – able to reward those who comply</a:t>
            </a:r>
          </a:p>
        </p:txBody>
      </p:sp>
    </p:spTree>
    <p:extLst>
      <p:ext uri="{BB962C8B-B14F-4D97-AF65-F5344CB8AC3E}">
        <p14:creationId xmlns:p14="http://schemas.microsoft.com/office/powerpoint/2010/main" val="19647931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Leadership: types of power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7DF0A-81C9-8F01-344B-1088BE376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Personal power </a:t>
            </a:r>
          </a:p>
          <a:p>
            <a:r>
              <a:rPr lang="en-US" dirty="0"/>
              <a:t>Expert power: holder can carry out specialist tasks that are in demand </a:t>
            </a:r>
          </a:p>
          <a:p>
            <a:r>
              <a:rPr lang="en-US" dirty="0"/>
              <a:t>Information power: holder has access to needed information </a:t>
            </a:r>
          </a:p>
          <a:p>
            <a:r>
              <a:rPr lang="en-US" dirty="0"/>
              <a:t>Referent power: based on personal attractiveness or charisma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712386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Leadership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34</a:t>
            </a:fld>
            <a:endParaRPr lang="en-US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A23C6C67-7CA5-D544-2177-EBC03482CB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3034309"/>
              </p:ext>
            </p:extLst>
          </p:nvPr>
        </p:nvGraphicFramePr>
        <p:xfrm>
          <a:off x="3375519" y="2107881"/>
          <a:ext cx="6019974" cy="36285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9987">
                  <a:extLst>
                    <a:ext uri="{9D8B030D-6E8A-4147-A177-3AD203B41FA5}">
                      <a16:colId xmlns:a16="http://schemas.microsoft.com/office/drawing/2014/main" val="2847604077"/>
                    </a:ext>
                  </a:extLst>
                </a:gridCol>
                <a:gridCol w="3009987">
                  <a:extLst>
                    <a:ext uri="{9D8B030D-6E8A-4147-A177-3AD203B41FA5}">
                      <a16:colId xmlns:a16="http://schemas.microsoft.com/office/drawing/2014/main" val="2925614515"/>
                    </a:ext>
                  </a:extLst>
                </a:gridCol>
              </a:tblGrid>
              <a:tr h="181426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5B869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5B86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283852"/>
                  </a:ext>
                </a:extLst>
              </a:tr>
              <a:tr h="181426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5B869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5B86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85216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7A22B04-FCB3-5622-8F60-C8C750B32DBC}"/>
              </a:ext>
            </a:extLst>
          </p:cNvPr>
          <p:cNvSpPr txBox="1"/>
          <p:nvPr/>
        </p:nvSpPr>
        <p:spPr>
          <a:xfrm>
            <a:off x="3704751" y="1386200"/>
            <a:ext cx="15335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n-lt"/>
              </a:rPr>
              <a:t>autocrat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9482C0-6E4E-A83B-AFD6-85B0EC3DFBDA}"/>
              </a:ext>
            </a:extLst>
          </p:cNvPr>
          <p:cNvSpPr txBox="1"/>
          <p:nvPr/>
        </p:nvSpPr>
        <p:spPr>
          <a:xfrm>
            <a:off x="7321312" y="1386200"/>
            <a:ext cx="17227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n-lt"/>
              </a:rPr>
              <a:t>democrat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289830-D6C6-65A4-2B02-3E9BFF3B881E}"/>
              </a:ext>
            </a:extLst>
          </p:cNvPr>
          <p:cNvSpPr txBox="1"/>
          <p:nvPr/>
        </p:nvSpPr>
        <p:spPr>
          <a:xfrm>
            <a:off x="1362685" y="2638157"/>
            <a:ext cx="15774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n-lt"/>
              </a:rPr>
              <a:t>directive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349477-9AF0-31E0-CD7F-FFDEC6A5EE8B}"/>
              </a:ext>
            </a:extLst>
          </p:cNvPr>
          <p:cNvSpPr txBox="1"/>
          <p:nvPr/>
        </p:nvSpPr>
        <p:spPr>
          <a:xfrm>
            <a:off x="1362685" y="4549646"/>
            <a:ext cx="18630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n-lt"/>
              </a:rPr>
              <a:t>permissive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E5F7F7-6CD8-4DF0-DDB0-5DAF09E32FC3}"/>
              </a:ext>
            </a:extLst>
          </p:cNvPr>
          <p:cNvSpPr txBox="1"/>
          <p:nvPr/>
        </p:nvSpPr>
        <p:spPr>
          <a:xfrm>
            <a:off x="5024392" y="801425"/>
            <a:ext cx="27863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+mn-lt"/>
              </a:rPr>
              <a:t>decision-making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173F0E-E33A-CF8D-5187-441473CE88B6}"/>
              </a:ext>
            </a:extLst>
          </p:cNvPr>
          <p:cNvSpPr txBox="1"/>
          <p:nvPr/>
        </p:nvSpPr>
        <p:spPr>
          <a:xfrm rot="16200000">
            <a:off x="-461604" y="3516992"/>
            <a:ext cx="26500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+mn-lt"/>
              </a:rPr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4535091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Leadership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Ch12</a:t>
            </a:r>
            <a:r>
              <a:rPr lang="en-US" dirty="0"/>
              <a:t> working in teams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7DF0A-81C9-8F01-344B-1088BE376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orientation – focus on the work in hand </a:t>
            </a:r>
          </a:p>
          <a:p>
            <a:r>
              <a:rPr lang="en-US" dirty="0"/>
              <a:t>People orientation – focus on relationships </a:t>
            </a:r>
          </a:p>
          <a:p>
            <a:r>
              <a:rPr lang="en-US" dirty="0"/>
              <a:t>Where there is uncertainty about the way job is to be done or staff are inexperienced they welcome task oriented supervision </a:t>
            </a:r>
          </a:p>
          <a:p>
            <a:r>
              <a:rPr lang="en-US" dirty="0"/>
              <a:t>Uncertainty is reduced – people orientation more important </a:t>
            </a:r>
          </a:p>
          <a:p>
            <a:r>
              <a:rPr lang="en-US" dirty="0"/>
              <a:t>Risk that with reduction of uncertainty, managers have time on their hands and become more task oriented (interfering)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568317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_SE2019s1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_SE2019s1" id="{E4EA5176-60B7-4738-A39A-85EA610AC46B}" vid="{8416C537-BC8A-42C5-99D5-28933A3097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Theme_SE2019s1</Template>
  <TotalTime>6141</TotalTime>
  <Words>3493</Words>
  <Application>Microsoft Office PowerPoint</Application>
  <PresentationFormat>Widescreen</PresentationFormat>
  <Paragraphs>572</Paragraphs>
  <Slides>35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Tw Cen MT</vt:lpstr>
      <vt:lpstr>Tw Cen MT Condensed</vt:lpstr>
      <vt:lpstr>Wingdings</vt:lpstr>
      <vt:lpstr>Wingdings 3</vt:lpstr>
      <vt:lpstr>Theme_SE2019s1</vt:lpstr>
      <vt:lpstr>Chapter 12 – working in teams</vt:lpstr>
      <vt:lpstr>Becoming a team</vt:lpstr>
      <vt:lpstr>Balanced teams</vt:lpstr>
      <vt:lpstr>Management team roles</vt:lpstr>
      <vt:lpstr>Belbin management roles - continued </vt:lpstr>
      <vt:lpstr>Group performance</vt:lpstr>
      <vt:lpstr>Group performance - continued</vt:lpstr>
      <vt:lpstr>‘Social loafing’</vt:lpstr>
      <vt:lpstr>Barriers to good team decisions</vt:lpstr>
      <vt:lpstr>Delphi approach</vt:lpstr>
      <vt:lpstr>Team ‘heedfulness’</vt:lpstr>
      <vt:lpstr>Egoless programming</vt:lpstr>
      <vt:lpstr>Chief programmer teams</vt:lpstr>
      <vt:lpstr>Extreme programming</vt:lpstr>
      <vt:lpstr>Scrum</vt:lpstr>
      <vt:lpstr>Scrum - continued</vt:lpstr>
      <vt:lpstr>Co-ordination of dependencies</vt:lpstr>
      <vt:lpstr>Co-ordination of dependencies – continued</vt:lpstr>
      <vt:lpstr>Coordination of dependencies - continued</vt:lpstr>
      <vt:lpstr>Why ‘virtual projects’?</vt:lpstr>
      <vt:lpstr>Possible advantages</vt:lpstr>
      <vt:lpstr>Further advantages</vt:lpstr>
      <vt:lpstr>Some challenges</vt:lpstr>
      <vt:lpstr>More challenges</vt:lpstr>
      <vt:lpstr>Time/place constraints on communication</vt:lpstr>
      <vt:lpstr>Other factors influencing communication genres</vt:lpstr>
      <vt:lpstr>Best method of communication depends on stage of project</vt:lpstr>
      <vt:lpstr>Best method of communication depends on stage of project</vt:lpstr>
      <vt:lpstr>Communications plans</vt:lpstr>
      <vt:lpstr>Content of a communication plan</vt:lpstr>
      <vt:lpstr>Content of a communication plan</vt:lpstr>
      <vt:lpstr>Leadership: types of authority</vt:lpstr>
      <vt:lpstr>Leadership: types of power</vt:lpstr>
      <vt:lpstr>Leadership styles</vt:lpstr>
      <vt:lpstr>Leadership styles</vt:lpstr>
    </vt:vector>
  </TitlesOfParts>
  <Company>HCMUT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chap 1. Intro</dc:title>
  <dc:creator>Thang Bui</dc:creator>
  <cp:lastModifiedBy>Mai Phước Lộc</cp:lastModifiedBy>
  <cp:revision>184</cp:revision>
  <dcterms:created xsi:type="dcterms:W3CDTF">2009-12-29T10:39:27Z</dcterms:created>
  <dcterms:modified xsi:type="dcterms:W3CDTF">2024-09-16T01:58:31Z</dcterms:modified>
</cp:coreProperties>
</file>