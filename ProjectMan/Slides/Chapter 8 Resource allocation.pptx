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9" r:id="rId1"/>
  </p:sldMasterIdLst>
  <p:notesMasterIdLst>
    <p:notesMasterId r:id="rId19"/>
  </p:notesMasterIdLst>
  <p:handoutMasterIdLst>
    <p:handoutMasterId r:id="rId20"/>
  </p:handoutMasterIdLst>
  <p:sldIdLst>
    <p:sldId id="299" r:id="rId2"/>
    <p:sldId id="295" r:id="rId3"/>
    <p:sldId id="301" r:id="rId4"/>
    <p:sldId id="302" r:id="rId5"/>
    <p:sldId id="303" r:id="rId6"/>
    <p:sldId id="306" r:id="rId7"/>
    <p:sldId id="335" r:id="rId8"/>
    <p:sldId id="308" r:id="rId9"/>
    <p:sldId id="310" r:id="rId10"/>
    <p:sldId id="336" r:id="rId11"/>
    <p:sldId id="311" r:id="rId12"/>
    <p:sldId id="312" r:id="rId13"/>
    <p:sldId id="339" r:id="rId14"/>
    <p:sldId id="337" r:id="rId15"/>
    <p:sldId id="338" r:id="rId16"/>
    <p:sldId id="314" r:id="rId17"/>
    <p:sldId id="315" r:id="rId1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6727" autoAdjust="0"/>
  </p:normalViewPr>
  <p:slideViewPr>
    <p:cSldViewPr snapToGrid="0" snapToObjects="1">
      <p:cViewPr varScale="1">
        <p:scale>
          <a:sx n="155" d="100"/>
          <a:sy n="155" d="100"/>
        </p:scale>
        <p:origin x="162" y="114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83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30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15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66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57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53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41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21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87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30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8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88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14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51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53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31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293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53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349" y="1"/>
            <a:ext cx="12192000" cy="5293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6350" y="-24063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97256"/>
            <a:ext cx="7772400" cy="1463040"/>
          </a:xfrm>
        </p:spPr>
        <p:txBody>
          <a:bodyPr anchor="ctr">
            <a:normAutofit/>
          </a:bodyPr>
          <a:lstStyle>
            <a:lvl1pPr algn="r">
              <a:defRPr sz="36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3897256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Thang</a:t>
            </a:r>
            <a:r>
              <a:rPr lang="en-US" dirty="0"/>
              <a:t> Bui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20122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4709"/>
            <a:ext cx="1278800" cy="87199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322651" y="529389"/>
            <a:ext cx="7772400" cy="2317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8000" dirty="0"/>
              <a:t>Software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1768" y="6525692"/>
            <a:ext cx="74188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Adapted from https://iansommerville.com/software-engineering-book/slides/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4299" y="2410485"/>
            <a:ext cx="1358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CO3001</a:t>
            </a:r>
          </a:p>
        </p:txBody>
      </p:sp>
    </p:spTree>
    <p:extLst>
      <p:ext uri="{BB962C8B-B14F-4D97-AF65-F5344CB8AC3E}">
        <p14:creationId xmlns:p14="http://schemas.microsoft.com/office/powerpoint/2010/main" val="293072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3754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5775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5224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388522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189193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6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96254"/>
            <a:ext cx="10786873" cy="12272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1524002"/>
            <a:ext cx="4965192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1011" y="1524002"/>
            <a:ext cx="5329988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9497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84222"/>
            <a:ext cx="10786873" cy="12392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4002"/>
            <a:ext cx="513604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346962"/>
            <a:ext cx="5136040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843" y="1524002"/>
            <a:ext cx="5394157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843" y="2346962"/>
            <a:ext cx="5394157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361780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991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9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8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30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8012"/>
            <a:ext cx="10786872" cy="478134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0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Ch1. Introduction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224745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8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61" r:id="rId8"/>
    <p:sldLayoutId id="2147483723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00050" indent="-40005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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2270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6313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39825" indent="-1635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7600DC-B0CD-1F43-6577-EA035114F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45D46-2537-D833-E9C1-99770824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Aug 2024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6C17DD5-9C6D-BDE9-0272-3FD1C39D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03" y="3879583"/>
            <a:ext cx="7772400" cy="1463040"/>
          </a:xfrm>
        </p:spPr>
        <p:txBody>
          <a:bodyPr/>
          <a:lstStyle/>
          <a:p>
            <a:r>
              <a:rPr lang="en-US" dirty="0"/>
              <a:t>Chapter 8-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vi-VN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619AF615-2E55-D393-FD5D-0D9984AC2985}"/>
              </a:ext>
            </a:extLst>
          </p:cNvPr>
          <p:cNvSpPr txBox="1">
            <a:spLocks/>
          </p:cNvSpPr>
          <p:nvPr/>
        </p:nvSpPr>
        <p:spPr>
          <a:xfrm>
            <a:off x="4038600" y="1399074"/>
            <a:ext cx="777240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SOFTWARE 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PROJECT MANAGEMENT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6991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660972"/>
            <a:ext cx="10786872" cy="3090879"/>
          </a:xfrm>
        </p:spPr>
        <p:txBody>
          <a:bodyPr>
            <a:noAutofit/>
          </a:bodyPr>
          <a:lstStyle/>
          <a:p>
            <a:pPr lvl="1">
              <a:buFont typeface="Wingdings" panose="05000000000000000000" pitchFamily="2" charset="2"/>
              <a:buChar char="ü"/>
            </a:pPr>
            <a:r>
              <a:rPr lang="en-US" sz="3200" dirty="0"/>
              <a:t>Activity schedule - indicating start and completion dates for each activity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200" dirty="0"/>
              <a:t>Resource schedule - indicating dates when resources needed + level of resources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200" dirty="0"/>
              <a:t>Cost schedule showing accumulative expenditure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Ch8</a:t>
            </a:r>
            <a:r>
              <a:rPr lang="en-US" dirty="0"/>
              <a:t>. 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037" y="1539740"/>
            <a:ext cx="10786872" cy="4391160"/>
          </a:xfrm>
        </p:spPr>
        <p:txBody>
          <a:bodyPr>
            <a:noAutofit/>
          </a:bodyPr>
          <a:lstStyle/>
          <a:p>
            <a:r>
              <a:rPr lang="en-US" dirty="0"/>
              <a:t>These include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b="0" i="0" dirty="0" err="1">
                <a:effectLst/>
                <a:highlight>
                  <a:srgbClr val="FFFFFF"/>
                </a:highlight>
              </a:rPr>
              <a:t>labour</a:t>
            </a:r>
            <a:endParaRPr lang="en-US" sz="3200" b="0" i="0" dirty="0">
              <a:effectLst/>
              <a:highlight>
                <a:srgbClr val="FFFFFF"/>
              </a:highlight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equipment (e.g. workstations)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materials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space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services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Time: elapsed time can often be reduced by adding more staff</a:t>
            </a:r>
            <a:r>
              <a:rPr lang="en-US" dirty="0"/>
              <a:t> </a:t>
            </a:r>
          </a:p>
          <a:p>
            <a:r>
              <a:rPr lang="en-US" dirty="0"/>
              <a:t>Money: used to buy the other resources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Ch8</a:t>
            </a:r>
            <a:r>
              <a:rPr lang="en-US" dirty="0"/>
              <a:t>. 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8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Identify the resources needed for each activity and create a </a:t>
            </a:r>
            <a:r>
              <a:rPr lang="en-US" dirty="0">
                <a:solidFill>
                  <a:srgbClr val="FF0000"/>
                </a:solidFill>
              </a:rPr>
              <a:t>resource requirement list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Identify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</a:rPr>
              <a:t>resource types </a:t>
            </a:r>
            <a:r>
              <a:rPr lang="en-US" b="0" i="0" dirty="0">
                <a:effectLst/>
                <a:highlight>
                  <a:srgbClr val="FFFFFF"/>
                </a:highlight>
              </a:rPr>
              <a:t>- individuals are interchangeable within the group (e.g. ‘VB programmers’ as opposed to ‘software developers’)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Allocate resource types to activities and examine the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</a:rPr>
              <a:t>resource histogram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Ch8</a:t>
            </a:r>
            <a:r>
              <a:rPr lang="en-US" dirty="0"/>
              <a:t>. 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10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</p:spPr>
        <p:txBody>
          <a:bodyPr anchor="ctr">
            <a:normAutofit/>
          </a:bodyPr>
          <a:lstStyle/>
          <a:p>
            <a:r>
              <a:rPr lang="en-US" dirty="0"/>
              <a:t>Resource histogram: systems analysts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D75969CB-B379-92FA-8BFA-0F265E47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30" y="6470704"/>
            <a:ext cx="2154143" cy="274320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 anchor="ctr">
            <a:normAutofit/>
          </a:bodyPr>
          <a:lstStyle/>
          <a:p>
            <a:r>
              <a:rPr lang="en-US" dirty="0" err="1"/>
              <a:t>Ch8</a:t>
            </a:r>
            <a:r>
              <a:rPr lang="en-US" dirty="0"/>
              <a:t>. 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en-US" dirty="0"/>
          </a:p>
        </p:txBody>
      </p:sp>
      <p:sp>
        <p:nvSpPr>
          <p:cNvPr id="5" name="Slide Number Placeholder 4" hidden="1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6A4D3DC4-9E7F-1C47-B729-896D53019E3D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37" name="Content Placeholder 36">
            <a:extLst>
              <a:ext uri="{FF2B5EF4-FFF2-40B4-BE49-F238E27FC236}">
                <a16:creationId xmlns:a16="http://schemas.microsoft.com/office/drawing/2014/main" id="{B0147F43-19CE-8402-1A22-4D3AEA77B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4130" y="1311443"/>
            <a:ext cx="9145094" cy="4779962"/>
          </a:xfrm>
        </p:spPr>
      </p:pic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D596CBA-090C-F39F-B3F0-7BA10F761DE0}"/>
              </a:ext>
            </a:extLst>
          </p:cNvPr>
          <p:cNvSpPr txBox="1">
            <a:spLocks/>
          </p:cNvSpPr>
          <p:nvPr/>
        </p:nvSpPr>
        <p:spPr>
          <a:xfrm>
            <a:off x="11056166" y="6487108"/>
            <a:ext cx="973137" cy="2746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fld id="{6A4D3DC4-9E7F-1C47-B729-896D53019E3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7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smoothing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609" y="1311443"/>
            <a:ext cx="10786872" cy="5334001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highlight>
                  <a:srgbClr val="FFFFFF"/>
                </a:highlight>
              </a:rPr>
              <a:t>It is usually difficult to get specialist staff who will work odd days to fill in gaps – need for staff to learn about application </a:t>
            </a:r>
            <a:r>
              <a:rPr lang="en-US" b="0" i="0" dirty="0" err="1">
                <a:effectLst/>
                <a:highlight>
                  <a:srgbClr val="FFFFFF"/>
                </a:highlight>
              </a:rPr>
              <a:t>etc</a:t>
            </a:r>
            <a:endParaRPr lang="en-US" b="0" i="0" dirty="0">
              <a:effectLst/>
              <a:highlight>
                <a:srgbClr val="FFFFFF"/>
              </a:highlight>
            </a:endParaRP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Staff often have to be employed for a continuous block of time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Therefore desirable to employ a constant number of staff on a project – who as far as possible are fully employed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Hence need for resource smoothing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Ch8</a:t>
            </a:r>
            <a:r>
              <a:rPr lang="en-US" dirty="0"/>
              <a:t>. 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7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smoothing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A61C981-710B-18EF-2CBA-276AA4399A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4127" y="1311442"/>
            <a:ext cx="9663051" cy="4733757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Ch8</a:t>
            </a:r>
            <a:r>
              <a:rPr lang="en-US" dirty="0"/>
              <a:t>. 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8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clashes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26521"/>
            <a:ext cx="11122537" cy="4790726"/>
          </a:xfrm>
        </p:spPr>
        <p:txBody>
          <a:bodyPr>
            <a:normAutofit/>
          </a:bodyPr>
          <a:lstStyle/>
          <a:p>
            <a:r>
              <a:rPr lang="en-US" dirty="0"/>
              <a:t>Where same resource needed in more than one place at the same time </a:t>
            </a:r>
          </a:p>
          <a:p>
            <a:r>
              <a:rPr lang="en-US" dirty="0"/>
              <a:t>can be resolved by:</a:t>
            </a:r>
          </a:p>
          <a:p>
            <a:pPr lvl="1"/>
            <a:r>
              <a:rPr lang="en-US" sz="3200" dirty="0"/>
              <a:t>delaying one of the activities</a:t>
            </a:r>
          </a:p>
          <a:p>
            <a:pPr lvl="2"/>
            <a:r>
              <a:rPr lang="en-US" sz="3200" dirty="0"/>
              <a:t>taking advantage ò float to change start date</a:t>
            </a:r>
          </a:p>
          <a:p>
            <a:pPr lvl="2"/>
            <a:r>
              <a:rPr lang="en-US" sz="3200" dirty="0"/>
              <a:t>delaying start of one activity until finish of the other activity that resource is being used on – puts back project completion</a:t>
            </a:r>
          </a:p>
          <a:p>
            <a:pPr lvl="1"/>
            <a:r>
              <a:rPr lang="en-US" sz="3200" dirty="0"/>
              <a:t>moving resource from a non-critical activity</a:t>
            </a:r>
          </a:p>
          <a:p>
            <a:pPr lvl="1"/>
            <a:r>
              <a:rPr lang="en-US" sz="3200" dirty="0"/>
              <a:t>bringing in additional resource – increases costs</a:t>
            </a:r>
          </a:p>
          <a:p>
            <a:pPr marL="627063" lvl="2" indent="0">
              <a:buNone/>
            </a:pPr>
            <a:endParaRPr lang="en-US" sz="3200" dirty="0"/>
          </a:p>
          <a:p>
            <a:pPr marL="627063" lvl="2" indent="0">
              <a:buNone/>
            </a:pP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Ch8</a:t>
            </a:r>
            <a:r>
              <a:rPr lang="en-US" dirty="0"/>
              <a:t>. 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5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Prioritizing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311" y="1882519"/>
            <a:ext cx="10786872" cy="40170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There are two main ways of doing this:</a:t>
            </a:r>
          </a:p>
          <a:p>
            <a:r>
              <a:rPr lang="en-US" dirty="0"/>
              <a:t>Total float priority – those with the smallest float have the highest priority</a:t>
            </a:r>
          </a:p>
          <a:p>
            <a:r>
              <a:rPr lang="en-US" sz="3200" dirty="0"/>
              <a:t>Ordered list priority – this takes account of the duration of the activity as well as the float – see next overhead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Ch8</a:t>
            </a:r>
            <a:r>
              <a:rPr lang="en-US" dirty="0"/>
              <a:t>. 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49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Burman’s priority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Ch8</a:t>
            </a:r>
            <a:r>
              <a:rPr lang="en-US" dirty="0"/>
              <a:t>. 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0522431B-004B-3942-5F9A-66922CB8D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effectLst/>
                <a:highlight>
                  <a:srgbClr val="FFFFFF"/>
                </a:highlight>
              </a:rPr>
              <a:t>Give priority to: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Shortest critical activities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Other critical activities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Shortest non-critical activities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Non-critical activities with least float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Non-critical activities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144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usage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Ch8</a:t>
            </a:r>
            <a:r>
              <a:rPr lang="en-US" dirty="0"/>
              <a:t>. 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73BCAA66-6BA8-C09B-9F24-E7975E483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10786872" cy="478134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need to </a:t>
            </a:r>
            <a:r>
              <a:rPr lang="en-US" b="0" i="0" dirty="0" err="1">
                <a:effectLst/>
                <a:highlight>
                  <a:srgbClr val="FFFFFF"/>
                </a:highlight>
              </a:rPr>
              <a:t>maximise</a:t>
            </a:r>
            <a:r>
              <a:rPr lang="en-US" b="0" i="0" dirty="0">
                <a:effectLst/>
                <a:highlight>
                  <a:srgbClr val="FFFFFF"/>
                </a:highlight>
              </a:rPr>
              <a:t> %usage of resources i.e. reduce idle periods between tasks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need to balance costs against early completion date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need to allow for contingency</a:t>
            </a:r>
          </a:p>
        </p:txBody>
      </p:sp>
    </p:spTree>
    <p:extLst>
      <p:ext uri="{BB962C8B-B14F-4D97-AF65-F5344CB8AC3E}">
        <p14:creationId xmlns:p14="http://schemas.microsoft.com/office/powerpoint/2010/main" val="1575331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435950"/>
            <a:ext cx="10786872" cy="4432415"/>
          </a:xfrm>
        </p:spPr>
        <p:txBody>
          <a:bodyPr>
            <a:normAutofit/>
          </a:bodyPr>
          <a:lstStyle/>
          <a:p>
            <a:r>
              <a:rPr lang="en-US" dirty="0"/>
              <a:t>Scheduling resources can create new dependencies between activities – recall critical chains</a:t>
            </a:r>
          </a:p>
          <a:p>
            <a:r>
              <a:rPr lang="en-US" dirty="0"/>
              <a:t>It is best not to add dependencies to the activity network to reflect resource constraints:</a:t>
            </a:r>
          </a:p>
          <a:p>
            <a:pPr lvl="1"/>
            <a:r>
              <a:rPr lang="en-US" sz="3200" dirty="0"/>
              <a:t>Makes network very messy</a:t>
            </a:r>
          </a:p>
          <a:p>
            <a:pPr lvl="1"/>
            <a:r>
              <a:rPr lang="en-US" sz="3200" dirty="0"/>
              <a:t>A resource constraint may disappear during the project, but link remains on network</a:t>
            </a:r>
          </a:p>
          <a:p>
            <a:r>
              <a:rPr lang="en-US" dirty="0"/>
              <a:t>Amend dates on </a:t>
            </a:r>
            <a:r>
              <a:rPr lang="en-US" b="1" dirty="0"/>
              <a:t>schedule</a:t>
            </a:r>
            <a:r>
              <a:rPr lang="en-US" dirty="0"/>
              <a:t> to reflect resource constraints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Ch8</a:t>
            </a:r>
            <a:r>
              <a:rPr lang="en-US" dirty="0"/>
              <a:t>. 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36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Allocating individuals to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435950"/>
            <a:ext cx="10786872" cy="44324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The initial ‘resource types’ for a task have to be replaced by actual individuals.</a:t>
            </a:r>
          </a:p>
          <a:p>
            <a:pPr marL="0" indent="0">
              <a:buNone/>
            </a:pPr>
            <a:r>
              <a:rPr lang="en-US" sz="3200" dirty="0"/>
              <a:t>Factors to be considered:</a:t>
            </a:r>
          </a:p>
          <a:p>
            <a:r>
              <a:rPr lang="en-US" sz="3200" dirty="0"/>
              <a:t>Availability</a:t>
            </a:r>
          </a:p>
          <a:p>
            <a:r>
              <a:rPr lang="en-US" sz="3200" dirty="0"/>
              <a:t>Criticality</a:t>
            </a:r>
          </a:p>
          <a:p>
            <a:r>
              <a:rPr lang="en-US" sz="3200" dirty="0"/>
              <a:t>Risk</a:t>
            </a:r>
          </a:p>
          <a:p>
            <a:r>
              <a:rPr lang="en-US" sz="3200" dirty="0"/>
              <a:t>Training</a:t>
            </a:r>
          </a:p>
          <a:p>
            <a:r>
              <a:rPr lang="en-US" sz="3200" dirty="0"/>
              <a:t>Team building – and motivation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Ch8</a:t>
            </a:r>
            <a:r>
              <a:rPr lang="en-US" dirty="0"/>
              <a:t>. 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99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</a:t>
            </a:r>
            <a:r>
              <a:rPr lang="en-US" dirty="0" err="1"/>
              <a:t>SCHEDULes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5" y="1435951"/>
            <a:ext cx="10786872" cy="5034700"/>
          </a:xfrm>
        </p:spPr>
        <p:txBody>
          <a:bodyPr>
            <a:normAutofit/>
          </a:bodyPr>
          <a:lstStyle/>
          <a:p>
            <a:pPr marL="236537" indent="0">
              <a:buNone/>
            </a:pPr>
            <a:r>
              <a:rPr lang="en-US" dirty="0"/>
              <a:t>Cost schedules can now be produced:</a:t>
            </a:r>
          </a:p>
          <a:p>
            <a:pPr marL="236537" indent="0">
              <a:buNone/>
            </a:pPr>
            <a:r>
              <a:rPr lang="en-US" dirty="0"/>
              <a:t>Costs include:</a:t>
            </a:r>
          </a:p>
          <a:p>
            <a:pPr marL="808037" indent="-571500"/>
            <a:r>
              <a:rPr lang="en-US" dirty="0"/>
              <a:t>Staff costs</a:t>
            </a:r>
          </a:p>
          <a:p>
            <a:pPr marL="808037" indent="-571500"/>
            <a:r>
              <a:rPr lang="en-US" dirty="0"/>
              <a:t>Overheads</a:t>
            </a:r>
          </a:p>
          <a:p>
            <a:pPr marL="808037" indent="-571500"/>
            <a:r>
              <a:rPr lang="en-US" dirty="0"/>
              <a:t>Usage charges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Ch8</a:t>
            </a:r>
            <a:r>
              <a:rPr lang="en-US" dirty="0"/>
              <a:t>. 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52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profile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F0A9C0-3A67-D551-652F-AAF683B3A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4127" y="1311443"/>
            <a:ext cx="9141370" cy="5033962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Ch8</a:t>
            </a:r>
            <a:r>
              <a:rPr lang="en-US" dirty="0"/>
              <a:t>. 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32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Plans, methods and methodologies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Ch8</a:t>
            </a:r>
            <a:r>
              <a:rPr lang="en-US" dirty="0"/>
              <a:t>. 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0AFCC8A-3AF9-2B2F-7A47-B15666BAC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42287" y="1311443"/>
            <a:ext cx="8185533" cy="4779962"/>
          </a:xfrm>
        </p:spPr>
      </p:pic>
    </p:spTree>
    <p:extLst>
      <p:ext uri="{BB962C8B-B14F-4D97-AF65-F5344CB8AC3E}">
        <p14:creationId xmlns:p14="http://schemas.microsoft.com/office/powerpoint/2010/main" val="244147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concerns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DF1C89-D5AE-3E49-02D9-395B289F75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06727" y="1200150"/>
            <a:ext cx="9431849" cy="517525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Ch8</a:t>
            </a:r>
            <a:r>
              <a:rPr lang="en-US" dirty="0"/>
              <a:t>. </a:t>
            </a:r>
            <a:r>
              <a:rPr lang="en-US" dirty="0" err="1"/>
              <a:t>ReSOURCE</a:t>
            </a:r>
            <a:r>
              <a:rPr lang="en-US" dirty="0"/>
              <a:t> </a:t>
            </a:r>
            <a:r>
              <a:rPr lang="en-US" dirty="0" err="1"/>
              <a:t>ALLocation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077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_SE2019s1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SE2019s1" id="{E4EA5176-60B7-4738-A39A-85EA610AC46B}" vid="{8416C537-BC8A-42C5-99D5-28933A3097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Theme_SE2019s1</Template>
  <TotalTime>5737</TotalTime>
  <Words>1316</Words>
  <Application>Microsoft Office PowerPoint</Application>
  <PresentationFormat>Widescreen</PresentationFormat>
  <Paragraphs>252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Tw Cen MT</vt:lpstr>
      <vt:lpstr>Tw Cen MT Condensed</vt:lpstr>
      <vt:lpstr>Wingdings</vt:lpstr>
      <vt:lpstr>Wingdings 3</vt:lpstr>
      <vt:lpstr>Theme_SE2019s1</vt:lpstr>
      <vt:lpstr>Chapter 8-ReSOURCE ALLocation</vt:lpstr>
      <vt:lpstr>Schedules</vt:lpstr>
      <vt:lpstr>Resources</vt:lpstr>
      <vt:lpstr>Resource allocation</vt:lpstr>
      <vt:lpstr>Resource histogram: systems analysts</vt:lpstr>
      <vt:lpstr>Resource smoothing</vt:lpstr>
      <vt:lpstr>Resource smoothing</vt:lpstr>
      <vt:lpstr>Resource clashes</vt:lpstr>
      <vt:lpstr>Prioritizing activities</vt:lpstr>
      <vt:lpstr>Burman’s priority list</vt:lpstr>
      <vt:lpstr>Resource usage</vt:lpstr>
      <vt:lpstr>Critical path</vt:lpstr>
      <vt:lpstr>Allocating individuals to activities</vt:lpstr>
      <vt:lpstr>COST SCHEDULes</vt:lpstr>
      <vt:lpstr>Cost profile</vt:lpstr>
      <vt:lpstr>Plans, methods and methodologies</vt:lpstr>
      <vt:lpstr>Balancing concerns</vt:lpstr>
    </vt:vector>
  </TitlesOfParts>
  <Company>HCMUT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chap 1. Intro</dc:title>
  <dc:creator>Thang Bui</dc:creator>
  <cp:lastModifiedBy>Mai Phước Lộc</cp:lastModifiedBy>
  <cp:revision>183</cp:revision>
  <dcterms:created xsi:type="dcterms:W3CDTF">2009-12-29T10:39:27Z</dcterms:created>
  <dcterms:modified xsi:type="dcterms:W3CDTF">2024-09-16T01:56:08Z</dcterms:modified>
</cp:coreProperties>
</file>