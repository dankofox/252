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9" r:id="rId1"/>
  </p:sldMasterIdLst>
  <p:notesMasterIdLst>
    <p:notesMasterId r:id="rId41"/>
  </p:notesMasterIdLst>
  <p:handoutMasterIdLst>
    <p:handoutMasterId r:id="rId42"/>
  </p:handoutMasterIdLst>
  <p:sldIdLst>
    <p:sldId id="299" r:id="rId2"/>
    <p:sldId id="295" r:id="rId3"/>
    <p:sldId id="301" r:id="rId4"/>
    <p:sldId id="347" r:id="rId5"/>
    <p:sldId id="303" r:id="rId6"/>
    <p:sldId id="306" r:id="rId7"/>
    <p:sldId id="335" r:id="rId8"/>
    <p:sldId id="308" r:id="rId9"/>
    <p:sldId id="336" r:id="rId10"/>
    <p:sldId id="310" r:id="rId11"/>
    <p:sldId id="311" r:id="rId12"/>
    <p:sldId id="360" r:id="rId13"/>
    <p:sldId id="312" r:id="rId14"/>
    <p:sldId id="339" r:id="rId15"/>
    <p:sldId id="337" r:id="rId16"/>
    <p:sldId id="349" r:id="rId17"/>
    <p:sldId id="338" r:id="rId18"/>
    <p:sldId id="314" r:id="rId19"/>
    <p:sldId id="348" r:id="rId20"/>
    <p:sldId id="361" r:id="rId21"/>
    <p:sldId id="343" r:id="rId22"/>
    <p:sldId id="342" r:id="rId23"/>
    <p:sldId id="341" r:id="rId24"/>
    <p:sldId id="346" r:id="rId25"/>
    <p:sldId id="345" r:id="rId26"/>
    <p:sldId id="355" r:id="rId27"/>
    <p:sldId id="354" r:id="rId28"/>
    <p:sldId id="353" r:id="rId29"/>
    <p:sldId id="352" r:id="rId30"/>
    <p:sldId id="344" r:id="rId31"/>
    <p:sldId id="351" r:id="rId32"/>
    <p:sldId id="350" r:id="rId33"/>
    <p:sldId id="357" r:id="rId34"/>
    <p:sldId id="362" r:id="rId35"/>
    <p:sldId id="364" r:id="rId36"/>
    <p:sldId id="365" r:id="rId37"/>
    <p:sldId id="363" r:id="rId38"/>
    <p:sldId id="359" r:id="rId39"/>
    <p:sldId id="366" r:id="rId40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8693"/>
    <a:srgbClr val="464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60" autoAdjust="0"/>
    <p:restoredTop sz="96727" autoAdjust="0"/>
  </p:normalViewPr>
  <p:slideViewPr>
    <p:cSldViewPr snapToGrid="0" snapToObjects="1">
      <p:cViewPr varScale="1">
        <p:scale>
          <a:sx n="155" d="100"/>
          <a:sy n="155" d="100"/>
        </p:scale>
        <p:origin x="576" y="114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83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30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15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66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260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532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41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21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787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8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30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88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3062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314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2510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537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256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311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293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3792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6404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466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738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8062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168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887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0243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708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284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5971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366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2184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950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9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8234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754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4101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80213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4770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68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349" y="1"/>
            <a:ext cx="12192000" cy="52938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6350" y="-24063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97256"/>
            <a:ext cx="7772400" cy="1463040"/>
          </a:xfrm>
        </p:spPr>
        <p:txBody>
          <a:bodyPr anchor="ctr">
            <a:normAutofit/>
          </a:bodyPr>
          <a:lstStyle>
            <a:lvl1pPr algn="r">
              <a:defRPr sz="36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3897256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Thang</a:t>
            </a:r>
            <a:r>
              <a:rPr lang="en-US" dirty="0"/>
              <a:t> Bui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20122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4709"/>
            <a:ext cx="1278800" cy="87199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3322651" y="529389"/>
            <a:ext cx="7772400" cy="2317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8000" dirty="0"/>
              <a:t>Software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1768" y="6525692"/>
            <a:ext cx="74188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Adapted from https://iansommerville.com/software-engineering-book/slides/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4299" y="2410485"/>
            <a:ext cx="1358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CO3001</a:t>
            </a:r>
          </a:p>
        </p:txBody>
      </p:sp>
    </p:spTree>
    <p:extLst>
      <p:ext uri="{BB962C8B-B14F-4D97-AF65-F5344CB8AC3E}">
        <p14:creationId xmlns:p14="http://schemas.microsoft.com/office/powerpoint/2010/main" val="293072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3754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57751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5224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388522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189193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6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96254"/>
            <a:ext cx="10786873" cy="12272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1524002"/>
            <a:ext cx="4965192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1011" y="1524002"/>
            <a:ext cx="5329988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9497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84222"/>
            <a:ext cx="10786873" cy="12392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4002"/>
            <a:ext cx="513604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346962"/>
            <a:ext cx="5136040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843" y="1524002"/>
            <a:ext cx="5394157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843" y="2346962"/>
            <a:ext cx="5394157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361780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991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9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8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30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8012"/>
            <a:ext cx="10786872" cy="478134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0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Ch1. Introduction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224745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8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61" r:id="rId8"/>
    <p:sldLayoutId id="2147483723" r:id="rId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00050" indent="-40005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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2270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6313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39825" indent="-1635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7600DC-B0CD-1F43-6577-EA035114F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45D46-2537-D833-E9C1-99770824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Aug 2024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6C17DD5-9C6D-BDE9-0272-3FD1C39D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03" y="3879583"/>
            <a:ext cx="7772400" cy="1463040"/>
          </a:xfrm>
        </p:spPr>
        <p:txBody>
          <a:bodyPr/>
          <a:lstStyle/>
          <a:p>
            <a:r>
              <a:rPr lang="en-US" dirty="0"/>
              <a:t>Chapter 10 – Contract management</a:t>
            </a:r>
            <a:endParaRPr lang="vi-VN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619AF615-2E55-D393-FD5D-0D9984AC2985}"/>
              </a:ext>
            </a:extLst>
          </p:cNvPr>
          <p:cNvSpPr txBox="1">
            <a:spLocks/>
          </p:cNvSpPr>
          <p:nvPr/>
        </p:nvSpPr>
        <p:spPr>
          <a:xfrm>
            <a:off x="4038600" y="1399074"/>
            <a:ext cx="777240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SOFTWARE 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PROJECT MANAGEMENT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76991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64147-2629-2CFA-3E01-58B1E43BE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</a:t>
            </a:r>
            <a:r>
              <a:rPr lang="en-US" dirty="0" err="1"/>
              <a:t>Brightmouth</a:t>
            </a:r>
            <a:r>
              <a:rPr lang="en-US" dirty="0"/>
              <a:t> College scenario, the management of the college have made a decision to obtain their software from an external supplier.</a:t>
            </a:r>
          </a:p>
          <a:p>
            <a:r>
              <a:rPr lang="en-US" dirty="0"/>
              <a:t>At IOE, Amanda has a team of software developers available who are employees of IOE.</a:t>
            </a:r>
          </a:p>
          <a:p>
            <a:r>
              <a:rPr lang="en-US" dirty="0"/>
              <a:t>In-house developers could have periods of intense pressure interspersed by periods of relative quiet.</a:t>
            </a:r>
          </a:p>
          <a:p>
            <a:r>
              <a:rPr lang="en-US" dirty="0"/>
              <a:t>In both cases, project managers need to establish a contract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ISO 12207 approach to the acquisition and supply of software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7983C-FAB6-DA3E-B646-5447DF3BC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ISO 12207 standard identifies five processes relating to software:</a:t>
            </a:r>
          </a:p>
          <a:p>
            <a:pPr lvl="1"/>
            <a:r>
              <a:rPr lang="en-US" sz="3200" dirty="0"/>
              <a:t>Acquisition</a:t>
            </a:r>
          </a:p>
          <a:p>
            <a:pPr lvl="1"/>
            <a:r>
              <a:rPr lang="en-US" sz="3200" dirty="0"/>
              <a:t>Supply</a:t>
            </a:r>
          </a:p>
          <a:p>
            <a:pPr lvl="1"/>
            <a:r>
              <a:rPr lang="en-US" sz="3200" dirty="0"/>
              <a:t>Operation</a:t>
            </a:r>
          </a:p>
          <a:p>
            <a:pPr lvl="1"/>
            <a:r>
              <a:rPr lang="en-US" sz="3200" dirty="0"/>
              <a:t>Maintenance</a:t>
            </a:r>
          </a:p>
          <a:p>
            <a:pPr lvl="1"/>
            <a:r>
              <a:rPr lang="en-US" sz="3200" dirty="0"/>
              <a:t>Development</a:t>
            </a:r>
          </a:p>
        </p:txBody>
      </p:sp>
    </p:spTree>
    <p:extLst>
      <p:ext uri="{BB962C8B-B14F-4D97-AF65-F5344CB8AC3E}">
        <p14:creationId xmlns:p14="http://schemas.microsoft.com/office/powerpoint/2010/main" val="3327087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ISO 12207 approach to the acquisition and supply of software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E989E6F-0E45-A1D7-53B9-6064D2A3CA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61660" y="820840"/>
            <a:ext cx="3268680" cy="5591012"/>
          </a:xfrm>
        </p:spPr>
      </p:pic>
    </p:spTree>
    <p:extLst>
      <p:ext uri="{BB962C8B-B14F-4D97-AF65-F5344CB8AC3E}">
        <p14:creationId xmlns:p14="http://schemas.microsoft.com/office/powerpoint/2010/main" val="4077655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</p:spPr>
        <p:txBody>
          <a:bodyPr anchor="ctr">
            <a:normAutofit/>
          </a:bodyPr>
          <a:lstStyle/>
          <a:p>
            <a:r>
              <a:rPr lang="en-US" dirty="0"/>
              <a:t>The acquisition process</a:t>
            </a:r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D75969CB-B379-92FA-8BFA-0F265E47E7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30" y="6470704"/>
            <a:ext cx="2154143" cy="274320"/>
          </a:xfrm>
        </p:spPr>
        <p:txBody>
          <a:bodyPr/>
          <a:lstStyle/>
          <a:p>
            <a:pPr>
              <a:spcAft>
                <a:spcPts val="600"/>
              </a:spcAft>
              <a:defRPr/>
            </a:pPr>
            <a:r>
              <a:rPr lang="en-US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42933" y="6470704"/>
            <a:ext cx="5901459" cy="274320"/>
          </a:xfrm>
        </p:spPr>
        <p:txBody>
          <a:bodyPr anchor="ctr">
            <a:normAutofit/>
          </a:bodyPr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 hidden="1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6A4D3DC4-9E7F-1C47-B729-896D53019E3D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02AB41-A30E-E9CB-E143-62CAC88E8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steps</a:t>
            </a:r>
          </a:p>
          <a:p>
            <a:pPr lvl="1"/>
            <a:r>
              <a:rPr lang="en-US" dirty="0"/>
              <a:t>Initiation</a:t>
            </a:r>
          </a:p>
          <a:p>
            <a:pPr lvl="1"/>
            <a:r>
              <a:rPr lang="en-US" dirty="0"/>
              <a:t>Request for proposal</a:t>
            </a:r>
          </a:p>
          <a:p>
            <a:pPr lvl="1"/>
            <a:r>
              <a:rPr lang="en-US" dirty="0"/>
              <a:t>Contract preparation and update</a:t>
            </a:r>
          </a:p>
          <a:p>
            <a:pPr lvl="1"/>
            <a:r>
              <a:rPr lang="en-US" dirty="0"/>
              <a:t>Monitor supplier</a:t>
            </a:r>
          </a:p>
          <a:p>
            <a:pPr lvl="1"/>
            <a:r>
              <a:rPr lang="en-US" dirty="0"/>
              <a:t>Accept completed contract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565EDB5-89C8-7167-6131-9E58286AE939}"/>
              </a:ext>
            </a:extLst>
          </p:cNvPr>
          <p:cNvSpPr txBox="1">
            <a:spLocks/>
          </p:cNvSpPr>
          <p:nvPr/>
        </p:nvSpPr>
        <p:spPr>
          <a:xfrm>
            <a:off x="11080879" y="6476393"/>
            <a:ext cx="973137" cy="27463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defRPr>
            </a:lvl9pPr>
          </a:lstStyle>
          <a:p>
            <a:fld id="{6A4D3DC4-9E7F-1C47-B729-896D53019E3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779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supply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564" y="1065637"/>
            <a:ext cx="10786872" cy="5334001"/>
          </a:xfrm>
        </p:spPr>
        <p:txBody>
          <a:bodyPr>
            <a:noAutofit/>
          </a:bodyPr>
          <a:lstStyle/>
          <a:p>
            <a:r>
              <a:rPr lang="en-US" dirty="0">
                <a:highlight>
                  <a:srgbClr val="FFFFFF"/>
                </a:highlight>
              </a:rPr>
              <a:t>T</a:t>
            </a:r>
            <a:r>
              <a:rPr lang="en-US" b="0" i="0" dirty="0">
                <a:effectLst/>
                <a:highlight>
                  <a:srgbClr val="FFFFFF"/>
                </a:highlight>
              </a:rPr>
              <a:t>his process mirrors the acquisition process, but documents the activities that a supplier would need to undertake in response to the request of supplier.</a:t>
            </a:r>
          </a:p>
          <a:p>
            <a:r>
              <a:rPr lang="en-US" dirty="0"/>
              <a:t>Main steps:</a:t>
            </a:r>
          </a:p>
          <a:p>
            <a:pPr lvl="1"/>
            <a:r>
              <a:rPr lang="en-US" sz="3200" dirty="0"/>
              <a:t>Initiation</a:t>
            </a:r>
          </a:p>
          <a:p>
            <a:pPr lvl="1"/>
            <a:r>
              <a:rPr lang="en-US" sz="3200" dirty="0"/>
              <a:t>Preparation of a response</a:t>
            </a:r>
          </a:p>
          <a:p>
            <a:pPr lvl="1"/>
            <a:r>
              <a:rPr lang="en-US" sz="3200" dirty="0"/>
              <a:t>Contract</a:t>
            </a:r>
          </a:p>
          <a:p>
            <a:pPr lvl="1"/>
            <a:r>
              <a:rPr lang="en-US" sz="3200" dirty="0"/>
              <a:t>Planning</a:t>
            </a:r>
          </a:p>
          <a:p>
            <a:pPr lvl="1"/>
            <a:r>
              <a:rPr lang="en-US" sz="3200" dirty="0"/>
              <a:t>Execution and control</a:t>
            </a:r>
          </a:p>
          <a:p>
            <a:pPr lvl="1"/>
            <a:r>
              <a:rPr lang="en-US" sz="3200" dirty="0"/>
              <a:t>Review and evaluation</a:t>
            </a:r>
          </a:p>
          <a:p>
            <a:pPr lvl="1"/>
            <a:r>
              <a:rPr lang="en-US" sz="3200" dirty="0"/>
              <a:t>Delivery and completion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71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contracts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797415-829A-DD9D-90ED-3CFD77FA6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external resource required could be in the form of services.</a:t>
            </a:r>
          </a:p>
          <a:p>
            <a:r>
              <a:rPr lang="en-US" dirty="0"/>
              <a:t>A simple example of this could be using temporary staff on short-term contracts to carry out some project tasks.</a:t>
            </a:r>
          </a:p>
          <a:p>
            <a:r>
              <a:rPr lang="en-US" dirty="0"/>
              <a:t>A use of external services would be for the contractor not only to supply to supply the new system but to also operate it on the customer’s behalf.</a:t>
            </a:r>
          </a:p>
          <a:p>
            <a:r>
              <a:rPr lang="en-US" dirty="0"/>
              <a:t>On the other hand, the contract could be placed for the supply of a completed software package.</a:t>
            </a:r>
          </a:p>
        </p:txBody>
      </p:sp>
    </p:spTree>
    <p:extLst>
      <p:ext uri="{BB962C8B-B14F-4D97-AF65-F5344CB8AC3E}">
        <p14:creationId xmlns:p14="http://schemas.microsoft.com/office/powerpoint/2010/main" val="339248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Acquiring software from external supplier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7DF0A-81C9-8F01-344B-1088BE376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could be:</a:t>
            </a:r>
          </a:p>
          <a:p>
            <a:r>
              <a:rPr lang="en-US" dirty="0"/>
              <a:t>a bespoke system - created specially for the customer</a:t>
            </a:r>
          </a:p>
          <a:p>
            <a:r>
              <a:rPr lang="en-US" dirty="0"/>
              <a:t>off-the-shelf - bought ‘as is’</a:t>
            </a:r>
          </a:p>
          <a:p>
            <a:r>
              <a:rPr lang="en-US" sz="3200" dirty="0"/>
              <a:t>customized off-the-shelf (COTS) - a core system is customized to meet needs of a particular customer</a:t>
            </a:r>
          </a:p>
        </p:txBody>
      </p:sp>
    </p:spTree>
    <p:extLst>
      <p:ext uri="{BB962C8B-B14F-4D97-AF65-F5344CB8AC3E}">
        <p14:creationId xmlns:p14="http://schemas.microsoft.com/office/powerpoint/2010/main" val="133105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contract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0522431B-004B-3942-5F9A-66922CB8D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0" i="0" dirty="0">
                <a:effectLst/>
                <a:highlight>
                  <a:srgbClr val="FFFFFF"/>
                </a:highlight>
              </a:rPr>
              <a:t>Fixed price contracts</a:t>
            </a:r>
          </a:p>
          <a:p>
            <a:r>
              <a:rPr lang="en-US" dirty="0">
                <a:highlight>
                  <a:srgbClr val="FFFFFF"/>
                </a:highlight>
              </a:rPr>
              <a:t>Time and materials contracts</a:t>
            </a:r>
          </a:p>
          <a:p>
            <a:r>
              <a:rPr lang="en-US" sz="3200" b="0" i="0" dirty="0">
                <a:effectLst/>
                <a:highlight>
                  <a:srgbClr val="FFFFFF"/>
                </a:highlight>
              </a:rPr>
              <a:t>Fixed price per delivered </a:t>
            </a:r>
            <a:r>
              <a:rPr lang="en-US" dirty="0">
                <a:highlight>
                  <a:srgbClr val="FFFFFF"/>
                </a:highlight>
              </a:rPr>
              <a:t>unit</a:t>
            </a:r>
            <a:endParaRPr lang="en-US" sz="3200" b="0" i="0" dirty="0">
              <a:effectLst/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63144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price contracts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B060A-6B42-143D-D351-A03849B6A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Advantages to customer</a:t>
            </a:r>
          </a:p>
          <a:p>
            <a:r>
              <a:rPr lang="en-US" dirty="0"/>
              <a:t>known customer expenditure: if the requirements have been defined adequately and there are few subsequent changes, then the customer will have a known outlay.</a:t>
            </a:r>
          </a:p>
          <a:p>
            <a:r>
              <a:rPr lang="en-US" dirty="0"/>
              <a:t>supplier motivated to be cost-effective: the supplier has a motivation to manage the delivery of the system in a cost-effective manner.</a:t>
            </a:r>
          </a:p>
        </p:txBody>
      </p:sp>
    </p:spTree>
    <p:extLst>
      <p:ext uri="{BB962C8B-B14F-4D97-AF65-F5344CB8AC3E}">
        <p14:creationId xmlns:p14="http://schemas.microsoft.com/office/powerpoint/2010/main" val="3263949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price contracts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73BCAA66-6BA8-C09B-9F24-E7975E483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6" y="1500345"/>
            <a:ext cx="10786872" cy="4781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i="0" dirty="0">
                <a:effectLst/>
                <a:highlight>
                  <a:srgbClr val="FFFFFF"/>
                </a:highlight>
              </a:rPr>
              <a:t>Disadvantages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supplier will increase price to meet contingencies: the supplier absorbs the risk for any errors in the original estimate of product size.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difficult to modify requirements: the need to change the scope of the requirements may become apparent as the system is developed.</a:t>
            </a:r>
          </a:p>
        </p:txBody>
      </p:sp>
    </p:spTree>
    <p:extLst>
      <p:ext uri="{BB962C8B-B14F-4D97-AF65-F5344CB8AC3E}">
        <p14:creationId xmlns:p14="http://schemas.microsoft.com/office/powerpoint/2010/main" val="1575331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price contracts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1" name="Content Placeholder 16">
            <a:extLst>
              <a:ext uri="{FF2B5EF4-FFF2-40B4-BE49-F238E27FC236}">
                <a16:creationId xmlns:a16="http://schemas.microsoft.com/office/drawing/2014/main" id="{73BCAA66-6BA8-C09B-9F24-E7975E483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6" y="1689301"/>
            <a:ext cx="10786872" cy="47813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cost of changes likely to be higher: when competing against other potential suppliers, the supplier will try to quote as low a price as possible.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0" i="0" dirty="0">
                <a:effectLst/>
                <a:highlight>
                  <a:srgbClr val="FFFFFF"/>
                </a:highlight>
              </a:rPr>
              <a:t>threat to system quality: the need to meet a fixed price could mean that the quality of the software suffers.</a:t>
            </a:r>
          </a:p>
        </p:txBody>
      </p:sp>
    </p:spTree>
    <p:extLst>
      <p:ext uri="{BB962C8B-B14F-4D97-AF65-F5344CB8AC3E}">
        <p14:creationId xmlns:p14="http://schemas.microsoft.com/office/powerpoint/2010/main" val="1828154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and materials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6" y="1435950"/>
            <a:ext cx="10786872" cy="4432415"/>
          </a:xfrm>
        </p:spPr>
        <p:txBody>
          <a:bodyPr>
            <a:normAutofit/>
          </a:bodyPr>
          <a:lstStyle/>
          <a:p>
            <a:r>
              <a:rPr lang="en-US" dirty="0"/>
              <a:t>Advantages to customer</a:t>
            </a:r>
          </a:p>
          <a:p>
            <a:r>
              <a:rPr lang="en-US" dirty="0"/>
              <a:t>easy to change requirements: change to requirements are dealt with easily.</a:t>
            </a:r>
          </a:p>
          <a:p>
            <a:r>
              <a:rPr lang="en-US" dirty="0"/>
              <a:t>lack of price pressure can assist product quality: The lack of price pressure may allow better quality software to be produced.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36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and materials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6" y="1435950"/>
            <a:ext cx="10786872" cy="44324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Disadvantages</a:t>
            </a:r>
          </a:p>
          <a:p>
            <a:r>
              <a:rPr lang="en-US" dirty="0"/>
              <a:t>Customer liability: the customer absorbs all the risk associated with poorly defined or changing requirements</a:t>
            </a:r>
          </a:p>
          <a:p>
            <a:r>
              <a:rPr lang="en-US" dirty="0"/>
              <a:t>Lack of incentive for supplier to be cost-effective: The supplier has no incentive to work in a </a:t>
            </a:r>
            <a:r>
              <a:rPr lang="en-US" dirty="0" err="1"/>
              <a:t>costeffectivesupplier</a:t>
            </a:r>
            <a:r>
              <a:rPr lang="en-US" dirty="0"/>
              <a:t> has no incentive to work in a cost-effective manner or to control the scope of the system to be delivered.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899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price per unit delivered contracts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4BE44AE-06F1-F45D-4B30-0015D0F0DC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628367"/>
              </p:ext>
            </p:extLst>
          </p:nvPr>
        </p:nvGraphicFramePr>
        <p:xfrm>
          <a:off x="987734" y="1391110"/>
          <a:ext cx="10216532" cy="466799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807518">
                  <a:extLst>
                    <a:ext uri="{9D8B030D-6E8A-4147-A177-3AD203B41FA5}">
                      <a16:colId xmlns:a16="http://schemas.microsoft.com/office/drawing/2014/main" val="3604407144"/>
                    </a:ext>
                  </a:extLst>
                </a:gridCol>
                <a:gridCol w="2251587">
                  <a:extLst>
                    <a:ext uri="{9D8B030D-6E8A-4147-A177-3AD203B41FA5}">
                      <a16:colId xmlns:a16="http://schemas.microsoft.com/office/drawing/2014/main" val="2692879918"/>
                    </a:ext>
                  </a:extLst>
                </a:gridCol>
                <a:gridCol w="2549680">
                  <a:extLst>
                    <a:ext uri="{9D8B030D-6E8A-4147-A177-3AD203B41FA5}">
                      <a16:colId xmlns:a16="http://schemas.microsoft.com/office/drawing/2014/main" val="1406588844"/>
                    </a:ext>
                  </a:extLst>
                </a:gridCol>
                <a:gridCol w="2607747">
                  <a:extLst>
                    <a:ext uri="{9D8B030D-6E8A-4147-A177-3AD203B41FA5}">
                      <a16:colId xmlns:a16="http://schemas.microsoft.com/office/drawing/2014/main" val="2590194884"/>
                    </a:ext>
                  </a:extLst>
                </a:gridCol>
              </a:tblGrid>
              <a:tr h="720239">
                <a:tc>
                  <a:txBody>
                    <a:bodyPr/>
                    <a:lstStyle/>
                    <a:p>
                      <a:r>
                        <a:rPr lang="en-US" sz="3200" dirty="0"/>
                        <a:t>FP count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Design cost/FP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implement-</a:t>
                      </a:r>
                      <a:r>
                        <a:rPr lang="en-US" sz="3200" dirty="0" err="1"/>
                        <a:t>ation</a:t>
                      </a:r>
                      <a:r>
                        <a:rPr lang="en-US" sz="3200" dirty="0"/>
                        <a:t> cost/FP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total cost/FP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023726"/>
                  </a:ext>
                </a:extLst>
              </a:tr>
              <a:tr h="720239">
                <a:tc>
                  <a:txBody>
                    <a:bodyPr/>
                    <a:lstStyle/>
                    <a:p>
                      <a:r>
                        <a:rPr lang="en-US" sz="3200" dirty="0"/>
                        <a:t>To 2,000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$242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$725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$967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239671"/>
                  </a:ext>
                </a:extLst>
              </a:tr>
              <a:tr h="720239">
                <a:tc>
                  <a:txBody>
                    <a:bodyPr/>
                    <a:lstStyle/>
                    <a:p>
                      <a:r>
                        <a:rPr lang="en-US" sz="3200" dirty="0"/>
                        <a:t>2,001 – 2,500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$255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$764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$1,019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046274"/>
                  </a:ext>
                </a:extLst>
              </a:tr>
              <a:tr h="720239">
                <a:tc>
                  <a:txBody>
                    <a:bodyPr/>
                    <a:lstStyle/>
                    <a:p>
                      <a:r>
                        <a:rPr lang="en-US" sz="3200" dirty="0"/>
                        <a:t>2,501 – 3,000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$265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$793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$1,058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10576"/>
                  </a:ext>
                </a:extLst>
              </a:tr>
              <a:tr h="720239">
                <a:tc>
                  <a:txBody>
                    <a:bodyPr/>
                    <a:lstStyle/>
                    <a:p>
                      <a:r>
                        <a:rPr lang="en-US" sz="3200" dirty="0"/>
                        <a:t>3,001 – 3,500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$274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$820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$1,094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97195"/>
                  </a:ext>
                </a:extLst>
              </a:tr>
              <a:tr h="720239">
                <a:tc>
                  <a:txBody>
                    <a:bodyPr/>
                    <a:lstStyle/>
                    <a:p>
                      <a:r>
                        <a:rPr lang="en-US" sz="3200" dirty="0"/>
                        <a:t>3,501 – 4,000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$284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$850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/>
                        <a:t>$1,134</a:t>
                      </a:r>
                      <a:endParaRPr lang="en-US" sz="3200" dirty="0">
                        <a:latin typeface="Tw Cen MT (Body)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475610"/>
                  </a:ext>
                </a:extLst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4529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price per unit delivered contracts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885" y="1435951"/>
            <a:ext cx="10786872" cy="4648326"/>
          </a:xfrm>
        </p:spPr>
        <p:txBody>
          <a:bodyPr>
            <a:normAutofit/>
          </a:bodyPr>
          <a:lstStyle/>
          <a:p>
            <a:pPr marL="808037" indent="-571500"/>
            <a:r>
              <a:rPr lang="en-US" dirty="0"/>
              <a:t>Estimated system size 2 600 FPs</a:t>
            </a:r>
          </a:p>
          <a:p>
            <a:pPr marL="808037" indent="-571500"/>
            <a:r>
              <a:rPr lang="fr-FR" dirty="0"/>
              <a:t>Price </a:t>
            </a:r>
          </a:p>
          <a:p>
            <a:pPr marL="1035050" lvl="1" indent="-571500"/>
            <a:r>
              <a:rPr lang="fr-FR" sz="3200" dirty="0"/>
              <a:t>2000 </a:t>
            </a:r>
            <a:r>
              <a:rPr lang="fr-FR" sz="3200" dirty="0" err="1"/>
              <a:t>FPs</a:t>
            </a:r>
            <a:r>
              <a:rPr lang="fr-FR" sz="3200" dirty="0"/>
              <a:t> x $967 plus</a:t>
            </a:r>
          </a:p>
          <a:p>
            <a:pPr marL="1035050" lvl="1" indent="-571500"/>
            <a:r>
              <a:rPr lang="fr-FR" sz="3200" dirty="0"/>
              <a:t>500 </a:t>
            </a:r>
            <a:r>
              <a:rPr lang="fr-FR" sz="3200" dirty="0" err="1"/>
              <a:t>FPs</a:t>
            </a:r>
            <a:r>
              <a:rPr lang="fr-FR" sz="3200" dirty="0"/>
              <a:t> x $1,019 plus</a:t>
            </a:r>
          </a:p>
          <a:p>
            <a:pPr marL="1035050" lvl="1" indent="-571500"/>
            <a:r>
              <a:rPr lang="fr-FR" sz="3200" dirty="0"/>
              <a:t>100 </a:t>
            </a:r>
            <a:r>
              <a:rPr lang="fr-FR" sz="3200" dirty="0" err="1"/>
              <a:t>FPs</a:t>
            </a:r>
            <a:r>
              <a:rPr lang="fr-FR" sz="3200" dirty="0"/>
              <a:t> x $1,058 </a:t>
            </a:r>
          </a:p>
          <a:p>
            <a:pPr marL="1035050" lvl="1" indent="-571500"/>
            <a:r>
              <a:rPr lang="fr-FR" sz="3200" dirty="0"/>
              <a:t>i.e. $2,549,300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917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price per unit delivered contracts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80A071-29BC-D6B1-8ED7-41F53B668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 vantages for customer</a:t>
            </a:r>
          </a:p>
          <a:p>
            <a:pPr lvl="1"/>
            <a:r>
              <a:rPr lang="en-US" sz="3200" dirty="0"/>
              <a:t>Customer understanding of how price is calculated</a:t>
            </a:r>
          </a:p>
          <a:p>
            <a:pPr lvl="1"/>
            <a:r>
              <a:rPr lang="en-US" sz="3200" dirty="0"/>
              <a:t>Comparability between different pricing schedules</a:t>
            </a:r>
          </a:p>
          <a:p>
            <a:pPr lvl="1"/>
            <a:r>
              <a:rPr lang="en-US" sz="3200" dirty="0"/>
              <a:t>Supplier incentive to be cost-effective</a:t>
            </a:r>
          </a:p>
        </p:txBody>
      </p:sp>
    </p:spTree>
    <p:extLst>
      <p:ext uri="{BB962C8B-B14F-4D97-AF65-F5344CB8AC3E}">
        <p14:creationId xmlns:p14="http://schemas.microsoft.com/office/powerpoint/2010/main" val="1715132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price per unit delivered contracts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77280-8D17-F8D2-27C6-85E4AE636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Disadvantages</a:t>
            </a:r>
          </a:p>
          <a:p>
            <a:r>
              <a:rPr lang="en-US" dirty="0"/>
              <a:t>difficulties with software size measurement - may need independent FP counter</a:t>
            </a:r>
          </a:p>
          <a:p>
            <a:r>
              <a:rPr lang="en-US" dirty="0"/>
              <a:t>changing (as opposed to new) requirements: how do you charge?</a:t>
            </a:r>
          </a:p>
        </p:txBody>
      </p:sp>
    </p:spTree>
    <p:extLst>
      <p:ext uri="{BB962C8B-B14F-4D97-AF65-F5344CB8AC3E}">
        <p14:creationId xmlns:p14="http://schemas.microsoft.com/office/powerpoint/2010/main" val="244147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tendering process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77280-8D17-F8D2-27C6-85E4AE636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Tendering types:</a:t>
            </a:r>
          </a:p>
          <a:p>
            <a:pPr lvl="1"/>
            <a:r>
              <a:rPr lang="en-US" sz="3200" dirty="0"/>
              <a:t>Open</a:t>
            </a:r>
          </a:p>
          <a:p>
            <a:pPr lvl="1"/>
            <a:r>
              <a:rPr lang="en-US" sz="3200" dirty="0"/>
              <a:t>Restricted</a:t>
            </a:r>
          </a:p>
          <a:p>
            <a:pPr lvl="1"/>
            <a:r>
              <a:rPr lang="en-US" sz="3200" dirty="0"/>
              <a:t>Negotiated </a:t>
            </a:r>
          </a:p>
        </p:txBody>
      </p:sp>
    </p:spTree>
    <p:extLst>
      <p:ext uri="{BB962C8B-B14F-4D97-AF65-F5344CB8AC3E}">
        <p14:creationId xmlns:p14="http://schemas.microsoft.com/office/powerpoint/2010/main" val="4185540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tendering process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77280-8D17-F8D2-27C6-85E4AE636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Open tendering</a:t>
            </a:r>
          </a:p>
          <a:p>
            <a:pPr lvl="1"/>
            <a:r>
              <a:rPr lang="en-US" sz="3200" dirty="0"/>
              <a:t>any supplier can bid in response to the invitation to tender</a:t>
            </a:r>
          </a:p>
          <a:p>
            <a:pPr lvl="1"/>
            <a:r>
              <a:rPr lang="en-US" sz="3200" dirty="0"/>
              <a:t>all tenders must be evaluated in the same way</a:t>
            </a:r>
          </a:p>
          <a:p>
            <a:pPr lvl="1"/>
            <a:r>
              <a:rPr lang="en-US" sz="3200" dirty="0"/>
              <a:t>government bodies may have to do this by local/international law (including EU and WTO, World Trade Organization, requirements</a:t>
            </a:r>
          </a:p>
        </p:txBody>
      </p:sp>
    </p:spTree>
    <p:extLst>
      <p:ext uri="{BB962C8B-B14F-4D97-AF65-F5344CB8AC3E}">
        <p14:creationId xmlns:p14="http://schemas.microsoft.com/office/powerpoint/2010/main" val="1377997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tendering process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29C85-137A-884B-C480-431934AB1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Restricted tendering process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bids only from those specifically invited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can reduce suppliers being considered at any stage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Negotiated procedure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negotiate with one supplier e.g. for extensions to software already supplied</a:t>
            </a:r>
          </a:p>
        </p:txBody>
      </p:sp>
    </p:spTree>
    <p:extLst>
      <p:ext uri="{BB962C8B-B14F-4D97-AF65-F5344CB8AC3E}">
        <p14:creationId xmlns:p14="http://schemas.microsoft.com/office/powerpoint/2010/main" val="5632976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Stages in contract placement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8598A5C-D67A-EE3B-88AA-F6FEC43281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31741" y="1400125"/>
            <a:ext cx="6528518" cy="4908600"/>
          </a:xfrm>
        </p:spPr>
      </p:pic>
    </p:spTree>
    <p:extLst>
      <p:ext uri="{BB962C8B-B14F-4D97-AF65-F5344CB8AC3E}">
        <p14:creationId xmlns:p14="http://schemas.microsoft.com/office/powerpoint/2010/main" val="1515741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analysis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3276E6-AE97-701B-4738-EC877DA87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Before potential suppliers can be approached, you need to have a clear set of requirements.</a:t>
            </a:r>
          </a:p>
          <a:p>
            <a:r>
              <a:rPr lang="en-US" dirty="0"/>
              <a:t>The requirements document might typically have different sections.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409255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 document: sections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C62BBE-7143-E343-B1D1-0EF239CFB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Description of existing system and current environment</a:t>
            </a:r>
          </a:p>
          <a:p>
            <a:r>
              <a:rPr lang="en-US" dirty="0"/>
              <a:t>Future strategy or plans</a:t>
            </a:r>
          </a:p>
          <a:p>
            <a:r>
              <a:rPr lang="en-US" dirty="0"/>
              <a:t>System requirements – </a:t>
            </a:r>
            <a:r>
              <a:rPr lang="en-US" sz="3200" dirty="0"/>
              <a:t>mandatory/desirable features</a:t>
            </a:r>
          </a:p>
          <a:p>
            <a:r>
              <a:rPr lang="en-US" dirty="0"/>
              <a:t>Deadlines</a:t>
            </a:r>
          </a:p>
          <a:p>
            <a:r>
              <a:rPr lang="en-US" dirty="0"/>
              <a:t>Additional information required from bidders</a:t>
            </a:r>
          </a:p>
        </p:txBody>
      </p:sp>
    </p:spTree>
    <p:extLst>
      <p:ext uri="{BB962C8B-B14F-4D97-AF65-F5344CB8AC3E}">
        <p14:creationId xmlns:p14="http://schemas.microsoft.com/office/powerpoint/2010/main" val="3988337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625B-8FF7-4001-75C3-0B6A2338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These will include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functions in software, with necessary inputs and outputs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standards to be adhered to 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other applications with which software is to be compatible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quality requirements e.g. response times	</a:t>
            </a:r>
          </a:p>
        </p:txBody>
      </p:sp>
    </p:spTree>
    <p:extLst>
      <p:ext uri="{BB962C8B-B14F-4D97-AF65-F5344CB8AC3E}">
        <p14:creationId xmlns:p14="http://schemas.microsoft.com/office/powerpoint/2010/main" val="41872152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625B-8FF7-4001-75C3-0B6A2338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Requirements types: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Mandatory</a:t>
            </a:r>
          </a:p>
          <a:p>
            <a:pPr lvl="1">
              <a:buSzPct val="75000"/>
              <a:buFont typeface="Wingdings" panose="05000000000000000000" pitchFamily="2" charset="2"/>
              <a:buChar char="§"/>
            </a:pPr>
            <a:r>
              <a:rPr lang="en-US" sz="3200" dirty="0"/>
              <a:t>Desirable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7151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plan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625B-8FF7-4001-75C3-0B6A23380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28012"/>
            <a:ext cx="10450117" cy="47813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Having drawn up a list of requirements, we now need to draw up a plan of how the proposals which are submitted are to be evaluated.</a:t>
            </a:r>
          </a:p>
        </p:txBody>
      </p:sp>
    </p:spTree>
    <p:extLst>
      <p:ext uri="{BB962C8B-B14F-4D97-AF65-F5344CB8AC3E}">
        <p14:creationId xmlns:p14="http://schemas.microsoft.com/office/powerpoint/2010/main" val="1079761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plan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625B-8FF7-4001-75C3-0B6A23380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Need to assess value for money (VFM) for each desirable feature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VFM approach an improvement on previous emphasis on accepting lowest bid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Example:</a:t>
            </a:r>
          </a:p>
          <a:p>
            <a:pPr lvl="1"/>
            <a:r>
              <a:rPr lang="en-US" sz="3200" dirty="0"/>
              <a:t>feeder file saves data input</a:t>
            </a:r>
          </a:p>
          <a:p>
            <a:pPr lvl="1"/>
            <a:r>
              <a:rPr lang="en-US" sz="3200" dirty="0"/>
              <a:t>4 hours work a month saved at £20 an hour</a:t>
            </a:r>
          </a:p>
          <a:p>
            <a:pPr lvl="1"/>
            <a:r>
              <a:rPr lang="en-US" sz="3200" dirty="0"/>
              <a:t>system to be used for 4 years</a:t>
            </a:r>
          </a:p>
          <a:p>
            <a:pPr lvl="1"/>
            <a:r>
              <a:rPr lang="en-US" sz="3200" dirty="0"/>
              <a:t>if cost of feature £1000 would it be worth it?</a:t>
            </a:r>
          </a:p>
        </p:txBody>
      </p:sp>
    </p:spTree>
    <p:extLst>
      <p:ext uri="{BB962C8B-B14F-4D97-AF65-F5344CB8AC3E}">
        <p14:creationId xmlns:p14="http://schemas.microsoft.com/office/powerpoint/2010/main" val="3968682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Invitation to tender (ITT)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99625B-8FF7-4001-75C3-0B6A23380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5" y="1528012"/>
            <a:ext cx="10786871" cy="478134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Note that bidder is making an offer in response to ITT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Acceptance of offer creates a contract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Customer may need further information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Problem of different technical solutions to the same problem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24515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Memoranda of agreement (</a:t>
            </a:r>
            <a:r>
              <a:rPr lang="en-US" dirty="0" err="1"/>
              <a:t>MoA</a:t>
            </a:r>
            <a:r>
              <a:rPr lang="en-US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A1572-1C9E-2E8C-4F44-980D765C2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28012"/>
            <a:ext cx="10649712" cy="4781349"/>
          </a:xfrm>
        </p:spPr>
        <p:txBody>
          <a:bodyPr>
            <a:noAutofit/>
          </a:bodyPr>
          <a:lstStyle/>
          <a:p>
            <a:r>
              <a:rPr lang="en-US" dirty="0"/>
              <a:t>Customer asks for technical proposals</a:t>
            </a:r>
          </a:p>
          <a:p>
            <a:r>
              <a:rPr lang="en-US" dirty="0"/>
              <a:t>Technical proposals are examined and discussed</a:t>
            </a:r>
          </a:p>
          <a:p>
            <a:r>
              <a:rPr lang="en-US" dirty="0"/>
              <a:t>Agreed technical solution in </a:t>
            </a:r>
            <a:r>
              <a:rPr lang="en-US" dirty="0" err="1"/>
              <a:t>MoA</a:t>
            </a:r>
            <a:endParaRPr lang="en-US" dirty="0"/>
          </a:p>
          <a:p>
            <a:r>
              <a:rPr lang="en-US" dirty="0"/>
              <a:t>Tenders are then requested from suppliers based in </a:t>
            </a:r>
            <a:r>
              <a:rPr lang="en-US" dirty="0" err="1"/>
              <a:t>MoA</a:t>
            </a:r>
            <a:endParaRPr lang="en-US" dirty="0"/>
          </a:p>
          <a:p>
            <a:r>
              <a:rPr lang="en-US" dirty="0"/>
              <a:t>Tenders judged on price </a:t>
            </a:r>
          </a:p>
          <a:p>
            <a:r>
              <a:rPr lang="en-US" dirty="0"/>
              <a:t>Fee could be paid for technical proposals by customer</a:t>
            </a:r>
          </a:p>
        </p:txBody>
      </p:sp>
    </p:spTree>
    <p:extLst>
      <p:ext uri="{BB962C8B-B14F-4D97-AF65-F5344CB8AC3E}">
        <p14:creationId xmlns:p14="http://schemas.microsoft.com/office/powerpoint/2010/main" val="4159576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Evaluation of proposal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A1572-1C9E-2E8C-4F44-980D765C2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are proposals to be evaluated?</a:t>
            </a:r>
          </a:p>
          <a:p>
            <a:r>
              <a:rPr lang="en-US" dirty="0"/>
              <a:t>Methods could include:</a:t>
            </a:r>
          </a:p>
          <a:p>
            <a:pPr lvl="1"/>
            <a:r>
              <a:rPr lang="en-US" dirty="0"/>
              <a:t>Reading proposals</a:t>
            </a:r>
          </a:p>
          <a:p>
            <a:pPr lvl="1"/>
            <a:r>
              <a:rPr lang="en-US" dirty="0"/>
              <a:t>Interviews</a:t>
            </a:r>
          </a:p>
          <a:p>
            <a:pPr lvl="1"/>
            <a:r>
              <a:rPr lang="en-US" dirty="0"/>
              <a:t>Demonstrations</a:t>
            </a:r>
          </a:p>
          <a:p>
            <a:pPr lvl="1"/>
            <a:r>
              <a:rPr lang="en-US" dirty="0"/>
              <a:t>Site visits</a:t>
            </a:r>
          </a:p>
          <a:p>
            <a:pPr lvl="1"/>
            <a:r>
              <a:rPr lang="en-US" dirty="0"/>
              <a:t>Practical tests</a:t>
            </a:r>
          </a:p>
        </p:txBody>
      </p:sp>
    </p:spTree>
    <p:extLst>
      <p:ext uri="{BB962C8B-B14F-4D97-AF65-F5344CB8AC3E}">
        <p14:creationId xmlns:p14="http://schemas.microsoft.com/office/powerpoint/2010/main" val="2894976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Typical terms of a contract-Contract checklist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A1572-1C9E-2E8C-4F44-980D765C2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Definitions – what words mean precisely e.g. ‘supplier’, ‘user’, ‘application’</a:t>
            </a:r>
          </a:p>
          <a:p>
            <a:r>
              <a:rPr lang="en-US" dirty="0"/>
              <a:t>Form of agreement For example is this a contract for a sale or a lease, or a license to use a software application? Can the license be transferred?</a:t>
            </a:r>
          </a:p>
          <a:p>
            <a:r>
              <a:rPr lang="en-US" dirty="0"/>
              <a:t>Goods and services to be supplied – this could include lengthy specification</a:t>
            </a:r>
          </a:p>
          <a:p>
            <a:r>
              <a:rPr lang="en-US" dirty="0"/>
              <a:t>Timetable of activities</a:t>
            </a:r>
          </a:p>
          <a:p>
            <a:r>
              <a:rPr lang="en-US" dirty="0"/>
              <a:t>Payment arrangements – payments may be tied to completion of specific tasks</a:t>
            </a:r>
          </a:p>
        </p:txBody>
      </p:sp>
    </p:spTree>
    <p:extLst>
      <p:ext uri="{BB962C8B-B14F-4D97-AF65-F5344CB8AC3E}">
        <p14:creationId xmlns:p14="http://schemas.microsoft.com/office/powerpoint/2010/main" val="19647931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Contract checklist - continued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7DF0A-81C9-8F01-344B-1088BE376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Ownership of software</a:t>
            </a:r>
          </a:p>
          <a:p>
            <a:pPr lvl="1"/>
            <a:r>
              <a:rPr lang="en-US" sz="3200" dirty="0"/>
              <a:t>Can client sell software to others?</a:t>
            </a:r>
          </a:p>
          <a:p>
            <a:pPr lvl="1"/>
            <a:r>
              <a:rPr lang="en-US" sz="3200" dirty="0"/>
              <a:t>Can supplier sell software to others? Could specify that customer has ‘exclusive use’</a:t>
            </a:r>
          </a:p>
          <a:p>
            <a:pPr lvl="1"/>
            <a:r>
              <a:rPr lang="en-US" sz="3200" dirty="0"/>
              <a:t>Does supplier retain the copyright? </a:t>
            </a:r>
          </a:p>
          <a:p>
            <a:pPr lvl="1"/>
            <a:r>
              <a:rPr lang="en-US" sz="3200" dirty="0"/>
              <a:t>Where supplier retains source code, may be a problem if supplier goes out of business; to circumvent a copy of code could be deposited with an </a:t>
            </a:r>
            <a:r>
              <a:rPr lang="en-US" sz="3200" b="1" dirty="0"/>
              <a:t>escrow</a:t>
            </a:r>
            <a:r>
              <a:rPr lang="en-US" sz="3200" dirty="0"/>
              <a:t> service</a:t>
            </a:r>
          </a:p>
        </p:txBody>
      </p:sp>
    </p:spTree>
    <p:extLst>
      <p:ext uri="{BB962C8B-B14F-4D97-AF65-F5344CB8AC3E}">
        <p14:creationId xmlns:p14="http://schemas.microsoft.com/office/powerpoint/2010/main" val="27712386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Contract checklist - continued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7DF0A-81C9-8F01-344B-1088BE376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Environment –for example, where equipment is to be installed, who is responsible for various aspects of site preparation e.g. electricity supply?</a:t>
            </a:r>
          </a:p>
          <a:p>
            <a:r>
              <a:rPr lang="en-US" dirty="0"/>
              <a:t>Customer commitments – for example providing access, supplying information</a:t>
            </a:r>
          </a:p>
          <a:p>
            <a:r>
              <a:rPr lang="en-US" dirty="0"/>
              <a:t>Standards to be met </a:t>
            </a:r>
          </a:p>
          <a:p>
            <a:r>
              <a:rPr lang="en-US" dirty="0"/>
              <a:t>Project and quality management</a:t>
            </a:r>
          </a:p>
        </p:txBody>
      </p:sp>
    </p:spTree>
    <p:extLst>
      <p:ext uri="{BB962C8B-B14F-4D97-AF65-F5344CB8AC3E}">
        <p14:creationId xmlns:p14="http://schemas.microsoft.com/office/powerpoint/2010/main" val="7142411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Contract management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7DF0A-81C9-8F01-344B-1088BE376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Some terms of contract will relate to management of contract for example,</a:t>
            </a:r>
          </a:p>
          <a:p>
            <a:r>
              <a:rPr lang="en-US" dirty="0"/>
              <a:t>Progress reporting</a:t>
            </a:r>
          </a:p>
          <a:p>
            <a:r>
              <a:rPr lang="en-US" dirty="0"/>
              <a:t>Decision points – could be linked to release of payments to the contractor</a:t>
            </a:r>
          </a:p>
        </p:txBody>
      </p:sp>
    </p:spTree>
    <p:extLst>
      <p:ext uri="{BB962C8B-B14F-4D97-AF65-F5344CB8AC3E}">
        <p14:creationId xmlns:p14="http://schemas.microsoft.com/office/powerpoint/2010/main" val="11860216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Contract management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7DF0A-81C9-8F01-344B-1088BE376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Contracts should include agreement about how customer /supplier relationship is to be managed e.g.</a:t>
            </a:r>
          </a:p>
          <a:p>
            <a:pPr lvl="1"/>
            <a:r>
              <a:rPr lang="en-US" sz="3200" dirty="0"/>
              <a:t>Decision points - could be linked to payment</a:t>
            </a:r>
          </a:p>
          <a:p>
            <a:pPr lvl="1"/>
            <a:r>
              <a:rPr lang="en-US" sz="3200" dirty="0"/>
              <a:t>Quality reviews</a:t>
            </a:r>
          </a:p>
          <a:p>
            <a:pPr lvl="1"/>
            <a:r>
              <a:rPr lang="en-US" sz="3200" dirty="0"/>
              <a:t>Changes to requirements</a:t>
            </a:r>
          </a:p>
          <a:p>
            <a:r>
              <a:rPr lang="en-US" dirty="0"/>
              <a:t>Variations to the contract, i.e. how are changes to requirements dealt with? </a:t>
            </a:r>
          </a:p>
          <a:p>
            <a:r>
              <a:rPr lang="en-US" dirty="0"/>
              <a:t>Acceptance criteria</a:t>
            </a:r>
          </a:p>
        </p:txBody>
      </p:sp>
    </p:spTree>
    <p:extLst>
      <p:ext uri="{BB962C8B-B14F-4D97-AF65-F5344CB8AC3E}">
        <p14:creationId xmlns:p14="http://schemas.microsoft.com/office/powerpoint/2010/main" val="26256254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Acceptance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7DF0A-81C9-8F01-344B-1088BE376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the work has been completed, the customer needs to take action to carry out acceptance testing.</a:t>
            </a:r>
          </a:p>
          <a:p>
            <a:r>
              <a:rPr lang="en-US" dirty="0"/>
              <a:t>Part of all the payment to supplier should depend on this acceptance testing.</a:t>
            </a:r>
          </a:p>
        </p:txBody>
      </p:sp>
    </p:spTree>
    <p:extLst>
      <p:ext uri="{BB962C8B-B14F-4D97-AF65-F5344CB8AC3E}">
        <p14:creationId xmlns:p14="http://schemas.microsoft.com/office/powerpoint/2010/main" val="9726704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7DF0A-81C9-8F01-344B-1088BE37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28012"/>
            <a:ext cx="10410788" cy="4781349"/>
          </a:xfrm>
        </p:spPr>
        <p:txBody>
          <a:bodyPr>
            <a:normAutofit/>
          </a:bodyPr>
          <a:lstStyle/>
          <a:p>
            <a:r>
              <a:rPr lang="en-US" dirty="0"/>
              <a:t>Some of the key points in this chapter have been:</a:t>
            </a:r>
          </a:p>
          <a:p>
            <a:pPr lvl="1"/>
            <a:r>
              <a:rPr lang="en-US" sz="3200" dirty="0"/>
              <a:t>The successful contracting out of work requires considerable amounts of management time</a:t>
            </a:r>
          </a:p>
          <a:p>
            <a:pPr lvl="1"/>
            <a:r>
              <a:rPr lang="en-US" sz="3200" dirty="0"/>
              <a:t>Alternative proposals need to be evaluated as far as possible by comparing costs over the whole lifetime of the system rather than just the acquisition costs</a:t>
            </a:r>
          </a:p>
        </p:txBody>
      </p:sp>
    </p:spTree>
    <p:extLst>
      <p:ext uri="{BB962C8B-B14F-4D97-AF65-F5344CB8AC3E}">
        <p14:creationId xmlns:p14="http://schemas.microsoft.com/office/powerpoint/2010/main" val="41568317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Ch10</a:t>
            </a:r>
            <a:r>
              <a:rPr lang="en-US" dirty="0"/>
              <a:t>. Contract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57DF0A-81C9-8F01-344B-1088BE376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528012"/>
            <a:ext cx="10410788" cy="4781349"/>
          </a:xfrm>
        </p:spPr>
        <p:txBody>
          <a:bodyPr>
            <a:normAutofit/>
          </a:bodyPr>
          <a:lstStyle/>
          <a:p>
            <a:r>
              <a:rPr lang="en-US" dirty="0"/>
              <a:t>Some of the key points in this chapter have been:</a:t>
            </a:r>
          </a:p>
          <a:p>
            <a:pPr lvl="1"/>
            <a:r>
              <a:rPr lang="en-US" sz="3200" dirty="0"/>
              <a:t>A contract will place obligations on the customer as well as the supplier</a:t>
            </a:r>
          </a:p>
          <a:p>
            <a:pPr lvl="1"/>
            <a:r>
              <a:rPr lang="en-US" sz="3200" dirty="0"/>
              <a:t>Contract negotiation should include reaching agreement on the management of the supplier-customer relationship during the execution of the project.</a:t>
            </a:r>
          </a:p>
        </p:txBody>
      </p:sp>
    </p:spTree>
    <p:extLst>
      <p:ext uri="{BB962C8B-B14F-4D97-AF65-F5344CB8AC3E}">
        <p14:creationId xmlns:p14="http://schemas.microsoft.com/office/powerpoint/2010/main" val="14007387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_SE2019s1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SE2019s1" id="{E4EA5176-60B7-4738-A39A-85EA610AC46B}" vid="{8416C537-BC8A-42C5-99D5-28933A3097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Theme_SE2019s1</Template>
  <TotalTime>6303</TotalTime>
  <Words>3528</Words>
  <Application>Microsoft Office PowerPoint</Application>
  <PresentationFormat>Widescreen</PresentationFormat>
  <Paragraphs>634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Calibri</vt:lpstr>
      <vt:lpstr>Tw Cen MT</vt:lpstr>
      <vt:lpstr>Tw Cen MT (Body)</vt:lpstr>
      <vt:lpstr>Tw Cen MT Condensed</vt:lpstr>
      <vt:lpstr>Wingdings</vt:lpstr>
      <vt:lpstr>Wingdings 3</vt:lpstr>
      <vt:lpstr>Theme_SE2019s1</vt:lpstr>
      <vt:lpstr>Chapter 10 – Contract management</vt:lpstr>
      <vt:lpstr>Introduction</vt:lpstr>
      <vt:lpstr>The ISO 12207 approach to the acquisition and supply of software</vt:lpstr>
      <vt:lpstr>The ISO 12207 approach to the acquisition and supply of software</vt:lpstr>
      <vt:lpstr>The acquisition process</vt:lpstr>
      <vt:lpstr>The supply process</vt:lpstr>
      <vt:lpstr>Types of contracts</vt:lpstr>
      <vt:lpstr>Acquiring software from external supplier</vt:lpstr>
      <vt:lpstr>Types of contract</vt:lpstr>
      <vt:lpstr>Fixed price contracts</vt:lpstr>
      <vt:lpstr>Fixed price contracts</vt:lpstr>
      <vt:lpstr>Fixed price contracts</vt:lpstr>
      <vt:lpstr>Time and materials contracts</vt:lpstr>
      <vt:lpstr>Time and materials contracts</vt:lpstr>
      <vt:lpstr>Fixed price per unit delivered contracts</vt:lpstr>
      <vt:lpstr>Fixed price per unit delivered contracts example</vt:lpstr>
      <vt:lpstr>Fixed price per unit delivered contracts</vt:lpstr>
      <vt:lpstr>Fixed price per unit delivered contracts</vt:lpstr>
      <vt:lpstr>The tendering process</vt:lpstr>
      <vt:lpstr>The tendering process</vt:lpstr>
      <vt:lpstr>The tendering process</vt:lpstr>
      <vt:lpstr>Stages in contract placement</vt:lpstr>
      <vt:lpstr>Requirement analysis</vt:lpstr>
      <vt:lpstr>Requirements document: sections</vt:lpstr>
      <vt:lpstr>Requirements</vt:lpstr>
      <vt:lpstr>Requirements</vt:lpstr>
      <vt:lpstr>Evaluation plan</vt:lpstr>
      <vt:lpstr>Evaluation plan</vt:lpstr>
      <vt:lpstr>Invitation to tender (ITT)</vt:lpstr>
      <vt:lpstr>Memoranda of agreement (MoA)</vt:lpstr>
      <vt:lpstr>Evaluation of proposal</vt:lpstr>
      <vt:lpstr>Typical terms of a contract-Contract checklist</vt:lpstr>
      <vt:lpstr>Contract checklist - continued</vt:lpstr>
      <vt:lpstr>Contract checklist - continued</vt:lpstr>
      <vt:lpstr>Contract management</vt:lpstr>
      <vt:lpstr>Contract management</vt:lpstr>
      <vt:lpstr>Acceptance</vt:lpstr>
      <vt:lpstr>Conclusion</vt:lpstr>
      <vt:lpstr>Conclusion</vt:lpstr>
    </vt:vector>
  </TitlesOfParts>
  <Company>HCMUT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chap 1. Intro</dc:title>
  <dc:creator>Thang Bui</dc:creator>
  <cp:lastModifiedBy>Mai Phước Lộc</cp:lastModifiedBy>
  <cp:revision>188</cp:revision>
  <dcterms:created xsi:type="dcterms:W3CDTF">2009-12-29T10:39:27Z</dcterms:created>
  <dcterms:modified xsi:type="dcterms:W3CDTF">2024-09-16T01:57:10Z</dcterms:modified>
</cp:coreProperties>
</file>