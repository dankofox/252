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30"/>
  </p:notesMasterIdLst>
  <p:handoutMasterIdLst>
    <p:handoutMasterId r:id="rId31"/>
  </p:handoutMasterIdLst>
  <p:sldIdLst>
    <p:sldId id="299" r:id="rId2"/>
    <p:sldId id="295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28" r:id="rId23"/>
    <p:sldId id="327" r:id="rId24"/>
    <p:sldId id="320" r:id="rId25"/>
    <p:sldId id="321" r:id="rId26"/>
    <p:sldId id="322" r:id="rId27"/>
    <p:sldId id="323" r:id="rId28"/>
    <p:sldId id="324" r:id="rId2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5904" autoAdjust="0"/>
  </p:normalViewPr>
  <p:slideViewPr>
    <p:cSldViewPr snapToGrid="0" snapToObjects="1">
      <p:cViewPr>
        <p:scale>
          <a:sx n="66" d="100"/>
          <a:sy n="66" d="100"/>
        </p:scale>
        <p:origin x="19" y="139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h Nguyen Duc" userId="04a5c95d-4a59-4e21-b199-e9922fb46c5c" providerId="ADAL" clId="{27C2FE8E-341E-4345-8FAE-BAB215747634}"/>
    <pc:docChg chg="addSld delSld modSld">
      <pc:chgData name="Anh Nguyen Duc" userId="04a5c95d-4a59-4e21-b199-e9922fb46c5c" providerId="ADAL" clId="{27C2FE8E-341E-4345-8FAE-BAB215747634}" dt="2022-08-31T06:56:14.728" v="1"/>
      <pc:docMkLst>
        <pc:docMk/>
      </pc:docMkLst>
      <pc:sldChg chg="add">
        <pc:chgData name="Anh Nguyen Duc" userId="04a5c95d-4a59-4e21-b199-e9922fb46c5c" providerId="ADAL" clId="{27C2FE8E-341E-4345-8FAE-BAB215747634}" dt="2022-08-31T06:56:14.728" v="1"/>
        <pc:sldMkLst>
          <pc:docMk/>
          <pc:sldMk cId="378230554" sldId="358"/>
        </pc:sldMkLst>
      </pc:sldChg>
      <pc:sldChg chg="del">
        <pc:chgData name="Anh Nguyen Duc" userId="04a5c95d-4a59-4e21-b199-e9922fb46c5c" providerId="ADAL" clId="{27C2FE8E-341E-4345-8FAE-BAB215747634}" dt="2022-08-31T06:55:58.812" v="0" actId="2696"/>
        <pc:sldMkLst>
          <pc:docMk/>
          <pc:sldMk cId="2157855265" sldId="358"/>
        </pc:sldMkLst>
      </pc:sldChg>
      <pc:sldChg chg="del">
        <pc:chgData name="Anh Nguyen Duc" userId="04a5c95d-4a59-4e21-b199-e9922fb46c5c" providerId="ADAL" clId="{27C2FE8E-341E-4345-8FAE-BAB215747634}" dt="2022-08-31T06:55:58.812" v="0" actId="2696"/>
        <pc:sldMkLst>
          <pc:docMk/>
          <pc:sldMk cId="3795778222" sldId="359"/>
        </pc:sldMkLst>
      </pc:sldChg>
      <pc:sldChg chg="add">
        <pc:chgData name="Anh Nguyen Duc" userId="04a5c95d-4a59-4e21-b199-e9922fb46c5c" providerId="ADAL" clId="{27C2FE8E-341E-4345-8FAE-BAB215747634}" dt="2022-08-31T06:56:14.728" v="1"/>
        <pc:sldMkLst>
          <pc:docMk/>
          <pc:sldMk cId="3821951021" sldId="359"/>
        </pc:sldMkLst>
      </pc:sldChg>
    </pc:docChg>
  </pc:docChgLst>
  <pc:docChgLst>
    <pc:chgData name="Anh Nguyen Duc" userId="04a5c95d-4a59-4e21-b199-e9922fb46c5c" providerId="ADAL" clId="{EBDB5816-78CD-4B78-BEE7-9D3778340309}"/>
    <pc:docChg chg="delSld">
      <pc:chgData name="Anh Nguyen Duc" userId="04a5c95d-4a59-4e21-b199-e9922fb46c5c" providerId="ADAL" clId="{EBDB5816-78CD-4B78-BEE7-9D3778340309}" dt="2023-01-01T19:37:57.860" v="0" actId="47"/>
      <pc:docMkLst>
        <pc:docMk/>
      </pc:docMkLst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2202076995" sldId="340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3625962909" sldId="341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2848604392" sldId="342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3679953026" sldId="3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41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51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4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61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41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15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11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91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58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6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97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33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78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41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69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760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582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18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64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49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549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127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873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7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637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67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</a:t>
            </a:r>
            <a:r>
              <a:rPr lang="en-US" dirty="0"/>
              <a:t>3</a:t>
            </a:r>
            <a:r>
              <a:rPr lang="en-US" dirty="0"/>
              <a:t>- Step </a:t>
            </a:r>
            <a:r>
              <a:rPr lang="en-US" dirty="0" smtClean="0"/>
              <a:t>Wise: </a:t>
            </a:r>
            <a:r>
              <a:rPr lang="en-US" dirty="0"/>
              <a:t>An approach to planning software projects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‘Step Wise’ - aspirations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 smtClean="0"/>
              <a:t>Practicality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tries to answer the question ‘what do I do now</a:t>
            </a:r>
            <a:r>
              <a:rPr lang="en-US" sz="3200" dirty="0" smtClean="0"/>
              <a:t>?’</a:t>
            </a:r>
            <a:endParaRPr lang="en-US" sz="3200" dirty="0"/>
          </a:p>
          <a:p>
            <a:r>
              <a:rPr lang="en-US" dirty="0" smtClean="0"/>
              <a:t>Scalability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useful for small project as well as </a:t>
            </a:r>
            <a:r>
              <a:rPr lang="en-US" sz="3200" dirty="0" smtClean="0"/>
              <a:t>large</a:t>
            </a:r>
          </a:p>
          <a:p>
            <a:r>
              <a:rPr lang="en-US" dirty="0"/>
              <a:t>Range of </a:t>
            </a:r>
            <a:r>
              <a:rPr lang="en-US" dirty="0" smtClean="0"/>
              <a:t>application</a:t>
            </a:r>
          </a:p>
          <a:p>
            <a:r>
              <a:rPr lang="en-US" dirty="0"/>
              <a:t>Accepted </a:t>
            </a:r>
            <a:r>
              <a:rPr lang="en-US" dirty="0" smtClean="0"/>
              <a:t>techniques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e.g. borrowed from PRINCE </a:t>
            </a:r>
            <a:r>
              <a:rPr lang="en-US" sz="3200" dirty="0" err="1" smtClean="0"/>
              <a:t>etc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‘Step Wise’ - an overview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15467" y="1311389"/>
            <a:ext cx="4818184" cy="5159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04519" y="1605280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21549" y="1629734"/>
            <a:ext cx="860019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0. Select project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5860325" y="2551086"/>
            <a:ext cx="1193800" cy="4715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6021549" y="2551086"/>
            <a:ext cx="860019" cy="471514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/>
              <a:t>3</a:t>
            </a:r>
            <a:r>
              <a:rPr lang="en-US" sz="1000" dirty="0" smtClean="0"/>
              <a:t>. </a:t>
            </a:r>
            <a:r>
              <a:rPr lang="en-US" sz="1000" dirty="0" err="1" smtClean="0"/>
              <a:t>Analyse</a:t>
            </a:r>
            <a:r>
              <a:rPr lang="en-US" sz="1000" dirty="0" smtClean="0"/>
              <a:t> project characteristics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60325" y="3319334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5860325" y="3319334"/>
            <a:ext cx="1193800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4. Identify products and activities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60325" y="3964574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5860325" y="3964574"/>
            <a:ext cx="1193800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5. Estimate effort for activity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60325" y="4615836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5860325" y="4615836"/>
            <a:ext cx="1193800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6. Identify activity risks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60325" y="5261076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6021549" y="5261076"/>
            <a:ext cx="860019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7. Allocate resources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60325" y="5906316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2"/>
          <p:cNvSpPr txBox="1">
            <a:spLocks/>
          </p:cNvSpPr>
          <p:nvPr/>
        </p:nvSpPr>
        <p:spPr>
          <a:xfrm>
            <a:off x="5860325" y="5906316"/>
            <a:ext cx="1193800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8. Review/ publicize 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50237" y="5906316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4150237" y="5969000"/>
            <a:ext cx="1193800" cy="285822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9. Execute plan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50237" y="5261076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4150237" y="5261076"/>
            <a:ext cx="1193800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10. Lower level planning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63861" y="1893116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2"/>
          <p:cNvSpPr txBox="1">
            <a:spLocks/>
          </p:cNvSpPr>
          <p:nvPr/>
        </p:nvSpPr>
        <p:spPr>
          <a:xfrm>
            <a:off x="4597400" y="1893116"/>
            <a:ext cx="980440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/>
              <a:t>3</a:t>
            </a:r>
            <a:r>
              <a:rPr lang="en-US" sz="1000" dirty="0" smtClean="0"/>
              <a:t>. Identify project objectives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43380" y="1893116"/>
            <a:ext cx="1193800" cy="3485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/>
          <p:cNvSpPr txBox="1">
            <a:spLocks/>
          </p:cNvSpPr>
          <p:nvPr/>
        </p:nvSpPr>
        <p:spPr>
          <a:xfrm>
            <a:off x="7325278" y="1893116"/>
            <a:ext cx="1021162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2. Identify project infrastructure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3840480"/>
            <a:ext cx="2545080" cy="251460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Elbow Connector 45"/>
          <p:cNvCxnSpPr>
            <a:stCxn id="8" idx="1"/>
            <a:endCxn id="40" idx="3"/>
          </p:cNvCxnSpPr>
          <p:nvPr/>
        </p:nvCxnSpPr>
        <p:spPr>
          <a:xfrm rot="10800000" flipV="1">
            <a:off x="5657661" y="1808479"/>
            <a:ext cx="346858" cy="25888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8" idx="3"/>
            <a:endCxn id="42" idx="1"/>
          </p:cNvCxnSpPr>
          <p:nvPr/>
        </p:nvCxnSpPr>
        <p:spPr>
          <a:xfrm>
            <a:off x="6898599" y="1808480"/>
            <a:ext cx="344781" cy="25888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40" idx="2"/>
            <a:endCxn id="18" idx="1"/>
          </p:cNvCxnSpPr>
          <p:nvPr/>
        </p:nvCxnSpPr>
        <p:spPr>
          <a:xfrm rot="16200000" flipH="1">
            <a:off x="5187933" y="2114450"/>
            <a:ext cx="545221" cy="7995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42" idx="2"/>
            <a:endCxn id="18" idx="3"/>
          </p:cNvCxnSpPr>
          <p:nvPr/>
        </p:nvCxnSpPr>
        <p:spPr>
          <a:xfrm rot="5400000">
            <a:off x="7174593" y="2121155"/>
            <a:ext cx="545221" cy="78615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8" idx="2"/>
            <a:endCxn id="23" idx="0"/>
          </p:cNvCxnSpPr>
          <p:nvPr/>
        </p:nvCxnSpPr>
        <p:spPr>
          <a:xfrm>
            <a:off x="6457225" y="3022600"/>
            <a:ext cx="0" cy="296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3" idx="2"/>
            <a:endCxn id="29" idx="0"/>
          </p:cNvCxnSpPr>
          <p:nvPr/>
        </p:nvCxnSpPr>
        <p:spPr>
          <a:xfrm>
            <a:off x="6457225" y="3667840"/>
            <a:ext cx="0" cy="296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29" idx="2"/>
            <a:endCxn id="31" idx="0"/>
          </p:cNvCxnSpPr>
          <p:nvPr/>
        </p:nvCxnSpPr>
        <p:spPr>
          <a:xfrm>
            <a:off x="6457225" y="4313080"/>
            <a:ext cx="0" cy="3027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31" idx="2"/>
            <a:endCxn id="33" idx="0"/>
          </p:cNvCxnSpPr>
          <p:nvPr/>
        </p:nvCxnSpPr>
        <p:spPr>
          <a:xfrm flipH="1">
            <a:off x="6451559" y="4964342"/>
            <a:ext cx="5666" cy="296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3" idx="2"/>
            <a:endCxn id="35" idx="0"/>
          </p:cNvCxnSpPr>
          <p:nvPr/>
        </p:nvCxnSpPr>
        <p:spPr>
          <a:xfrm>
            <a:off x="6451559" y="5609582"/>
            <a:ext cx="5666" cy="296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31" idx="3"/>
            <a:endCxn id="29" idx="3"/>
          </p:cNvCxnSpPr>
          <p:nvPr/>
        </p:nvCxnSpPr>
        <p:spPr>
          <a:xfrm flipV="1">
            <a:off x="7054125" y="4138827"/>
            <a:ext cx="12700" cy="651262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35" idx="1"/>
            <a:endCxn id="36" idx="3"/>
          </p:cNvCxnSpPr>
          <p:nvPr/>
        </p:nvCxnSpPr>
        <p:spPr>
          <a:xfrm flipH="1">
            <a:off x="5344037" y="6080569"/>
            <a:ext cx="516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36" idx="0"/>
            <a:endCxn id="39" idx="2"/>
          </p:cNvCxnSpPr>
          <p:nvPr/>
        </p:nvCxnSpPr>
        <p:spPr>
          <a:xfrm flipV="1">
            <a:off x="4747137" y="5609582"/>
            <a:ext cx="0" cy="2967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38" idx="0"/>
          </p:cNvCxnSpPr>
          <p:nvPr/>
        </p:nvCxnSpPr>
        <p:spPr>
          <a:xfrm rot="5400000" flipH="1" flipV="1">
            <a:off x="4815410" y="4498647"/>
            <a:ext cx="694156" cy="83070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39" idx="0"/>
            <a:endCxn id="22" idx="1"/>
          </p:cNvCxnSpPr>
          <p:nvPr/>
        </p:nvCxnSpPr>
        <p:spPr>
          <a:xfrm rot="5400000" flipH="1" flipV="1">
            <a:off x="4419987" y="3820738"/>
            <a:ext cx="1767489" cy="111318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 Placeholder 2"/>
          <p:cNvSpPr txBox="1">
            <a:spLocks/>
          </p:cNvSpPr>
          <p:nvPr/>
        </p:nvSpPr>
        <p:spPr>
          <a:xfrm>
            <a:off x="7138257" y="4270606"/>
            <a:ext cx="860019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For each activity</a:t>
            </a:r>
          </a:p>
        </p:txBody>
      </p:sp>
      <p:sp>
        <p:nvSpPr>
          <p:cNvPr id="81" name="Content Placeholder 2"/>
          <p:cNvSpPr txBox="1">
            <a:spLocks/>
          </p:cNvSpPr>
          <p:nvPr/>
        </p:nvSpPr>
        <p:spPr>
          <a:xfrm>
            <a:off x="4941690" y="4080833"/>
            <a:ext cx="643472" cy="54678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1000" dirty="0" smtClean="0"/>
              <a:t>Lower level detail</a:t>
            </a:r>
          </a:p>
        </p:txBody>
      </p:sp>
      <p:sp>
        <p:nvSpPr>
          <p:cNvPr id="82" name="Content Placeholder 2"/>
          <p:cNvSpPr txBox="1">
            <a:spLocks/>
          </p:cNvSpPr>
          <p:nvPr/>
        </p:nvSpPr>
        <p:spPr>
          <a:xfrm>
            <a:off x="4761692" y="3263550"/>
            <a:ext cx="860019" cy="34850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Review</a:t>
            </a:r>
          </a:p>
        </p:txBody>
      </p:sp>
      <p:sp>
        <p:nvSpPr>
          <p:cNvPr id="8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242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project scenario: </a:t>
            </a:r>
            <a:r>
              <a:rPr lang="en-US" dirty="0" err="1"/>
              <a:t>Brightmouth</a:t>
            </a:r>
            <a:r>
              <a:rPr lang="en-US" dirty="0"/>
              <a:t> College Payroll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College currently has payroll processing carried out by a services company</a:t>
            </a:r>
          </a:p>
          <a:p>
            <a:r>
              <a:rPr lang="en-US" dirty="0"/>
              <a:t>This is very expensive and does not allow detailed analysis of personnel data to be carried out</a:t>
            </a:r>
          </a:p>
          <a:p>
            <a:r>
              <a:rPr lang="en-US" dirty="0"/>
              <a:t>Decision made to bring payroll ‘in-house’ by acquiring an ‘off-the-shelf’ application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project scenario: </a:t>
            </a:r>
            <a:r>
              <a:rPr lang="en-US" dirty="0" err="1"/>
              <a:t>Brightmouth</a:t>
            </a:r>
            <a:r>
              <a:rPr lang="en-US" dirty="0"/>
              <a:t> College Payroll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The use of the off-the-shelf system will require a new, internal, payroll office to be set up</a:t>
            </a:r>
          </a:p>
          <a:p>
            <a:r>
              <a:rPr lang="en-US" dirty="0"/>
              <a:t>There will be a need to develop some software ‘add-ons’: one will take payroll data and combine it with time-table data to calculate the staff costs for each course run in the college</a:t>
            </a:r>
          </a:p>
          <a:p>
            <a:r>
              <a:rPr lang="en-US" dirty="0"/>
              <a:t>The project manager is </a:t>
            </a:r>
            <a:r>
              <a:rPr lang="en-US" dirty="0" err="1"/>
              <a:t>Brigette</a:t>
            </a:r>
            <a:r>
              <a:rPr lang="en-US" dirty="0"/>
              <a:t>.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06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establish project scope and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1.1 Identify objectives and measures of </a:t>
            </a:r>
            <a:r>
              <a:rPr lang="en-US" dirty="0" smtClean="0"/>
              <a:t>effectiveness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‘how do we know if we have succeeded</a:t>
            </a:r>
            <a:r>
              <a:rPr lang="en-US" sz="3200" dirty="0" smtClean="0"/>
              <a:t>?’</a:t>
            </a:r>
          </a:p>
          <a:p>
            <a:r>
              <a:rPr lang="en-US" dirty="0"/>
              <a:t>1.2 Establish a project </a:t>
            </a:r>
            <a:r>
              <a:rPr lang="en-US" dirty="0" smtClean="0"/>
              <a:t>authority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‘who is the boss</a:t>
            </a:r>
            <a:r>
              <a:rPr lang="en-US" sz="3200" dirty="0" smtClean="0"/>
              <a:t>?’</a:t>
            </a:r>
            <a:endParaRPr lang="en-US" sz="3200" dirty="0"/>
          </a:p>
          <a:p>
            <a:r>
              <a:rPr lang="en-US" dirty="0"/>
              <a:t>1.3 Identify all stakeholders in the project and their </a:t>
            </a:r>
            <a:r>
              <a:rPr lang="en-US" dirty="0" smtClean="0"/>
              <a:t>interests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‘who will be affected/involved in the project</a:t>
            </a:r>
            <a:r>
              <a:rPr lang="en-US" sz="3200" dirty="0" smtClean="0"/>
              <a:t>?’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59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establish project scope and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1.4 Modify objectives in the light of stakeholder </a:t>
            </a:r>
            <a:r>
              <a:rPr lang="en-US" dirty="0" smtClean="0"/>
              <a:t>analysis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‘do we need to do things to win over stakeholders</a:t>
            </a:r>
            <a:r>
              <a:rPr lang="en-US" sz="3200" dirty="0" smtClean="0"/>
              <a:t>?’</a:t>
            </a:r>
          </a:p>
          <a:p>
            <a:r>
              <a:rPr lang="en-US" dirty="0"/>
              <a:t>1.5 Establish methods of communication with all </a:t>
            </a:r>
            <a:r>
              <a:rPr lang="en-US" dirty="0" smtClean="0"/>
              <a:t>parties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‘how do we keep in contact</a:t>
            </a:r>
            <a:r>
              <a:rPr lang="en-US" sz="3200" dirty="0" smtClean="0"/>
              <a:t>?’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055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</a:t>
            </a:r>
            <a:r>
              <a:rPr lang="en-US" dirty="0" smtClean="0"/>
              <a:t>scenario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Project </a:t>
            </a:r>
            <a:r>
              <a:rPr lang="en-US" dirty="0" smtClean="0"/>
              <a:t>authority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err="1"/>
              <a:t>Brigette</a:t>
            </a:r>
            <a:r>
              <a:rPr lang="en-US" sz="3200" dirty="0"/>
              <a:t> finds she has two different clients for the new system: the finance department and the personnel office. A vice principal agrees to be official client, and monthly meetings are chaired by the VP and attended by </a:t>
            </a:r>
            <a:r>
              <a:rPr lang="en-US" sz="3200" dirty="0" err="1"/>
              <a:t>Brigette</a:t>
            </a:r>
            <a:r>
              <a:rPr lang="en-US" sz="3200" dirty="0"/>
              <a:t> and the heads of finance and personnel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These meetings would also help overcome communication barriers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123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scenario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Stakeholders: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For example, personnel office would supply details of new staff, leavers and changes (e.g. promotions)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To motivate co-operation </a:t>
            </a:r>
            <a:r>
              <a:rPr lang="en-US" sz="3200" dirty="0" err="1"/>
              <a:t>Brigette</a:t>
            </a:r>
            <a:r>
              <a:rPr lang="en-US" sz="3200" dirty="0"/>
              <a:t> might ensure new payroll system produces reports that are useful to personnel </a:t>
            </a:r>
            <a:r>
              <a:rPr lang="en-US" sz="3200" dirty="0" smtClean="0"/>
              <a:t>staff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59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Establish project infrastructure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2.1 Establish link between project and any strategic </a:t>
            </a:r>
            <a:r>
              <a:rPr lang="en-US" dirty="0" smtClean="0"/>
              <a:t>plan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‘why did they want the project</a:t>
            </a:r>
            <a:r>
              <a:rPr lang="en-US" sz="3200" dirty="0" smtClean="0"/>
              <a:t>?’</a:t>
            </a:r>
          </a:p>
          <a:p>
            <a:r>
              <a:rPr lang="en-US" dirty="0"/>
              <a:t>2.2 Identify installation standards and </a:t>
            </a:r>
            <a:r>
              <a:rPr lang="en-US" dirty="0" smtClean="0"/>
              <a:t>procedures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‘what standards do we have to follow</a:t>
            </a:r>
            <a:r>
              <a:rPr lang="en-US" sz="3200" dirty="0" smtClean="0"/>
              <a:t>?’</a:t>
            </a:r>
            <a:endParaRPr lang="en-US" sz="3200" dirty="0"/>
          </a:p>
          <a:p>
            <a:r>
              <a:rPr lang="en-US" dirty="0"/>
              <a:t>2.3. Identify project team </a:t>
            </a:r>
            <a:r>
              <a:rPr lang="en-US" dirty="0" smtClean="0"/>
              <a:t>organization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‘where do I fit in</a:t>
            </a:r>
            <a:r>
              <a:rPr lang="en-US" sz="3200" dirty="0" smtClean="0"/>
              <a:t>?’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389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Analysis of project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3.1 Distinguish the project as either objective or product-based</a:t>
            </a:r>
            <a:r>
              <a:rPr lang="en-US" dirty="0" smtClean="0"/>
              <a:t>.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Is there more than one way of achieving success</a:t>
            </a:r>
            <a:r>
              <a:rPr lang="en-US" sz="3200" dirty="0" smtClean="0"/>
              <a:t>?</a:t>
            </a:r>
          </a:p>
          <a:p>
            <a:r>
              <a:rPr lang="en-US" dirty="0"/>
              <a:t>3.2 </a:t>
            </a:r>
            <a:r>
              <a:rPr lang="en-US" dirty="0" err="1"/>
              <a:t>Analyse</a:t>
            </a:r>
            <a:r>
              <a:rPr lang="en-US" dirty="0"/>
              <a:t> other project characteristics (including quality based ones</a:t>
            </a:r>
            <a:r>
              <a:rPr lang="en-US" dirty="0" smtClean="0"/>
              <a:t>)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what is different about this project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71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Analysis of project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905493"/>
          </a:xfrm>
        </p:spPr>
        <p:txBody>
          <a:bodyPr>
            <a:noAutofit/>
          </a:bodyPr>
          <a:lstStyle/>
          <a:p>
            <a:r>
              <a:rPr lang="en-US" dirty="0"/>
              <a:t>Identify high level project </a:t>
            </a:r>
            <a:r>
              <a:rPr lang="en-US" dirty="0" smtClean="0"/>
              <a:t>risks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‘what could go wrong?’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‘what can we do to stop it</a:t>
            </a:r>
            <a:r>
              <a:rPr lang="en-US" sz="3200" dirty="0" smtClean="0"/>
              <a:t>?’</a:t>
            </a:r>
          </a:p>
          <a:p>
            <a:r>
              <a:rPr lang="en-US" dirty="0"/>
              <a:t>Take into account user requirements concerning </a:t>
            </a:r>
            <a:r>
              <a:rPr lang="en-US" dirty="0" smtClean="0"/>
              <a:t>implementation</a:t>
            </a:r>
          </a:p>
          <a:p>
            <a:r>
              <a:rPr lang="en-US" dirty="0"/>
              <a:t>Select general life cycle </a:t>
            </a:r>
            <a:r>
              <a:rPr lang="en-US" dirty="0" smtClean="0"/>
              <a:t>approach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waterfall? Increments? Prototypes</a:t>
            </a:r>
            <a:r>
              <a:rPr lang="en-US" sz="3200" dirty="0" smtClean="0"/>
              <a:t>?</a:t>
            </a:r>
          </a:p>
          <a:p>
            <a:r>
              <a:rPr lang="en-US" dirty="0"/>
              <a:t>Review overall resource </a:t>
            </a:r>
            <a:r>
              <a:rPr lang="en-US" dirty="0" smtClean="0"/>
              <a:t>estimates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‘does all this increase the cost</a:t>
            </a:r>
            <a:r>
              <a:rPr lang="en-US" sz="3200" dirty="0" smtClean="0"/>
              <a:t>?’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242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scenario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858601"/>
          </a:xfrm>
        </p:spPr>
        <p:txBody>
          <a:bodyPr>
            <a:noAutofit/>
          </a:bodyPr>
          <a:lstStyle/>
          <a:p>
            <a:r>
              <a:rPr lang="en-US" dirty="0"/>
              <a:t>Objectives vs. </a:t>
            </a:r>
            <a:r>
              <a:rPr lang="en-US" dirty="0" smtClean="0"/>
              <a:t>products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An objective-based approach has been </a:t>
            </a:r>
            <a:r>
              <a:rPr lang="en-US" sz="3200" dirty="0" smtClean="0"/>
              <a:t>adopted</a:t>
            </a:r>
          </a:p>
          <a:p>
            <a:r>
              <a:rPr lang="en-US" dirty="0"/>
              <a:t>Some </a:t>
            </a:r>
            <a:r>
              <a:rPr lang="en-US" dirty="0" smtClean="0"/>
              <a:t>risks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There may not be an off-the-shelf package that caters for the way payroll is processed at </a:t>
            </a:r>
            <a:r>
              <a:rPr lang="en-US" sz="3200" dirty="0" err="1"/>
              <a:t>Brightmouth</a:t>
            </a:r>
            <a:r>
              <a:rPr lang="en-US" sz="3200" dirty="0"/>
              <a:t> </a:t>
            </a:r>
            <a:r>
              <a:rPr lang="en-US" sz="3200" dirty="0" smtClean="0"/>
              <a:t>College</a:t>
            </a:r>
            <a:endParaRPr lang="en-US" sz="3200" dirty="0"/>
          </a:p>
          <a:p>
            <a:r>
              <a:rPr lang="en-US" dirty="0"/>
              <a:t>Answer</a:t>
            </a:r>
            <a:r>
              <a:rPr lang="en-US" dirty="0" smtClean="0"/>
              <a:t>?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err="1"/>
              <a:t>Brigette</a:t>
            </a:r>
            <a:r>
              <a:rPr lang="en-US" sz="3200" dirty="0"/>
              <a:t> decides to obtain details of how main candidate packages work as soon as possible; also agreement that if necessary processes will be changed to fit in with new </a:t>
            </a:r>
            <a:r>
              <a:rPr lang="en-US" sz="3200" dirty="0" smtClean="0"/>
              <a:t>system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4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Identify project products and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4.1 Identify and describe project products - ‘what do we have to produce</a:t>
            </a:r>
            <a:r>
              <a:rPr lang="en-US" dirty="0" smtClean="0"/>
              <a:t>?’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81" y="2639982"/>
            <a:ext cx="8042030" cy="30785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70185" y="2461846"/>
            <a:ext cx="8745415" cy="355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03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The result of an </a:t>
            </a:r>
            <a:r>
              <a:rPr lang="en-US" dirty="0" smtClean="0"/>
              <a:t>activity</a:t>
            </a:r>
            <a:endParaRPr lang="en-US" sz="3200" dirty="0" smtClean="0"/>
          </a:p>
          <a:p>
            <a:r>
              <a:rPr lang="en-US" dirty="0"/>
              <a:t>Could be (among other things</a:t>
            </a:r>
            <a:r>
              <a:rPr lang="en-US" dirty="0" smtClean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physical thing (‘installed pc’),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 document (‘logical data structure’)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 person (‘trained user’)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 new version of an old product (‘updated software</a:t>
            </a:r>
            <a:r>
              <a:rPr lang="en-US" sz="3200" dirty="0" smtClean="0"/>
              <a:t>’)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990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The following are NOT normally products</a:t>
            </a:r>
            <a:r>
              <a:rPr lang="en-US" dirty="0" smtClean="0"/>
              <a:t>: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activities (e.g. ‘training’)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events (e.g. ‘interviews completed’)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resources and actors (e.g. ‘software developer’) - may be exceptions to </a:t>
            </a:r>
            <a:r>
              <a:rPr lang="en-US" sz="3200" dirty="0" smtClean="0"/>
              <a:t>this</a:t>
            </a:r>
            <a:endParaRPr lang="en-US" sz="3200" dirty="0"/>
          </a:p>
          <a:p>
            <a:r>
              <a:rPr lang="en-US" dirty="0"/>
              <a:t>Products CAN BE deliverable or </a:t>
            </a:r>
            <a:r>
              <a:rPr lang="en-US" dirty="0" smtClean="0"/>
              <a:t>intermediate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26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description (</a:t>
            </a:r>
            <a:r>
              <a:rPr lang="en-US" dirty="0" err="1"/>
              <a:t>PD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5149632" cy="4224013"/>
          </a:xfrm>
        </p:spPr>
        <p:txBody>
          <a:bodyPr>
            <a:noAutofit/>
          </a:bodyPr>
          <a:lstStyle/>
          <a:p>
            <a:r>
              <a:rPr lang="en-US" dirty="0"/>
              <a:t>Product identity</a:t>
            </a:r>
          </a:p>
          <a:p>
            <a:r>
              <a:rPr lang="en-US" dirty="0"/>
              <a:t>Description - what is it?</a:t>
            </a:r>
          </a:p>
          <a:p>
            <a:r>
              <a:rPr lang="en-US" dirty="0"/>
              <a:t>Derivation - what is it based on?</a:t>
            </a:r>
          </a:p>
          <a:p>
            <a:r>
              <a:rPr lang="en-US" dirty="0"/>
              <a:t>Composition - what does it contain?</a:t>
            </a:r>
          </a:p>
          <a:p>
            <a:r>
              <a:rPr lang="en-US" dirty="0"/>
              <a:t>Format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042368" y="1311443"/>
            <a:ext cx="5149632" cy="4224013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Relevant standards</a:t>
            </a:r>
          </a:p>
          <a:p>
            <a:pPr fontAlgn="auto"/>
            <a:r>
              <a:rPr lang="en-US" dirty="0"/>
              <a:t>Quality criteria</a:t>
            </a:r>
          </a:p>
          <a:p>
            <a:pPr fontAlgn="auto"/>
            <a:endParaRPr lang="en-US" dirty="0" smtClean="0"/>
          </a:p>
          <a:p>
            <a:pPr fontAlgn="auto"/>
            <a:endParaRPr lang="en-US" dirty="0"/>
          </a:p>
          <a:p>
            <a:pPr marL="0" indent="0" fontAlgn="auto">
              <a:buNone/>
            </a:pPr>
            <a:r>
              <a:rPr lang="en-US" dirty="0" smtClean="0"/>
              <a:t>Create </a:t>
            </a:r>
            <a:r>
              <a:rPr lang="en-US" dirty="0"/>
              <a:t>a </a:t>
            </a:r>
            <a:r>
              <a:rPr lang="en-US" dirty="0" err="1"/>
              <a:t>PD</a:t>
            </a:r>
            <a:r>
              <a:rPr lang="en-US" dirty="0"/>
              <a:t> for ‘test data’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1021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4.2 document generic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product </a:t>
            </a:r>
            <a:r>
              <a:rPr lang="en-US" dirty="0"/>
              <a:t>flows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512" y="2518494"/>
            <a:ext cx="6916616" cy="38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84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4.3 Recognize product instances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The PBS and PFD will probably have identified generic products e.g. ‘software modules’</a:t>
            </a:r>
          </a:p>
          <a:p>
            <a:r>
              <a:rPr lang="en-US" dirty="0"/>
              <a:t>It might be possible to identify specific instances e.g. ‘module A’, ‘module B’ …</a:t>
            </a:r>
          </a:p>
          <a:p>
            <a:r>
              <a:rPr lang="en-US" dirty="0"/>
              <a:t>But in many cases this will have to be left to later, more detailed, planning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908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4.4. Produce ideal activity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Identify the activities needed to create each product in the PFD</a:t>
            </a:r>
          </a:p>
          <a:p>
            <a:r>
              <a:rPr lang="en-US" dirty="0"/>
              <a:t>More than one activity might be needed to create a single product</a:t>
            </a:r>
          </a:p>
          <a:p>
            <a:r>
              <a:rPr lang="en-US" dirty="0"/>
              <a:t>Hint: Identify activities by verb + noun but avoid ‘produce…’ (too vague)</a:t>
            </a:r>
          </a:p>
          <a:p>
            <a:r>
              <a:rPr lang="en-US" dirty="0"/>
              <a:t>Draw up activity network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25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‘ideal’ activity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08" y="1538251"/>
            <a:ext cx="9821370" cy="427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15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4.5 Add check-points if needed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72223" y="1521106"/>
            <a:ext cx="7627620" cy="45306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13267" y="2317668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647420" y="2342122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Design system</a:t>
            </a:r>
            <a:endParaRPr lang="en-US" sz="1000" dirty="0"/>
          </a:p>
        </p:txBody>
      </p:sp>
      <p:sp>
        <p:nvSpPr>
          <p:cNvPr id="8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4893131" y="2317668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ontent Placeholder 2"/>
          <p:cNvSpPr txBox="1">
            <a:spLocks/>
          </p:cNvSpPr>
          <p:nvPr/>
        </p:nvSpPr>
        <p:spPr>
          <a:xfrm>
            <a:off x="5027284" y="2342122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Design module B</a:t>
            </a:r>
            <a:endParaRPr lang="en-US" sz="1000" dirty="0"/>
          </a:p>
        </p:txBody>
      </p:sp>
      <p:sp>
        <p:nvSpPr>
          <p:cNvPr id="51" name="Rectangle 50"/>
          <p:cNvSpPr/>
          <p:nvPr/>
        </p:nvSpPr>
        <p:spPr>
          <a:xfrm>
            <a:off x="4893131" y="1695841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ontent Placeholder 2"/>
          <p:cNvSpPr txBox="1">
            <a:spLocks/>
          </p:cNvSpPr>
          <p:nvPr/>
        </p:nvSpPr>
        <p:spPr>
          <a:xfrm>
            <a:off x="5027284" y="1720295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Design module A</a:t>
            </a:r>
            <a:endParaRPr lang="en-US" sz="1000" dirty="0"/>
          </a:p>
        </p:txBody>
      </p:sp>
      <p:sp>
        <p:nvSpPr>
          <p:cNvPr id="54" name="Rectangle 53"/>
          <p:cNvSpPr/>
          <p:nvPr/>
        </p:nvSpPr>
        <p:spPr>
          <a:xfrm>
            <a:off x="4893131" y="2939495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ontent Placeholder 2"/>
          <p:cNvSpPr txBox="1">
            <a:spLocks/>
          </p:cNvSpPr>
          <p:nvPr/>
        </p:nvSpPr>
        <p:spPr>
          <a:xfrm>
            <a:off x="5027284" y="2963949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Design module C</a:t>
            </a:r>
            <a:endParaRPr lang="en-US" sz="1000" dirty="0"/>
          </a:p>
        </p:txBody>
      </p:sp>
      <p:sp>
        <p:nvSpPr>
          <p:cNvPr id="58" name="Rectangle 57"/>
          <p:cNvSpPr/>
          <p:nvPr/>
        </p:nvSpPr>
        <p:spPr>
          <a:xfrm>
            <a:off x="6134955" y="2317668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6134955" y="1695841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134955" y="2939495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7540630" y="2317668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Content Placeholder 2"/>
          <p:cNvSpPr txBox="1">
            <a:spLocks/>
          </p:cNvSpPr>
          <p:nvPr/>
        </p:nvSpPr>
        <p:spPr>
          <a:xfrm>
            <a:off x="7734300" y="2342122"/>
            <a:ext cx="518160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Test system</a:t>
            </a:r>
            <a:endParaRPr lang="en-US" sz="1000" dirty="0"/>
          </a:p>
        </p:txBody>
      </p:sp>
      <p:sp>
        <p:nvSpPr>
          <p:cNvPr id="70" name="Rectangle 69"/>
          <p:cNvSpPr/>
          <p:nvPr/>
        </p:nvSpPr>
        <p:spPr>
          <a:xfrm>
            <a:off x="2863884" y="4474562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ontent Placeholder 2"/>
          <p:cNvSpPr txBox="1">
            <a:spLocks/>
          </p:cNvSpPr>
          <p:nvPr/>
        </p:nvSpPr>
        <p:spPr>
          <a:xfrm>
            <a:off x="2998037" y="4499016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Design system</a:t>
            </a:r>
            <a:endParaRPr lang="en-US" sz="1000" dirty="0"/>
          </a:p>
        </p:txBody>
      </p:sp>
      <p:sp>
        <p:nvSpPr>
          <p:cNvPr id="74" name="Rectangle 73"/>
          <p:cNvSpPr/>
          <p:nvPr/>
        </p:nvSpPr>
        <p:spPr>
          <a:xfrm>
            <a:off x="4243748" y="4474562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4243748" y="3852735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4243748" y="5096389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7001604" y="4474562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7001604" y="3852735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7001604" y="5096389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8407279" y="4474562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622676" y="4474562"/>
            <a:ext cx="894080" cy="406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Content Placeholder 2"/>
          <p:cNvSpPr txBox="1">
            <a:spLocks/>
          </p:cNvSpPr>
          <p:nvPr/>
        </p:nvSpPr>
        <p:spPr>
          <a:xfrm>
            <a:off x="5685652" y="4572000"/>
            <a:ext cx="729545" cy="28450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Check-point</a:t>
            </a:r>
            <a:endParaRPr lang="en-US" sz="1000" dirty="0"/>
          </a:p>
        </p:txBody>
      </p:sp>
      <p:sp>
        <p:nvSpPr>
          <p:cNvPr id="104" name="Content Placeholder 2"/>
          <p:cNvSpPr txBox="1">
            <a:spLocks/>
          </p:cNvSpPr>
          <p:nvPr/>
        </p:nvSpPr>
        <p:spPr>
          <a:xfrm>
            <a:off x="6228575" y="2318364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Code module B</a:t>
            </a:r>
            <a:endParaRPr lang="en-US" sz="1000" dirty="0"/>
          </a:p>
        </p:txBody>
      </p:sp>
      <p:sp>
        <p:nvSpPr>
          <p:cNvPr id="105" name="Content Placeholder 2"/>
          <p:cNvSpPr txBox="1">
            <a:spLocks/>
          </p:cNvSpPr>
          <p:nvPr/>
        </p:nvSpPr>
        <p:spPr>
          <a:xfrm>
            <a:off x="6228575" y="1696537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Code module A</a:t>
            </a:r>
            <a:endParaRPr lang="en-US" sz="1000" dirty="0"/>
          </a:p>
        </p:txBody>
      </p:sp>
      <p:sp>
        <p:nvSpPr>
          <p:cNvPr id="106" name="Content Placeholder 2"/>
          <p:cNvSpPr txBox="1">
            <a:spLocks/>
          </p:cNvSpPr>
          <p:nvPr/>
        </p:nvSpPr>
        <p:spPr>
          <a:xfrm>
            <a:off x="6228575" y="2940191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Code module C</a:t>
            </a:r>
            <a:endParaRPr lang="en-US" sz="1000" dirty="0"/>
          </a:p>
        </p:txBody>
      </p:sp>
      <p:sp>
        <p:nvSpPr>
          <p:cNvPr id="107" name="Content Placeholder 2"/>
          <p:cNvSpPr txBox="1">
            <a:spLocks/>
          </p:cNvSpPr>
          <p:nvPr/>
        </p:nvSpPr>
        <p:spPr>
          <a:xfrm>
            <a:off x="4355647" y="4488060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Design module B</a:t>
            </a:r>
            <a:endParaRPr lang="en-US" sz="1000" dirty="0"/>
          </a:p>
        </p:txBody>
      </p:sp>
      <p:sp>
        <p:nvSpPr>
          <p:cNvPr id="108" name="Content Placeholder 2"/>
          <p:cNvSpPr txBox="1">
            <a:spLocks/>
          </p:cNvSpPr>
          <p:nvPr/>
        </p:nvSpPr>
        <p:spPr>
          <a:xfrm>
            <a:off x="4355647" y="3866233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Design module A</a:t>
            </a:r>
            <a:endParaRPr lang="en-US" sz="1000" dirty="0"/>
          </a:p>
        </p:txBody>
      </p:sp>
      <p:sp>
        <p:nvSpPr>
          <p:cNvPr id="109" name="Content Placeholder 2"/>
          <p:cNvSpPr txBox="1">
            <a:spLocks/>
          </p:cNvSpPr>
          <p:nvPr/>
        </p:nvSpPr>
        <p:spPr>
          <a:xfrm>
            <a:off x="4355647" y="5109887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Design module C</a:t>
            </a:r>
            <a:endParaRPr lang="en-US" sz="1000" dirty="0"/>
          </a:p>
        </p:txBody>
      </p:sp>
      <p:sp>
        <p:nvSpPr>
          <p:cNvPr id="110" name="Content Placeholder 2"/>
          <p:cNvSpPr txBox="1">
            <a:spLocks/>
          </p:cNvSpPr>
          <p:nvPr/>
        </p:nvSpPr>
        <p:spPr>
          <a:xfrm>
            <a:off x="8615078" y="4511818"/>
            <a:ext cx="518160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Test system</a:t>
            </a:r>
            <a:endParaRPr lang="en-US" sz="1000" dirty="0"/>
          </a:p>
        </p:txBody>
      </p:sp>
      <p:sp>
        <p:nvSpPr>
          <p:cNvPr id="111" name="Content Placeholder 2"/>
          <p:cNvSpPr txBox="1">
            <a:spLocks/>
          </p:cNvSpPr>
          <p:nvPr/>
        </p:nvSpPr>
        <p:spPr>
          <a:xfrm>
            <a:off x="7109353" y="4488060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Code module B</a:t>
            </a:r>
            <a:endParaRPr lang="en-US" sz="1000" dirty="0"/>
          </a:p>
        </p:txBody>
      </p:sp>
      <p:sp>
        <p:nvSpPr>
          <p:cNvPr id="112" name="Content Placeholder 2"/>
          <p:cNvSpPr txBox="1">
            <a:spLocks/>
          </p:cNvSpPr>
          <p:nvPr/>
        </p:nvSpPr>
        <p:spPr>
          <a:xfrm>
            <a:off x="7109353" y="3866233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Code module A</a:t>
            </a:r>
            <a:endParaRPr lang="en-US" sz="1000" dirty="0"/>
          </a:p>
        </p:txBody>
      </p:sp>
      <p:sp>
        <p:nvSpPr>
          <p:cNvPr id="113" name="Content Placeholder 2"/>
          <p:cNvSpPr txBox="1">
            <a:spLocks/>
          </p:cNvSpPr>
          <p:nvPr/>
        </p:nvSpPr>
        <p:spPr>
          <a:xfrm>
            <a:off x="7109353" y="5109887"/>
            <a:ext cx="658368" cy="35749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000" dirty="0" smtClean="0"/>
              <a:t>Code module C</a:t>
            </a:r>
            <a:endParaRPr lang="en-US" sz="1000" dirty="0"/>
          </a:p>
        </p:txBody>
      </p:sp>
      <p:sp>
        <p:nvSpPr>
          <p:cNvPr id="3" name="Down Arrow 2"/>
          <p:cNvSpPr/>
          <p:nvPr/>
        </p:nvSpPr>
        <p:spPr>
          <a:xfrm>
            <a:off x="5723330" y="3590763"/>
            <a:ext cx="654188" cy="738695"/>
          </a:xfrm>
          <a:prstGeom prst="downArrow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ular Callout 3"/>
          <p:cNvSpPr/>
          <p:nvPr/>
        </p:nvSpPr>
        <p:spPr>
          <a:xfrm>
            <a:off x="7540631" y="3061937"/>
            <a:ext cx="894080" cy="528826"/>
          </a:xfrm>
          <a:prstGeom prst="wedgeRoundRectCallout">
            <a:avLst>
              <a:gd name="adj1" fmla="val -179728"/>
              <a:gd name="adj2" fmla="val 81186"/>
              <a:gd name="adj3" fmla="val 16667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Content Placeholder 2"/>
          <p:cNvSpPr txBox="1">
            <a:spLocks/>
          </p:cNvSpPr>
          <p:nvPr/>
        </p:nvSpPr>
        <p:spPr>
          <a:xfrm>
            <a:off x="7613273" y="3142694"/>
            <a:ext cx="748793" cy="432587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1000" dirty="0" smtClean="0"/>
              <a:t>Put in a check point</a:t>
            </a:r>
            <a:endParaRPr lang="en-US" sz="1000" dirty="0"/>
          </a:p>
        </p:txBody>
      </p:sp>
      <p:cxnSp>
        <p:nvCxnSpPr>
          <p:cNvPr id="9" name="Straight Arrow Connector 8"/>
          <p:cNvCxnSpPr>
            <a:stCxn id="8" idx="3"/>
            <a:endCxn id="51" idx="1"/>
          </p:cNvCxnSpPr>
          <p:nvPr/>
        </p:nvCxnSpPr>
        <p:spPr>
          <a:xfrm flipV="1">
            <a:off x="4407347" y="1899041"/>
            <a:ext cx="485784" cy="621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  <a:endCxn id="47" idx="1"/>
          </p:cNvCxnSpPr>
          <p:nvPr/>
        </p:nvCxnSpPr>
        <p:spPr>
          <a:xfrm>
            <a:off x="4407347" y="2520868"/>
            <a:ext cx="4857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3"/>
            <a:endCxn id="54" idx="1"/>
          </p:cNvCxnSpPr>
          <p:nvPr/>
        </p:nvCxnSpPr>
        <p:spPr>
          <a:xfrm>
            <a:off x="4407347" y="2520868"/>
            <a:ext cx="485784" cy="621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1" idx="3"/>
            <a:endCxn id="62" idx="1"/>
          </p:cNvCxnSpPr>
          <p:nvPr/>
        </p:nvCxnSpPr>
        <p:spPr>
          <a:xfrm>
            <a:off x="5787211" y="1899041"/>
            <a:ext cx="34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7" idx="3"/>
            <a:endCxn id="58" idx="1"/>
          </p:cNvCxnSpPr>
          <p:nvPr/>
        </p:nvCxnSpPr>
        <p:spPr>
          <a:xfrm>
            <a:off x="5787211" y="2520868"/>
            <a:ext cx="34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54" idx="3"/>
            <a:endCxn id="65" idx="1"/>
          </p:cNvCxnSpPr>
          <p:nvPr/>
        </p:nvCxnSpPr>
        <p:spPr>
          <a:xfrm>
            <a:off x="5787211" y="3142695"/>
            <a:ext cx="3477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2" idx="3"/>
          </p:cNvCxnSpPr>
          <p:nvPr/>
        </p:nvCxnSpPr>
        <p:spPr>
          <a:xfrm>
            <a:off x="7029035" y="1899041"/>
            <a:ext cx="478570" cy="581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58" idx="3"/>
          </p:cNvCxnSpPr>
          <p:nvPr/>
        </p:nvCxnSpPr>
        <p:spPr>
          <a:xfrm>
            <a:off x="7029035" y="2520868"/>
            <a:ext cx="4595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65" idx="3"/>
          </p:cNvCxnSpPr>
          <p:nvPr/>
        </p:nvCxnSpPr>
        <p:spPr>
          <a:xfrm flipV="1">
            <a:off x="7029035" y="2569845"/>
            <a:ext cx="478570" cy="572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70" idx="3"/>
            <a:endCxn id="76" idx="1"/>
          </p:cNvCxnSpPr>
          <p:nvPr/>
        </p:nvCxnSpPr>
        <p:spPr>
          <a:xfrm flipV="1">
            <a:off x="3757964" y="4055935"/>
            <a:ext cx="485784" cy="621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70" idx="3"/>
            <a:endCxn id="74" idx="1"/>
          </p:cNvCxnSpPr>
          <p:nvPr/>
        </p:nvCxnSpPr>
        <p:spPr>
          <a:xfrm>
            <a:off x="3757964" y="4677762"/>
            <a:ext cx="4857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70" idx="3"/>
            <a:endCxn id="84" idx="1"/>
          </p:cNvCxnSpPr>
          <p:nvPr/>
        </p:nvCxnSpPr>
        <p:spPr>
          <a:xfrm>
            <a:off x="3757964" y="4677762"/>
            <a:ext cx="485784" cy="621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stCxn id="76" idx="3"/>
          </p:cNvCxnSpPr>
          <p:nvPr/>
        </p:nvCxnSpPr>
        <p:spPr>
          <a:xfrm>
            <a:off x="5137828" y="4055935"/>
            <a:ext cx="451442" cy="5789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74" idx="3"/>
          </p:cNvCxnSpPr>
          <p:nvPr/>
        </p:nvCxnSpPr>
        <p:spPr>
          <a:xfrm>
            <a:off x="5137828" y="4677762"/>
            <a:ext cx="45144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>
            <a:stCxn id="84" idx="3"/>
          </p:cNvCxnSpPr>
          <p:nvPr/>
        </p:nvCxnSpPr>
        <p:spPr>
          <a:xfrm flipV="1">
            <a:off x="5137828" y="4728210"/>
            <a:ext cx="451442" cy="5713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94" idx="3"/>
            <a:endCxn id="88" idx="1"/>
          </p:cNvCxnSpPr>
          <p:nvPr/>
        </p:nvCxnSpPr>
        <p:spPr>
          <a:xfrm flipV="1">
            <a:off x="6516756" y="4055935"/>
            <a:ext cx="484848" cy="621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94" idx="3"/>
            <a:endCxn id="86" idx="1"/>
          </p:cNvCxnSpPr>
          <p:nvPr/>
        </p:nvCxnSpPr>
        <p:spPr>
          <a:xfrm>
            <a:off x="6516756" y="4677762"/>
            <a:ext cx="4848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94" idx="3"/>
            <a:endCxn id="90" idx="1"/>
          </p:cNvCxnSpPr>
          <p:nvPr/>
        </p:nvCxnSpPr>
        <p:spPr>
          <a:xfrm>
            <a:off x="6516756" y="4677762"/>
            <a:ext cx="484848" cy="621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88" idx="3"/>
          </p:cNvCxnSpPr>
          <p:nvPr/>
        </p:nvCxnSpPr>
        <p:spPr>
          <a:xfrm>
            <a:off x="7895684" y="4055935"/>
            <a:ext cx="482506" cy="5789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stCxn id="86" idx="3"/>
          </p:cNvCxnSpPr>
          <p:nvPr/>
        </p:nvCxnSpPr>
        <p:spPr>
          <a:xfrm>
            <a:off x="7895684" y="4677762"/>
            <a:ext cx="4520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stCxn id="90" idx="3"/>
          </p:cNvCxnSpPr>
          <p:nvPr/>
        </p:nvCxnSpPr>
        <p:spPr>
          <a:xfrm flipV="1">
            <a:off x="7895684" y="4728210"/>
            <a:ext cx="482506" cy="5713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958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</a:t>
            </a:r>
            <a:r>
              <a:rPr lang="en-US" dirty="0" err="1"/>
              <a:t>5:Estimate</a:t>
            </a:r>
            <a:r>
              <a:rPr lang="en-US" dirty="0"/>
              <a:t> effort for each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5.1 Carry out bottom-up </a:t>
            </a:r>
            <a:r>
              <a:rPr lang="en-US" dirty="0" smtClean="0"/>
              <a:t>estimates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distinguish carefully between effort and elapsed </a:t>
            </a:r>
            <a:r>
              <a:rPr lang="en-US" sz="3200" dirty="0" smtClean="0"/>
              <a:t>time</a:t>
            </a:r>
          </a:p>
          <a:p>
            <a:r>
              <a:rPr lang="en-US" dirty="0"/>
              <a:t>5.2. Revise plan to create controllable </a:t>
            </a:r>
            <a:r>
              <a:rPr lang="en-US" dirty="0" smtClean="0"/>
              <a:t>activities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break up very long activities into a series of smaller ones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bundle up very short activities (create check lists</a:t>
            </a:r>
            <a:r>
              <a:rPr lang="en-US" sz="3200" dirty="0" smtClean="0"/>
              <a:t>?)</a:t>
            </a:r>
            <a:endParaRPr lang="en-US" sz="3200" dirty="0"/>
          </a:p>
          <a:p>
            <a:pPr marL="400050" lvl="1" indent="0">
              <a:buNone/>
            </a:pP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480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Identify activity risks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861420"/>
          </a:xfrm>
        </p:spPr>
        <p:txBody>
          <a:bodyPr>
            <a:noAutofit/>
          </a:bodyPr>
          <a:lstStyle/>
          <a:p>
            <a:r>
              <a:rPr lang="en-US" dirty="0" smtClean="0"/>
              <a:t>6.1 Identify </a:t>
            </a:r>
            <a:r>
              <a:rPr lang="en-US" dirty="0"/>
              <a:t>and quantify risks for </a:t>
            </a:r>
            <a:r>
              <a:rPr lang="en-US" dirty="0" smtClean="0"/>
              <a:t>activities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damage if risk occurs (measure in time lost or money)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likelihood if risk </a:t>
            </a:r>
            <a:r>
              <a:rPr lang="en-US" sz="3200" dirty="0" smtClean="0"/>
              <a:t>occurring</a:t>
            </a:r>
          </a:p>
          <a:p>
            <a:r>
              <a:rPr lang="en-US" dirty="0" smtClean="0"/>
              <a:t>6.2 </a:t>
            </a:r>
            <a:r>
              <a:rPr lang="en-US" dirty="0"/>
              <a:t>Plan risk reduction and contingency </a:t>
            </a:r>
            <a:r>
              <a:rPr lang="en-US" dirty="0" smtClean="0"/>
              <a:t>measures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risk reduction: activity to stop risk occurring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contingency: action if risk does </a:t>
            </a:r>
            <a:r>
              <a:rPr lang="en-US" sz="3200" dirty="0" smtClean="0"/>
              <a:t>occur</a:t>
            </a:r>
          </a:p>
          <a:p>
            <a:r>
              <a:rPr lang="en-US" dirty="0" smtClean="0"/>
              <a:t>6.3 </a:t>
            </a:r>
            <a:r>
              <a:rPr lang="en-US" dirty="0"/>
              <a:t>Adjust overall plans and estimates to take account of risks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e.g. add new activities which reduce risks associated with other activities e.g. training, pilot trials, information gathering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2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7: Allocate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7.1 Identify and allocate resources to </a:t>
            </a:r>
            <a:r>
              <a:rPr lang="en-US" dirty="0" smtClean="0"/>
              <a:t>activities</a:t>
            </a:r>
            <a:endParaRPr lang="en-US" sz="3200" dirty="0" smtClean="0"/>
          </a:p>
          <a:p>
            <a:r>
              <a:rPr lang="en-US" dirty="0"/>
              <a:t>7.2 Revise plans and estimates to take into account resource </a:t>
            </a:r>
            <a:r>
              <a:rPr lang="en-US" dirty="0" smtClean="0"/>
              <a:t>constraints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e.g. staff not being available until a later date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non-project </a:t>
            </a:r>
            <a:r>
              <a:rPr lang="en-US" sz="3200" dirty="0" smtClean="0"/>
              <a:t>activities</a:t>
            </a:r>
            <a:endParaRPr lang="en-US" sz="3200" dirty="0"/>
          </a:p>
          <a:p>
            <a:pPr marL="400050" lvl="1" indent="0">
              <a:buNone/>
            </a:pP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972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91" y="1311443"/>
            <a:ext cx="7261182" cy="512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07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8: Review/</a:t>
            </a:r>
            <a:r>
              <a:rPr lang="en-US" dirty="0" err="1"/>
              <a:t>publicise</a:t>
            </a:r>
            <a:r>
              <a:rPr lang="en-US" dirty="0"/>
              <a:t>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1319567"/>
          </a:xfrm>
        </p:spPr>
        <p:txBody>
          <a:bodyPr>
            <a:noAutofit/>
          </a:bodyPr>
          <a:lstStyle/>
          <a:p>
            <a:r>
              <a:rPr lang="en-US" dirty="0"/>
              <a:t>8.1 Review quality aspects of project plan</a:t>
            </a:r>
          </a:p>
          <a:p>
            <a:r>
              <a:rPr lang="en-US" dirty="0"/>
              <a:t>8.2 Document plan and obtain agreement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24127" y="293202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Step 9</a:t>
            </a:r>
            <a:r>
              <a:rPr lang="en-US" dirty="0"/>
              <a:t>: Execute plan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024127" y="4224481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smtClean="0"/>
              <a:t>Step 10</a:t>
            </a:r>
            <a:r>
              <a:rPr lang="en-US" dirty="0"/>
              <a:t>: create lower level plans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6" y="2908724"/>
            <a:ext cx="423126" cy="10460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6" y="4279858"/>
            <a:ext cx="423126" cy="104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42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629926"/>
          </a:xfrm>
        </p:spPr>
        <p:txBody>
          <a:bodyPr>
            <a:noAutofit/>
          </a:bodyPr>
          <a:lstStyle/>
          <a:p>
            <a:r>
              <a:rPr lang="en-US" dirty="0"/>
              <a:t>Establish your objectives</a:t>
            </a:r>
          </a:p>
          <a:p>
            <a:r>
              <a:rPr lang="en-US" dirty="0"/>
              <a:t>Think about the characteristics of the project</a:t>
            </a:r>
          </a:p>
          <a:p>
            <a:r>
              <a:rPr lang="en-US" dirty="0"/>
              <a:t>Discover/set up the infrastructure to support the project (including standards)</a:t>
            </a:r>
          </a:p>
          <a:p>
            <a:r>
              <a:rPr lang="en-US" dirty="0"/>
              <a:t>Identify products to be created and the activities that will create them</a:t>
            </a:r>
          </a:p>
          <a:p>
            <a:r>
              <a:rPr lang="en-US" dirty="0"/>
              <a:t>Allocate resources</a:t>
            </a:r>
          </a:p>
          <a:p>
            <a:r>
              <a:rPr lang="en-US" dirty="0"/>
              <a:t>Set up quality processes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/>
          <a:lstStyle/>
          <a:p>
            <a:r>
              <a:rPr lang="en-US" dirty="0" err="1" smtClean="0"/>
              <a:t>Ch3</a:t>
            </a:r>
            <a:r>
              <a:rPr lang="en-US" dirty="0" smtClean="0"/>
              <a:t>. </a:t>
            </a:r>
            <a:r>
              <a:rPr lang="en-US" dirty="0"/>
              <a:t>Step Wise: An approach to planning software projects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350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6772</TotalTime>
  <Words>2822</Words>
  <Application>Microsoft Office PowerPoint</Application>
  <PresentationFormat>Widescreen</PresentationFormat>
  <Paragraphs>471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ＭＳ Ｐゴシック</vt:lpstr>
      <vt:lpstr>Arial</vt:lpstr>
      <vt:lpstr>Calibri</vt:lpstr>
      <vt:lpstr>Tahoma</vt:lpstr>
      <vt:lpstr>Tw Cen MT</vt:lpstr>
      <vt:lpstr>Tw Cen MT Condensed</vt:lpstr>
      <vt:lpstr>Wingdings</vt:lpstr>
      <vt:lpstr>Wingdings 3</vt:lpstr>
      <vt:lpstr>Theme_SE2019s1</vt:lpstr>
      <vt:lpstr>Chapter 3- Step Wise: An approach to planning software projects</vt:lpstr>
      <vt:lpstr>‘Step Wise’ - aspirations</vt:lpstr>
      <vt:lpstr>‘Step Wise’ - an overview</vt:lpstr>
      <vt:lpstr>A project scenario: Brightmouth College Payroll</vt:lpstr>
      <vt:lpstr>A project scenario: Brightmouth College Payroll</vt:lpstr>
      <vt:lpstr>Step 1 establish project scope and objectives</vt:lpstr>
      <vt:lpstr>Step 1 establish project scope and objectives</vt:lpstr>
      <vt:lpstr>Back to the scenario</vt:lpstr>
      <vt:lpstr>Back to the scenario</vt:lpstr>
      <vt:lpstr>Step 2 Establish project infrastructure</vt:lpstr>
      <vt:lpstr>Step 3 Analysis of project characteristics</vt:lpstr>
      <vt:lpstr>Step 3 Analysis of project characteristics</vt:lpstr>
      <vt:lpstr>Back to the scenario</vt:lpstr>
      <vt:lpstr>Step 4 Identify project products and activities</vt:lpstr>
      <vt:lpstr>Products</vt:lpstr>
      <vt:lpstr>Products</vt:lpstr>
      <vt:lpstr>Product description (PD)</vt:lpstr>
      <vt:lpstr>Step 4 continued</vt:lpstr>
      <vt:lpstr>Step 4.3 Recognize product instances</vt:lpstr>
      <vt:lpstr>Step 4.4. Produce ideal activity network</vt:lpstr>
      <vt:lpstr>An ‘ideal’ activity</vt:lpstr>
      <vt:lpstr>Step 4.5 Add check-points if needed</vt:lpstr>
      <vt:lpstr>Step 5:Estimate effort for each activity</vt:lpstr>
      <vt:lpstr>Step 6: Identify activity risks</vt:lpstr>
      <vt:lpstr>Step 7: Allocate resources</vt:lpstr>
      <vt:lpstr>Gantt charts</vt:lpstr>
      <vt:lpstr>Step 8: Review/publicise plan</vt:lpstr>
      <vt:lpstr>Key points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Lộc Mai Phước</cp:lastModifiedBy>
  <cp:revision>275</cp:revision>
  <dcterms:created xsi:type="dcterms:W3CDTF">2009-12-29T10:39:27Z</dcterms:created>
  <dcterms:modified xsi:type="dcterms:W3CDTF">2024-09-05T03:02:25Z</dcterms:modified>
</cp:coreProperties>
</file>