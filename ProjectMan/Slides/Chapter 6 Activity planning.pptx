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30"/>
  </p:notesMasterIdLst>
  <p:handoutMasterIdLst>
    <p:handoutMasterId r:id="rId31"/>
  </p:handoutMasterIdLst>
  <p:sldIdLst>
    <p:sldId id="299" r:id="rId2"/>
    <p:sldId id="295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5904" autoAdjust="0"/>
  </p:normalViewPr>
  <p:slideViewPr>
    <p:cSldViewPr snapToGrid="0" snapToObjects="1">
      <p:cViewPr>
        <p:scale>
          <a:sx n="150" d="100"/>
          <a:sy n="150" d="100"/>
        </p:scale>
        <p:origin x="702" y="34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h Nguyen Duc" userId="04a5c95d-4a59-4e21-b199-e9922fb46c5c" providerId="ADAL" clId="{27C2FE8E-341E-4345-8FAE-BAB215747634}"/>
    <pc:docChg chg="addSld delSld modSld">
      <pc:chgData name="Anh Nguyen Duc" userId="04a5c95d-4a59-4e21-b199-e9922fb46c5c" providerId="ADAL" clId="{27C2FE8E-341E-4345-8FAE-BAB215747634}" dt="2022-08-31T06:56:14.728" v="1"/>
      <pc:docMkLst>
        <pc:docMk/>
      </pc:docMkLst>
      <pc:sldChg chg="add">
        <pc:chgData name="Anh Nguyen Duc" userId="04a5c95d-4a59-4e21-b199-e9922fb46c5c" providerId="ADAL" clId="{27C2FE8E-341E-4345-8FAE-BAB215747634}" dt="2022-08-31T06:56:14.728" v="1"/>
        <pc:sldMkLst>
          <pc:docMk/>
          <pc:sldMk cId="378230554" sldId="358"/>
        </pc:sldMkLst>
      </pc:sldChg>
      <pc:sldChg chg="del">
        <pc:chgData name="Anh Nguyen Duc" userId="04a5c95d-4a59-4e21-b199-e9922fb46c5c" providerId="ADAL" clId="{27C2FE8E-341E-4345-8FAE-BAB215747634}" dt="2022-08-31T06:55:58.812" v="0" actId="2696"/>
        <pc:sldMkLst>
          <pc:docMk/>
          <pc:sldMk cId="2157855265" sldId="358"/>
        </pc:sldMkLst>
      </pc:sldChg>
      <pc:sldChg chg="del">
        <pc:chgData name="Anh Nguyen Duc" userId="04a5c95d-4a59-4e21-b199-e9922fb46c5c" providerId="ADAL" clId="{27C2FE8E-341E-4345-8FAE-BAB215747634}" dt="2022-08-31T06:55:58.812" v="0" actId="2696"/>
        <pc:sldMkLst>
          <pc:docMk/>
          <pc:sldMk cId="3795778222" sldId="359"/>
        </pc:sldMkLst>
      </pc:sldChg>
      <pc:sldChg chg="add">
        <pc:chgData name="Anh Nguyen Duc" userId="04a5c95d-4a59-4e21-b199-e9922fb46c5c" providerId="ADAL" clId="{27C2FE8E-341E-4345-8FAE-BAB215747634}" dt="2022-08-31T06:56:14.728" v="1"/>
        <pc:sldMkLst>
          <pc:docMk/>
          <pc:sldMk cId="3821951021" sldId="359"/>
        </pc:sldMkLst>
      </pc:sldChg>
    </pc:docChg>
  </pc:docChgLst>
  <pc:docChgLst>
    <pc:chgData name="Anh Nguyen Duc" userId="04a5c95d-4a59-4e21-b199-e9922fb46c5c" providerId="ADAL" clId="{EBDB5816-78CD-4B78-BEE7-9D3778340309}"/>
    <pc:docChg chg="delSld">
      <pc:chgData name="Anh Nguyen Duc" userId="04a5c95d-4a59-4e21-b199-e9922fb46c5c" providerId="ADAL" clId="{EBDB5816-78CD-4B78-BEE7-9D3778340309}" dt="2023-01-01T19:37:57.860" v="0" actId="47"/>
      <pc:docMkLst>
        <pc:docMk/>
      </pc:docMkLst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2202076995" sldId="340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3625962909" sldId="341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2848604392" sldId="342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3679953026" sldId="3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40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5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26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9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40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03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42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70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99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54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31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955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39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83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90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98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04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783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39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67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954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766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504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041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32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7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6 - Activity planning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‘Time is nature’s way of stopping everything happening at once’</a:t>
            </a:r>
            <a:endParaRPr lang="en-US" sz="3200" dirty="0"/>
          </a:p>
          <a:p>
            <a:r>
              <a:rPr lang="en-US" dirty="0"/>
              <a:t>Having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worked out a method of doing the project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identified the tasks to be carried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assessed the time needed to do each task need to allocate dates/times for the start and end of each activity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These help us to: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Assess the feasibility of the planned project completion date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Identify when resources will need to be deployed to activities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Calculate when costs will be incurred</a:t>
            </a:r>
          </a:p>
          <a:p>
            <a:r>
              <a:rPr lang="en-US" dirty="0"/>
              <a:t>This helps the co-ordination and motivation of the project team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8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Activity networks are based on some assumptions:</a:t>
            </a:r>
          </a:p>
          <a:p>
            <a:r>
              <a:rPr lang="en-US" dirty="0"/>
              <a:t>A project is: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Composed of a number of activities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May start when at least one of its activities is ready to start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Completed when all its activities are completed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16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An activity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Must have clearly defined start and end-points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Must have resource requirements that can be forecast: these are assumed to be constant throughout the project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Must have a duration that can be forecast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May be dependent on other activities being completed first (precedence networks)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5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Work-based: draw-up a Work Breakdown Structure listing the work items needed</a:t>
            </a:r>
            <a:endParaRPr lang="en-US" sz="3200" dirty="0"/>
          </a:p>
          <a:p>
            <a:r>
              <a:rPr lang="en-US" dirty="0"/>
              <a:t>Product-based approach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list the deliverable and intermediate products of project – product breakdown structure (PBS)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Identify the order in which products have to be created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work out the activities needed to create the products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approach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D34172-DB0E-87EB-FB0C-3FBB448BB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924" y="1311443"/>
            <a:ext cx="9564704" cy="527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16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final outcome of the planning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5449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A project plan as a bar chart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DA02CC-365D-20BD-D950-A27AE17A5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24" y="1804489"/>
            <a:ext cx="7982543" cy="48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 vs </a:t>
            </a:r>
            <a:r>
              <a:rPr lang="en-US" dirty="0" err="1"/>
              <a:t>cpm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0EA978-DACD-1360-A6D1-1941029F4616}"/>
              </a:ext>
            </a:extLst>
          </p:cNvPr>
          <p:cNvSpPr/>
          <p:nvPr/>
        </p:nvSpPr>
        <p:spPr>
          <a:xfrm>
            <a:off x="4895850" y="1612900"/>
            <a:ext cx="1543050" cy="609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Do B</a:t>
            </a:r>
            <a:endParaRPr lang="vi-VN" dirty="0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C19FD1-9AD9-C829-C37D-455AECC66B39}"/>
              </a:ext>
            </a:extLst>
          </p:cNvPr>
          <p:cNvSpPr/>
          <p:nvPr/>
        </p:nvSpPr>
        <p:spPr>
          <a:xfrm>
            <a:off x="4895850" y="2832100"/>
            <a:ext cx="1543050" cy="609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Do C</a:t>
            </a:r>
            <a:endParaRPr lang="vi-VN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5F95B-4893-31F6-E7DA-FACC95A95752}"/>
              </a:ext>
            </a:extLst>
          </p:cNvPr>
          <p:cNvSpPr/>
          <p:nvPr/>
        </p:nvSpPr>
        <p:spPr>
          <a:xfrm>
            <a:off x="2819400" y="2222500"/>
            <a:ext cx="1543050" cy="609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Do A</a:t>
            </a:r>
            <a:endParaRPr lang="vi-VN" dirty="0">
              <a:solidFill>
                <a:srgbClr val="0070C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5ECC79-19A5-B14C-6FB8-23C156502EF7}"/>
              </a:ext>
            </a:extLst>
          </p:cNvPr>
          <p:cNvSpPr/>
          <p:nvPr/>
        </p:nvSpPr>
        <p:spPr>
          <a:xfrm>
            <a:off x="6972300" y="2222500"/>
            <a:ext cx="1543050" cy="6096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Do D</a:t>
            </a:r>
            <a:endParaRPr lang="vi-VN" dirty="0">
              <a:solidFill>
                <a:srgbClr val="0070C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2A0670-1F5C-A727-CC04-86B6FDE2D6BC}"/>
              </a:ext>
            </a:extLst>
          </p:cNvPr>
          <p:cNvSpPr/>
          <p:nvPr/>
        </p:nvSpPr>
        <p:spPr>
          <a:xfrm>
            <a:off x="1240028" y="2296413"/>
            <a:ext cx="461773" cy="46177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B7ECD1-C816-EEA3-C531-61ADA442DB46}"/>
              </a:ext>
            </a:extLst>
          </p:cNvPr>
          <p:cNvSpPr/>
          <p:nvPr/>
        </p:nvSpPr>
        <p:spPr>
          <a:xfrm>
            <a:off x="9507728" y="2296413"/>
            <a:ext cx="461773" cy="46177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3933AB-BF21-2385-D0F4-DFF955B50F90}"/>
              </a:ext>
            </a:extLst>
          </p:cNvPr>
          <p:cNvSpPr/>
          <p:nvPr/>
        </p:nvSpPr>
        <p:spPr>
          <a:xfrm>
            <a:off x="1240027" y="4709413"/>
            <a:ext cx="461773" cy="46177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C45369-72E7-B510-BE72-6FDA41243961}"/>
              </a:ext>
            </a:extLst>
          </p:cNvPr>
          <p:cNvSpPr/>
          <p:nvPr/>
        </p:nvSpPr>
        <p:spPr>
          <a:xfrm>
            <a:off x="3240278" y="4709412"/>
            <a:ext cx="461773" cy="46177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701B31-0CEC-6E84-D4B4-8C0455C2FC67}"/>
              </a:ext>
            </a:extLst>
          </p:cNvPr>
          <p:cNvSpPr/>
          <p:nvPr/>
        </p:nvSpPr>
        <p:spPr>
          <a:xfrm>
            <a:off x="5507228" y="3958743"/>
            <a:ext cx="461773" cy="46177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45A701-7CF9-AC37-91F3-85138BD88293}"/>
              </a:ext>
            </a:extLst>
          </p:cNvPr>
          <p:cNvSpPr/>
          <p:nvPr/>
        </p:nvSpPr>
        <p:spPr>
          <a:xfrm>
            <a:off x="5507228" y="5399331"/>
            <a:ext cx="461773" cy="46177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EC962A-5547-4E8E-AD56-66A495403D6F}"/>
              </a:ext>
            </a:extLst>
          </p:cNvPr>
          <p:cNvSpPr/>
          <p:nvPr/>
        </p:nvSpPr>
        <p:spPr>
          <a:xfrm>
            <a:off x="7282052" y="4709411"/>
            <a:ext cx="461773" cy="46177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973449-DEB4-6017-DD14-C8C345D7A249}"/>
              </a:ext>
            </a:extLst>
          </p:cNvPr>
          <p:cNvSpPr/>
          <p:nvPr/>
        </p:nvSpPr>
        <p:spPr>
          <a:xfrm>
            <a:off x="9355328" y="4709410"/>
            <a:ext cx="461773" cy="46177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DE241A-BD26-C8EE-8CDD-EF1DCE123BC8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 flipV="1">
            <a:off x="1701800" y="4940299"/>
            <a:ext cx="1538478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FBCDDB-3159-9233-2E53-960331B615BA}"/>
              </a:ext>
            </a:extLst>
          </p:cNvPr>
          <p:cNvCxnSpPr>
            <a:stCxn id="15" idx="6"/>
            <a:endCxn id="16" idx="2"/>
          </p:cNvCxnSpPr>
          <p:nvPr/>
        </p:nvCxnSpPr>
        <p:spPr>
          <a:xfrm flipV="1">
            <a:off x="3702051" y="4189630"/>
            <a:ext cx="1805177" cy="75066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2717D2-5B37-5562-7B4B-375980591900}"/>
              </a:ext>
            </a:extLst>
          </p:cNvPr>
          <p:cNvCxnSpPr>
            <a:stCxn id="15" idx="6"/>
            <a:endCxn id="17" idx="2"/>
          </p:cNvCxnSpPr>
          <p:nvPr/>
        </p:nvCxnSpPr>
        <p:spPr>
          <a:xfrm>
            <a:off x="3702051" y="4940299"/>
            <a:ext cx="1805177" cy="68991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395F7B-64A4-5148-86AC-5C65A93446B2}"/>
              </a:ext>
            </a:extLst>
          </p:cNvPr>
          <p:cNvCxnSpPr>
            <a:stCxn id="16" idx="6"/>
            <a:endCxn id="18" idx="2"/>
          </p:cNvCxnSpPr>
          <p:nvPr/>
        </p:nvCxnSpPr>
        <p:spPr>
          <a:xfrm>
            <a:off x="5969001" y="4189630"/>
            <a:ext cx="1313051" cy="7506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34BB93-62FE-72FA-2D27-574066A6E60E}"/>
              </a:ext>
            </a:extLst>
          </p:cNvPr>
          <p:cNvCxnSpPr>
            <a:stCxn id="17" idx="6"/>
            <a:endCxn id="18" idx="2"/>
          </p:cNvCxnSpPr>
          <p:nvPr/>
        </p:nvCxnSpPr>
        <p:spPr>
          <a:xfrm flipV="1">
            <a:off x="5969001" y="4940298"/>
            <a:ext cx="1313051" cy="6899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1D207D-4A67-2D39-CC91-1190D64FA037}"/>
              </a:ext>
            </a:extLst>
          </p:cNvPr>
          <p:cNvCxnSpPr>
            <a:stCxn id="18" idx="6"/>
            <a:endCxn id="19" idx="2"/>
          </p:cNvCxnSpPr>
          <p:nvPr/>
        </p:nvCxnSpPr>
        <p:spPr>
          <a:xfrm flipV="1">
            <a:off x="7743825" y="4940297"/>
            <a:ext cx="1611503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CD92737-01C0-DB83-FE40-50CE661B3683}"/>
              </a:ext>
            </a:extLst>
          </p:cNvPr>
          <p:cNvSpPr txBox="1">
            <a:spLocks/>
          </p:cNvSpPr>
          <p:nvPr/>
        </p:nvSpPr>
        <p:spPr>
          <a:xfrm>
            <a:off x="1672446" y="4280509"/>
            <a:ext cx="1065992" cy="545540"/>
          </a:xfrm>
          <a:prstGeom prst="rect">
            <a:avLst/>
          </a:prstGeom>
          <a:noFill/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Do A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FB6CD5C-7796-BC83-30EC-A07D4D6F55DA}"/>
              </a:ext>
            </a:extLst>
          </p:cNvPr>
          <p:cNvSpPr txBox="1">
            <a:spLocks/>
          </p:cNvSpPr>
          <p:nvPr/>
        </p:nvSpPr>
        <p:spPr>
          <a:xfrm>
            <a:off x="4322576" y="3734969"/>
            <a:ext cx="979674" cy="545540"/>
          </a:xfrm>
          <a:prstGeom prst="rect">
            <a:avLst/>
          </a:prstGeom>
          <a:noFill/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Do B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C9579B6-805E-A6D3-53BB-F61CD7238E05}"/>
              </a:ext>
            </a:extLst>
          </p:cNvPr>
          <p:cNvSpPr txBox="1">
            <a:spLocks/>
          </p:cNvSpPr>
          <p:nvPr/>
        </p:nvSpPr>
        <p:spPr>
          <a:xfrm>
            <a:off x="3538648" y="5315564"/>
            <a:ext cx="1065992" cy="54554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Do C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99CA42A-855C-C9A2-334D-5D451CC7FC91}"/>
              </a:ext>
            </a:extLst>
          </p:cNvPr>
          <p:cNvSpPr txBox="1">
            <a:spLocks/>
          </p:cNvSpPr>
          <p:nvPr/>
        </p:nvSpPr>
        <p:spPr>
          <a:xfrm>
            <a:off x="7827563" y="5002634"/>
            <a:ext cx="1065992" cy="54554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Do D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C868EB0-3113-CB94-6048-508717D74D7B}"/>
              </a:ext>
            </a:extLst>
          </p:cNvPr>
          <p:cNvCxnSpPr>
            <a:stCxn id="12" idx="6"/>
            <a:endCxn id="10" idx="1"/>
          </p:cNvCxnSpPr>
          <p:nvPr/>
        </p:nvCxnSpPr>
        <p:spPr>
          <a:xfrm>
            <a:off x="1701801" y="2527300"/>
            <a:ext cx="111759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29BE19-C76F-4A32-4E1A-7203642A807F}"/>
              </a:ext>
            </a:extLst>
          </p:cNvPr>
          <p:cNvCxnSpPr>
            <a:stCxn id="10" idx="3"/>
            <a:endCxn id="8" idx="1"/>
          </p:cNvCxnSpPr>
          <p:nvPr/>
        </p:nvCxnSpPr>
        <p:spPr>
          <a:xfrm flipV="1">
            <a:off x="4362450" y="1917700"/>
            <a:ext cx="533400" cy="6096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39B397-1327-7038-2432-AC7CD97B3FEF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4362450" y="2527300"/>
            <a:ext cx="533400" cy="6096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07A6F9-92CC-2503-3C42-C4E01B7DF184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6438900" y="1917700"/>
            <a:ext cx="533400" cy="6096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FC1C8D7-0116-ADAA-FCA1-61FDB148ECD6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6438900" y="2527300"/>
            <a:ext cx="533400" cy="6096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8CF294B-575F-854C-CD75-27B310314662}"/>
              </a:ext>
            </a:extLst>
          </p:cNvPr>
          <p:cNvCxnSpPr>
            <a:stCxn id="11" idx="3"/>
            <a:endCxn id="13" idx="2"/>
          </p:cNvCxnSpPr>
          <p:nvPr/>
        </p:nvCxnSpPr>
        <p:spPr>
          <a:xfrm>
            <a:off x="8515350" y="2527300"/>
            <a:ext cx="9923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8D3B36D9-A6B4-5AB3-7DC2-9505146777E5}"/>
              </a:ext>
            </a:extLst>
          </p:cNvPr>
          <p:cNvSpPr txBox="1">
            <a:spLocks/>
          </p:cNvSpPr>
          <p:nvPr/>
        </p:nvSpPr>
        <p:spPr>
          <a:xfrm>
            <a:off x="1240028" y="3701273"/>
            <a:ext cx="1065992" cy="545540"/>
          </a:xfrm>
          <a:prstGeom prst="rect">
            <a:avLst/>
          </a:prstGeom>
          <a:noFill/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b="1" dirty="0"/>
              <a:t>CPM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B8DBF7F5-5135-5960-E78E-FE9DA7C06E38}"/>
              </a:ext>
            </a:extLst>
          </p:cNvPr>
          <p:cNvSpPr txBox="1">
            <a:spLocks/>
          </p:cNvSpPr>
          <p:nvPr/>
        </p:nvSpPr>
        <p:spPr>
          <a:xfrm>
            <a:off x="1168805" y="1434511"/>
            <a:ext cx="1065992" cy="545540"/>
          </a:xfrm>
          <a:prstGeom prst="rect">
            <a:avLst/>
          </a:prstGeom>
          <a:noFill/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b="1" dirty="0"/>
              <a:t>PERT</a:t>
            </a:r>
          </a:p>
        </p:txBody>
      </p:sp>
    </p:spTree>
    <p:extLst>
      <p:ext uri="{BB962C8B-B14F-4D97-AF65-F5344CB8AC3E}">
        <p14:creationId xmlns:p14="http://schemas.microsoft.com/office/powerpoint/2010/main" val="165698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up a PERT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2"/>
            <a:ext cx="10786872" cy="1091230"/>
          </a:xfrm>
        </p:spPr>
        <p:txBody>
          <a:bodyPr>
            <a:noAutofit/>
          </a:bodyPr>
          <a:lstStyle/>
          <a:p>
            <a:r>
              <a:rPr lang="en-US" dirty="0"/>
              <a:t>No looping back is allowed – deal with iterations by hiding them within single activities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863661-EE0B-EECE-7D98-F76EEEABA98C}"/>
              </a:ext>
            </a:extLst>
          </p:cNvPr>
          <p:cNvSpPr txBox="1">
            <a:spLocks/>
          </p:cNvSpPr>
          <p:nvPr/>
        </p:nvSpPr>
        <p:spPr>
          <a:xfrm>
            <a:off x="702564" y="4825786"/>
            <a:ext cx="10786872" cy="109123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i="1" dirty="0"/>
              <a:t>milestones</a:t>
            </a:r>
            <a:r>
              <a:rPr lang="en-US" dirty="0"/>
              <a:t> – ‘activities’, such as the start and end of the project, which indicate transition points. They have zero duration.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C0E317-C590-0CB5-0FC4-6A0329A8D5CD}"/>
              </a:ext>
            </a:extLst>
          </p:cNvPr>
          <p:cNvSpPr/>
          <p:nvPr/>
        </p:nvSpPr>
        <p:spPr>
          <a:xfrm>
            <a:off x="4247158" y="2671948"/>
            <a:ext cx="3669476" cy="160015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9FB27A5F-4618-DD28-1719-81AC9E1D1776}"/>
              </a:ext>
            </a:extLst>
          </p:cNvPr>
          <p:cNvSpPr/>
          <p:nvPr/>
        </p:nvSpPr>
        <p:spPr>
          <a:xfrm flipH="1">
            <a:off x="5627914" y="3472023"/>
            <a:ext cx="936171" cy="601213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3BFEF6E8-76FE-902F-1DC1-FDD544A466A7}"/>
              </a:ext>
            </a:extLst>
          </p:cNvPr>
          <p:cNvSpPr/>
          <p:nvPr/>
        </p:nvSpPr>
        <p:spPr>
          <a:xfrm rot="10800000" flipH="1">
            <a:off x="5672446" y="2827787"/>
            <a:ext cx="936171" cy="601213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835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Lagged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2"/>
            <a:ext cx="10786872" cy="1613744"/>
          </a:xfrm>
        </p:spPr>
        <p:txBody>
          <a:bodyPr>
            <a:noAutofit/>
          </a:bodyPr>
          <a:lstStyle/>
          <a:p>
            <a:r>
              <a:rPr lang="en-US" dirty="0"/>
              <a:t>where there is a fixed delay between activities e.g. seven days notice has to be given to users that a new release has been signed off and is to be installed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07E2F5-76E5-6C33-1B4D-50EC81266439}"/>
              </a:ext>
            </a:extLst>
          </p:cNvPr>
          <p:cNvSpPr/>
          <p:nvPr/>
        </p:nvSpPr>
        <p:spPr>
          <a:xfrm>
            <a:off x="1885977" y="3623274"/>
            <a:ext cx="2956956" cy="161374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Acceptance</a:t>
            </a:r>
          </a:p>
          <a:p>
            <a:pPr algn="ctr"/>
            <a:r>
              <a:rPr lang="en-US" sz="3200" dirty="0">
                <a:solidFill>
                  <a:srgbClr val="0070C0"/>
                </a:solidFill>
              </a:rPr>
              <a:t>testing</a:t>
            </a:r>
            <a:endParaRPr lang="vi-VN" sz="3200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10334-EA3F-4B68-08C6-B8DB13F1C147}"/>
              </a:ext>
            </a:extLst>
          </p:cNvPr>
          <p:cNvSpPr/>
          <p:nvPr/>
        </p:nvSpPr>
        <p:spPr>
          <a:xfrm>
            <a:off x="7265718" y="3623274"/>
            <a:ext cx="2956956" cy="161374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Install new</a:t>
            </a:r>
          </a:p>
          <a:p>
            <a:pPr algn="ctr"/>
            <a:r>
              <a:rPr lang="en-US" sz="3200" dirty="0">
                <a:solidFill>
                  <a:srgbClr val="0070C0"/>
                </a:solidFill>
              </a:rPr>
              <a:t>release</a:t>
            </a:r>
            <a:endParaRPr lang="vi-VN" sz="3200" dirty="0">
              <a:solidFill>
                <a:srgbClr val="0070C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B82B0A4-180F-FC3A-4546-B1F2B71EEB11}"/>
              </a:ext>
            </a:extLst>
          </p:cNvPr>
          <p:cNvSpPr txBox="1">
            <a:spLocks/>
          </p:cNvSpPr>
          <p:nvPr/>
        </p:nvSpPr>
        <p:spPr>
          <a:xfrm>
            <a:off x="3756566" y="4858308"/>
            <a:ext cx="1169717" cy="38807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200" dirty="0">
                <a:solidFill>
                  <a:srgbClr val="0070C0"/>
                </a:solidFill>
              </a:rPr>
              <a:t>20 days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B81148-2A13-B584-1033-9AAE9E72F82C}"/>
              </a:ext>
            </a:extLst>
          </p:cNvPr>
          <p:cNvSpPr txBox="1">
            <a:spLocks/>
          </p:cNvSpPr>
          <p:nvPr/>
        </p:nvSpPr>
        <p:spPr>
          <a:xfrm>
            <a:off x="9393385" y="4858308"/>
            <a:ext cx="829289" cy="38807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200" dirty="0">
                <a:solidFill>
                  <a:srgbClr val="0070C0"/>
                </a:solidFill>
              </a:rPr>
              <a:t>1 day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F074DD-A805-6CD8-A649-A35DC95810CB}"/>
              </a:ext>
            </a:extLst>
          </p:cNvPr>
          <p:cNvCxnSpPr/>
          <p:nvPr/>
        </p:nvCxnSpPr>
        <p:spPr>
          <a:xfrm>
            <a:off x="4842933" y="4048125"/>
            <a:ext cx="24227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AF4BC0B-900D-21D2-D624-26C647826ACE}"/>
              </a:ext>
            </a:extLst>
          </p:cNvPr>
          <p:cNvSpPr txBox="1">
            <a:spLocks/>
          </p:cNvSpPr>
          <p:nvPr/>
        </p:nvSpPr>
        <p:spPr>
          <a:xfrm>
            <a:off x="5583767" y="3562379"/>
            <a:ext cx="1169717" cy="38807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200" dirty="0">
                <a:solidFill>
                  <a:srgbClr val="0070C0"/>
                </a:solidFill>
              </a:rPr>
              <a:t>7 days</a:t>
            </a:r>
          </a:p>
        </p:txBody>
      </p:sp>
    </p:spTree>
    <p:extLst>
      <p:ext uri="{BB962C8B-B14F-4D97-AF65-F5344CB8AC3E}">
        <p14:creationId xmlns:p14="http://schemas.microsoft.com/office/powerpoint/2010/main" val="605654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links between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2"/>
            <a:ext cx="6438054" cy="594928"/>
          </a:xfrm>
        </p:spPr>
        <p:txBody>
          <a:bodyPr>
            <a:noAutofit/>
          </a:bodyPr>
          <a:lstStyle/>
          <a:p>
            <a:r>
              <a:rPr lang="en-US" dirty="0"/>
              <a:t>Finish to start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0F00E5-DA9C-9BD9-14F0-D187A35180ED}"/>
              </a:ext>
            </a:extLst>
          </p:cNvPr>
          <p:cNvSpPr/>
          <p:nvPr/>
        </p:nvSpPr>
        <p:spPr>
          <a:xfrm>
            <a:off x="2572766" y="2009530"/>
            <a:ext cx="2110510" cy="12058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Software</a:t>
            </a:r>
          </a:p>
          <a:p>
            <a:pPr algn="ctr"/>
            <a:r>
              <a:rPr lang="en-US" sz="2000" dirty="0">
                <a:solidFill>
                  <a:srgbClr val="0070C0"/>
                </a:solidFill>
              </a:rPr>
              <a:t>development</a:t>
            </a:r>
            <a:endParaRPr lang="vi-VN" sz="2000" dirty="0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0694FD-65D0-AD69-94BA-6549D0A1912D}"/>
              </a:ext>
            </a:extLst>
          </p:cNvPr>
          <p:cNvSpPr/>
          <p:nvPr/>
        </p:nvSpPr>
        <p:spPr>
          <a:xfrm>
            <a:off x="6412525" y="2009530"/>
            <a:ext cx="2110510" cy="12058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Acceptance testing</a:t>
            </a:r>
            <a:endParaRPr lang="vi-VN" sz="2000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18E5A7-198C-5723-A1D5-25B2F68392F4}"/>
              </a:ext>
            </a:extLst>
          </p:cNvPr>
          <p:cNvCxnSpPr>
            <a:cxnSpLocks/>
          </p:cNvCxnSpPr>
          <p:nvPr/>
        </p:nvCxnSpPr>
        <p:spPr>
          <a:xfrm>
            <a:off x="4697380" y="2612476"/>
            <a:ext cx="17292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4D623E-AD79-457B-6B99-E855AEF29106}"/>
              </a:ext>
            </a:extLst>
          </p:cNvPr>
          <p:cNvSpPr txBox="1">
            <a:spLocks/>
          </p:cNvSpPr>
          <p:nvPr/>
        </p:nvSpPr>
        <p:spPr>
          <a:xfrm>
            <a:off x="688460" y="3429000"/>
            <a:ext cx="6423950" cy="55436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Start to start/ Finish to finish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520897-886C-C61E-8450-9AC4390E1936}"/>
              </a:ext>
            </a:extLst>
          </p:cNvPr>
          <p:cNvSpPr/>
          <p:nvPr/>
        </p:nvSpPr>
        <p:spPr>
          <a:xfrm>
            <a:off x="4794123" y="5497976"/>
            <a:ext cx="2110510" cy="12058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Document</a:t>
            </a:r>
          </a:p>
          <a:p>
            <a:pPr algn="ctr"/>
            <a:r>
              <a:rPr lang="en-US" sz="2000" dirty="0">
                <a:solidFill>
                  <a:srgbClr val="0070C0"/>
                </a:solidFill>
              </a:rPr>
              <a:t>Amendments</a:t>
            </a:r>
            <a:endParaRPr lang="vi-VN" sz="2000" dirty="0">
              <a:solidFill>
                <a:srgbClr val="0070C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50BE47-4199-1683-7842-4CEA6EE58006}"/>
              </a:ext>
            </a:extLst>
          </p:cNvPr>
          <p:cNvSpPr/>
          <p:nvPr/>
        </p:nvSpPr>
        <p:spPr>
          <a:xfrm>
            <a:off x="4794123" y="4055226"/>
            <a:ext cx="2110510" cy="12058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Test prototype</a:t>
            </a:r>
            <a:endParaRPr lang="vi-VN" sz="2000" dirty="0">
              <a:solidFill>
                <a:srgbClr val="0070C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F86753-629A-1C0E-D7F4-FAC262EA8895}"/>
              </a:ext>
            </a:extLst>
          </p:cNvPr>
          <p:cNvCxnSpPr>
            <a:cxnSpLocks/>
          </p:cNvCxnSpPr>
          <p:nvPr/>
        </p:nvCxnSpPr>
        <p:spPr>
          <a:xfrm>
            <a:off x="6904633" y="4658172"/>
            <a:ext cx="17292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57E7EC-A8A4-7715-0B09-0FA2612DD97B}"/>
              </a:ext>
            </a:extLst>
          </p:cNvPr>
          <p:cNvCxnSpPr>
            <a:cxnSpLocks/>
          </p:cNvCxnSpPr>
          <p:nvPr/>
        </p:nvCxnSpPr>
        <p:spPr>
          <a:xfrm>
            <a:off x="3042862" y="4658172"/>
            <a:ext cx="17292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9B0A97C-780C-0D22-4489-F82CEC4BFFCE}"/>
              </a:ext>
            </a:extLst>
          </p:cNvPr>
          <p:cNvCxnSpPr>
            <a:endCxn id="20" idx="1"/>
          </p:cNvCxnSpPr>
          <p:nvPr/>
        </p:nvCxnSpPr>
        <p:spPr>
          <a:xfrm rot="5400000">
            <a:off x="4247376" y="5554176"/>
            <a:ext cx="1093494" cy="12700"/>
          </a:xfrm>
          <a:prstGeom prst="bentConnector4">
            <a:avLst>
              <a:gd name="adj1" fmla="val -135"/>
              <a:gd name="adj2" fmla="val 584286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55249E0-B442-554E-F613-632490D97B05}"/>
              </a:ext>
            </a:extLst>
          </p:cNvPr>
          <p:cNvCxnSpPr/>
          <p:nvPr/>
        </p:nvCxnSpPr>
        <p:spPr>
          <a:xfrm>
            <a:off x="6904633" y="5062538"/>
            <a:ext cx="6486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897E98D7-CE70-321C-DC59-F3C9CE743F5E}"/>
              </a:ext>
            </a:extLst>
          </p:cNvPr>
          <p:cNvCxnSpPr>
            <a:cxnSpLocks/>
            <a:endCxn id="20" idx="3"/>
          </p:cNvCxnSpPr>
          <p:nvPr/>
        </p:nvCxnSpPr>
        <p:spPr>
          <a:xfrm rot="5400000">
            <a:off x="6701142" y="5248739"/>
            <a:ext cx="1055675" cy="648692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2AA32290-8A59-BF1E-3CC6-D89877C4F664}"/>
              </a:ext>
            </a:extLst>
          </p:cNvPr>
          <p:cNvSpPr txBox="1">
            <a:spLocks/>
          </p:cNvSpPr>
          <p:nvPr/>
        </p:nvSpPr>
        <p:spPr>
          <a:xfrm>
            <a:off x="3370623" y="6198386"/>
            <a:ext cx="823383" cy="38807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200" dirty="0"/>
              <a:t>1 day</a:t>
            </a:r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74843E30-4D1C-AA45-7F5E-63FE62A91489}"/>
              </a:ext>
            </a:extLst>
          </p:cNvPr>
          <p:cNvSpPr txBox="1">
            <a:spLocks/>
          </p:cNvSpPr>
          <p:nvPr/>
        </p:nvSpPr>
        <p:spPr>
          <a:xfrm>
            <a:off x="7695070" y="5370400"/>
            <a:ext cx="1129442" cy="38807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200" dirty="0"/>
              <a:t>2 days</a:t>
            </a:r>
          </a:p>
        </p:txBody>
      </p:sp>
    </p:spTree>
    <p:extLst>
      <p:ext uri="{BB962C8B-B14F-4D97-AF65-F5344CB8AC3E}">
        <p14:creationId xmlns:p14="http://schemas.microsoft.com/office/powerpoint/2010/main" val="2452316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links between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2"/>
            <a:ext cx="10786872" cy="449962"/>
          </a:xfrm>
        </p:spPr>
        <p:txBody>
          <a:bodyPr>
            <a:noAutofit/>
          </a:bodyPr>
          <a:lstStyle/>
          <a:p>
            <a:r>
              <a:rPr lang="en-US" dirty="0"/>
              <a:t>Start to finish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44B3A-BCE5-D949-92BB-134C5951FBD9}"/>
              </a:ext>
            </a:extLst>
          </p:cNvPr>
          <p:cNvSpPr/>
          <p:nvPr/>
        </p:nvSpPr>
        <p:spPr>
          <a:xfrm>
            <a:off x="1290231" y="4485630"/>
            <a:ext cx="2814602" cy="12058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rgbClr val="0070C0"/>
                </a:solidFill>
              </a:rPr>
              <a:t>Acceptance test</a:t>
            </a:r>
          </a:p>
          <a:p>
            <a:r>
              <a:rPr lang="en-US" sz="2500" dirty="0">
                <a:solidFill>
                  <a:srgbClr val="0070C0"/>
                </a:solidFill>
              </a:rPr>
              <a:t>of new system</a:t>
            </a:r>
            <a:endParaRPr lang="vi-VN" sz="2500" dirty="0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05AA31-C679-D04B-5D5C-FE4D88596E33}"/>
              </a:ext>
            </a:extLst>
          </p:cNvPr>
          <p:cNvSpPr/>
          <p:nvPr/>
        </p:nvSpPr>
        <p:spPr>
          <a:xfrm>
            <a:off x="5129990" y="4485630"/>
            <a:ext cx="2814602" cy="12058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0070C0"/>
                </a:solidFill>
              </a:rPr>
              <a:t>Cutover to new</a:t>
            </a:r>
          </a:p>
          <a:p>
            <a:pPr algn="ctr"/>
            <a:r>
              <a:rPr lang="en-US" sz="2500" dirty="0">
                <a:solidFill>
                  <a:srgbClr val="0070C0"/>
                </a:solidFill>
              </a:rPr>
              <a:t>system</a:t>
            </a:r>
            <a:endParaRPr lang="vi-VN" sz="2500" dirty="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34FDAC-93E2-BD9F-073D-5B41F3FBA816}"/>
              </a:ext>
            </a:extLst>
          </p:cNvPr>
          <p:cNvSpPr/>
          <p:nvPr/>
        </p:nvSpPr>
        <p:spPr>
          <a:xfrm>
            <a:off x="1838545" y="2366539"/>
            <a:ext cx="2814602" cy="12058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0070C0"/>
                </a:solidFill>
              </a:rPr>
              <a:t>Operate temporary</a:t>
            </a:r>
          </a:p>
          <a:p>
            <a:pPr algn="ctr"/>
            <a:r>
              <a:rPr lang="en-US" sz="2500" dirty="0">
                <a:solidFill>
                  <a:srgbClr val="0070C0"/>
                </a:solidFill>
              </a:rPr>
              <a:t>system</a:t>
            </a:r>
            <a:endParaRPr lang="vi-VN" sz="2500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8B9991-DAD8-984A-135B-4AE47257C54C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104833" y="5088577"/>
            <a:ext cx="102515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C5AFFFB-4B88-A4BD-306F-BE66BB442BD1}"/>
              </a:ext>
            </a:extLst>
          </p:cNvPr>
          <p:cNvCxnSpPr/>
          <p:nvPr/>
        </p:nvCxnSpPr>
        <p:spPr>
          <a:xfrm rot="16200000" flipV="1">
            <a:off x="4278915" y="3910929"/>
            <a:ext cx="1189573" cy="512579"/>
          </a:xfrm>
          <a:prstGeom prst="bentConnector3">
            <a:avLst>
              <a:gd name="adj1" fmla="val -290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086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and finish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564" y="3759086"/>
            <a:ext cx="10786872" cy="2848778"/>
          </a:xfrm>
        </p:spPr>
        <p:txBody>
          <a:bodyPr>
            <a:noAutofit/>
          </a:bodyPr>
          <a:lstStyle/>
          <a:p>
            <a:r>
              <a:rPr lang="en-US" dirty="0"/>
              <a:t>Activity ‘write report software’</a:t>
            </a:r>
          </a:p>
          <a:p>
            <a:r>
              <a:rPr lang="en-US" dirty="0"/>
              <a:t>Earliest start (ES)</a:t>
            </a:r>
          </a:p>
          <a:p>
            <a:r>
              <a:rPr lang="en-US" dirty="0"/>
              <a:t>Earliest finish (EF) = ES + duration</a:t>
            </a:r>
          </a:p>
          <a:p>
            <a:r>
              <a:rPr lang="en-US" dirty="0"/>
              <a:t>Latest finish (LF) = latest task can be completed without affecting project end Latest start = LF - duration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0B4922-557E-1F7B-99C6-1136E77F28A8}"/>
              </a:ext>
            </a:extLst>
          </p:cNvPr>
          <p:cNvSpPr/>
          <p:nvPr/>
        </p:nvSpPr>
        <p:spPr>
          <a:xfrm>
            <a:off x="2099953" y="2027920"/>
            <a:ext cx="7992094" cy="6175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activity</a:t>
            </a:r>
            <a:endParaRPr lang="vi-VN" sz="3200" dirty="0">
              <a:solidFill>
                <a:srgbClr val="0070C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96598E-ACEE-D310-A5EE-A601A880A9B3}"/>
              </a:ext>
            </a:extLst>
          </p:cNvPr>
          <p:cNvCxnSpPr>
            <a:cxnSpLocks/>
          </p:cNvCxnSpPr>
          <p:nvPr/>
        </p:nvCxnSpPr>
        <p:spPr>
          <a:xfrm>
            <a:off x="1210355" y="2899976"/>
            <a:ext cx="984464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5FBDB9-1395-00BF-B24A-7C07B67B718D}"/>
              </a:ext>
            </a:extLst>
          </p:cNvPr>
          <p:cNvCxnSpPr/>
          <p:nvPr/>
        </p:nvCxnSpPr>
        <p:spPr>
          <a:xfrm>
            <a:off x="1210355" y="1854948"/>
            <a:ext cx="0" cy="96190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9837CC-960C-9ADD-2265-289AC24BF77F}"/>
              </a:ext>
            </a:extLst>
          </p:cNvPr>
          <p:cNvCxnSpPr/>
          <p:nvPr/>
        </p:nvCxnSpPr>
        <p:spPr>
          <a:xfrm>
            <a:off x="11016466" y="1854948"/>
            <a:ext cx="0" cy="96190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C20AC5-0215-9383-0A26-8132F8D25056}"/>
              </a:ext>
            </a:extLst>
          </p:cNvPr>
          <p:cNvCxnSpPr>
            <a:cxnSpLocks/>
          </p:cNvCxnSpPr>
          <p:nvPr/>
        </p:nvCxnSpPr>
        <p:spPr>
          <a:xfrm flipV="1">
            <a:off x="2775919" y="2969249"/>
            <a:ext cx="0" cy="78983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920D99-7744-F3E7-4074-9C1B899554A5}"/>
              </a:ext>
            </a:extLst>
          </p:cNvPr>
          <p:cNvCxnSpPr>
            <a:cxnSpLocks/>
          </p:cNvCxnSpPr>
          <p:nvPr/>
        </p:nvCxnSpPr>
        <p:spPr>
          <a:xfrm flipV="1">
            <a:off x="9471622" y="2969248"/>
            <a:ext cx="0" cy="78983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9152E40-B211-85CB-70C8-C94B259AD085}"/>
              </a:ext>
            </a:extLst>
          </p:cNvPr>
          <p:cNvSpPr txBox="1">
            <a:spLocks/>
          </p:cNvSpPr>
          <p:nvPr/>
        </p:nvSpPr>
        <p:spPr>
          <a:xfrm>
            <a:off x="3370623" y="6198386"/>
            <a:ext cx="823383" cy="38807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200" dirty="0"/>
              <a:t>1 day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044D493-B186-4C5C-8B12-AE60ED1E93B0}"/>
              </a:ext>
            </a:extLst>
          </p:cNvPr>
          <p:cNvSpPr txBox="1">
            <a:spLocks/>
          </p:cNvSpPr>
          <p:nvPr/>
        </p:nvSpPr>
        <p:spPr>
          <a:xfrm>
            <a:off x="798663" y="1313883"/>
            <a:ext cx="2419550" cy="5610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Earliest start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17EB4BF-D40A-7D3A-1022-B922D9269520}"/>
              </a:ext>
            </a:extLst>
          </p:cNvPr>
          <p:cNvSpPr txBox="1">
            <a:spLocks/>
          </p:cNvSpPr>
          <p:nvPr/>
        </p:nvSpPr>
        <p:spPr>
          <a:xfrm>
            <a:off x="10079924" y="1252335"/>
            <a:ext cx="1956538" cy="5610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Latest finish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11CD4AB-F282-FF44-5BA2-D5A86024F3D5}"/>
              </a:ext>
            </a:extLst>
          </p:cNvPr>
          <p:cNvSpPr txBox="1">
            <a:spLocks/>
          </p:cNvSpPr>
          <p:nvPr/>
        </p:nvSpPr>
        <p:spPr>
          <a:xfrm>
            <a:off x="2886395" y="3169390"/>
            <a:ext cx="1956538" cy="5610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Latest start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02C85D3-01C8-16F1-004B-C0E65BBC102B}"/>
              </a:ext>
            </a:extLst>
          </p:cNvPr>
          <p:cNvSpPr txBox="1">
            <a:spLocks/>
          </p:cNvSpPr>
          <p:nvPr/>
        </p:nvSpPr>
        <p:spPr>
          <a:xfrm>
            <a:off x="9534617" y="3200839"/>
            <a:ext cx="2419550" cy="5610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Earliest finish</a:t>
            </a:r>
          </a:p>
        </p:txBody>
      </p:sp>
    </p:spTree>
    <p:extLst>
      <p:ext uri="{BB962C8B-B14F-4D97-AF65-F5344CB8AC3E}">
        <p14:creationId xmlns:p14="http://schemas.microsoft.com/office/powerpoint/2010/main" val="91584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5407540" cy="1768123"/>
          </a:xfrm>
        </p:spPr>
        <p:txBody>
          <a:bodyPr>
            <a:noAutofit/>
          </a:bodyPr>
          <a:lstStyle/>
          <a:p>
            <a:r>
              <a:rPr lang="en-US" dirty="0"/>
              <a:t>earliest start = day 5</a:t>
            </a:r>
          </a:p>
          <a:p>
            <a:r>
              <a:rPr lang="en-US" dirty="0"/>
              <a:t>latest finish = day 30</a:t>
            </a:r>
          </a:p>
          <a:p>
            <a:r>
              <a:rPr lang="en-US" dirty="0"/>
              <a:t>duration = 10 days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7B39DF-39FD-8133-FC34-869A0C6E8D00}"/>
              </a:ext>
            </a:extLst>
          </p:cNvPr>
          <p:cNvSpPr txBox="1">
            <a:spLocks/>
          </p:cNvSpPr>
          <p:nvPr/>
        </p:nvSpPr>
        <p:spPr>
          <a:xfrm>
            <a:off x="6096000" y="1319462"/>
            <a:ext cx="5407540" cy="168499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earliest finish = ?</a:t>
            </a:r>
          </a:p>
          <a:p>
            <a:pPr fontAlgn="auto"/>
            <a:r>
              <a:rPr lang="en-US" dirty="0"/>
              <a:t>latest start = 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49FA99-FC98-1FC8-8715-03E3C130B3E9}"/>
              </a:ext>
            </a:extLst>
          </p:cNvPr>
          <p:cNvSpPr txBox="1">
            <a:spLocks/>
          </p:cNvSpPr>
          <p:nvPr/>
        </p:nvSpPr>
        <p:spPr>
          <a:xfrm>
            <a:off x="3018312" y="4096309"/>
            <a:ext cx="5407540" cy="153259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Float = LF - ES - duration</a:t>
            </a:r>
          </a:p>
          <a:p>
            <a:pPr marL="0" indent="0" fontAlgn="auto">
              <a:buNone/>
            </a:pPr>
            <a:r>
              <a:rPr lang="en-US" dirty="0"/>
              <a:t>What is it in this case?</a:t>
            </a:r>
          </a:p>
        </p:txBody>
      </p:sp>
    </p:spTree>
    <p:extLst>
      <p:ext uri="{BB962C8B-B14F-4D97-AF65-F5344CB8AC3E}">
        <p14:creationId xmlns:p14="http://schemas.microsoft.com/office/powerpoint/2010/main" val="2769784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‘Day 0’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Note that in the last example, day numbers used rather than actual dates</a:t>
            </a:r>
          </a:p>
          <a:p>
            <a:r>
              <a:rPr lang="en-US" dirty="0"/>
              <a:t>Makes initial calculations easier – not concerned with week-ends and public holidays</a:t>
            </a:r>
          </a:p>
          <a:p>
            <a:r>
              <a:rPr lang="en-US" dirty="0"/>
              <a:t>For finish date/times Day 1 means at the END of Day 1.</a:t>
            </a:r>
          </a:p>
          <a:p>
            <a:r>
              <a:rPr lang="en-US" dirty="0"/>
              <a:t>For a start date/time Day 1 also means at the END of Day 1.</a:t>
            </a:r>
          </a:p>
          <a:p>
            <a:r>
              <a:rPr lang="en-US" dirty="0"/>
              <a:t>The first activity therefore begin at Day 0 i.e. the end of Day 0 i.e. the start of Day 1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31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3FA2B5-2DF1-52DF-73C6-CDE779C2A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125688"/>
              </p:ext>
            </p:extLst>
          </p:nvPr>
        </p:nvGraphicFramePr>
        <p:xfrm>
          <a:off x="3092463" y="310622"/>
          <a:ext cx="6007074" cy="3539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358">
                  <a:extLst>
                    <a:ext uri="{9D8B030D-6E8A-4147-A177-3AD203B41FA5}">
                      <a16:colId xmlns:a16="http://schemas.microsoft.com/office/drawing/2014/main" val="3345659735"/>
                    </a:ext>
                  </a:extLst>
                </a:gridCol>
                <a:gridCol w="2002358">
                  <a:extLst>
                    <a:ext uri="{9D8B030D-6E8A-4147-A177-3AD203B41FA5}">
                      <a16:colId xmlns:a16="http://schemas.microsoft.com/office/drawing/2014/main" val="3640144836"/>
                    </a:ext>
                  </a:extLst>
                </a:gridCol>
                <a:gridCol w="2002358">
                  <a:extLst>
                    <a:ext uri="{9D8B030D-6E8A-4147-A177-3AD203B41FA5}">
                      <a16:colId xmlns:a16="http://schemas.microsoft.com/office/drawing/2014/main" val="4164426367"/>
                    </a:ext>
                  </a:extLst>
                </a:gridCol>
              </a:tblGrid>
              <a:tr h="1088689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Earliest start</a:t>
                      </a:r>
                      <a:endParaRPr lang="vi-VN" sz="32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vi-VN" sz="32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Earliest finish</a:t>
                      </a:r>
                      <a:endParaRPr lang="vi-VN" sz="32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91075"/>
                  </a:ext>
                </a:extLst>
              </a:tr>
              <a:tr h="1010586">
                <a:tc gridSpan="3"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Activity label, activity description</a:t>
                      </a:r>
                      <a:endParaRPr lang="vi-VN" sz="32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791079"/>
                  </a:ext>
                </a:extLst>
              </a:tr>
              <a:tr h="1088689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Latest start</a:t>
                      </a:r>
                      <a:endParaRPr lang="vi-VN" sz="32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vi-VN" sz="32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Latest finish</a:t>
                      </a:r>
                      <a:endParaRPr lang="vi-VN" sz="32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24763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7DFCB7D-2AF3-C01C-7E3E-80B24FB78A6E}"/>
              </a:ext>
            </a:extLst>
          </p:cNvPr>
          <p:cNvSpPr/>
          <p:nvPr/>
        </p:nvSpPr>
        <p:spPr>
          <a:xfrm>
            <a:off x="4171950" y="4178300"/>
            <a:ext cx="1054100" cy="406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362D9A-27C4-3F1E-3DF2-A28D01CB734D}"/>
              </a:ext>
            </a:extLst>
          </p:cNvPr>
          <p:cNvSpPr/>
          <p:nvPr/>
        </p:nvSpPr>
        <p:spPr>
          <a:xfrm>
            <a:off x="3340100" y="4912976"/>
            <a:ext cx="1054100" cy="406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FB9FF0-2AA6-545F-17CA-66E170FAB283}"/>
              </a:ext>
            </a:extLst>
          </p:cNvPr>
          <p:cNvSpPr/>
          <p:nvPr/>
        </p:nvSpPr>
        <p:spPr>
          <a:xfrm>
            <a:off x="5226050" y="4918102"/>
            <a:ext cx="1054100" cy="406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39CD2E-B7C8-6BCC-949D-8EAB5E316925}"/>
              </a:ext>
            </a:extLst>
          </p:cNvPr>
          <p:cNvSpPr/>
          <p:nvPr/>
        </p:nvSpPr>
        <p:spPr>
          <a:xfrm>
            <a:off x="7112000" y="4918102"/>
            <a:ext cx="1054100" cy="406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9155F9-2EA9-CCAE-072C-DF6D8D3EB25C}"/>
              </a:ext>
            </a:extLst>
          </p:cNvPr>
          <p:cNvSpPr/>
          <p:nvPr/>
        </p:nvSpPr>
        <p:spPr>
          <a:xfrm>
            <a:off x="6096000" y="5692479"/>
            <a:ext cx="1054100" cy="406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FDF863-0CAA-3B8B-DC74-1923454181A5}"/>
              </a:ext>
            </a:extLst>
          </p:cNvPr>
          <p:cNvCxnSpPr>
            <a:stCxn id="9" idx="3"/>
          </p:cNvCxnSpPr>
          <p:nvPr/>
        </p:nvCxnSpPr>
        <p:spPr>
          <a:xfrm>
            <a:off x="5226050" y="4381500"/>
            <a:ext cx="2165350" cy="5314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FDD5B7-11BC-FEEA-DFD9-E206F072A290}"/>
              </a:ext>
            </a:extLst>
          </p:cNvPr>
          <p:cNvCxnSpPr>
            <a:stCxn id="10" idx="0"/>
            <a:endCxn id="9" idx="1"/>
          </p:cNvCxnSpPr>
          <p:nvPr/>
        </p:nvCxnSpPr>
        <p:spPr>
          <a:xfrm flipV="1">
            <a:off x="3867150" y="4381500"/>
            <a:ext cx="304800" cy="5314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C910A0-48F7-5198-E264-859E0D40133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4394200" y="5116176"/>
            <a:ext cx="831850" cy="51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EAEA5F-AC79-C912-57EA-FDBF6A376C4A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6280150" y="5121302"/>
            <a:ext cx="83185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B692DB-2B15-10C5-9598-FE9295D58BB7}"/>
              </a:ext>
            </a:extLst>
          </p:cNvPr>
          <p:cNvCxnSpPr>
            <a:stCxn id="11" idx="2"/>
            <a:endCxn id="13" idx="1"/>
          </p:cNvCxnSpPr>
          <p:nvPr/>
        </p:nvCxnSpPr>
        <p:spPr>
          <a:xfrm>
            <a:off x="5753100" y="5324502"/>
            <a:ext cx="342900" cy="5711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099D47-6A03-2757-C50B-071A9B9E7F1C}"/>
              </a:ext>
            </a:extLst>
          </p:cNvPr>
          <p:cNvCxnSpPr>
            <a:stCxn id="13" idx="3"/>
            <a:endCxn id="12" idx="2"/>
          </p:cNvCxnSpPr>
          <p:nvPr/>
        </p:nvCxnSpPr>
        <p:spPr>
          <a:xfrm flipV="1">
            <a:off x="7150100" y="5324502"/>
            <a:ext cx="488950" cy="5711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CAD8D94B-43FF-8BC4-35CD-2DC6DB2F843D}"/>
              </a:ext>
            </a:extLst>
          </p:cNvPr>
          <p:cNvSpPr/>
          <p:nvPr/>
        </p:nvSpPr>
        <p:spPr>
          <a:xfrm rot="5400000">
            <a:off x="2400300" y="4417676"/>
            <a:ext cx="679450" cy="717550"/>
          </a:xfrm>
          <a:prstGeom prst="bentUp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66169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for the previous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5D1FE09-D927-712A-E6A2-FB4EABB26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454322"/>
              </p:ext>
            </p:extLst>
          </p:nvPr>
        </p:nvGraphicFramePr>
        <p:xfrm>
          <a:off x="2197150" y="1749293"/>
          <a:ext cx="7461201" cy="412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067">
                  <a:extLst>
                    <a:ext uri="{9D8B030D-6E8A-4147-A177-3AD203B41FA5}">
                      <a16:colId xmlns:a16="http://schemas.microsoft.com/office/drawing/2014/main" val="3345659735"/>
                    </a:ext>
                  </a:extLst>
                </a:gridCol>
                <a:gridCol w="2487067">
                  <a:extLst>
                    <a:ext uri="{9D8B030D-6E8A-4147-A177-3AD203B41FA5}">
                      <a16:colId xmlns:a16="http://schemas.microsoft.com/office/drawing/2014/main" val="3640144836"/>
                    </a:ext>
                  </a:extLst>
                </a:gridCol>
                <a:gridCol w="2487067">
                  <a:extLst>
                    <a:ext uri="{9D8B030D-6E8A-4147-A177-3AD203B41FA5}">
                      <a16:colId xmlns:a16="http://schemas.microsoft.com/office/drawing/2014/main" val="4164426367"/>
                    </a:ext>
                  </a:extLst>
                </a:gridCol>
              </a:tblGrid>
              <a:tr h="1374882">
                <a:tc>
                  <a:txBody>
                    <a:bodyPr/>
                    <a:lstStyle/>
                    <a:p>
                      <a:pPr algn="ctr"/>
                      <a:endParaRPr lang="vi-VN" sz="57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sz="57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sz="57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91075"/>
                  </a:ext>
                </a:extLst>
              </a:tr>
              <a:tr h="1374882">
                <a:tc gridSpan="3">
                  <a:txBody>
                    <a:bodyPr/>
                    <a:lstStyle/>
                    <a:p>
                      <a:pPr algn="ctr"/>
                      <a:endParaRPr lang="vi-VN" sz="57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791079"/>
                  </a:ext>
                </a:extLst>
              </a:tr>
              <a:tr h="1374882">
                <a:tc>
                  <a:txBody>
                    <a:bodyPr/>
                    <a:lstStyle/>
                    <a:p>
                      <a:pPr algn="ctr"/>
                      <a:endParaRPr lang="vi-VN" sz="57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sz="57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sz="5700" b="0" dirty="0">
                        <a:solidFill>
                          <a:schemeClr val="tx1"/>
                        </a:solidFill>
                      </a:endParaRPr>
                    </a:p>
                  </a:txBody>
                  <a:tcPr marL="289048" marR="289048" marT="144524" marB="1445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247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58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2682523"/>
          </a:xfrm>
        </p:spPr>
        <p:txBody>
          <a:bodyPr>
            <a:noAutofit/>
          </a:bodyPr>
          <a:lstStyle/>
          <a:p>
            <a:r>
              <a:rPr lang="en-US" dirty="0"/>
              <a:t>Start at beginning (Day 0) and work forward following chains.</a:t>
            </a:r>
          </a:p>
          <a:p>
            <a:r>
              <a:rPr lang="en-US" dirty="0"/>
              <a:t>Earliest start date for the current activity = earliest finish date for the previous</a:t>
            </a:r>
          </a:p>
          <a:p>
            <a:r>
              <a:rPr lang="en-US" dirty="0"/>
              <a:t>When there is more than one previous activity, take the latest earliest finish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263B9D-D3CC-0E22-04E7-4FA14B6572B0}"/>
              </a:ext>
            </a:extLst>
          </p:cNvPr>
          <p:cNvSpPr/>
          <p:nvPr/>
        </p:nvSpPr>
        <p:spPr>
          <a:xfrm>
            <a:off x="4379545" y="3921457"/>
            <a:ext cx="1702351" cy="8167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rgbClr val="0070C0"/>
                </a:solidFill>
              </a:rPr>
              <a:t>EF = day 7</a:t>
            </a:r>
            <a:endParaRPr lang="vi-VN" sz="2300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3D5259-DE39-8A60-D5BD-86119D1C2356}"/>
              </a:ext>
            </a:extLst>
          </p:cNvPr>
          <p:cNvSpPr/>
          <p:nvPr/>
        </p:nvSpPr>
        <p:spPr>
          <a:xfrm>
            <a:off x="4379544" y="5439519"/>
            <a:ext cx="1702351" cy="8167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rgbClr val="0070C0"/>
                </a:solidFill>
              </a:rPr>
              <a:t>EF = day 10</a:t>
            </a:r>
            <a:endParaRPr lang="vi-VN" sz="2300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4568B6-4A7B-CE9F-C7DD-0CDC86613708}"/>
              </a:ext>
            </a:extLst>
          </p:cNvPr>
          <p:cNvSpPr/>
          <p:nvPr/>
        </p:nvSpPr>
        <p:spPr>
          <a:xfrm>
            <a:off x="7927437" y="4721741"/>
            <a:ext cx="1702351" cy="8167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rgbClr val="0070C0"/>
                </a:solidFill>
              </a:rPr>
              <a:t>ES = day 10</a:t>
            </a:r>
            <a:endParaRPr lang="vi-VN" sz="2300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F224E7-D5F7-5C42-8A39-53410F57492E}"/>
              </a:ext>
            </a:extLst>
          </p:cNvPr>
          <p:cNvCxnSpPr>
            <a:stCxn id="6" idx="3"/>
          </p:cNvCxnSpPr>
          <p:nvPr/>
        </p:nvCxnSpPr>
        <p:spPr>
          <a:xfrm>
            <a:off x="6081896" y="4329856"/>
            <a:ext cx="1845541" cy="69340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62E620-DA65-16C1-5A64-019203992890}"/>
              </a:ext>
            </a:extLst>
          </p:cNvPr>
          <p:cNvCxnSpPr>
            <a:stCxn id="7" idx="3"/>
          </p:cNvCxnSpPr>
          <p:nvPr/>
        </p:nvCxnSpPr>
        <p:spPr>
          <a:xfrm flipV="1">
            <a:off x="6081895" y="5260769"/>
            <a:ext cx="1845542" cy="58714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005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an activity network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CFBF8-3E40-EA0D-4DF7-EF53600E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483" y="1437477"/>
            <a:ext cx="8855034" cy="490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68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the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91D171-1473-4090-E0D5-EF4CD4819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334770"/>
              </p:ext>
            </p:extLst>
          </p:nvPr>
        </p:nvGraphicFramePr>
        <p:xfrm>
          <a:off x="3451225" y="1374052"/>
          <a:ext cx="5289550" cy="4780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18613015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3508977900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368947335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49804318"/>
                    </a:ext>
                  </a:extLst>
                </a:gridCol>
              </a:tblGrid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duration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EF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64946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567522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73215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41804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30880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876857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944462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02808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6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671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Start from the last activity</a:t>
            </a:r>
          </a:p>
          <a:p>
            <a:r>
              <a:rPr lang="en-US" dirty="0"/>
              <a:t>Latest finish (LF) for last activity = earliest finish (EF)</a:t>
            </a:r>
          </a:p>
          <a:p>
            <a:r>
              <a:rPr lang="en-US" dirty="0"/>
              <a:t>work backwards</a:t>
            </a:r>
          </a:p>
          <a:p>
            <a:r>
              <a:rPr lang="en-US" dirty="0"/>
              <a:t>Latest finish for current activity = Latest start for the following</a:t>
            </a:r>
          </a:p>
          <a:p>
            <a:r>
              <a:rPr lang="en-US" dirty="0"/>
              <a:t>More than one following activity - take the earliest LS</a:t>
            </a:r>
          </a:p>
          <a:p>
            <a:r>
              <a:rPr lang="en-US" dirty="0"/>
              <a:t>Latest start (LS) = LF for activity - duration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22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LS for all activities?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BA7CD8-F1CE-744B-718B-0848D6F7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739" y="1239742"/>
            <a:ext cx="9368522" cy="520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82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the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3C37DF-3F61-03A4-6AB0-2621FF594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313397"/>
              </p:ext>
            </p:extLst>
          </p:nvPr>
        </p:nvGraphicFramePr>
        <p:xfrm>
          <a:off x="2276475" y="1316902"/>
          <a:ext cx="7639050" cy="4780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18613015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508977900"/>
                    </a:ext>
                  </a:extLst>
                </a:gridCol>
                <a:gridCol w="1212850">
                  <a:extLst>
                    <a:ext uri="{9D8B030D-6E8A-4147-A177-3AD203B41FA5}">
                      <a16:colId xmlns:a16="http://schemas.microsoft.com/office/drawing/2014/main" val="368947335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49804318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458416663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1635773083"/>
                    </a:ext>
                  </a:extLst>
                </a:gridCol>
              </a:tblGrid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DUR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EF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LS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LF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64946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567522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73215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41804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30880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876857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944462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02808"/>
                  </a:ext>
                </a:extLst>
              </a:tr>
              <a:tr h="53113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6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685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135" y="1490824"/>
            <a:ext cx="4777649" cy="19462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highlight>
                  <a:srgbClr val="FFFFFF"/>
                </a:highlight>
                <a:latin typeface="Open Sans" panose="020B0606030504020204" pitchFamily="34" charset="0"/>
              </a:rPr>
              <a:t>    </a:t>
            </a:r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Float = Latest finish –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		Earliest start –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		Duration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475D32-34DE-9791-0B66-FE4939A3CF9B}"/>
              </a:ext>
            </a:extLst>
          </p:cNvPr>
          <p:cNvSpPr/>
          <p:nvPr/>
        </p:nvSpPr>
        <p:spPr>
          <a:xfrm>
            <a:off x="1857363" y="3973886"/>
            <a:ext cx="7992094" cy="6175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activity</a:t>
            </a:r>
            <a:endParaRPr lang="vi-VN" sz="3200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C7439F-7800-CA8D-AF91-089349EE9A5F}"/>
              </a:ext>
            </a:extLst>
          </p:cNvPr>
          <p:cNvCxnSpPr>
            <a:cxnSpLocks/>
          </p:cNvCxnSpPr>
          <p:nvPr/>
        </p:nvCxnSpPr>
        <p:spPr>
          <a:xfrm>
            <a:off x="967765" y="4845942"/>
            <a:ext cx="984464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ACDD15-BF57-91C8-C26D-0F4FDC1C4624}"/>
              </a:ext>
            </a:extLst>
          </p:cNvPr>
          <p:cNvCxnSpPr/>
          <p:nvPr/>
        </p:nvCxnSpPr>
        <p:spPr>
          <a:xfrm>
            <a:off x="967765" y="3800914"/>
            <a:ext cx="0" cy="96190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47EBB4-8A0E-71DC-F910-31FB52C2C67A}"/>
              </a:ext>
            </a:extLst>
          </p:cNvPr>
          <p:cNvCxnSpPr/>
          <p:nvPr/>
        </p:nvCxnSpPr>
        <p:spPr>
          <a:xfrm>
            <a:off x="10773876" y="3800914"/>
            <a:ext cx="0" cy="96190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05C80B-8086-2D29-1D48-33A75ECFF353}"/>
              </a:ext>
            </a:extLst>
          </p:cNvPr>
          <p:cNvCxnSpPr>
            <a:cxnSpLocks/>
          </p:cNvCxnSpPr>
          <p:nvPr/>
        </p:nvCxnSpPr>
        <p:spPr>
          <a:xfrm flipV="1">
            <a:off x="2533329" y="4915215"/>
            <a:ext cx="0" cy="78983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38D57E-6941-783D-521E-2B7B14FCE49B}"/>
              </a:ext>
            </a:extLst>
          </p:cNvPr>
          <p:cNvCxnSpPr>
            <a:cxnSpLocks/>
          </p:cNvCxnSpPr>
          <p:nvPr/>
        </p:nvCxnSpPr>
        <p:spPr>
          <a:xfrm flipV="1">
            <a:off x="9229032" y="4915214"/>
            <a:ext cx="0" cy="78983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2EAD6E9-6587-623A-18E3-F32D91454712}"/>
              </a:ext>
            </a:extLst>
          </p:cNvPr>
          <p:cNvSpPr txBox="1">
            <a:spLocks/>
          </p:cNvSpPr>
          <p:nvPr/>
        </p:nvSpPr>
        <p:spPr>
          <a:xfrm>
            <a:off x="761119" y="3259849"/>
            <a:ext cx="975075" cy="5610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4960037-6987-255D-DE99-E5D8836D5940}"/>
              </a:ext>
            </a:extLst>
          </p:cNvPr>
          <p:cNvSpPr txBox="1">
            <a:spLocks/>
          </p:cNvSpPr>
          <p:nvPr/>
        </p:nvSpPr>
        <p:spPr>
          <a:xfrm>
            <a:off x="10544706" y="3198301"/>
            <a:ext cx="975075" cy="5610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LF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B68900C-725C-4F00-EACF-C6F216DB3F52}"/>
              </a:ext>
            </a:extLst>
          </p:cNvPr>
          <p:cNvSpPr txBox="1">
            <a:spLocks/>
          </p:cNvSpPr>
          <p:nvPr/>
        </p:nvSpPr>
        <p:spPr>
          <a:xfrm>
            <a:off x="2643805" y="5115356"/>
            <a:ext cx="1956538" cy="5610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Latest start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E06B481-6EB7-EBFC-5969-4014D5AD805A}"/>
              </a:ext>
            </a:extLst>
          </p:cNvPr>
          <p:cNvSpPr txBox="1">
            <a:spLocks/>
          </p:cNvSpPr>
          <p:nvPr/>
        </p:nvSpPr>
        <p:spPr>
          <a:xfrm>
            <a:off x="6872477" y="5117894"/>
            <a:ext cx="2419550" cy="5610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Earliest finish</a:t>
            </a:r>
          </a:p>
        </p:txBody>
      </p:sp>
    </p:spTree>
    <p:extLst>
      <p:ext uri="{BB962C8B-B14F-4D97-AF65-F5344CB8AC3E}">
        <p14:creationId xmlns:p14="http://schemas.microsoft.com/office/powerpoint/2010/main" val="1932426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the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C21CE14-4B08-8328-EA59-0C59B9D11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702185"/>
              </p:ext>
            </p:extLst>
          </p:nvPr>
        </p:nvGraphicFramePr>
        <p:xfrm>
          <a:off x="2187574" y="1294509"/>
          <a:ext cx="7816851" cy="494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693">
                  <a:extLst>
                    <a:ext uri="{9D8B030D-6E8A-4147-A177-3AD203B41FA5}">
                      <a16:colId xmlns:a16="http://schemas.microsoft.com/office/drawing/2014/main" val="1861301500"/>
                    </a:ext>
                  </a:extLst>
                </a:gridCol>
                <a:gridCol w="1116693">
                  <a:extLst>
                    <a:ext uri="{9D8B030D-6E8A-4147-A177-3AD203B41FA5}">
                      <a16:colId xmlns:a16="http://schemas.microsoft.com/office/drawing/2014/main" val="3508977900"/>
                    </a:ext>
                  </a:extLst>
                </a:gridCol>
                <a:gridCol w="1116693">
                  <a:extLst>
                    <a:ext uri="{9D8B030D-6E8A-4147-A177-3AD203B41FA5}">
                      <a16:colId xmlns:a16="http://schemas.microsoft.com/office/drawing/2014/main" val="3689473353"/>
                    </a:ext>
                  </a:extLst>
                </a:gridCol>
                <a:gridCol w="1116693">
                  <a:extLst>
                    <a:ext uri="{9D8B030D-6E8A-4147-A177-3AD203B41FA5}">
                      <a16:colId xmlns:a16="http://schemas.microsoft.com/office/drawing/2014/main" val="1749804318"/>
                    </a:ext>
                  </a:extLst>
                </a:gridCol>
                <a:gridCol w="1116693">
                  <a:extLst>
                    <a:ext uri="{9D8B030D-6E8A-4147-A177-3AD203B41FA5}">
                      <a16:colId xmlns:a16="http://schemas.microsoft.com/office/drawing/2014/main" val="458416663"/>
                    </a:ext>
                  </a:extLst>
                </a:gridCol>
                <a:gridCol w="1116693">
                  <a:extLst>
                    <a:ext uri="{9D8B030D-6E8A-4147-A177-3AD203B41FA5}">
                      <a16:colId xmlns:a16="http://schemas.microsoft.com/office/drawing/2014/main" val="1635773083"/>
                    </a:ext>
                  </a:extLst>
                </a:gridCol>
                <a:gridCol w="1116693">
                  <a:extLst>
                    <a:ext uri="{9D8B030D-6E8A-4147-A177-3AD203B41FA5}">
                      <a16:colId xmlns:a16="http://schemas.microsoft.com/office/drawing/2014/main" val="3555705689"/>
                    </a:ext>
                  </a:extLst>
                </a:gridCol>
              </a:tblGrid>
              <a:tr h="58393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Act-</a:t>
                      </a:r>
                      <a:r>
                        <a:rPr lang="en-US" sz="2500" b="1" dirty="0" err="1">
                          <a:solidFill>
                            <a:schemeClr val="tx1"/>
                          </a:solidFill>
                        </a:rPr>
                        <a:t>ivity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DUR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EF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LS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LF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64946"/>
                  </a:ext>
                </a:extLst>
              </a:tr>
              <a:tr h="58393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567522"/>
                  </a:ext>
                </a:extLst>
              </a:tr>
              <a:tr h="58393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73215"/>
                  </a:ext>
                </a:extLst>
              </a:tr>
              <a:tr h="58393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41804"/>
                  </a:ext>
                </a:extLst>
              </a:tr>
              <a:tr h="58393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30880"/>
                  </a:ext>
                </a:extLst>
              </a:tr>
              <a:tr h="58393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876857"/>
                  </a:ext>
                </a:extLst>
              </a:tr>
              <a:tr h="58393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944462"/>
                  </a:ext>
                </a:extLst>
              </a:tr>
              <a:tr h="583936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vi-VN" sz="2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2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0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259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Note the path through network with zero floats</a:t>
            </a:r>
          </a:p>
          <a:p>
            <a:r>
              <a:rPr lang="en-US" dirty="0"/>
              <a:t>Critical path: any delay in an activity on this path will delay whole project</a:t>
            </a:r>
          </a:p>
          <a:p>
            <a:r>
              <a:rPr lang="en-US" dirty="0"/>
              <a:t>Can there be more than one critical path?</a:t>
            </a:r>
          </a:p>
          <a:p>
            <a:r>
              <a:rPr lang="en-US" dirty="0"/>
              <a:t>Can there be no critical path?</a:t>
            </a:r>
          </a:p>
          <a:p>
            <a:r>
              <a:rPr lang="en-US" dirty="0"/>
              <a:t>Sub-critical paths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73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and interfering 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105" y="1364203"/>
            <a:ext cx="4694522" cy="14949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B can be up to 3 days late </a:t>
            </a:r>
            <a:br>
              <a:rPr lang="en-US" sz="3200" dirty="0"/>
            </a:br>
            <a:r>
              <a:rPr lang="en-US" sz="3200" dirty="0"/>
              <a:t>and not affect any </a:t>
            </a:r>
            <a:br>
              <a:rPr lang="en-US" sz="3200" dirty="0"/>
            </a:br>
            <a:r>
              <a:rPr lang="en-US" sz="3200" dirty="0"/>
              <a:t>other activity = </a:t>
            </a:r>
            <a:r>
              <a:rPr lang="en-US" sz="3200" b="1" dirty="0"/>
              <a:t>free float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Ch6</a:t>
            </a:r>
            <a:r>
              <a:rPr lang="en-US" dirty="0"/>
              <a:t>. Activity planning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6FCA8CE-C620-7689-4BAC-FFF0B59BE3FF}"/>
              </a:ext>
            </a:extLst>
          </p:cNvPr>
          <p:cNvSpPr txBox="1">
            <a:spLocks/>
          </p:cNvSpPr>
          <p:nvPr/>
        </p:nvSpPr>
        <p:spPr>
          <a:xfrm>
            <a:off x="4596071" y="5208630"/>
            <a:ext cx="6622792" cy="164937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dirty="0"/>
              <a:t>B can be a further 2 days late – affects</a:t>
            </a:r>
            <a:br>
              <a:rPr lang="en-US" dirty="0"/>
            </a:br>
            <a:r>
              <a:rPr lang="en-US" dirty="0"/>
              <a:t>D but not the project end date = </a:t>
            </a:r>
            <a:br>
              <a:rPr lang="en-US" dirty="0"/>
            </a:br>
            <a:r>
              <a:rPr lang="en-US" b="1" dirty="0"/>
              <a:t>interfering float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FD3395A-81BB-5F82-8C5C-E2FE7AEED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177713"/>
              </p:ext>
            </p:extLst>
          </p:nvPr>
        </p:nvGraphicFramePr>
        <p:xfrm>
          <a:off x="1460550" y="1393693"/>
          <a:ext cx="2360340" cy="130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780">
                  <a:extLst>
                    <a:ext uri="{9D8B030D-6E8A-4147-A177-3AD203B41FA5}">
                      <a16:colId xmlns:a16="http://schemas.microsoft.com/office/drawing/2014/main" val="3345659735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3640144836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4164426367"/>
                    </a:ext>
                  </a:extLst>
                </a:gridCol>
              </a:tblGrid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7W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91075"/>
                  </a:ext>
                </a:extLst>
              </a:tr>
              <a:tr h="434942"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791079"/>
                  </a:ext>
                </a:extLst>
              </a:tr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2476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E88BA63-8902-DAF7-3AEC-BD5F45C5F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831031"/>
              </p:ext>
            </p:extLst>
          </p:nvPr>
        </p:nvGraphicFramePr>
        <p:xfrm>
          <a:off x="1460550" y="3018633"/>
          <a:ext cx="2360340" cy="130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780">
                  <a:extLst>
                    <a:ext uri="{9D8B030D-6E8A-4147-A177-3AD203B41FA5}">
                      <a16:colId xmlns:a16="http://schemas.microsoft.com/office/drawing/2014/main" val="3345659735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3640144836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4164426367"/>
                    </a:ext>
                  </a:extLst>
                </a:gridCol>
              </a:tblGrid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4W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91075"/>
                  </a:ext>
                </a:extLst>
              </a:tr>
              <a:tr h="434942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791079"/>
                  </a:ext>
                </a:extLst>
              </a:tr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24763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2BC756-B641-5B44-FA77-4CE9D5270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974044"/>
              </p:ext>
            </p:extLst>
          </p:nvPr>
        </p:nvGraphicFramePr>
        <p:xfrm>
          <a:off x="1460550" y="4823452"/>
          <a:ext cx="2360340" cy="130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780">
                  <a:extLst>
                    <a:ext uri="{9D8B030D-6E8A-4147-A177-3AD203B41FA5}">
                      <a16:colId xmlns:a16="http://schemas.microsoft.com/office/drawing/2014/main" val="3345659735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3640144836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4164426367"/>
                    </a:ext>
                  </a:extLst>
                </a:gridCol>
              </a:tblGrid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10W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91075"/>
                  </a:ext>
                </a:extLst>
              </a:tr>
              <a:tr h="434942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791079"/>
                  </a:ext>
                </a:extLst>
              </a:tr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24763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F3DB831-A6B7-0CD3-053B-6D903E906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077828"/>
              </p:ext>
            </p:extLst>
          </p:nvPr>
        </p:nvGraphicFramePr>
        <p:xfrm>
          <a:off x="4528897" y="3018633"/>
          <a:ext cx="2360340" cy="130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780">
                  <a:extLst>
                    <a:ext uri="{9D8B030D-6E8A-4147-A177-3AD203B41FA5}">
                      <a16:colId xmlns:a16="http://schemas.microsoft.com/office/drawing/2014/main" val="3345659735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3640144836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4164426367"/>
                    </a:ext>
                  </a:extLst>
                </a:gridCol>
              </a:tblGrid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1W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91075"/>
                  </a:ext>
                </a:extLst>
              </a:tr>
              <a:tr h="434942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791079"/>
                  </a:ext>
                </a:extLst>
              </a:tr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24763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BB33A19-C362-3495-948B-E7AE5BD63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438298"/>
              </p:ext>
            </p:extLst>
          </p:nvPr>
        </p:nvGraphicFramePr>
        <p:xfrm>
          <a:off x="7597244" y="3018633"/>
          <a:ext cx="2360340" cy="130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780">
                  <a:extLst>
                    <a:ext uri="{9D8B030D-6E8A-4147-A177-3AD203B41FA5}">
                      <a16:colId xmlns:a16="http://schemas.microsoft.com/office/drawing/2014/main" val="3345659735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3640144836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4164426367"/>
                    </a:ext>
                  </a:extLst>
                </a:gridCol>
              </a:tblGrid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2W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vi-V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91075"/>
                  </a:ext>
                </a:extLst>
              </a:tr>
              <a:tr h="434942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791079"/>
                  </a:ext>
                </a:extLst>
              </a:tr>
              <a:tr h="4349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vi-V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247634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4BD0F5-FFEE-78B7-0D3F-238030748F41}"/>
              </a:ext>
            </a:extLst>
          </p:cNvPr>
          <p:cNvCxnSpPr>
            <a:stCxn id="3" idx="1"/>
          </p:cNvCxnSpPr>
          <p:nvPr/>
        </p:nvCxnSpPr>
        <p:spPr>
          <a:xfrm flipH="1">
            <a:off x="3820890" y="2111698"/>
            <a:ext cx="1322215" cy="19734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B0EA94-4D35-29EC-0951-395867C01BAA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3633849" y="4323459"/>
            <a:ext cx="962222" cy="17098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0CBD2-41D5-700A-98DE-4D205141BAB9}"/>
              </a:ext>
            </a:extLst>
          </p:cNvPr>
          <p:cNvCxnSpPr>
            <a:endCxn id="14" idx="1"/>
          </p:cNvCxnSpPr>
          <p:nvPr/>
        </p:nvCxnSpPr>
        <p:spPr>
          <a:xfrm flipV="1">
            <a:off x="3820890" y="3671046"/>
            <a:ext cx="708007" cy="103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2D5320D-B55F-330F-C32C-BF8E8E59C039}"/>
              </a:ext>
            </a:extLst>
          </p:cNvPr>
          <p:cNvCxnSpPr/>
          <p:nvPr/>
        </p:nvCxnSpPr>
        <p:spPr>
          <a:xfrm flipV="1">
            <a:off x="3820890" y="4085112"/>
            <a:ext cx="3776354" cy="973776"/>
          </a:xfrm>
          <a:prstGeom prst="bentConnector3">
            <a:avLst>
              <a:gd name="adj1" fmla="val 9025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D93239-8105-CFB0-ADBB-2CE6BCBE2C5C}"/>
              </a:ext>
            </a:extLst>
          </p:cNvPr>
          <p:cNvCxnSpPr>
            <a:endCxn id="15" idx="1"/>
          </p:cNvCxnSpPr>
          <p:nvPr/>
        </p:nvCxnSpPr>
        <p:spPr>
          <a:xfrm>
            <a:off x="6889237" y="3671046"/>
            <a:ext cx="70800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A66272-71E5-B509-E583-8EEB6B1B2C14}"/>
              </a:ext>
            </a:extLst>
          </p:cNvPr>
          <p:cNvCxnSpPr>
            <a:cxnSpLocks/>
          </p:cNvCxnSpPr>
          <p:nvPr/>
        </p:nvCxnSpPr>
        <p:spPr>
          <a:xfrm flipV="1">
            <a:off x="3820890" y="2111045"/>
            <a:ext cx="308198" cy="6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64D0ABC-2123-EA5E-1680-48D8DE09612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45664" y="2477193"/>
            <a:ext cx="1149381" cy="417086"/>
          </a:xfrm>
          <a:prstGeom prst="bentConnector3">
            <a:avLst>
              <a:gd name="adj1" fmla="val 9939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0789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7293</TotalTime>
  <Words>2339</Words>
  <Application>Microsoft Office PowerPoint</Application>
  <PresentationFormat>Widescreen</PresentationFormat>
  <Paragraphs>521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Open Sans</vt:lpstr>
      <vt:lpstr>Tw Cen MT</vt:lpstr>
      <vt:lpstr>Tw Cen MT Condensed</vt:lpstr>
      <vt:lpstr>Wingdings</vt:lpstr>
      <vt:lpstr>Wingdings 3</vt:lpstr>
      <vt:lpstr>Theme_SE2019s1</vt:lpstr>
      <vt:lpstr>Chapter 6 - Activity planning</vt:lpstr>
      <vt:lpstr>Scheduling</vt:lpstr>
      <vt:lpstr>Activity networks</vt:lpstr>
      <vt:lpstr>Defining activities</vt:lpstr>
      <vt:lpstr>Defining activities</vt:lpstr>
      <vt:lpstr>Identifying activities</vt:lpstr>
      <vt:lpstr>Hybrid approach</vt:lpstr>
      <vt:lpstr>The final outcome of the planning process</vt:lpstr>
      <vt:lpstr>PERT vs cpm</vt:lpstr>
      <vt:lpstr>Drawing up a PERT diagram</vt:lpstr>
      <vt:lpstr>Lagged activities</vt:lpstr>
      <vt:lpstr>Types of links between activities</vt:lpstr>
      <vt:lpstr>Types of links between activities</vt:lpstr>
      <vt:lpstr>Start and finish times</vt:lpstr>
      <vt:lpstr>Example</vt:lpstr>
      <vt:lpstr>‘Day 0’</vt:lpstr>
      <vt:lpstr>PowerPoint Presentation</vt:lpstr>
      <vt:lpstr>Complete for the previous example</vt:lpstr>
      <vt:lpstr>Forward pass</vt:lpstr>
      <vt:lpstr>Example of an activity network</vt:lpstr>
      <vt:lpstr>Complete the table</vt:lpstr>
      <vt:lpstr>Backward pass</vt:lpstr>
      <vt:lpstr>Example: LS for all activities?</vt:lpstr>
      <vt:lpstr>Complete the table</vt:lpstr>
      <vt:lpstr>Float</vt:lpstr>
      <vt:lpstr>Complete the table</vt:lpstr>
      <vt:lpstr>Critical path</vt:lpstr>
      <vt:lpstr>Free and interfering float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Mai Phước Lộc</cp:lastModifiedBy>
  <cp:revision>319</cp:revision>
  <dcterms:created xsi:type="dcterms:W3CDTF">2009-12-29T10:39:27Z</dcterms:created>
  <dcterms:modified xsi:type="dcterms:W3CDTF">2024-09-13T11:01:59Z</dcterms:modified>
</cp:coreProperties>
</file>