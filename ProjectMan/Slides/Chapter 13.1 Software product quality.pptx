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9" r:id="rId1"/>
  </p:sldMasterIdLst>
  <p:notesMasterIdLst>
    <p:notesMasterId r:id="rId28"/>
  </p:notesMasterIdLst>
  <p:handoutMasterIdLst>
    <p:handoutMasterId r:id="rId29"/>
  </p:handoutMasterIdLst>
  <p:sldIdLst>
    <p:sldId id="299" r:id="rId2"/>
    <p:sldId id="295" r:id="rId3"/>
    <p:sldId id="301" r:id="rId4"/>
    <p:sldId id="303" r:id="rId5"/>
    <p:sldId id="306" r:id="rId6"/>
    <p:sldId id="335" r:id="rId7"/>
    <p:sldId id="308" r:id="rId8"/>
    <p:sldId id="310" r:id="rId9"/>
    <p:sldId id="336" r:id="rId10"/>
    <p:sldId id="311" r:id="rId11"/>
    <p:sldId id="312" r:id="rId12"/>
    <p:sldId id="339" r:id="rId13"/>
    <p:sldId id="337" r:id="rId14"/>
    <p:sldId id="338" r:id="rId15"/>
    <p:sldId id="314" r:id="rId16"/>
    <p:sldId id="340" r:id="rId17"/>
    <p:sldId id="315" r:id="rId18"/>
    <p:sldId id="342" r:id="rId19"/>
    <p:sldId id="343" r:id="rId20"/>
    <p:sldId id="345" r:id="rId21"/>
    <p:sldId id="344" r:id="rId22"/>
    <p:sldId id="349" r:id="rId23"/>
    <p:sldId id="341" r:id="rId24"/>
    <p:sldId id="348" r:id="rId25"/>
    <p:sldId id="347" r:id="rId26"/>
    <p:sldId id="346" r:id="rId2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0" autoAdjust="0"/>
    <p:restoredTop sz="96727" autoAdjust="0"/>
  </p:normalViewPr>
  <p:slideViewPr>
    <p:cSldViewPr snapToGrid="0" snapToObjects="1">
      <p:cViewPr varScale="1">
        <p:scale>
          <a:sx n="155" d="100"/>
          <a:sy n="155" d="100"/>
        </p:scale>
        <p:origin x="576" y="114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83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30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15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66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53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41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210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87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30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dirty="0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8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88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144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51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53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31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293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3275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4531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126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8314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003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516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30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35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0242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9405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96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349" y="1"/>
            <a:ext cx="12192000" cy="5293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6350" y="-24063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97256"/>
            <a:ext cx="7772400" cy="1463040"/>
          </a:xfrm>
        </p:spPr>
        <p:txBody>
          <a:bodyPr anchor="ctr">
            <a:normAutofit/>
          </a:bodyPr>
          <a:lstStyle>
            <a:lvl1pPr algn="r">
              <a:defRPr sz="36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3897256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Thang</a:t>
            </a:r>
            <a:r>
              <a:rPr lang="en-US" dirty="0"/>
              <a:t> Bui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20122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4709"/>
            <a:ext cx="1278800" cy="87199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322651" y="529389"/>
            <a:ext cx="7772400" cy="2317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8000" dirty="0"/>
              <a:t>Software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1768" y="6525692"/>
            <a:ext cx="74188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Adapted from https://iansommerville.com/software-engineering-book/slides/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4299" y="2410485"/>
            <a:ext cx="1358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CO3001</a:t>
            </a:r>
          </a:p>
        </p:txBody>
      </p:sp>
    </p:spTree>
    <p:extLst>
      <p:ext uri="{BB962C8B-B14F-4D97-AF65-F5344CB8AC3E}">
        <p14:creationId xmlns:p14="http://schemas.microsoft.com/office/powerpoint/2010/main" val="293072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3754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5775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5224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388522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189193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6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96254"/>
            <a:ext cx="10786873" cy="12272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1524002"/>
            <a:ext cx="4965192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1011" y="1524002"/>
            <a:ext cx="5329988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9497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84222"/>
            <a:ext cx="10786873" cy="12392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4002"/>
            <a:ext cx="513604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346962"/>
            <a:ext cx="5136040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843" y="1524002"/>
            <a:ext cx="5394157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843" y="2346962"/>
            <a:ext cx="5394157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361780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991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9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8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30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8012"/>
            <a:ext cx="10786872" cy="478134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0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Ch1. Introduction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224745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8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61" r:id="rId8"/>
    <p:sldLayoutId id="2147483723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00050" indent="-40005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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2270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6313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39825" indent="-1635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7600DC-B0CD-1F43-6577-EA035114F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45D46-2537-D833-E9C1-99770824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Aug 2024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6C17DD5-9C6D-BDE9-0272-3FD1C39D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03" y="3879583"/>
            <a:ext cx="7772400" cy="1463040"/>
          </a:xfrm>
        </p:spPr>
        <p:txBody>
          <a:bodyPr/>
          <a:lstStyle/>
          <a:p>
            <a:r>
              <a:rPr lang="en-US" dirty="0"/>
              <a:t>Chapter 13.1 - software product quality</a:t>
            </a:r>
            <a:endParaRPr lang="vi-VN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619AF615-2E55-D393-FD5D-0D9984AC2985}"/>
              </a:ext>
            </a:extLst>
          </p:cNvPr>
          <p:cNvSpPr txBox="1">
            <a:spLocks/>
          </p:cNvSpPr>
          <p:nvPr/>
        </p:nvSpPr>
        <p:spPr>
          <a:xfrm>
            <a:off x="4038600" y="1399074"/>
            <a:ext cx="777240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SOFTWARE 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PROJECT MANAGEMENT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6991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importance of software quality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2C202-62B0-B80A-98DA-B6A292939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Increasing criticality of software</a:t>
            </a:r>
          </a:p>
          <a:p>
            <a:r>
              <a:rPr lang="en-US" dirty="0"/>
              <a:t>The intangibility of software</a:t>
            </a:r>
          </a:p>
          <a:p>
            <a:r>
              <a:rPr lang="en-US" dirty="0"/>
              <a:t>Project control concerns:</a:t>
            </a:r>
          </a:p>
          <a:p>
            <a:pPr lvl="1"/>
            <a:r>
              <a:rPr lang="en-US" dirty="0"/>
              <a:t>errors accumulate with each stage</a:t>
            </a:r>
          </a:p>
          <a:p>
            <a:pPr lvl="1"/>
            <a:r>
              <a:rPr lang="en-US" dirty="0"/>
              <a:t>errors become more expensive to remove the later they are found</a:t>
            </a:r>
          </a:p>
          <a:p>
            <a:pPr lvl="1"/>
            <a:r>
              <a:rPr lang="en-US" dirty="0"/>
              <a:t>it is difficult to control the error removal process (e.g. testing)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specifications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C549AB-7486-1AE2-6DC2-5CDE2136C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Where there is a specific need for a quality, produce a quality specification</a:t>
            </a:r>
          </a:p>
          <a:p>
            <a:r>
              <a:rPr lang="en-US" dirty="0"/>
              <a:t>Definition/description of the quality</a:t>
            </a:r>
          </a:p>
          <a:p>
            <a:r>
              <a:rPr lang="en-US" dirty="0"/>
              <a:t>Scale: the unit of measurement</a:t>
            </a:r>
          </a:p>
          <a:p>
            <a:r>
              <a:rPr lang="en-US" dirty="0"/>
              <a:t>Test: practical test of extent of quality</a:t>
            </a:r>
          </a:p>
          <a:p>
            <a:r>
              <a:rPr lang="en-US" dirty="0"/>
              <a:t>Minimally acceptable: lowest acceptable value, if compensated for by higher quality level elsewhere</a:t>
            </a:r>
          </a:p>
          <a:p>
            <a:r>
              <a:rPr lang="en-US" dirty="0"/>
              <a:t>Target range: desirable value</a:t>
            </a:r>
          </a:p>
          <a:p>
            <a:r>
              <a:rPr lang="en-US" dirty="0"/>
              <a:t>Now: value that currently applies</a:t>
            </a:r>
          </a:p>
        </p:txBody>
      </p:sp>
    </p:spTree>
    <p:extLst>
      <p:ext uri="{BB962C8B-B14F-4D97-AF65-F5344CB8AC3E}">
        <p14:creationId xmlns:p14="http://schemas.microsoft.com/office/powerpoint/2010/main" val="332708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F6395E2-5DE4-1C31-7DE1-1EE122F3B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966" y="3328884"/>
            <a:ext cx="7128067" cy="29804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</p:spPr>
        <p:txBody>
          <a:bodyPr anchor="ctr">
            <a:normAutofit/>
          </a:bodyPr>
          <a:lstStyle/>
          <a:p>
            <a:r>
              <a:rPr lang="en-US" dirty="0"/>
              <a:t>ISO standards: development life cycles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D75969CB-B379-92FA-8BFA-0F265E47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30" y="6470704"/>
            <a:ext cx="2154143" cy="274320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 anchor="ctr">
            <a:normAutofit/>
          </a:bodyPr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 hidden="1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6A4D3DC4-9E7F-1C47-B729-896D53019E3D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2AB41-A30E-E9CB-E143-62CAC88E8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development life cycle (like ISO 12207) indicates the sequence of processes that will produce the software deliverable and the intermediate products that will pass between the processes.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3BD9489-CF91-720B-2C2B-57303D0FA8C1}"/>
              </a:ext>
            </a:extLst>
          </p:cNvPr>
          <p:cNvSpPr txBox="1">
            <a:spLocks/>
          </p:cNvSpPr>
          <p:nvPr/>
        </p:nvSpPr>
        <p:spPr>
          <a:xfrm>
            <a:off x="11218863" y="6470386"/>
            <a:ext cx="973137" cy="2746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fld id="{6A4D3DC4-9E7F-1C47-B729-896D53019E3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779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609" y="1311443"/>
            <a:ext cx="10786872" cy="5334001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highlight>
                  <a:srgbClr val="FFFFFF"/>
                </a:highlight>
              </a:rPr>
              <a:t>ISO 9126 Software product quality</a:t>
            </a:r>
          </a:p>
          <a:p>
            <a:pPr lvl="1"/>
            <a:r>
              <a:rPr lang="en-US" sz="3200" b="0" i="0" dirty="0">
                <a:effectLst/>
                <a:highlight>
                  <a:srgbClr val="FFFFFF"/>
                </a:highlight>
              </a:rPr>
              <a:t>Attributes of software product quality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highlight>
                  <a:srgbClr val="FFFFFF"/>
                </a:highlight>
              </a:rPr>
              <a:t>External qualities i.e. apparent to the user of the deliverable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  <a:highlight>
                  <a:srgbClr val="FFFFFF"/>
                </a:highlight>
              </a:rPr>
              <a:t>Internal qualities i.e. apparent to the developers of the deliverables and the intermediate products</a:t>
            </a:r>
          </a:p>
          <a:p>
            <a:r>
              <a:rPr lang="en-US" b="0" i="0" dirty="0">
                <a:effectLst/>
                <a:highlight>
                  <a:srgbClr val="FFFFFF"/>
                </a:highlight>
              </a:rPr>
              <a:t>ISO Procedures to carry out the assessment of the product qualities defined in ISO 9126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71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quality	assessment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DFDAC-047C-CDFB-CD4D-0B1442C04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During software development, to assist developers to build software with the required qualities</a:t>
            </a:r>
          </a:p>
          <a:p>
            <a:r>
              <a:rPr lang="en-US" dirty="0"/>
              <a:t>During software acquisition to allow a customer to compare and select the best quality product</a:t>
            </a:r>
          </a:p>
          <a:p>
            <a:r>
              <a:rPr lang="en-US" dirty="0"/>
              <a:t>Independent evaluation by assessors rating a software product for a particular community of users</a:t>
            </a:r>
          </a:p>
        </p:txBody>
      </p:sp>
    </p:spTree>
    <p:extLst>
      <p:ext uri="{BB962C8B-B14F-4D97-AF65-F5344CB8AC3E}">
        <p14:creationId xmlns:p14="http://schemas.microsoft.com/office/powerpoint/2010/main" val="3392482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 9126 software product quality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B7D5B9F-A65D-AB67-B5B0-154C3BF659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7059" y="1840796"/>
            <a:ext cx="10467649" cy="3547282"/>
          </a:xfrm>
        </p:spPr>
      </p:pic>
    </p:spTree>
    <p:extLst>
      <p:ext uri="{BB962C8B-B14F-4D97-AF65-F5344CB8AC3E}">
        <p14:creationId xmlns:p14="http://schemas.microsoft.com/office/powerpoint/2010/main" val="1331051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in use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2445BA-3A44-067F-4D3E-AF419BFE8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Effectiveness – ability to achieve user goals with accuracy and completeness</a:t>
            </a:r>
          </a:p>
          <a:p>
            <a:r>
              <a:rPr lang="en-US" dirty="0"/>
              <a:t>Productivity – avoids excessive use of resources in achieving user goals</a:t>
            </a:r>
          </a:p>
          <a:p>
            <a:r>
              <a:rPr lang="en-US" dirty="0"/>
              <a:t>Safety – within reasonable levels of risk of harm to people, business, software, property, environment </a:t>
            </a:r>
            <a:r>
              <a:rPr lang="en-US" dirty="0" err="1"/>
              <a:t>etc</a:t>
            </a:r>
            <a:r>
              <a:rPr lang="en-US" dirty="0"/>
              <a:t>,</a:t>
            </a:r>
          </a:p>
          <a:p>
            <a:r>
              <a:rPr lang="en-US" dirty="0"/>
              <a:t>Satisfaction – happy users!</a:t>
            </a:r>
          </a:p>
          <a:p>
            <a:pPr marL="0" indent="0">
              <a:buNone/>
            </a:pPr>
            <a:r>
              <a:rPr lang="en-US" dirty="0"/>
              <a:t>‘users’ include those maintain software as well as those who operate it.</a:t>
            </a:r>
          </a:p>
        </p:txBody>
      </p:sp>
    </p:spTree>
    <p:extLst>
      <p:ext uri="{BB962C8B-B14F-4D97-AF65-F5344CB8AC3E}">
        <p14:creationId xmlns:p14="http://schemas.microsoft.com/office/powerpoint/2010/main" val="3263949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 9126 software qualities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AE0B308-900D-60C1-AD75-0D3D3578FE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856515"/>
              </p:ext>
            </p:extLst>
          </p:nvPr>
        </p:nvGraphicFramePr>
        <p:xfrm>
          <a:off x="717126" y="1248678"/>
          <a:ext cx="11199571" cy="4818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7363">
                  <a:extLst>
                    <a:ext uri="{9D8B030D-6E8A-4147-A177-3AD203B41FA5}">
                      <a16:colId xmlns:a16="http://schemas.microsoft.com/office/drawing/2014/main" val="2549392767"/>
                    </a:ext>
                  </a:extLst>
                </a:gridCol>
                <a:gridCol w="8362208">
                  <a:extLst>
                    <a:ext uri="{9D8B030D-6E8A-4147-A177-3AD203B41FA5}">
                      <a16:colId xmlns:a16="http://schemas.microsoft.com/office/drawing/2014/main" val="3200929861"/>
                    </a:ext>
                  </a:extLst>
                </a:gridCol>
              </a:tblGrid>
              <a:tr h="484743">
                <a:tc>
                  <a:txBody>
                    <a:bodyPr/>
                    <a:lstStyle/>
                    <a:p>
                      <a:r>
                        <a:rPr lang="en-US" sz="3200" dirty="0"/>
                        <a:t>functionality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does it satisfy user needs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630024"/>
                  </a:ext>
                </a:extLst>
              </a:tr>
              <a:tr h="750309">
                <a:tc>
                  <a:txBody>
                    <a:bodyPr/>
                    <a:lstStyle/>
                    <a:p>
                      <a:r>
                        <a:rPr lang="en-US" sz="3200" dirty="0"/>
                        <a:t>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can the software maintain its level of 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748918"/>
                  </a:ext>
                </a:extLst>
              </a:tr>
              <a:tr h="484743">
                <a:tc>
                  <a:txBody>
                    <a:bodyPr/>
                    <a:lstStyle/>
                    <a:p>
                      <a:r>
                        <a:rPr lang="en-US" sz="3200" dirty="0"/>
                        <a:t>usability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how easy is it to use?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370499"/>
                  </a:ext>
                </a:extLst>
              </a:tr>
              <a:tr h="1093307">
                <a:tc>
                  <a:txBody>
                    <a:bodyPr/>
                    <a:lstStyle/>
                    <a:p>
                      <a:r>
                        <a:rPr lang="en-US" sz="3200" dirty="0"/>
                        <a:t>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relates to the physical resources used during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115801"/>
                  </a:ext>
                </a:extLst>
              </a:tr>
              <a:tr h="836679">
                <a:tc>
                  <a:txBody>
                    <a:bodyPr/>
                    <a:lstStyle/>
                    <a:p>
                      <a:r>
                        <a:rPr lang="en-US" sz="3200" dirty="0"/>
                        <a:t>maintainability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relates to the effort needed to make changes to the software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38270"/>
                  </a:ext>
                </a:extLst>
              </a:tr>
              <a:tr h="750309">
                <a:tc>
                  <a:txBody>
                    <a:bodyPr/>
                    <a:lstStyle/>
                    <a:p>
                      <a:r>
                        <a:rPr lang="en-US" sz="3200" dirty="0"/>
                        <a:t>portability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how easy can it be moved to ad new 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818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144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Sub-characteristics of Functionality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7DB04EA-212D-EC14-4251-FFE52B12C800}"/>
              </a:ext>
            </a:extLst>
          </p:cNvPr>
          <p:cNvSpPr txBox="1">
            <a:spLocks/>
          </p:cNvSpPr>
          <p:nvPr/>
        </p:nvSpPr>
        <p:spPr>
          <a:xfrm>
            <a:off x="1024126" y="1311443"/>
            <a:ext cx="10786872" cy="5334001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>
                <a:highlight>
                  <a:srgbClr val="FFFFFF"/>
                </a:highlight>
              </a:rPr>
              <a:t>Suitability</a:t>
            </a:r>
          </a:p>
          <a:p>
            <a:pPr fontAlgn="auto"/>
            <a:r>
              <a:rPr lang="en-US" dirty="0">
                <a:highlight>
                  <a:srgbClr val="FFFFFF"/>
                </a:highlight>
              </a:rPr>
              <a:t>Accuracy</a:t>
            </a:r>
          </a:p>
          <a:p>
            <a:pPr fontAlgn="auto"/>
            <a:r>
              <a:rPr lang="en-US" dirty="0">
                <a:highlight>
                  <a:srgbClr val="FFFFFF"/>
                </a:highlight>
              </a:rPr>
              <a:t>Interoperability</a:t>
            </a:r>
          </a:p>
          <a:p>
            <a:pPr lvl="1" fontAlgn="auto"/>
            <a:r>
              <a:rPr lang="en-US" sz="3200" dirty="0">
                <a:highlight>
                  <a:srgbClr val="FFFFFF"/>
                </a:highlight>
              </a:rPr>
              <a:t>ability of software to interact with other software components</a:t>
            </a:r>
          </a:p>
          <a:p>
            <a:pPr fontAlgn="auto"/>
            <a:r>
              <a:rPr lang="en-US" dirty="0">
                <a:highlight>
                  <a:srgbClr val="FFFFFF"/>
                </a:highlight>
              </a:rPr>
              <a:t>Functionality compliance</a:t>
            </a:r>
          </a:p>
          <a:p>
            <a:pPr lvl="1" fontAlgn="auto"/>
            <a:r>
              <a:rPr lang="en-US" sz="3200" dirty="0">
                <a:highlight>
                  <a:srgbClr val="FFFFFF"/>
                </a:highlight>
              </a:rPr>
              <a:t>degree to which software adheres to application-related standards or legal requirements </a:t>
            </a:r>
            <a:r>
              <a:rPr lang="en-US" sz="3200" dirty="0" err="1">
                <a:highlight>
                  <a:srgbClr val="FFFFFF"/>
                </a:highlight>
              </a:rPr>
              <a:t>e.g</a:t>
            </a:r>
            <a:r>
              <a:rPr lang="en-US" sz="3200" dirty="0">
                <a:highlight>
                  <a:srgbClr val="FFFFFF"/>
                </a:highlight>
              </a:rPr>
              <a:t> audit</a:t>
            </a:r>
          </a:p>
          <a:p>
            <a:pPr fontAlgn="auto"/>
            <a:r>
              <a:rPr lang="en-US" dirty="0">
                <a:highlight>
                  <a:srgbClr val="FFFFFF"/>
                </a:highlight>
              </a:rPr>
              <a:t>Security</a:t>
            </a:r>
          </a:p>
          <a:p>
            <a:pPr lvl="1" fontAlgn="auto"/>
            <a:r>
              <a:rPr lang="en-US" sz="3200" dirty="0">
                <a:highlight>
                  <a:srgbClr val="FFFFFF"/>
                </a:highlight>
              </a:rPr>
              <a:t>control of access to the system</a:t>
            </a:r>
          </a:p>
        </p:txBody>
      </p:sp>
    </p:spTree>
    <p:extLst>
      <p:ext uri="{BB962C8B-B14F-4D97-AF65-F5344CB8AC3E}">
        <p14:creationId xmlns:p14="http://schemas.microsoft.com/office/powerpoint/2010/main" val="1575331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Sub-characteristics of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435950"/>
            <a:ext cx="10786872" cy="4432415"/>
          </a:xfrm>
        </p:spPr>
        <p:txBody>
          <a:bodyPr>
            <a:normAutofit/>
          </a:bodyPr>
          <a:lstStyle/>
          <a:p>
            <a:r>
              <a:rPr lang="en-US" dirty="0"/>
              <a:t>Maturity</a:t>
            </a:r>
          </a:p>
          <a:p>
            <a:pPr lvl="1"/>
            <a:r>
              <a:rPr lang="en-US" sz="3200" dirty="0"/>
              <a:t>frequency of failure due to faults - the more the software has been used, the more faults will have been removed</a:t>
            </a:r>
          </a:p>
          <a:p>
            <a:r>
              <a:rPr lang="en-US" dirty="0"/>
              <a:t>Fault-tolerance</a:t>
            </a:r>
          </a:p>
          <a:p>
            <a:r>
              <a:rPr lang="en-US" dirty="0"/>
              <a:t>Recoverability</a:t>
            </a:r>
          </a:p>
          <a:p>
            <a:pPr lvl="1"/>
            <a:r>
              <a:rPr lang="en-US" sz="3200" dirty="0"/>
              <a:t>note that this is distinguished from ‘security’ - see above</a:t>
            </a:r>
          </a:p>
          <a:p>
            <a:r>
              <a:rPr lang="en-US" dirty="0"/>
              <a:t>Reliability compliance </a:t>
            </a:r>
          </a:p>
          <a:p>
            <a:pPr lvl="1"/>
            <a:r>
              <a:rPr lang="en-US" sz="3200" dirty="0"/>
              <a:t>complies with standards relating to reliability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36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Sub-characteristics of Usability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6" y="1311443"/>
            <a:ext cx="10786872" cy="4432415"/>
          </a:xfrm>
        </p:spPr>
        <p:txBody>
          <a:bodyPr>
            <a:noAutofit/>
          </a:bodyPr>
          <a:lstStyle/>
          <a:p>
            <a:r>
              <a:rPr lang="en-US" dirty="0"/>
              <a:t>Understandability</a:t>
            </a:r>
          </a:p>
          <a:p>
            <a:pPr lvl="1"/>
            <a:r>
              <a:rPr lang="en-US" sz="3200" dirty="0"/>
              <a:t>easy to understand?</a:t>
            </a:r>
          </a:p>
          <a:p>
            <a:r>
              <a:rPr lang="en-US" dirty="0"/>
              <a:t>Learnability</a:t>
            </a:r>
          </a:p>
          <a:p>
            <a:pPr lvl="1"/>
            <a:r>
              <a:rPr lang="en-US" sz="3200" dirty="0"/>
              <a:t>easy to learn?</a:t>
            </a:r>
          </a:p>
          <a:p>
            <a:r>
              <a:rPr lang="en-US" dirty="0"/>
              <a:t>Operability</a:t>
            </a:r>
          </a:p>
          <a:p>
            <a:pPr lvl="1"/>
            <a:r>
              <a:rPr lang="en-US" sz="3200" dirty="0"/>
              <a:t>easy to use?</a:t>
            </a:r>
          </a:p>
          <a:p>
            <a:r>
              <a:rPr lang="en-US" dirty="0"/>
              <a:t>Attractiveness – this is a recent addition</a:t>
            </a:r>
          </a:p>
          <a:p>
            <a:r>
              <a:rPr lang="en-US" dirty="0"/>
              <a:t>Usability compliance</a:t>
            </a:r>
          </a:p>
          <a:p>
            <a:pPr lvl="1"/>
            <a:r>
              <a:rPr lang="en-US" sz="3200" dirty="0"/>
              <a:t>compliance with relevant standards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99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Sub-characteristics of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5" y="1435951"/>
            <a:ext cx="10786872" cy="5034700"/>
          </a:xfrm>
        </p:spPr>
        <p:txBody>
          <a:bodyPr>
            <a:normAutofit/>
          </a:bodyPr>
          <a:lstStyle/>
          <a:p>
            <a:r>
              <a:rPr lang="en-US" dirty="0"/>
              <a:t>Time </a:t>
            </a:r>
            <a:r>
              <a:rPr lang="en-US" dirty="0" err="1"/>
              <a:t>behaviour</a:t>
            </a:r>
            <a:endParaRPr lang="en-US" dirty="0"/>
          </a:p>
          <a:p>
            <a:pPr lvl="1"/>
            <a:r>
              <a:rPr lang="en-US" sz="3200" dirty="0"/>
              <a:t>e.g. response time</a:t>
            </a:r>
          </a:p>
          <a:p>
            <a:r>
              <a:rPr lang="en-US" dirty="0"/>
              <a:t>Resource utilization</a:t>
            </a:r>
          </a:p>
          <a:p>
            <a:pPr lvl="1"/>
            <a:r>
              <a:rPr lang="en-US" sz="3200" dirty="0"/>
              <a:t>e.g. memory usage</a:t>
            </a:r>
          </a:p>
          <a:p>
            <a:r>
              <a:rPr lang="en-US" dirty="0"/>
              <a:t>Efficiency compliance</a:t>
            </a:r>
          </a:p>
          <a:p>
            <a:pPr lvl="1"/>
            <a:r>
              <a:rPr lang="en-US" sz="3200" dirty="0"/>
              <a:t>compliance with relevant standards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52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Sub-characteristics of Maintainability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D83FA4-9862-24A1-BAF2-5D5810F30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</a:t>
            </a:r>
            <a:r>
              <a:rPr lang="en-US" dirty="0" err="1"/>
              <a:t>Analysability</a:t>
            </a:r>
            <a:r>
              <a:rPr lang="en-US" dirty="0"/>
              <a:t>”</a:t>
            </a:r>
          </a:p>
          <a:p>
            <a:pPr lvl="1"/>
            <a:r>
              <a:rPr lang="en-US" sz="3200" dirty="0"/>
              <a:t>ease with which the cause of a failure can be found</a:t>
            </a:r>
          </a:p>
          <a:p>
            <a:r>
              <a:rPr lang="en-US" dirty="0"/>
              <a:t>Changeability</a:t>
            </a:r>
          </a:p>
          <a:p>
            <a:pPr lvl="1"/>
            <a:r>
              <a:rPr lang="en-US" sz="3200" dirty="0"/>
              <a:t>how easy is software to change?</a:t>
            </a:r>
          </a:p>
          <a:p>
            <a:r>
              <a:rPr lang="en-US" dirty="0"/>
              <a:t>Stability</a:t>
            </a:r>
          </a:p>
          <a:p>
            <a:pPr lvl="1"/>
            <a:r>
              <a:rPr lang="en-US" sz="3200" dirty="0"/>
              <a:t>low risk of modification having unexpected effects</a:t>
            </a:r>
          </a:p>
          <a:p>
            <a:r>
              <a:rPr lang="en-US" dirty="0"/>
              <a:t>“Testability”</a:t>
            </a:r>
          </a:p>
          <a:p>
            <a:r>
              <a:rPr lang="en-US" dirty="0"/>
              <a:t>Maintainability conformance</a:t>
            </a:r>
          </a:p>
        </p:txBody>
      </p:sp>
    </p:spTree>
    <p:extLst>
      <p:ext uri="{BB962C8B-B14F-4D97-AF65-F5344CB8AC3E}">
        <p14:creationId xmlns:p14="http://schemas.microsoft.com/office/powerpoint/2010/main" val="1715132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Sub-characteristics of portability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01FC24-2E00-E86A-2095-56E071D62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Adaptability</a:t>
            </a:r>
          </a:p>
          <a:p>
            <a:r>
              <a:rPr lang="en-US" dirty="0"/>
              <a:t>“</a:t>
            </a:r>
            <a:r>
              <a:rPr lang="en-US" dirty="0" err="1"/>
              <a:t>Installability</a:t>
            </a:r>
            <a:r>
              <a:rPr lang="en-US" dirty="0"/>
              <a:t>”</a:t>
            </a:r>
          </a:p>
          <a:p>
            <a:r>
              <a:rPr lang="en-US" dirty="0"/>
              <a:t>Co-existence</a:t>
            </a:r>
          </a:p>
          <a:p>
            <a:pPr lvl="1"/>
            <a:r>
              <a:rPr lang="en-US" sz="3200" dirty="0"/>
              <a:t>Capability of co-existing with other independent software products</a:t>
            </a:r>
          </a:p>
        </p:txBody>
      </p:sp>
    </p:spTree>
    <p:extLst>
      <p:ext uri="{BB962C8B-B14F-4D97-AF65-F5344CB8AC3E}">
        <p14:creationId xmlns:p14="http://schemas.microsoft.com/office/powerpoint/2010/main" val="2441473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Sub-characteristics of portability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01FC24-2E00-E86A-2095-56E071D62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“Replaceability”</a:t>
            </a:r>
          </a:p>
          <a:p>
            <a:pPr lvl="1"/>
            <a:r>
              <a:rPr lang="en-US" sz="3200" dirty="0"/>
              <a:t>factors giving ‘upwards’ compatibility - ‘downwards’ compatibility is excluded</a:t>
            </a:r>
          </a:p>
          <a:p>
            <a:r>
              <a:rPr lang="en-US" dirty="0"/>
              <a:t>Portability conformance</a:t>
            </a:r>
          </a:p>
          <a:p>
            <a:pPr lvl="1"/>
            <a:r>
              <a:rPr lang="en-US" sz="3200" dirty="0"/>
              <a:t>Adherence to standards that support portability</a:t>
            </a:r>
          </a:p>
        </p:txBody>
      </p:sp>
    </p:spTree>
    <p:extLst>
      <p:ext uri="{BB962C8B-B14F-4D97-AF65-F5344CB8AC3E}">
        <p14:creationId xmlns:p14="http://schemas.microsoft.com/office/powerpoint/2010/main" val="1019357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ISO 9126 quality standards (development mode)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BC6DD-3D75-7D05-B9FC-D0D6DC848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Judge the importance of each quality for the application</a:t>
            </a:r>
          </a:p>
          <a:p>
            <a:pPr lvl="1"/>
            <a:r>
              <a:rPr lang="en-US" sz="3200" dirty="0"/>
              <a:t>for example, safety critical systems - reliability very important</a:t>
            </a:r>
          </a:p>
          <a:p>
            <a:pPr lvl="1"/>
            <a:r>
              <a:rPr lang="en-US" sz="3200" dirty="0"/>
              <a:t>real-time systems - efficiency important</a:t>
            </a:r>
          </a:p>
          <a:p>
            <a:r>
              <a:rPr lang="en-US" dirty="0"/>
              <a:t>Select relevant external measurements within ISO 9126 framework for these qualities, for example</a:t>
            </a:r>
          </a:p>
          <a:p>
            <a:pPr lvl="1"/>
            <a:r>
              <a:rPr lang="en-US" sz="3200" dirty="0"/>
              <a:t>mean-time between failures for reliability</a:t>
            </a:r>
          </a:p>
          <a:p>
            <a:pPr lvl="1"/>
            <a:r>
              <a:rPr lang="en-US" sz="3200" dirty="0"/>
              <a:t>response-time for efficiency</a:t>
            </a:r>
          </a:p>
        </p:txBody>
      </p:sp>
    </p:spTree>
    <p:extLst>
      <p:ext uri="{BB962C8B-B14F-4D97-AF65-F5344CB8AC3E}">
        <p14:creationId xmlns:p14="http://schemas.microsoft.com/office/powerpoint/2010/main" val="2993507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ISO 9126 quality standards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4E1C54F-7CE6-58A5-27B3-67B6C4F393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8170740"/>
              </p:ext>
            </p:extLst>
          </p:nvPr>
        </p:nvGraphicFramePr>
        <p:xfrm>
          <a:off x="1259911" y="1462817"/>
          <a:ext cx="9732554" cy="4358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89755">
                  <a:extLst>
                    <a:ext uri="{9D8B030D-6E8A-4147-A177-3AD203B41FA5}">
                      <a16:colId xmlns:a16="http://schemas.microsoft.com/office/drawing/2014/main" val="1023044612"/>
                    </a:ext>
                  </a:extLst>
                </a:gridCol>
                <a:gridCol w="1847527">
                  <a:extLst>
                    <a:ext uri="{9D8B030D-6E8A-4147-A177-3AD203B41FA5}">
                      <a16:colId xmlns:a16="http://schemas.microsoft.com/office/drawing/2014/main" val="1077273449"/>
                    </a:ext>
                  </a:extLst>
                </a:gridCol>
                <a:gridCol w="2495272">
                  <a:extLst>
                    <a:ext uri="{9D8B030D-6E8A-4147-A177-3AD203B41FA5}">
                      <a16:colId xmlns:a16="http://schemas.microsoft.com/office/drawing/2014/main" val="4007024380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marL="285750" indent="-285750">
                        <a:buClr>
                          <a:schemeClr val="accent1"/>
                        </a:buClr>
                        <a:buFont typeface="Wingdings" panose="05000000000000000000" pitchFamily="2" charset="2"/>
                        <a:buChar char="ü"/>
                      </a:pPr>
                      <a:r>
                        <a:rPr lang="en-US" sz="3200" dirty="0"/>
                        <a:t>map measurement onto ratings scale to show degree of user satisfaction – for example response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Response (secs)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Rating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4942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&lt;2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Exceeds requirement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07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2-5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Target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309844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6-10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Minimally acceptable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2723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&gt;10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Unacceptable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672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69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ISO 9126 quality standards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BC6DD-3D75-7D05-B9FC-D0D6DC848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 the relevant internal measurements and the intermediate products in which they would appear</a:t>
            </a:r>
          </a:p>
          <a:p>
            <a:r>
              <a:rPr lang="en-US" dirty="0"/>
              <a:t>e.g. at software design stage the estimated execution time for a transaction could be calculated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18000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ISO 9126 approach for application software selection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BC6DD-3D75-7D05-B9FC-D0D6DC848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5258685" cy="4781349"/>
          </a:xfrm>
        </p:spPr>
        <p:txBody>
          <a:bodyPr>
            <a:normAutofit/>
          </a:bodyPr>
          <a:lstStyle/>
          <a:p>
            <a:r>
              <a:rPr lang="en-US" dirty="0"/>
              <a:t>Rather than map engineering measurement to qualitative rating, map it to a score</a:t>
            </a:r>
          </a:p>
          <a:p>
            <a:r>
              <a:rPr lang="en-US" dirty="0"/>
              <a:t>Rate the importance of each quality in the range 1-5</a:t>
            </a:r>
          </a:p>
          <a:p>
            <a:r>
              <a:rPr lang="en-US" dirty="0"/>
              <a:t>Multiply quality and importance scores – see next slide</a:t>
            </a:r>
            <a:endParaRPr lang="en-US" sz="3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02A02F-41BE-7AD3-AD29-30BFF6BD4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907138"/>
              </p:ext>
            </p:extLst>
          </p:nvPr>
        </p:nvGraphicFramePr>
        <p:xfrm>
          <a:off x="6902244" y="1317367"/>
          <a:ext cx="4172156" cy="4541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6078">
                  <a:extLst>
                    <a:ext uri="{9D8B030D-6E8A-4147-A177-3AD203B41FA5}">
                      <a16:colId xmlns:a16="http://schemas.microsoft.com/office/drawing/2014/main" val="78643378"/>
                    </a:ext>
                  </a:extLst>
                </a:gridCol>
                <a:gridCol w="2086078">
                  <a:extLst>
                    <a:ext uri="{9D8B030D-6E8A-4147-A177-3AD203B41FA5}">
                      <a16:colId xmlns:a16="http://schemas.microsoft.com/office/drawing/2014/main" val="28320472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Response (secs)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Quality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048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&lt;2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268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28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4-5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271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6-7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036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8-9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105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&gt;9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844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380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quality scores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F4E238EB-D32B-E42D-6044-B839B977BC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8758598"/>
              </p:ext>
            </p:extLst>
          </p:nvPr>
        </p:nvGraphicFramePr>
        <p:xfrm>
          <a:off x="640719" y="1408373"/>
          <a:ext cx="10910562" cy="408719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783769">
                  <a:extLst>
                    <a:ext uri="{9D8B030D-6E8A-4147-A177-3AD203B41FA5}">
                      <a16:colId xmlns:a16="http://schemas.microsoft.com/office/drawing/2014/main" val="3705575442"/>
                    </a:ext>
                  </a:extLst>
                </a:gridCol>
                <a:gridCol w="1983521">
                  <a:extLst>
                    <a:ext uri="{9D8B030D-6E8A-4147-A177-3AD203B41FA5}">
                      <a16:colId xmlns:a16="http://schemas.microsoft.com/office/drawing/2014/main" val="324148506"/>
                    </a:ext>
                  </a:extLst>
                </a:gridCol>
                <a:gridCol w="1660039">
                  <a:extLst>
                    <a:ext uri="{9D8B030D-6E8A-4147-A177-3AD203B41FA5}">
                      <a16:colId xmlns:a16="http://schemas.microsoft.com/office/drawing/2014/main" val="496992688"/>
                    </a:ext>
                  </a:extLst>
                </a:gridCol>
                <a:gridCol w="1818022">
                  <a:extLst>
                    <a:ext uri="{9D8B030D-6E8A-4147-A177-3AD203B41FA5}">
                      <a16:colId xmlns:a16="http://schemas.microsoft.com/office/drawing/2014/main" val="2720407227"/>
                    </a:ext>
                  </a:extLst>
                </a:gridCol>
                <a:gridCol w="1672192">
                  <a:extLst>
                    <a:ext uri="{9D8B030D-6E8A-4147-A177-3AD203B41FA5}">
                      <a16:colId xmlns:a16="http://schemas.microsoft.com/office/drawing/2014/main" val="3888027470"/>
                    </a:ext>
                  </a:extLst>
                </a:gridCol>
                <a:gridCol w="1993019">
                  <a:extLst>
                    <a:ext uri="{9D8B030D-6E8A-4147-A177-3AD203B41FA5}">
                      <a16:colId xmlns:a16="http://schemas.microsoft.com/office/drawing/2014/main" val="2565756724"/>
                    </a:ext>
                  </a:extLst>
                </a:gridCol>
              </a:tblGrid>
              <a:tr h="6072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Product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2400" dirty="0"/>
                        <a:t>Product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111797"/>
                  </a:ext>
                </a:extLst>
              </a:tr>
              <a:tr h="982660">
                <a:tc>
                  <a:txBody>
                    <a:bodyPr/>
                    <a:lstStyle/>
                    <a:p>
                      <a:r>
                        <a:rPr lang="en-US" sz="2000" dirty="0"/>
                        <a:t>Product quality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Importance rating (a)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Quality score 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Weighted score (a x 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Quality score (c)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Weighted score (a x c)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41574"/>
                  </a:ext>
                </a:extLst>
              </a:tr>
              <a:tr h="658065">
                <a:tc>
                  <a:txBody>
                    <a:bodyPr/>
                    <a:lstStyle/>
                    <a:p>
                      <a:r>
                        <a:rPr lang="en-US" sz="2000" dirty="0"/>
                        <a:t>Usability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200735"/>
                  </a:ext>
                </a:extLst>
              </a:tr>
              <a:tr h="531536">
                <a:tc>
                  <a:txBody>
                    <a:bodyPr/>
                    <a:lstStyle/>
                    <a:p>
                      <a:r>
                        <a:rPr lang="en-US" sz="2000" dirty="0"/>
                        <a:t>Efficiency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127444"/>
                  </a:ext>
                </a:extLst>
              </a:tr>
              <a:tr h="808232">
                <a:tc>
                  <a:txBody>
                    <a:bodyPr/>
                    <a:lstStyle/>
                    <a:p>
                      <a:r>
                        <a:rPr lang="en-US" sz="2000" dirty="0"/>
                        <a:t>Maintain-ability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217419"/>
                  </a:ext>
                </a:extLst>
              </a:tr>
              <a:tr h="499459">
                <a:tc>
                  <a:txBody>
                    <a:bodyPr/>
                    <a:lstStyle/>
                    <a:p>
                      <a:r>
                        <a:rPr lang="en-US" sz="2000" dirty="0"/>
                        <a:t>Overall totals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672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143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achieve product quality?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BC6DD-3D75-7D05-B9FC-D0D6DC848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problem: quality attributes tend to retrospectively measurable</a:t>
            </a:r>
          </a:p>
          <a:p>
            <a:r>
              <a:rPr lang="en-US" dirty="0"/>
              <a:t>need to be able to examine processes by which product is created beforehand</a:t>
            </a:r>
          </a:p>
          <a:p>
            <a:r>
              <a:rPr lang="en-US" dirty="0"/>
              <a:t>the production process is a network of sub-processes</a:t>
            </a:r>
          </a:p>
          <a:p>
            <a:r>
              <a:rPr lang="en-US" dirty="0"/>
              <a:t>output from one process forms the input to the next</a:t>
            </a:r>
          </a:p>
          <a:p>
            <a:r>
              <a:rPr lang="en-US" dirty="0"/>
              <a:t>errors can enter the process at any stage</a:t>
            </a:r>
          </a:p>
        </p:txBody>
      </p:sp>
    </p:spTree>
    <p:extLst>
      <p:ext uri="{BB962C8B-B14F-4D97-AF65-F5344CB8AC3E}">
        <p14:creationId xmlns:p14="http://schemas.microsoft.com/office/powerpoint/2010/main" val="7906728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Correction of errors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BC6DD-3D75-7D05-B9FC-D0D6DC848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Errors are more expensive to correct at later stages</a:t>
            </a:r>
          </a:p>
          <a:p>
            <a:pPr lvl="1"/>
            <a:r>
              <a:rPr lang="en-US" sz="3200" dirty="0"/>
              <a:t>need to rework more stages</a:t>
            </a:r>
          </a:p>
          <a:p>
            <a:pPr lvl="1"/>
            <a:r>
              <a:rPr lang="en-US" sz="3200" dirty="0"/>
              <a:t>later stages are more detailed and less able to absorb change</a:t>
            </a:r>
          </a:p>
          <a:p>
            <a:r>
              <a:rPr lang="en-US" dirty="0"/>
              <a:t>Barry Boehm</a:t>
            </a:r>
          </a:p>
          <a:p>
            <a:pPr lvl="1"/>
            <a:r>
              <a:rPr lang="en-US" sz="3200" dirty="0"/>
              <a:t>Error typically 10 times more expensive to correct at coding stage than at requirements stage</a:t>
            </a:r>
          </a:p>
          <a:p>
            <a:pPr lvl="1"/>
            <a:r>
              <a:rPr lang="en-US" sz="3200" dirty="0"/>
              <a:t>100 times more expensive at maintenance stage</a:t>
            </a:r>
          </a:p>
        </p:txBody>
      </p:sp>
    </p:spTree>
    <p:extLst>
      <p:ext uri="{BB962C8B-B14F-4D97-AF65-F5344CB8AC3E}">
        <p14:creationId xmlns:p14="http://schemas.microsoft.com/office/powerpoint/2010/main" val="1481609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each activity, define: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BC6DD-3D75-7D05-B9FC-D0D6DC848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10322298" cy="4781349"/>
          </a:xfrm>
        </p:spPr>
        <p:txBody>
          <a:bodyPr>
            <a:normAutofit/>
          </a:bodyPr>
          <a:lstStyle/>
          <a:p>
            <a:r>
              <a:rPr lang="en-US" dirty="0"/>
              <a:t>Entry requirements</a:t>
            </a:r>
          </a:p>
          <a:p>
            <a:pPr lvl="1"/>
            <a:r>
              <a:rPr lang="en-US" sz="3200" dirty="0"/>
              <a:t>these have to be in place before an activity can be started</a:t>
            </a:r>
          </a:p>
          <a:p>
            <a:pPr lvl="1"/>
            <a:r>
              <a:rPr lang="en-US" sz="3200" dirty="0"/>
              <a:t>example: ‘a comprehensive set of test data and expected results be prepared and independently reviewed against the system requirement before program testing can commence’</a:t>
            </a:r>
          </a:p>
        </p:txBody>
      </p:sp>
    </p:spTree>
    <p:extLst>
      <p:ext uri="{BB962C8B-B14F-4D97-AF65-F5344CB8AC3E}">
        <p14:creationId xmlns:p14="http://schemas.microsoft.com/office/powerpoint/2010/main" val="18296830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each activity, define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BC6DD-3D75-7D05-B9FC-D0D6DC848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10371459" cy="4781349"/>
          </a:xfrm>
        </p:spPr>
        <p:txBody>
          <a:bodyPr>
            <a:normAutofit/>
          </a:bodyPr>
          <a:lstStyle/>
          <a:p>
            <a:r>
              <a:rPr lang="en-US" dirty="0"/>
              <a:t>Implementation requirements</a:t>
            </a:r>
          </a:p>
          <a:p>
            <a:pPr lvl="1"/>
            <a:r>
              <a:rPr lang="en-US" sz="3200" dirty="0"/>
              <a:t>these define how the process is to be conducted</a:t>
            </a:r>
          </a:p>
          <a:p>
            <a:pPr lvl="1"/>
            <a:r>
              <a:rPr lang="en-US" sz="3200" dirty="0"/>
              <a:t>example ‘whenever an error is found and corrected, all test runs must be completed, including those previously successfully passed’</a:t>
            </a:r>
          </a:p>
        </p:txBody>
      </p:sp>
    </p:spTree>
    <p:extLst>
      <p:ext uri="{BB962C8B-B14F-4D97-AF65-F5344CB8AC3E}">
        <p14:creationId xmlns:p14="http://schemas.microsoft.com/office/powerpoint/2010/main" val="13592180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each activity, define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Ch13.1</a:t>
            </a:r>
            <a:r>
              <a:rPr lang="en-US" dirty="0"/>
              <a:t>. software product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7BC6DD-3D75-7D05-B9FC-D0D6DC848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Exit requirements</a:t>
            </a:r>
          </a:p>
          <a:p>
            <a:pPr lvl="1"/>
            <a:r>
              <a:rPr lang="en-US" sz="3200" dirty="0"/>
              <a:t>an activity will not be completed until these requirements have been met</a:t>
            </a:r>
          </a:p>
          <a:p>
            <a:pPr lvl="1"/>
            <a:r>
              <a:rPr lang="en-US" sz="3200" dirty="0"/>
              <a:t>example: ‘the testing phase is finished only when all tests have been run in succession with no outstanding errors’</a:t>
            </a:r>
          </a:p>
        </p:txBody>
      </p:sp>
    </p:spTree>
    <p:extLst>
      <p:ext uri="{BB962C8B-B14F-4D97-AF65-F5344CB8AC3E}">
        <p14:creationId xmlns:p14="http://schemas.microsoft.com/office/powerpoint/2010/main" val="33307925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_SE2019s1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SE2019s1" id="{E4EA5176-60B7-4738-A39A-85EA610AC46B}" vid="{8416C537-BC8A-42C5-99D5-28933A3097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Theme_SE2019s1</Template>
  <TotalTime>5932</TotalTime>
  <Words>2432</Words>
  <Application>Microsoft Office PowerPoint</Application>
  <PresentationFormat>Widescreen</PresentationFormat>
  <Paragraphs>476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Tw Cen MT</vt:lpstr>
      <vt:lpstr>Tw Cen MT Condensed</vt:lpstr>
      <vt:lpstr>Wingdings</vt:lpstr>
      <vt:lpstr>Wingdings 3</vt:lpstr>
      <vt:lpstr>Theme_SE2019s1</vt:lpstr>
      <vt:lpstr>Chapter 13.1 - software product quality</vt:lpstr>
      <vt:lpstr>The importance of software quality</vt:lpstr>
      <vt:lpstr>Quality specifications</vt:lpstr>
      <vt:lpstr>ISO standards: development life cycles</vt:lpstr>
      <vt:lpstr>Iso standards</vt:lpstr>
      <vt:lpstr>Types of quality assessment</vt:lpstr>
      <vt:lpstr>ISO 9126 software product quality</vt:lpstr>
      <vt:lpstr>Quality in use</vt:lpstr>
      <vt:lpstr>ISO 9126 software qualities</vt:lpstr>
      <vt:lpstr>Sub-characteristics of Functionality</vt:lpstr>
      <vt:lpstr>Sub-characteristics of Reliability</vt:lpstr>
      <vt:lpstr>Sub-characteristics of Usability</vt:lpstr>
      <vt:lpstr>Sub-characteristics of Efficiency</vt:lpstr>
      <vt:lpstr>Sub-characteristics of Maintainability</vt:lpstr>
      <vt:lpstr>Sub-characteristics of portability</vt:lpstr>
      <vt:lpstr>Sub-characteristics of portability</vt:lpstr>
      <vt:lpstr>Using ISO 9126 quality standards (development mode)</vt:lpstr>
      <vt:lpstr>Using ISO 9126 quality standards</vt:lpstr>
      <vt:lpstr>Using ISO 9126 quality standards</vt:lpstr>
      <vt:lpstr>Using ISO 9126 approach for application software selection</vt:lpstr>
      <vt:lpstr>Weighted quality scores</vt:lpstr>
      <vt:lpstr>How do we achieve product quality?</vt:lpstr>
      <vt:lpstr>Correction of errors</vt:lpstr>
      <vt:lpstr>For each activity, define:</vt:lpstr>
      <vt:lpstr>For each activity, define</vt:lpstr>
      <vt:lpstr>For each activity, define</vt:lpstr>
    </vt:vector>
  </TitlesOfParts>
  <Company>HCMUT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chap 1. Intro</dc:title>
  <dc:creator>Thang Bui</dc:creator>
  <cp:lastModifiedBy>Mai Phước Lộc</cp:lastModifiedBy>
  <cp:revision>183</cp:revision>
  <dcterms:created xsi:type="dcterms:W3CDTF">2009-12-29T10:39:27Z</dcterms:created>
  <dcterms:modified xsi:type="dcterms:W3CDTF">2024-09-16T01:58:48Z</dcterms:modified>
</cp:coreProperties>
</file>