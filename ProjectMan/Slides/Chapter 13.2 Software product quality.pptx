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49" r:id="rId1"/>
  </p:sldMasterIdLst>
  <p:notesMasterIdLst>
    <p:notesMasterId r:id="rId43"/>
  </p:notesMasterIdLst>
  <p:handoutMasterIdLst>
    <p:handoutMasterId r:id="rId44"/>
  </p:handoutMasterIdLst>
  <p:sldIdLst>
    <p:sldId id="299" r:id="rId2"/>
    <p:sldId id="295" r:id="rId3"/>
    <p:sldId id="301" r:id="rId4"/>
    <p:sldId id="303" r:id="rId5"/>
    <p:sldId id="306" r:id="rId6"/>
    <p:sldId id="335" r:id="rId7"/>
    <p:sldId id="308" r:id="rId8"/>
    <p:sldId id="310" r:id="rId9"/>
    <p:sldId id="312" r:id="rId10"/>
    <p:sldId id="339" r:id="rId11"/>
    <p:sldId id="336" r:id="rId12"/>
    <p:sldId id="311" r:id="rId13"/>
    <p:sldId id="337" r:id="rId14"/>
    <p:sldId id="338" r:id="rId15"/>
    <p:sldId id="314" r:id="rId16"/>
    <p:sldId id="340" r:id="rId17"/>
    <p:sldId id="315" r:id="rId18"/>
    <p:sldId id="342" r:id="rId19"/>
    <p:sldId id="343" r:id="rId20"/>
    <p:sldId id="345" r:id="rId21"/>
    <p:sldId id="344" r:id="rId22"/>
    <p:sldId id="349" r:id="rId23"/>
    <p:sldId id="341" r:id="rId24"/>
    <p:sldId id="348" r:id="rId25"/>
    <p:sldId id="350" r:id="rId26"/>
    <p:sldId id="347" r:id="rId27"/>
    <p:sldId id="351" r:id="rId28"/>
    <p:sldId id="346" r:id="rId29"/>
    <p:sldId id="364" r:id="rId30"/>
    <p:sldId id="363" r:id="rId31"/>
    <p:sldId id="362" r:id="rId32"/>
    <p:sldId id="361" r:id="rId33"/>
    <p:sldId id="360" r:id="rId34"/>
    <p:sldId id="359" r:id="rId35"/>
    <p:sldId id="358" r:id="rId36"/>
    <p:sldId id="357" r:id="rId37"/>
    <p:sldId id="356" r:id="rId38"/>
    <p:sldId id="355" r:id="rId39"/>
    <p:sldId id="354" r:id="rId40"/>
    <p:sldId id="353" r:id="rId41"/>
    <p:sldId id="352" r:id="rId42"/>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5pPr>
    <a:lvl6pPr marL="2286000" algn="l" defTabSz="457200" rtl="0" eaLnBrk="1" latinLnBrk="0" hangingPunct="1">
      <a:defRPr kern="1200">
        <a:solidFill>
          <a:schemeClr val="tx1"/>
        </a:solidFill>
        <a:latin typeface="Arial" charset="0"/>
        <a:ea typeface="ＭＳ Ｐゴシック" charset="-128"/>
        <a:cs typeface="ＭＳ Ｐゴシック" charset="-128"/>
      </a:defRPr>
    </a:lvl6pPr>
    <a:lvl7pPr marL="2743200" algn="l" defTabSz="457200" rtl="0" eaLnBrk="1" latinLnBrk="0" hangingPunct="1">
      <a:defRPr kern="1200">
        <a:solidFill>
          <a:schemeClr val="tx1"/>
        </a:solidFill>
        <a:latin typeface="Arial" charset="0"/>
        <a:ea typeface="ＭＳ Ｐゴシック" charset="-128"/>
        <a:cs typeface="ＭＳ Ｐゴシック" charset="-128"/>
      </a:defRPr>
    </a:lvl7pPr>
    <a:lvl8pPr marL="3200400" algn="l" defTabSz="457200" rtl="0" eaLnBrk="1" latinLnBrk="0" hangingPunct="1">
      <a:defRPr kern="1200">
        <a:solidFill>
          <a:schemeClr val="tx1"/>
        </a:solidFill>
        <a:latin typeface="Arial" charset="0"/>
        <a:ea typeface="ＭＳ Ｐゴシック" charset="-128"/>
        <a:cs typeface="ＭＳ Ｐゴシック" charset="-128"/>
      </a:defRPr>
    </a:lvl8pPr>
    <a:lvl9pPr marL="3657600" algn="l" defTabSz="457200" rtl="0" eaLnBrk="1" latinLnBrk="0" hangingPunct="1">
      <a:defRPr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424D"/>
    <a:srgbClr val="5B86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560" autoAdjust="0"/>
    <p:restoredTop sz="96727" autoAdjust="0"/>
  </p:normalViewPr>
  <p:slideViewPr>
    <p:cSldViewPr snapToGrid="0" snapToObjects="1">
      <p:cViewPr varScale="1">
        <p:scale>
          <a:sx n="155" d="100"/>
          <a:sy n="155" d="100"/>
        </p:scale>
        <p:origin x="576" y="114"/>
      </p:cViewPr>
      <p:guideLst>
        <p:guide orient="horz" pos="2160"/>
        <p:guide pos="3840"/>
      </p:guideLst>
    </p:cSldViewPr>
  </p:slideViewPr>
  <p:notesTextViewPr>
    <p:cViewPr>
      <p:scale>
        <a:sx n="75" d="100"/>
        <a:sy n="75" d="100"/>
      </p:scale>
      <p:origin x="0" y="0"/>
    </p:cViewPr>
  </p:notesTextViewPr>
  <p:sorterViewPr>
    <p:cViewPr>
      <p:scale>
        <a:sx n="66" d="100"/>
        <a:sy n="66" d="100"/>
      </p:scale>
      <p:origin x="0" y="0"/>
    </p:cViewPr>
  </p:sorterViewPr>
  <p:notesViewPr>
    <p:cSldViewPr snapToGrid="0" snapToObjects="1">
      <p:cViewPr varScale="1">
        <p:scale>
          <a:sx n="57" d="100"/>
          <a:sy n="57" d="100"/>
        </p:scale>
        <p:origin x="283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B44B6B1-5441-9644-AE1C-BB7EA5DBA264}" type="datetimeFigureOut">
              <a:rPr lang="en-US" smtClean="0"/>
              <a:pPr/>
              <a:t>9/16/2024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0300CC7-81E2-B842-8904-673E09748720}" type="slidenum">
              <a:rPr lang="en-US" smtClean="0"/>
              <a:pPr/>
              <a:t>‹#›</a:t>
            </a:fld>
            <a:endParaRPr lang="en-US"/>
          </a:p>
        </p:txBody>
      </p:sp>
    </p:spTree>
    <p:extLst>
      <p:ext uri="{BB962C8B-B14F-4D97-AF65-F5344CB8AC3E}">
        <p14:creationId xmlns:p14="http://schemas.microsoft.com/office/powerpoint/2010/main" val="112513300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1878819-472C-A14B-95BF-39C94BA106B2}" type="datetimeFigureOut">
              <a:rPr lang="en-US" smtClean="0"/>
              <a:pPr/>
              <a:t>9/16/2024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B4F38C2-4548-F541-8261-4C1D96E7A166}" type="slidenum">
              <a:rPr lang="en-US" smtClean="0"/>
              <a:pPr/>
              <a:t>‹#›</a:t>
            </a:fld>
            <a:endParaRPr lang="en-US"/>
          </a:p>
        </p:txBody>
      </p:sp>
    </p:spTree>
    <p:extLst>
      <p:ext uri="{BB962C8B-B14F-4D97-AF65-F5344CB8AC3E}">
        <p14:creationId xmlns:p14="http://schemas.microsoft.com/office/powerpoint/2010/main" val="2097415266"/>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US" b="1"/>
              <a:t>Topics covered</a:t>
            </a:r>
          </a:p>
          <a:p>
            <a:pPr algn="l"/>
            <a:endParaRPr lang="en-US" b="1" dirty="0"/>
          </a:p>
          <a:p>
            <a:pPr marL="171450" indent="-171450">
              <a:buFont typeface="Arial" panose="020B0604020202020204" pitchFamily="34" charset="0"/>
              <a:buChar char="•"/>
            </a:pPr>
            <a:r>
              <a:rPr lang="en-US" dirty="0"/>
              <a:t>Professional software development</a:t>
            </a:r>
          </a:p>
          <a:p>
            <a:pPr marL="628650" lvl="1" indent="-171450">
              <a:buFont typeface="Arial" panose="020B0604020202020204" pitchFamily="34" charset="0"/>
              <a:buChar char="•"/>
            </a:pPr>
            <a:r>
              <a:rPr lang="en-US" dirty="0"/>
              <a:t>What is meant by software engineering.</a:t>
            </a:r>
          </a:p>
          <a:p>
            <a:pPr marL="171450" indent="-171450">
              <a:buFont typeface="Arial" panose="020B0604020202020204" pitchFamily="34" charset="0"/>
              <a:buChar char="•"/>
            </a:pPr>
            <a:r>
              <a:rPr lang="en-US" dirty="0"/>
              <a:t>Software engineering ethics</a:t>
            </a:r>
          </a:p>
          <a:p>
            <a:pPr marL="628650" lvl="1" indent="-171450">
              <a:buFont typeface="Arial" panose="020B0604020202020204" pitchFamily="34" charset="0"/>
              <a:buChar char="•"/>
            </a:pPr>
            <a:r>
              <a:rPr lang="en-US" dirty="0"/>
              <a:t>A brief introduction to ethical issues that affect software engineering.</a:t>
            </a:r>
          </a:p>
          <a:p>
            <a:pPr marL="171450" indent="-171450">
              <a:buFont typeface="Arial" panose="020B0604020202020204" pitchFamily="34" charset="0"/>
              <a:buChar char="•"/>
            </a:pPr>
            <a:r>
              <a:rPr lang="en-US" dirty="0"/>
              <a:t>Suggested student projects</a:t>
            </a:r>
          </a:p>
          <a:p>
            <a:pPr marL="628650" lvl="1" indent="-171450">
              <a:buFont typeface="Arial" panose="020B0604020202020204" pitchFamily="34" charset="0"/>
              <a:buChar char="•"/>
            </a:pPr>
            <a:r>
              <a:rPr lang="en-US" dirty="0"/>
              <a:t>A brief introduction to each suggested project that can be carried out by students for this course</a:t>
            </a:r>
          </a:p>
        </p:txBody>
      </p:sp>
      <p:sp>
        <p:nvSpPr>
          <p:cNvPr id="4" name="Slide Number Placeholder 3"/>
          <p:cNvSpPr>
            <a:spLocks noGrp="1"/>
          </p:cNvSpPr>
          <p:nvPr>
            <p:ph type="sldNum" sz="quarter" idx="10"/>
          </p:nvPr>
        </p:nvSpPr>
        <p:spPr/>
        <p:txBody>
          <a:bodyPr/>
          <a:lstStyle/>
          <a:p>
            <a:fld id="{CB4F38C2-4548-F541-8261-4C1D96E7A166}" type="slidenum">
              <a:rPr lang="en-US" smtClean="0"/>
              <a:pPr/>
              <a:t>2</a:t>
            </a:fld>
            <a:endParaRPr lang="en-US"/>
          </a:p>
        </p:txBody>
      </p:sp>
    </p:spTree>
    <p:extLst>
      <p:ext uri="{BB962C8B-B14F-4D97-AF65-F5344CB8AC3E}">
        <p14:creationId xmlns:p14="http://schemas.microsoft.com/office/powerpoint/2010/main" val="37653959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US" b="1"/>
              <a:t>Topics covered</a:t>
            </a:r>
          </a:p>
          <a:p>
            <a:pPr algn="l"/>
            <a:endParaRPr lang="en-US" b="1" dirty="0"/>
          </a:p>
          <a:p>
            <a:pPr marL="171450" indent="-171450">
              <a:buFont typeface="Arial" panose="020B0604020202020204" pitchFamily="34" charset="0"/>
              <a:buChar char="•"/>
            </a:pPr>
            <a:r>
              <a:rPr lang="en-US" dirty="0"/>
              <a:t>Professional software development</a:t>
            </a:r>
          </a:p>
          <a:p>
            <a:pPr marL="628650" lvl="1" indent="-171450">
              <a:buFont typeface="Arial" panose="020B0604020202020204" pitchFamily="34" charset="0"/>
              <a:buChar char="•"/>
            </a:pPr>
            <a:r>
              <a:rPr lang="en-US" dirty="0"/>
              <a:t>What is meant by software engineering.</a:t>
            </a:r>
          </a:p>
          <a:p>
            <a:pPr marL="171450" indent="-171450">
              <a:buFont typeface="Arial" panose="020B0604020202020204" pitchFamily="34" charset="0"/>
              <a:buChar char="•"/>
            </a:pPr>
            <a:r>
              <a:rPr lang="en-US" dirty="0"/>
              <a:t>Software engineering ethics</a:t>
            </a:r>
          </a:p>
          <a:p>
            <a:pPr marL="628650" lvl="1" indent="-171450">
              <a:buFont typeface="Arial" panose="020B0604020202020204" pitchFamily="34" charset="0"/>
              <a:buChar char="•"/>
            </a:pPr>
            <a:r>
              <a:rPr lang="en-US" dirty="0"/>
              <a:t>A brief introduction to ethical issues that affect software engineering.</a:t>
            </a:r>
          </a:p>
          <a:p>
            <a:pPr marL="171450" indent="-171450">
              <a:buFont typeface="Arial" panose="020B0604020202020204" pitchFamily="34" charset="0"/>
              <a:buChar char="•"/>
            </a:pPr>
            <a:r>
              <a:rPr lang="en-US" dirty="0"/>
              <a:t>Suggested student projects</a:t>
            </a:r>
          </a:p>
          <a:p>
            <a:pPr marL="628650" lvl="1" indent="-171450">
              <a:buFont typeface="Arial" panose="020B0604020202020204" pitchFamily="34" charset="0"/>
              <a:buChar char="•"/>
            </a:pPr>
            <a:r>
              <a:rPr lang="en-US" dirty="0"/>
              <a:t>A brief introduction to each suggested project that can be carried out by students for this course</a:t>
            </a:r>
          </a:p>
        </p:txBody>
      </p:sp>
      <p:sp>
        <p:nvSpPr>
          <p:cNvPr id="4" name="Slide Number Placeholder 3"/>
          <p:cNvSpPr>
            <a:spLocks noGrp="1"/>
          </p:cNvSpPr>
          <p:nvPr>
            <p:ph type="sldNum" sz="quarter" idx="10"/>
          </p:nvPr>
        </p:nvSpPr>
        <p:spPr/>
        <p:txBody>
          <a:bodyPr/>
          <a:lstStyle/>
          <a:p>
            <a:fld id="{CB4F38C2-4548-F541-8261-4C1D96E7A166}" type="slidenum">
              <a:rPr lang="en-US" smtClean="0"/>
              <a:pPr/>
              <a:t>3</a:t>
            </a:fld>
            <a:endParaRPr lang="en-US"/>
          </a:p>
        </p:txBody>
      </p:sp>
    </p:spTree>
    <p:extLst>
      <p:ext uri="{BB962C8B-B14F-4D97-AF65-F5344CB8AC3E}">
        <p14:creationId xmlns:p14="http://schemas.microsoft.com/office/powerpoint/2010/main" val="8832661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US" b="1"/>
              <a:t>Topics covered</a:t>
            </a:r>
          </a:p>
          <a:p>
            <a:pPr algn="l"/>
            <a:endParaRPr lang="en-US" b="1" dirty="0"/>
          </a:p>
          <a:p>
            <a:pPr marL="171450" indent="-171450">
              <a:buFont typeface="Arial" panose="020B0604020202020204" pitchFamily="34" charset="0"/>
              <a:buChar char="•"/>
            </a:pPr>
            <a:r>
              <a:rPr lang="en-US" dirty="0"/>
              <a:t>Professional software development</a:t>
            </a:r>
          </a:p>
          <a:p>
            <a:pPr marL="628650" lvl="1" indent="-171450">
              <a:buFont typeface="Arial" panose="020B0604020202020204" pitchFamily="34" charset="0"/>
              <a:buChar char="•"/>
            </a:pPr>
            <a:r>
              <a:rPr lang="en-US" dirty="0"/>
              <a:t>What is meant by software engineering.</a:t>
            </a:r>
          </a:p>
          <a:p>
            <a:pPr marL="171450" indent="-171450">
              <a:buFont typeface="Arial" panose="020B0604020202020204" pitchFamily="34" charset="0"/>
              <a:buChar char="•"/>
            </a:pPr>
            <a:r>
              <a:rPr lang="en-US" dirty="0"/>
              <a:t>Software engineering ethics</a:t>
            </a:r>
          </a:p>
          <a:p>
            <a:pPr marL="628650" lvl="1" indent="-171450">
              <a:buFont typeface="Arial" panose="020B0604020202020204" pitchFamily="34" charset="0"/>
              <a:buChar char="•"/>
            </a:pPr>
            <a:r>
              <a:rPr lang="en-US" dirty="0"/>
              <a:t>A brief introduction to ethical issues that affect software engineering.</a:t>
            </a:r>
          </a:p>
          <a:p>
            <a:pPr marL="171450" indent="-171450">
              <a:buFont typeface="Arial" panose="020B0604020202020204" pitchFamily="34" charset="0"/>
              <a:buChar char="•"/>
            </a:pPr>
            <a:r>
              <a:rPr lang="en-US" dirty="0"/>
              <a:t>Suggested student projects</a:t>
            </a:r>
          </a:p>
          <a:p>
            <a:pPr marL="628650" lvl="1" indent="-171450">
              <a:buFont typeface="Arial" panose="020B0604020202020204" pitchFamily="34" charset="0"/>
              <a:buChar char="•"/>
            </a:pPr>
            <a:r>
              <a:rPr lang="en-US" dirty="0"/>
              <a:t>A brief introduction to each suggested project that can be carried out by students for this course</a:t>
            </a:r>
          </a:p>
        </p:txBody>
      </p:sp>
      <p:sp>
        <p:nvSpPr>
          <p:cNvPr id="4" name="Slide Number Placeholder 3"/>
          <p:cNvSpPr>
            <a:spLocks noGrp="1"/>
          </p:cNvSpPr>
          <p:nvPr>
            <p:ph type="sldNum" sz="quarter" idx="10"/>
          </p:nvPr>
        </p:nvSpPr>
        <p:spPr/>
        <p:txBody>
          <a:bodyPr/>
          <a:lstStyle/>
          <a:p>
            <a:fld id="{CB4F38C2-4548-F541-8261-4C1D96E7A166}" type="slidenum">
              <a:rPr lang="en-US" smtClean="0"/>
              <a:pPr/>
              <a:t>4</a:t>
            </a:fld>
            <a:endParaRPr lang="en-US"/>
          </a:p>
        </p:txBody>
      </p:sp>
    </p:spTree>
    <p:extLst>
      <p:ext uri="{BB962C8B-B14F-4D97-AF65-F5344CB8AC3E}">
        <p14:creationId xmlns:p14="http://schemas.microsoft.com/office/powerpoint/2010/main" val="33980532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US" b="1"/>
              <a:t>Topics covered</a:t>
            </a:r>
          </a:p>
          <a:p>
            <a:pPr algn="l"/>
            <a:endParaRPr lang="en-US" b="1" dirty="0"/>
          </a:p>
          <a:p>
            <a:pPr marL="171450" indent="-171450">
              <a:buFont typeface="Arial" panose="020B0604020202020204" pitchFamily="34" charset="0"/>
              <a:buChar char="•"/>
            </a:pPr>
            <a:r>
              <a:rPr lang="en-US" dirty="0"/>
              <a:t>Professional software development</a:t>
            </a:r>
          </a:p>
          <a:p>
            <a:pPr marL="628650" lvl="1" indent="-171450">
              <a:buFont typeface="Arial" panose="020B0604020202020204" pitchFamily="34" charset="0"/>
              <a:buChar char="•"/>
            </a:pPr>
            <a:r>
              <a:rPr lang="en-US" dirty="0"/>
              <a:t>What is meant by software engineering.</a:t>
            </a:r>
          </a:p>
          <a:p>
            <a:pPr marL="171450" indent="-171450">
              <a:buFont typeface="Arial" panose="020B0604020202020204" pitchFamily="34" charset="0"/>
              <a:buChar char="•"/>
            </a:pPr>
            <a:r>
              <a:rPr lang="en-US" dirty="0"/>
              <a:t>Software engineering ethics</a:t>
            </a:r>
          </a:p>
          <a:p>
            <a:pPr marL="628650" lvl="1" indent="-171450">
              <a:buFont typeface="Arial" panose="020B0604020202020204" pitchFamily="34" charset="0"/>
              <a:buChar char="•"/>
            </a:pPr>
            <a:r>
              <a:rPr lang="en-US" dirty="0"/>
              <a:t>A brief introduction to ethical issues that affect software engineering.</a:t>
            </a:r>
          </a:p>
          <a:p>
            <a:pPr marL="171450" indent="-171450">
              <a:buFont typeface="Arial" panose="020B0604020202020204" pitchFamily="34" charset="0"/>
              <a:buChar char="•"/>
            </a:pPr>
            <a:r>
              <a:rPr lang="en-US" dirty="0"/>
              <a:t>Suggested student projects</a:t>
            </a:r>
          </a:p>
          <a:p>
            <a:pPr marL="628650" lvl="1" indent="-171450">
              <a:buFont typeface="Arial" panose="020B0604020202020204" pitchFamily="34" charset="0"/>
              <a:buChar char="•"/>
            </a:pPr>
            <a:r>
              <a:rPr lang="en-US" dirty="0"/>
              <a:t>A brief introduction to each suggested project that can be carried out by students for this course</a:t>
            </a:r>
          </a:p>
        </p:txBody>
      </p:sp>
      <p:sp>
        <p:nvSpPr>
          <p:cNvPr id="4" name="Slide Number Placeholder 3"/>
          <p:cNvSpPr>
            <a:spLocks noGrp="1"/>
          </p:cNvSpPr>
          <p:nvPr>
            <p:ph type="sldNum" sz="quarter" idx="10"/>
          </p:nvPr>
        </p:nvSpPr>
        <p:spPr/>
        <p:txBody>
          <a:bodyPr/>
          <a:lstStyle/>
          <a:p>
            <a:fld id="{CB4F38C2-4548-F541-8261-4C1D96E7A166}" type="slidenum">
              <a:rPr lang="en-US" smtClean="0"/>
              <a:pPr/>
              <a:t>5</a:t>
            </a:fld>
            <a:endParaRPr lang="en-US"/>
          </a:p>
        </p:txBody>
      </p:sp>
    </p:spTree>
    <p:extLst>
      <p:ext uri="{BB962C8B-B14F-4D97-AF65-F5344CB8AC3E}">
        <p14:creationId xmlns:p14="http://schemas.microsoft.com/office/powerpoint/2010/main" val="9864415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US" b="1"/>
              <a:t>Topics covered</a:t>
            </a:r>
          </a:p>
          <a:p>
            <a:pPr algn="l"/>
            <a:endParaRPr lang="en-US" b="1" dirty="0"/>
          </a:p>
          <a:p>
            <a:pPr marL="171450" indent="-171450">
              <a:buFont typeface="Arial" panose="020B0604020202020204" pitchFamily="34" charset="0"/>
              <a:buChar char="•"/>
            </a:pPr>
            <a:r>
              <a:rPr lang="en-US" dirty="0"/>
              <a:t>Professional software development</a:t>
            </a:r>
          </a:p>
          <a:p>
            <a:pPr marL="628650" lvl="1" indent="-171450">
              <a:buFont typeface="Arial" panose="020B0604020202020204" pitchFamily="34" charset="0"/>
              <a:buChar char="•"/>
            </a:pPr>
            <a:r>
              <a:rPr lang="en-US" dirty="0"/>
              <a:t>What is meant by software engineering.</a:t>
            </a:r>
          </a:p>
          <a:p>
            <a:pPr marL="171450" indent="-171450">
              <a:buFont typeface="Arial" panose="020B0604020202020204" pitchFamily="34" charset="0"/>
              <a:buChar char="•"/>
            </a:pPr>
            <a:r>
              <a:rPr lang="en-US" dirty="0"/>
              <a:t>Software engineering ethics</a:t>
            </a:r>
          </a:p>
          <a:p>
            <a:pPr marL="628650" lvl="1" indent="-171450">
              <a:buFont typeface="Arial" panose="020B0604020202020204" pitchFamily="34" charset="0"/>
              <a:buChar char="•"/>
            </a:pPr>
            <a:r>
              <a:rPr lang="en-US" dirty="0"/>
              <a:t>A brief introduction to ethical issues that affect software engineering.</a:t>
            </a:r>
          </a:p>
          <a:p>
            <a:pPr marL="171450" indent="-171450">
              <a:buFont typeface="Arial" panose="020B0604020202020204" pitchFamily="34" charset="0"/>
              <a:buChar char="•"/>
            </a:pPr>
            <a:r>
              <a:rPr lang="en-US" dirty="0"/>
              <a:t>Suggested student projects</a:t>
            </a:r>
          </a:p>
          <a:p>
            <a:pPr marL="628650" lvl="1" indent="-171450">
              <a:buFont typeface="Arial" panose="020B0604020202020204" pitchFamily="34" charset="0"/>
              <a:buChar char="•"/>
            </a:pPr>
            <a:r>
              <a:rPr lang="en-US" dirty="0"/>
              <a:t>A brief introduction to each suggested project that can be carried out by students for this course</a:t>
            </a:r>
          </a:p>
        </p:txBody>
      </p:sp>
      <p:sp>
        <p:nvSpPr>
          <p:cNvPr id="4" name="Slide Number Placeholder 3"/>
          <p:cNvSpPr>
            <a:spLocks noGrp="1"/>
          </p:cNvSpPr>
          <p:nvPr>
            <p:ph type="sldNum" sz="quarter" idx="10"/>
          </p:nvPr>
        </p:nvSpPr>
        <p:spPr/>
        <p:txBody>
          <a:bodyPr/>
          <a:lstStyle/>
          <a:p>
            <a:fld id="{CB4F38C2-4548-F541-8261-4C1D96E7A166}" type="slidenum">
              <a:rPr lang="en-US" smtClean="0"/>
              <a:pPr/>
              <a:t>6</a:t>
            </a:fld>
            <a:endParaRPr lang="en-US"/>
          </a:p>
        </p:txBody>
      </p:sp>
    </p:spTree>
    <p:extLst>
      <p:ext uri="{BB962C8B-B14F-4D97-AF65-F5344CB8AC3E}">
        <p14:creationId xmlns:p14="http://schemas.microsoft.com/office/powerpoint/2010/main" val="37047210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US" b="1"/>
              <a:t>Topics covered</a:t>
            </a:r>
          </a:p>
          <a:p>
            <a:pPr algn="l"/>
            <a:endParaRPr lang="en-US" b="1" dirty="0"/>
          </a:p>
          <a:p>
            <a:pPr marL="171450" indent="-171450">
              <a:buFont typeface="Arial" panose="020B0604020202020204" pitchFamily="34" charset="0"/>
              <a:buChar char="•"/>
            </a:pPr>
            <a:r>
              <a:rPr lang="en-US" dirty="0"/>
              <a:t>Professional software development</a:t>
            </a:r>
          </a:p>
          <a:p>
            <a:pPr marL="628650" lvl="1" indent="-171450">
              <a:buFont typeface="Arial" panose="020B0604020202020204" pitchFamily="34" charset="0"/>
              <a:buChar char="•"/>
            </a:pPr>
            <a:r>
              <a:rPr lang="en-US" dirty="0"/>
              <a:t>What is meant by software engineering.</a:t>
            </a:r>
          </a:p>
          <a:p>
            <a:pPr marL="171450" indent="-171450">
              <a:buFont typeface="Arial" panose="020B0604020202020204" pitchFamily="34" charset="0"/>
              <a:buChar char="•"/>
            </a:pPr>
            <a:r>
              <a:rPr lang="en-US" dirty="0"/>
              <a:t>Software engineering ethics</a:t>
            </a:r>
          </a:p>
          <a:p>
            <a:pPr marL="628650" lvl="1" indent="-171450">
              <a:buFont typeface="Arial" panose="020B0604020202020204" pitchFamily="34" charset="0"/>
              <a:buChar char="•"/>
            </a:pPr>
            <a:r>
              <a:rPr lang="en-US" dirty="0"/>
              <a:t>A brief introduction to ethical issues that affect software engineering.</a:t>
            </a:r>
          </a:p>
          <a:p>
            <a:pPr marL="171450" indent="-171450">
              <a:buFont typeface="Arial" panose="020B0604020202020204" pitchFamily="34" charset="0"/>
              <a:buChar char="•"/>
            </a:pPr>
            <a:r>
              <a:rPr lang="en-US" dirty="0"/>
              <a:t>Suggested student projects</a:t>
            </a:r>
          </a:p>
          <a:p>
            <a:pPr marL="628650" lvl="1" indent="-171450">
              <a:buFont typeface="Arial" panose="020B0604020202020204" pitchFamily="34" charset="0"/>
              <a:buChar char="•"/>
            </a:pPr>
            <a:r>
              <a:rPr lang="en-US" dirty="0"/>
              <a:t>A brief introduction to each suggested project that can be carried out by students for this course</a:t>
            </a:r>
          </a:p>
        </p:txBody>
      </p:sp>
      <p:sp>
        <p:nvSpPr>
          <p:cNvPr id="4" name="Slide Number Placeholder 3"/>
          <p:cNvSpPr>
            <a:spLocks noGrp="1"/>
          </p:cNvSpPr>
          <p:nvPr>
            <p:ph type="sldNum" sz="quarter" idx="10"/>
          </p:nvPr>
        </p:nvSpPr>
        <p:spPr/>
        <p:txBody>
          <a:bodyPr/>
          <a:lstStyle/>
          <a:p>
            <a:fld id="{CB4F38C2-4548-F541-8261-4C1D96E7A166}" type="slidenum">
              <a:rPr lang="en-US" smtClean="0"/>
              <a:pPr/>
              <a:t>7</a:t>
            </a:fld>
            <a:endParaRPr lang="en-US"/>
          </a:p>
        </p:txBody>
      </p:sp>
    </p:spTree>
    <p:extLst>
      <p:ext uri="{BB962C8B-B14F-4D97-AF65-F5344CB8AC3E}">
        <p14:creationId xmlns:p14="http://schemas.microsoft.com/office/powerpoint/2010/main" val="33367879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US" b="1"/>
              <a:t>Topics covered</a:t>
            </a:r>
          </a:p>
          <a:p>
            <a:pPr algn="l"/>
            <a:endParaRPr lang="en-US" b="1" dirty="0"/>
          </a:p>
          <a:p>
            <a:pPr marL="171450" indent="-171450">
              <a:buFont typeface="Arial" panose="020B0604020202020204" pitchFamily="34" charset="0"/>
              <a:buChar char="•"/>
            </a:pPr>
            <a:r>
              <a:rPr lang="en-US" dirty="0"/>
              <a:t>Professional software development</a:t>
            </a:r>
          </a:p>
          <a:p>
            <a:pPr marL="628650" lvl="1" indent="-171450">
              <a:buFont typeface="Arial" panose="020B0604020202020204" pitchFamily="34" charset="0"/>
              <a:buChar char="•"/>
            </a:pPr>
            <a:r>
              <a:rPr lang="en-US" dirty="0"/>
              <a:t>What is meant by software engineering.</a:t>
            </a:r>
          </a:p>
          <a:p>
            <a:pPr marL="171450" indent="-171450">
              <a:buFont typeface="Arial" panose="020B0604020202020204" pitchFamily="34" charset="0"/>
              <a:buChar char="•"/>
            </a:pPr>
            <a:r>
              <a:rPr lang="en-US" dirty="0"/>
              <a:t>Software engineering ethics</a:t>
            </a:r>
          </a:p>
          <a:p>
            <a:pPr marL="628650" lvl="1" indent="-171450">
              <a:buFont typeface="Arial" panose="020B0604020202020204" pitchFamily="34" charset="0"/>
              <a:buChar char="•"/>
            </a:pPr>
            <a:r>
              <a:rPr lang="en-US" dirty="0"/>
              <a:t>A brief introduction to ethical issues that affect software engineering.</a:t>
            </a:r>
          </a:p>
          <a:p>
            <a:pPr marL="171450" indent="-171450">
              <a:buFont typeface="Arial" panose="020B0604020202020204" pitchFamily="34" charset="0"/>
              <a:buChar char="•"/>
            </a:pPr>
            <a:r>
              <a:rPr lang="en-US" dirty="0"/>
              <a:t>Suggested student projects</a:t>
            </a:r>
          </a:p>
          <a:p>
            <a:pPr marL="628650" lvl="1" indent="-171450">
              <a:buFont typeface="Arial" panose="020B0604020202020204" pitchFamily="34" charset="0"/>
              <a:buChar char="•"/>
            </a:pPr>
            <a:r>
              <a:rPr lang="en-US" dirty="0"/>
              <a:t>A brief introduction to each suggested project that can be carried out by students for this course</a:t>
            </a:r>
          </a:p>
        </p:txBody>
      </p:sp>
      <p:sp>
        <p:nvSpPr>
          <p:cNvPr id="4" name="Slide Number Placeholder 3"/>
          <p:cNvSpPr>
            <a:spLocks noGrp="1"/>
          </p:cNvSpPr>
          <p:nvPr>
            <p:ph type="sldNum" sz="quarter" idx="10"/>
          </p:nvPr>
        </p:nvSpPr>
        <p:spPr/>
        <p:txBody>
          <a:bodyPr/>
          <a:lstStyle/>
          <a:p>
            <a:fld id="{CB4F38C2-4548-F541-8261-4C1D96E7A166}" type="slidenum">
              <a:rPr lang="en-US" smtClean="0"/>
              <a:pPr/>
              <a:t>8</a:t>
            </a:fld>
            <a:endParaRPr lang="en-US"/>
          </a:p>
        </p:txBody>
      </p:sp>
    </p:spTree>
    <p:extLst>
      <p:ext uri="{BB962C8B-B14F-4D97-AF65-F5344CB8AC3E}">
        <p14:creationId xmlns:p14="http://schemas.microsoft.com/office/powerpoint/2010/main" val="11654303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US" b="1"/>
              <a:t>Topics covered</a:t>
            </a:r>
          </a:p>
          <a:p>
            <a:pPr algn="l"/>
            <a:endParaRPr lang="en-US" b="1" dirty="0"/>
          </a:p>
          <a:p>
            <a:pPr marL="171450" indent="-171450">
              <a:buFont typeface="Arial" panose="020B0604020202020204" pitchFamily="34" charset="0"/>
              <a:buChar char="•"/>
            </a:pPr>
            <a:r>
              <a:rPr lang="en-US" dirty="0"/>
              <a:t>Professional software development</a:t>
            </a:r>
          </a:p>
          <a:p>
            <a:pPr marL="628650" lvl="1" indent="-171450">
              <a:buFont typeface="Arial" panose="020B0604020202020204" pitchFamily="34" charset="0"/>
              <a:buChar char="•"/>
            </a:pPr>
            <a:r>
              <a:rPr lang="en-US" dirty="0"/>
              <a:t>What is meant by software engineering.</a:t>
            </a:r>
          </a:p>
          <a:p>
            <a:pPr marL="171450" indent="-171450">
              <a:buFont typeface="Arial" panose="020B0604020202020204" pitchFamily="34" charset="0"/>
              <a:buChar char="•"/>
            </a:pPr>
            <a:r>
              <a:rPr lang="en-US" dirty="0"/>
              <a:t>Software engineering ethics</a:t>
            </a:r>
          </a:p>
          <a:p>
            <a:pPr marL="628650" lvl="1" indent="-171450">
              <a:buFont typeface="Arial" panose="020B0604020202020204" pitchFamily="34" charset="0"/>
              <a:buChar char="•"/>
            </a:pPr>
            <a:r>
              <a:rPr lang="en-US" dirty="0"/>
              <a:t>A brief introduction to ethical issues that affect software engineering.</a:t>
            </a:r>
          </a:p>
          <a:p>
            <a:pPr marL="171450" indent="-171450">
              <a:buFont typeface="Arial" panose="020B0604020202020204" pitchFamily="34" charset="0"/>
              <a:buChar char="•"/>
            </a:pPr>
            <a:r>
              <a:rPr lang="en-US" dirty="0"/>
              <a:t>Suggested student projects</a:t>
            </a:r>
          </a:p>
          <a:p>
            <a:pPr marL="628650" lvl="1" indent="-171450">
              <a:buFont typeface="Arial" panose="020B0604020202020204" pitchFamily="34" charset="0"/>
              <a:buChar char="•"/>
            </a:pPr>
            <a:r>
              <a:rPr lang="en-US" dirty="0"/>
              <a:t>A brief introduction to each suggested project that can be carried out by students for this course</a:t>
            </a:r>
          </a:p>
        </p:txBody>
      </p:sp>
      <p:sp>
        <p:nvSpPr>
          <p:cNvPr id="4" name="Slide Number Placeholder 3"/>
          <p:cNvSpPr>
            <a:spLocks noGrp="1"/>
          </p:cNvSpPr>
          <p:nvPr>
            <p:ph type="sldNum" sz="quarter" idx="10"/>
          </p:nvPr>
        </p:nvSpPr>
        <p:spPr/>
        <p:txBody>
          <a:bodyPr/>
          <a:lstStyle/>
          <a:p>
            <a:fld id="{CB4F38C2-4548-F541-8261-4C1D96E7A166}" type="slidenum">
              <a:rPr lang="en-US" smtClean="0"/>
              <a:pPr/>
              <a:t>9</a:t>
            </a:fld>
            <a:endParaRPr lang="en-US"/>
          </a:p>
        </p:txBody>
      </p:sp>
    </p:spTree>
    <p:extLst>
      <p:ext uri="{BB962C8B-B14F-4D97-AF65-F5344CB8AC3E}">
        <p14:creationId xmlns:p14="http://schemas.microsoft.com/office/powerpoint/2010/main" val="35303144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US" b="1"/>
              <a:t>Topics covered</a:t>
            </a:r>
          </a:p>
          <a:p>
            <a:pPr algn="l"/>
            <a:endParaRPr lang="en-US" b="1" dirty="0"/>
          </a:p>
          <a:p>
            <a:pPr marL="171450" indent="-171450">
              <a:buFont typeface="Arial" panose="020B0604020202020204" pitchFamily="34" charset="0"/>
              <a:buChar char="•"/>
            </a:pPr>
            <a:r>
              <a:rPr lang="en-US" dirty="0"/>
              <a:t>Professional software development</a:t>
            </a:r>
          </a:p>
          <a:p>
            <a:pPr marL="628650" lvl="1" indent="-171450">
              <a:buFont typeface="Arial" panose="020B0604020202020204" pitchFamily="34" charset="0"/>
              <a:buChar char="•"/>
            </a:pPr>
            <a:r>
              <a:rPr lang="en-US" dirty="0"/>
              <a:t>What is meant by software engineering.</a:t>
            </a:r>
          </a:p>
          <a:p>
            <a:pPr marL="171450" indent="-171450">
              <a:buFont typeface="Arial" panose="020B0604020202020204" pitchFamily="34" charset="0"/>
              <a:buChar char="•"/>
            </a:pPr>
            <a:r>
              <a:rPr lang="en-US" dirty="0"/>
              <a:t>Software engineering ethics</a:t>
            </a:r>
          </a:p>
          <a:p>
            <a:pPr marL="628650" lvl="1" indent="-171450">
              <a:buFont typeface="Arial" panose="020B0604020202020204" pitchFamily="34" charset="0"/>
              <a:buChar char="•"/>
            </a:pPr>
            <a:r>
              <a:rPr lang="en-US" dirty="0"/>
              <a:t>A brief introduction to ethical issues that affect software engineering.</a:t>
            </a:r>
          </a:p>
          <a:p>
            <a:pPr marL="171450" indent="-171450">
              <a:buFont typeface="Arial" panose="020B0604020202020204" pitchFamily="34" charset="0"/>
              <a:buChar char="•"/>
            </a:pPr>
            <a:r>
              <a:rPr lang="en-US" dirty="0"/>
              <a:t>Suggested student projects</a:t>
            </a:r>
          </a:p>
          <a:p>
            <a:pPr marL="628650" lvl="1" indent="-171450">
              <a:buFont typeface="Arial" panose="020B0604020202020204" pitchFamily="34" charset="0"/>
              <a:buChar char="•"/>
            </a:pPr>
            <a:r>
              <a:rPr lang="en-US" dirty="0"/>
              <a:t>A brief introduction to each suggested project that can be carried out by students for this course</a:t>
            </a:r>
          </a:p>
        </p:txBody>
      </p:sp>
      <p:sp>
        <p:nvSpPr>
          <p:cNvPr id="4" name="Slide Number Placeholder 3"/>
          <p:cNvSpPr>
            <a:spLocks noGrp="1"/>
          </p:cNvSpPr>
          <p:nvPr>
            <p:ph type="sldNum" sz="quarter" idx="10"/>
          </p:nvPr>
        </p:nvSpPr>
        <p:spPr/>
        <p:txBody>
          <a:bodyPr/>
          <a:lstStyle/>
          <a:p>
            <a:fld id="{CB4F38C2-4548-F541-8261-4C1D96E7A166}" type="slidenum">
              <a:rPr lang="en-US" smtClean="0"/>
              <a:pPr/>
              <a:t>10</a:t>
            </a:fld>
            <a:endParaRPr lang="en-US"/>
          </a:p>
        </p:txBody>
      </p:sp>
    </p:spTree>
    <p:extLst>
      <p:ext uri="{BB962C8B-B14F-4D97-AF65-F5344CB8AC3E}">
        <p14:creationId xmlns:p14="http://schemas.microsoft.com/office/powerpoint/2010/main" val="27682510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US" b="1" dirty="0"/>
              <a:t>Topics covered</a:t>
            </a:r>
          </a:p>
          <a:p>
            <a:pPr algn="l"/>
            <a:endParaRPr lang="en-US" b="1" dirty="0"/>
          </a:p>
          <a:p>
            <a:pPr marL="171450" indent="-171450">
              <a:buFont typeface="Arial" panose="020B0604020202020204" pitchFamily="34" charset="0"/>
              <a:buChar char="•"/>
            </a:pPr>
            <a:r>
              <a:rPr lang="en-US" dirty="0"/>
              <a:t>Professional software development</a:t>
            </a:r>
          </a:p>
          <a:p>
            <a:pPr marL="628650" lvl="1" indent="-171450">
              <a:buFont typeface="Arial" panose="020B0604020202020204" pitchFamily="34" charset="0"/>
              <a:buChar char="•"/>
            </a:pPr>
            <a:r>
              <a:rPr lang="en-US" dirty="0"/>
              <a:t>What is meant by software engineering.</a:t>
            </a:r>
          </a:p>
          <a:p>
            <a:pPr marL="171450" indent="-171450">
              <a:buFont typeface="Arial" panose="020B0604020202020204" pitchFamily="34" charset="0"/>
              <a:buChar char="•"/>
            </a:pPr>
            <a:r>
              <a:rPr lang="en-US" dirty="0"/>
              <a:t>Software engineering ethics</a:t>
            </a:r>
          </a:p>
          <a:p>
            <a:pPr marL="628650" lvl="1" indent="-171450">
              <a:buFont typeface="Arial" panose="020B0604020202020204" pitchFamily="34" charset="0"/>
              <a:buChar char="•"/>
            </a:pPr>
            <a:r>
              <a:rPr lang="en-US" dirty="0"/>
              <a:t>A brief introduction to ethical issues that affect software engineering.</a:t>
            </a:r>
          </a:p>
          <a:p>
            <a:pPr marL="171450" indent="-171450">
              <a:buFont typeface="Arial" panose="020B0604020202020204" pitchFamily="34" charset="0"/>
              <a:buChar char="•"/>
            </a:pPr>
            <a:r>
              <a:rPr lang="en-US" dirty="0"/>
              <a:t>Suggested student projects</a:t>
            </a:r>
          </a:p>
          <a:p>
            <a:pPr marL="628650" lvl="1" indent="-171450">
              <a:buFont typeface="Arial" panose="020B0604020202020204" pitchFamily="34" charset="0"/>
              <a:buChar char="•"/>
            </a:pPr>
            <a:r>
              <a:rPr lang="en-US" dirty="0"/>
              <a:t>A brief introduction to each suggested project that can be carried out by students for this course</a:t>
            </a:r>
          </a:p>
        </p:txBody>
      </p:sp>
      <p:sp>
        <p:nvSpPr>
          <p:cNvPr id="4" name="Slide Number Placeholder 3"/>
          <p:cNvSpPr>
            <a:spLocks noGrp="1"/>
          </p:cNvSpPr>
          <p:nvPr>
            <p:ph type="sldNum" sz="quarter" idx="10"/>
          </p:nvPr>
        </p:nvSpPr>
        <p:spPr/>
        <p:txBody>
          <a:bodyPr/>
          <a:lstStyle/>
          <a:p>
            <a:fld id="{CB4F38C2-4548-F541-8261-4C1D96E7A166}" type="slidenum">
              <a:rPr lang="en-US" smtClean="0"/>
              <a:pPr/>
              <a:t>11</a:t>
            </a:fld>
            <a:endParaRPr lang="en-US"/>
          </a:p>
        </p:txBody>
      </p:sp>
    </p:spTree>
    <p:extLst>
      <p:ext uri="{BB962C8B-B14F-4D97-AF65-F5344CB8AC3E}">
        <p14:creationId xmlns:p14="http://schemas.microsoft.com/office/powerpoint/2010/main" val="19258385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US" b="1"/>
              <a:t>Topics covered</a:t>
            </a:r>
          </a:p>
          <a:p>
            <a:pPr algn="l"/>
            <a:endParaRPr lang="en-US" b="1" dirty="0"/>
          </a:p>
          <a:p>
            <a:pPr marL="171450" indent="-171450">
              <a:buFont typeface="Arial" panose="020B0604020202020204" pitchFamily="34" charset="0"/>
              <a:buChar char="•"/>
            </a:pPr>
            <a:r>
              <a:rPr lang="en-US" dirty="0"/>
              <a:t>Professional software development</a:t>
            </a:r>
          </a:p>
          <a:p>
            <a:pPr marL="628650" lvl="1" indent="-171450">
              <a:buFont typeface="Arial" panose="020B0604020202020204" pitchFamily="34" charset="0"/>
              <a:buChar char="•"/>
            </a:pPr>
            <a:r>
              <a:rPr lang="en-US" dirty="0"/>
              <a:t>What is meant by software engineering.</a:t>
            </a:r>
          </a:p>
          <a:p>
            <a:pPr marL="171450" indent="-171450">
              <a:buFont typeface="Arial" panose="020B0604020202020204" pitchFamily="34" charset="0"/>
              <a:buChar char="•"/>
            </a:pPr>
            <a:r>
              <a:rPr lang="en-US" dirty="0"/>
              <a:t>Software engineering ethics</a:t>
            </a:r>
          </a:p>
          <a:p>
            <a:pPr marL="628650" lvl="1" indent="-171450">
              <a:buFont typeface="Arial" panose="020B0604020202020204" pitchFamily="34" charset="0"/>
              <a:buChar char="•"/>
            </a:pPr>
            <a:r>
              <a:rPr lang="en-US" dirty="0"/>
              <a:t>A brief introduction to ethical issues that affect software engineering.</a:t>
            </a:r>
          </a:p>
          <a:p>
            <a:pPr marL="171450" indent="-171450">
              <a:buFont typeface="Arial" panose="020B0604020202020204" pitchFamily="34" charset="0"/>
              <a:buChar char="•"/>
            </a:pPr>
            <a:r>
              <a:rPr lang="en-US" dirty="0"/>
              <a:t>Suggested student projects</a:t>
            </a:r>
          </a:p>
          <a:p>
            <a:pPr marL="628650" lvl="1" indent="-171450">
              <a:buFont typeface="Arial" panose="020B0604020202020204" pitchFamily="34" charset="0"/>
              <a:buChar char="•"/>
            </a:pPr>
            <a:r>
              <a:rPr lang="en-US" dirty="0"/>
              <a:t>A brief introduction to each suggested project that can be carried out by students for this course</a:t>
            </a:r>
          </a:p>
        </p:txBody>
      </p:sp>
      <p:sp>
        <p:nvSpPr>
          <p:cNvPr id="4" name="Slide Number Placeholder 3"/>
          <p:cNvSpPr>
            <a:spLocks noGrp="1"/>
          </p:cNvSpPr>
          <p:nvPr>
            <p:ph type="sldNum" sz="quarter" idx="10"/>
          </p:nvPr>
        </p:nvSpPr>
        <p:spPr/>
        <p:txBody>
          <a:bodyPr/>
          <a:lstStyle/>
          <a:p>
            <a:fld id="{CB4F38C2-4548-F541-8261-4C1D96E7A166}" type="slidenum">
              <a:rPr lang="en-US" smtClean="0"/>
              <a:pPr/>
              <a:t>12</a:t>
            </a:fld>
            <a:endParaRPr lang="en-US"/>
          </a:p>
        </p:txBody>
      </p:sp>
    </p:spTree>
    <p:extLst>
      <p:ext uri="{BB962C8B-B14F-4D97-AF65-F5344CB8AC3E}">
        <p14:creationId xmlns:p14="http://schemas.microsoft.com/office/powerpoint/2010/main" val="38503886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US" b="1"/>
              <a:t>Topics covered</a:t>
            </a:r>
          </a:p>
          <a:p>
            <a:pPr algn="l"/>
            <a:endParaRPr lang="en-US" b="1" dirty="0"/>
          </a:p>
          <a:p>
            <a:pPr marL="171450" indent="-171450">
              <a:buFont typeface="Arial" panose="020B0604020202020204" pitchFamily="34" charset="0"/>
              <a:buChar char="•"/>
            </a:pPr>
            <a:r>
              <a:rPr lang="en-US" dirty="0"/>
              <a:t>Professional software development</a:t>
            </a:r>
          </a:p>
          <a:p>
            <a:pPr marL="628650" lvl="1" indent="-171450">
              <a:buFont typeface="Arial" panose="020B0604020202020204" pitchFamily="34" charset="0"/>
              <a:buChar char="•"/>
            </a:pPr>
            <a:r>
              <a:rPr lang="en-US" dirty="0"/>
              <a:t>What is meant by software engineering.</a:t>
            </a:r>
          </a:p>
          <a:p>
            <a:pPr marL="171450" indent="-171450">
              <a:buFont typeface="Arial" panose="020B0604020202020204" pitchFamily="34" charset="0"/>
              <a:buChar char="•"/>
            </a:pPr>
            <a:r>
              <a:rPr lang="en-US" dirty="0"/>
              <a:t>Software engineering ethics</a:t>
            </a:r>
          </a:p>
          <a:p>
            <a:pPr marL="628650" lvl="1" indent="-171450">
              <a:buFont typeface="Arial" panose="020B0604020202020204" pitchFamily="34" charset="0"/>
              <a:buChar char="•"/>
            </a:pPr>
            <a:r>
              <a:rPr lang="en-US" dirty="0"/>
              <a:t>A brief introduction to ethical issues that affect software engineering.</a:t>
            </a:r>
          </a:p>
          <a:p>
            <a:pPr marL="171450" indent="-171450">
              <a:buFont typeface="Arial" panose="020B0604020202020204" pitchFamily="34" charset="0"/>
              <a:buChar char="•"/>
            </a:pPr>
            <a:r>
              <a:rPr lang="en-US" dirty="0"/>
              <a:t>Suggested student projects</a:t>
            </a:r>
          </a:p>
          <a:p>
            <a:pPr marL="628650" lvl="1" indent="-171450">
              <a:buFont typeface="Arial" panose="020B0604020202020204" pitchFamily="34" charset="0"/>
              <a:buChar char="•"/>
            </a:pPr>
            <a:r>
              <a:rPr lang="en-US" dirty="0"/>
              <a:t>A brief introduction to each suggested project that can be carried out by students for this course</a:t>
            </a:r>
          </a:p>
        </p:txBody>
      </p:sp>
      <p:sp>
        <p:nvSpPr>
          <p:cNvPr id="4" name="Slide Number Placeholder 3"/>
          <p:cNvSpPr>
            <a:spLocks noGrp="1"/>
          </p:cNvSpPr>
          <p:nvPr>
            <p:ph type="sldNum" sz="quarter" idx="10"/>
          </p:nvPr>
        </p:nvSpPr>
        <p:spPr/>
        <p:txBody>
          <a:bodyPr/>
          <a:lstStyle/>
          <a:p>
            <a:fld id="{CB4F38C2-4548-F541-8261-4C1D96E7A166}" type="slidenum">
              <a:rPr lang="en-US" smtClean="0"/>
              <a:pPr/>
              <a:t>13</a:t>
            </a:fld>
            <a:endParaRPr lang="en-US"/>
          </a:p>
        </p:txBody>
      </p:sp>
    </p:spTree>
    <p:extLst>
      <p:ext uri="{BB962C8B-B14F-4D97-AF65-F5344CB8AC3E}">
        <p14:creationId xmlns:p14="http://schemas.microsoft.com/office/powerpoint/2010/main" val="8542537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US" b="1"/>
              <a:t>Topics covered</a:t>
            </a:r>
          </a:p>
          <a:p>
            <a:pPr algn="l"/>
            <a:endParaRPr lang="en-US" b="1" dirty="0"/>
          </a:p>
          <a:p>
            <a:pPr marL="171450" indent="-171450">
              <a:buFont typeface="Arial" panose="020B0604020202020204" pitchFamily="34" charset="0"/>
              <a:buChar char="•"/>
            </a:pPr>
            <a:r>
              <a:rPr lang="en-US" dirty="0"/>
              <a:t>Professional software development</a:t>
            </a:r>
          </a:p>
          <a:p>
            <a:pPr marL="628650" lvl="1" indent="-171450">
              <a:buFont typeface="Arial" panose="020B0604020202020204" pitchFamily="34" charset="0"/>
              <a:buChar char="•"/>
            </a:pPr>
            <a:r>
              <a:rPr lang="en-US" dirty="0"/>
              <a:t>What is meant by software engineering.</a:t>
            </a:r>
          </a:p>
          <a:p>
            <a:pPr marL="171450" indent="-171450">
              <a:buFont typeface="Arial" panose="020B0604020202020204" pitchFamily="34" charset="0"/>
              <a:buChar char="•"/>
            </a:pPr>
            <a:r>
              <a:rPr lang="en-US" dirty="0"/>
              <a:t>Software engineering ethics</a:t>
            </a:r>
          </a:p>
          <a:p>
            <a:pPr marL="628650" lvl="1" indent="-171450">
              <a:buFont typeface="Arial" panose="020B0604020202020204" pitchFamily="34" charset="0"/>
              <a:buChar char="•"/>
            </a:pPr>
            <a:r>
              <a:rPr lang="en-US" dirty="0"/>
              <a:t>A brief introduction to ethical issues that affect software engineering.</a:t>
            </a:r>
          </a:p>
          <a:p>
            <a:pPr marL="171450" indent="-171450">
              <a:buFont typeface="Arial" panose="020B0604020202020204" pitchFamily="34" charset="0"/>
              <a:buChar char="•"/>
            </a:pPr>
            <a:r>
              <a:rPr lang="en-US" dirty="0"/>
              <a:t>Suggested student projects</a:t>
            </a:r>
          </a:p>
          <a:p>
            <a:pPr marL="628650" lvl="1" indent="-171450">
              <a:buFont typeface="Arial" panose="020B0604020202020204" pitchFamily="34" charset="0"/>
              <a:buChar char="•"/>
            </a:pPr>
            <a:r>
              <a:rPr lang="en-US" dirty="0"/>
              <a:t>A brief introduction to each suggested project that can be carried out by students for this course</a:t>
            </a:r>
          </a:p>
        </p:txBody>
      </p:sp>
      <p:sp>
        <p:nvSpPr>
          <p:cNvPr id="4" name="Slide Number Placeholder 3"/>
          <p:cNvSpPr>
            <a:spLocks noGrp="1"/>
          </p:cNvSpPr>
          <p:nvPr>
            <p:ph type="sldNum" sz="quarter" idx="10"/>
          </p:nvPr>
        </p:nvSpPr>
        <p:spPr/>
        <p:txBody>
          <a:bodyPr/>
          <a:lstStyle/>
          <a:p>
            <a:fld id="{CB4F38C2-4548-F541-8261-4C1D96E7A166}" type="slidenum">
              <a:rPr lang="en-US" smtClean="0"/>
              <a:pPr/>
              <a:t>14</a:t>
            </a:fld>
            <a:endParaRPr lang="en-US"/>
          </a:p>
        </p:txBody>
      </p:sp>
    </p:spTree>
    <p:extLst>
      <p:ext uri="{BB962C8B-B14F-4D97-AF65-F5344CB8AC3E}">
        <p14:creationId xmlns:p14="http://schemas.microsoft.com/office/powerpoint/2010/main" val="8589311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US" b="1"/>
              <a:t>Topics covered</a:t>
            </a:r>
          </a:p>
          <a:p>
            <a:pPr algn="l"/>
            <a:endParaRPr lang="en-US" b="1" dirty="0"/>
          </a:p>
          <a:p>
            <a:pPr marL="171450" indent="-171450">
              <a:buFont typeface="Arial" panose="020B0604020202020204" pitchFamily="34" charset="0"/>
              <a:buChar char="•"/>
            </a:pPr>
            <a:r>
              <a:rPr lang="en-US" dirty="0"/>
              <a:t>Professional software development</a:t>
            </a:r>
          </a:p>
          <a:p>
            <a:pPr marL="628650" lvl="1" indent="-171450">
              <a:buFont typeface="Arial" panose="020B0604020202020204" pitchFamily="34" charset="0"/>
              <a:buChar char="•"/>
            </a:pPr>
            <a:r>
              <a:rPr lang="en-US" dirty="0"/>
              <a:t>What is meant by software engineering.</a:t>
            </a:r>
          </a:p>
          <a:p>
            <a:pPr marL="171450" indent="-171450">
              <a:buFont typeface="Arial" panose="020B0604020202020204" pitchFamily="34" charset="0"/>
              <a:buChar char="•"/>
            </a:pPr>
            <a:r>
              <a:rPr lang="en-US" dirty="0"/>
              <a:t>Software engineering ethics</a:t>
            </a:r>
          </a:p>
          <a:p>
            <a:pPr marL="628650" lvl="1" indent="-171450">
              <a:buFont typeface="Arial" panose="020B0604020202020204" pitchFamily="34" charset="0"/>
              <a:buChar char="•"/>
            </a:pPr>
            <a:r>
              <a:rPr lang="en-US" dirty="0"/>
              <a:t>A brief introduction to ethical issues that affect software engineering.</a:t>
            </a:r>
          </a:p>
          <a:p>
            <a:pPr marL="171450" indent="-171450">
              <a:buFont typeface="Arial" panose="020B0604020202020204" pitchFamily="34" charset="0"/>
              <a:buChar char="•"/>
            </a:pPr>
            <a:r>
              <a:rPr lang="en-US" dirty="0"/>
              <a:t>Suggested student projects</a:t>
            </a:r>
          </a:p>
          <a:p>
            <a:pPr marL="628650" lvl="1" indent="-171450">
              <a:buFont typeface="Arial" panose="020B0604020202020204" pitchFamily="34" charset="0"/>
              <a:buChar char="•"/>
            </a:pPr>
            <a:r>
              <a:rPr lang="en-US" dirty="0"/>
              <a:t>A brief introduction to each suggested project that can be carried out by students for this course</a:t>
            </a:r>
          </a:p>
        </p:txBody>
      </p:sp>
      <p:sp>
        <p:nvSpPr>
          <p:cNvPr id="4" name="Slide Number Placeholder 3"/>
          <p:cNvSpPr>
            <a:spLocks noGrp="1"/>
          </p:cNvSpPr>
          <p:nvPr>
            <p:ph type="sldNum" sz="quarter" idx="10"/>
          </p:nvPr>
        </p:nvSpPr>
        <p:spPr/>
        <p:txBody>
          <a:bodyPr/>
          <a:lstStyle/>
          <a:p>
            <a:fld id="{CB4F38C2-4548-F541-8261-4C1D96E7A166}" type="slidenum">
              <a:rPr lang="en-US" smtClean="0"/>
              <a:pPr/>
              <a:t>15</a:t>
            </a:fld>
            <a:endParaRPr lang="en-US"/>
          </a:p>
        </p:txBody>
      </p:sp>
    </p:spTree>
    <p:extLst>
      <p:ext uri="{BB962C8B-B14F-4D97-AF65-F5344CB8AC3E}">
        <p14:creationId xmlns:p14="http://schemas.microsoft.com/office/powerpoint/2010/main" val="42798293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US" b="1"/>
              <a:t>Topics covered</a:t>
            </a:r>
          </a:p>
          <a:p>
            <a:pPr algn="l"/>
            <a:endParaRPr lang="en-US" b="1" dirty="0"/>
          </a:p>
          <a:p>
            <a:pPr marL="171450" indent="-171450">
              <a:buFont typeface="Arial" panose="020B0604020202020204" pitchFamily="34" charset="0"/>
              <a:buChar char="•"/>
            </a:pPr>
            <a:r>
              <a:rPr lang="en-US" dirty="0"/>
              <a:t>Professional software development</a:t>
            </a:r>
          </a:p>
          <a:p>
            <a:pPr marL="628650" lvl="1" indent="-171450">
              <a:buFont typeface="Arial" panose="020B0604020202020204" pitchFamily="34" charset="0"/>
              <a:buChar char="•"/>
            </a:pPr>
            <a:r>
              <a:rPr lang="en-US" dirty="0"/>
              <a:t>What is meant by software engineering.</a:t>
            </a:r>
          </a:p>
          <a:p>
            <a:pPr marL="171450" indent="-171450">
              <a:buFont typeface="Arial" panose="020B0604020202020204" pitchFamily="34" charset="0"/>
              <a:buChar char="•"/>
            </a:pPr>
            <a:r>
              <a:rPr lang="en-US" dirty="0"/>
              <a:t>Software engineering ethics</a:t>
            </a:r>
          </a:p>
          <a:p>
            <a:pPr marL="628650" lvl="1" indent="-171450">
              <a:buFont typeface="Arial" panose="020B0604020202020204" pitchFamily="34" charset="0"/>
              <a:buChar char="•"/>
            </a:pPr>
            <a:r>
              <a:rPr lang="en-US" dirty="0"/>
              <a:t>A brief introduction to ethical issues that affect software engineering.</a:t>
            </a:r>
          </a:p>
          <a:p>
            <a:pPr marL="171450" indent="-171450">
              <a:buFont typeface="Arial" panose="020B0604020202020204" pitchFamily="34" charset="0"/>
              <a:buChar char="•"/>
            </a:pPr>
            <a:r>
              <a:rPr lang="en-US" dirty="0"/>
              <a:t>Suggested student projects</a:t>
            </a:r>
          </a:p>
          <a:p>
            <a:pPr marL="628650" lvl="1" indent="-171450">
              <a:buFont typeface="Arial" panose="020B0604020202020204" pitchFamily="34" charset="0"/>
              <a:buChar char="•"/>
            </a:pPr>
            <a:r>
              <a:rPr lang="en-US" dirty="0"/>
              <a:t>A brief introduction to each suggested project that can be carried out by students for this course</a:t>
            </a:r>
          </a:p>
        </p:txBody>
      </p:sp>
      <p:sp>
        <p:nvSpPr>
          <p:cNvPr id="4" name="Slide Number Placeholder 3"/>
          <p:cNvSpPr>
            <a:spLocks noGrp="1"/>
          </p:cNvSpPr>
          <p:nvPr>
            <p:ph type="sldNum" sz="quarter" idx="10"/>
          </p:nvPr>
        </p:nvSpPr>
        <p:spPr/>
        <p:txBody>
          <a:bodyPr/>
          <a:lstStyle/>
          <a:p>
            <a:fld id="{CB4F38C2-4548-F541-8261-4C1D96E7A166}" type="slidenum">
              <a:rPr lang="en-US" smtClean="0"/>
              <a:pPr/>
              <a:t>16</a:t>
            </a:fld>
            <a:endParaRPr lang="en-US"/>
          </a:p>
        </p:txBody>
      </p:sp>
    </p:spTree>
    <p:extLst>
      <p:ext uri="{BB962C8B-B14F-4D97-AF65-F5344CB8AC3E}">
        <p14:creationId xmlns:p14="http://schemas.microsoft.com/office/powerpoint/2010/main" val="15063275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US" b="1"/>
              <a:t>Topics covered</a:t>
            </a:r>
          </a:p>
          <a:p>
            <a:pPr algn="l"/>
            <a:endParaRPr lang="en-US" b="1" dirty="0"/>
          </a:p>
          <a:p>
            <a:pPr marL="171450" indent="-171450">
              <a:buFont typeface="Arial" panose="020B0604020202020204" pitchFamily="34" charset="0"/>
              <a:buChar char="•"/>
            </a:pPr>
            <a:r>
              <a:rPr lang="en-US" dirty="0"/>
              <a:t>Professional software development</a:t>
            </a:r>
          </a:p>
          <a:p>
            <a:pPr marL="628650" lvl="1" indent="-171450">
              <a:buFont typeface="Arial" panose="020B0604020202020204" pitchFamily="34" charset="0"/>
              <a:buChar char="•"/>
            </a:pPr>
            <a:r>
              <a:rPr lang="en-US" dirty="0"/>
              <a:t>What is meant by software engineering.</a:t>
            </a:r>
          </a:p>
          <a:p>
            <a:pPr marL="171450" indent="-171450">
              <a:buFont typeface="Arial" panose="020B0604020202020204" pitchFamily="34" charset="0"/>
              <a:buChar char="•"/>
            </a:pPr>
            <a:r>
              <a:rPr lang="en-US" dirty="0"/>
              <a:t>Software engineering ethics</a:t>
            </a:r>
          </a:p>
          <a:p>
            <a:pPr marL="628650" lvl="1" indent="-171450">
              <a:buFont typeface="Arial" panose="020B0604020202020204" pitchFamily="34" charset="0"/>
              <a:buChar char="•"/>
            </a:pPr>
            <a:r>
              <a:rPr lang="en-US" dirty="0"/>
              <a:t>A brief introduction to ethical issues that affect software engineering.</a:t>
            </a:r>
          </a:p>
          <a:p>
            <a:pPr marL="171450" indent="-171450">
              <a:buFont typeface="Arial" panose="020B0604020202020204" pitchFamily="34" charset="0"/>
              <a:buChar char="•"/>
            </a:pPr>
            <a:r>
              <a:rPr lang="en-US" dirty="0"/>
              <a:t>Suggested student projects</a:t>
            </a:r>
          </a:p>
          <a:p>
            <a:pPr marL="628650" lvl="1" indent="-171450">
              <a:buFont typeface="Arial" panose="020B0604020202020204" pitchFamily="34" charset="0"/>
              <a:buChar char="•"/>
            </a:pPr>
            <a:r>
              <a:rPr lang="en-US" dirty="0"/>
              <a:t>A brief introduction to each suggested project that can be carried out by students for this course</a:t>
            </a:r>
          </a:p>
        </p:txBody>
      </p:sp>
      <p:sp>
        <p:nvSpPr>
          <p:cNvPr id="4" name="Slide Number Placeholder 3"/>
          <p:cNvSpPr>
            <a:spLocks noGrp="1"/>
          </p:cNvSpPr>
          <p:nvPr>
            <p:ph type="sldNum" sz="quarter" idx="10"/>
          </p:nvPr>
        </p:nvSpPr>
        <p:spPr/>
        <p:txBody>
          <a:bodyPr/>
          <a:lstStyle/>
          <a:p>
            <a:fld id="{CB4F38C2-4548-F541-8261-4C1D96E7A166}" type="slidenum">
              <a:rPr lang="en-US" smtClean="0"/>
              <a:pPr/>
              <a:t>17</a:t>
            </a:fld>
            <a:endParaRPr lang="en-US"/>
          </a:p>
        </p:txBody>
      </p:sp>
    </p:spTree>
    <p:extLst>
      <p:ext uri="{BB962C8B-B14F-4D97-AF65-F5344CB8AC3E}">
        <p14:creationId xmlns:p14="http://schemas.microsoft.com/office/powerpoint/2010/main" val="30594531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US" b="1"/>
              <a:t>Topics covered</a:t>
            </a:r>
          </a:p>
          <a:p>
            <a:pPr algn="l"/>
            <a:endParaRPr lang="en-US" b="1" dirty="0"/>
          </a:p>
          <a:p>
            <a:pPr marL="171450" indent="-171450">
              <a:buFont typeface="Arial" panose="020B0604020202020204" pitchFamily="34" charset="0"/>
              <a:buChar char="•"/>
            </a:pPr>
            <a:r>
              <a:rPr lang="en-US" dirty="0"/>
              <a:t>Professional software development</a:t>
            </a:r>
          </a:p>
          <a:p>
            <a:pPr marL="628650" lvl="1" indent="-171450">
              <a:buFont typeface="Arial" panose="020B0604020202020204" pitchFamily="34" charset="0"/>
              <a:buChar char="•"/>
            </a:pPr>
            <a:r>
              <a:rPr lang="en-US" dirty="0"/>
              <a:t>What is meant by software engineering.</a:t>
            </a:r>
          </a:p>
          <a:p>
            <a:pPr marL="171450" indent="-171450">
              <a:buFont typeface="Arial" panose="020B0604020202020204" pitchFamily="34" charset="0"/>
              <a:buChar char="•"/>
            </a:pPr>
            <a:r>
              <a:rPr lang="en-US" dirty="0"/>
              <a:t>Software engineering ethics</a:t>
            </a:r>
          </a:p>
          <a:p>
            <a:pPr marL="628650" lvl="1" indent="-171450">
              <a:buFont typeface="Arial" panose="020B0604020202020204" pitchFamily="34" charset="0"/>
              <a:buChar char="•"/>
            </a:pPr>
            <a:r>
              <a:rPr lang="en-US" dirty="0"/>
              <a:t>A brief introduction to ethical issues that affect software engineering.</a:t>
            </a:r>
          </a:p>
          <a:p>
            <a:pPr marL="171450" indent="-171450">
              <a:buFont typeface="Arial" panose="020B0604020202020204" pitchFamily="34" charset="0"/>
              <a:buChar char="•"/>
            </a:pPr>
            <a:r>
              <a:rPr lang="en-US" dirty="0"/>
              <a:t>Suggested student projects</a:t>
            </a:r>
          </a:p>
          <a:p>
            <a:pPr marL="628650" lvl="1" indent="-171450">
              <a:buFont typeface="Arial" panose="020B0604020202020204" pitchFamily="34" charset="0"/>
              <a:buChar char="•"/>
            </a:pPr>
            <a:r>
              <a:rPr lang="en-US" dirty="0"/>
              <a:t>A brief introduction to each suggested project that can be carried out by students for this course</a:t>
            </a:r>
          </a:p>
        </p:txBody>
      </p:sp>
      <p:sp>
        <p:nvSpPr>
          <p:cNvPr id="4" name="Slide Number Placeholder 3"/>
          <p:cNvSpPr>
            <a:spLocks noGrp="1"/>
          </p:cNvSpPr>
          <p:nvPr>
            <p:ph type="sldNum" sz="quarter" idx="10"/>
          </p:nvPr>
        </p:nvSpPr>
        <p:spPr/>
        <p:txBody>
          <a:bodyPr/>
          <a:lstStyle/>
          <a:p>
            <a:fld id="{CB4F38C2-4548-F541-8261-4C1D96E7A166}" type="slidenum">
              <a:rPr lang="en-US" smtClean="0"/>
              <a:pPr/>
              <a:t>18</a:t>
            </a:fld>
            <a:endParaRPr lang="en-US"/>
          </a:p>
        </p:txBody>
      </p:sp>
    </p:spTree>
    <p:extLst>
      <p:ext uri="{BB962C8B-B14F-4D97-AF65-F5344CB8AC3E}">
        <p14:creationId xmlns:p14="http://schemas.microsoft.com/office/powerpoint/2010/main" val="325611261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US" b="1"/>
              <a:t>Topics covered</a:t>
            </a:r>
          </a:p>
          <a:p>
            <a:pPr algn="l"/>
            <a:endParaRPr lang="en-US" b="1" dirty="0"/>
          </a:p>
          <a:p>
            <a:pPr marL="171450" indent="-171450">
              <a:buFont typeface="Arial" panose="020B0604020202020204" pitchFamily="34" charset="0"/>
              <a:buChar char="•"/>
            </a:pPr>
            <a:r>
              <a:rPr lang="en-US" dirty="0"/>
              <a:t>Professional software development</a:t>
            </a:r>
          </a:p>
          <a:p>
            <a:pPr marL="628650" lvl="1" indent="-171450">
              <a:buFont typeface="Arial" panose="020B0604020202020204" pitchFamily="34" charset="0"/>
              <a:buChar char="•"/>
            </a:pPr>
            <a:r>
              <a:rPr lang="en-US" dirty="0"/>
              <a:t>What is meant by software engineering.</a:t>
            </a:r>
          </a:p>
          <a:p>
            <a:pPr marL="171450" indent="-171450">
              <a:buFont typeface="Arial" panose="020B0604020202020204" pitchFamily="34" charset="0"/>
              <a:buChar char="•"/>
            </a:pPr>
            <a:r>
              <a:rPr lang="en-US" dirty="0"/>
              <a:t>Software engineering ethics</a:t>
            </a:r>
          </a:p>
          <a:p>
            <a:pPr marL="628650" lvl="1" indent="-171450">
              <a:buFont typeface="Arial" panose="020B0604020202020204" pitchFamily="34" charset="0"/>
              <a:buChar char="•"/>
            </a:pPr>
            <a:r>
              <a:rPr lang="en-US" dirty="0"/>
              <a:t>A brief introduction to ethical issues that affect software engineering.</a:t>
            </a:r>
          </a:p>
          <a:p>
            <a:pPr marL="171450" indent="-171450">
              <a:buFont typeface="Arial" panose="020B0604020202020204" pitchFamily="34" charset="0"/>
              <a:buChar char="•"/>
            </a:pPr>
            <a:r>
              <a:rPr lang="en-US" dirty="0"/>
              <a:t>Suggested student projects</a:t>
            </a:r>
          </a:p>
          <a:p>
            <a:pPr marL="628650" lvl="1" indent="-171450">
              <a:buFont typeface="Arial" panose="020B0604020202020204" pitchFamily="34" charset="0"/>
              <a:buChar char="•"/>
            </a:pPr>
            <a:r>
              <a:rPr lang="en-US" dirty="0"/>
              <a:t>A brief introduction to each suggested project that can be carried out by students for this course</a:t>
            </a:r>
          </a:p>
        </p:txBody>
      </p:sp>
      <p:sp>
        <p:nvSpPr>
          <p:cNvPr id="4" name="Slide Number Placeholder 3"/>
          <p:cNvSpPr>
            <a:spLocks noGrp="1"/>
          </p:cNvSpPr>
          <p:nvPr>
            <p:ph type="sldNum" sz="quarter" idx="10"/>
          </p:nvPr>
        </p:nvSpPr>
        <p:spPr/>
        <p:txBody>
          <a:bodyPr/>
          <a:lstStyle/>
          <a:p>
            <a:fld id="{CB4F38C2-4548-F541-8261-4C1D96E7A166}" type="slidenum">
              <a:rPr lang="en-US" smtClean="0"/>
              <a:pPr/>
              <a:t>19</a:t>
            </a:fld>
            <a:endParaRPr lang="en-US"/>
          </a:p>
        </p:txBody>
      </p:sp>
    </p:spTree>
    <p:extLst>
      <p:ext uri="{BB962C8B-B14F-4D97-AF65-F5344CB8AC3E}">
        <p14:creationId xmlns:p14="http://schemas.microsoft.com/office/powerpoint/2010/main" val="42278314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US" b="1"/>
              <a:t>Topics covered</a:t>
            </a:r>
          </a:p>
          <a:p>
            <a:pPr algn="l"/>
            <a:endParaRPr lang="en-US" b="1" dirty="0"/>
          </a:p>
          <a:p>
            <a:pPr marL="171450" indent="-171450">
              <a:buFont typeface="Arial" panose="020B0604020202020204" pitchFamily="34" charset="0"/>
              <a:buChar char="•"/>
            </a:pPr>
            <a:r>
              <a:rPr lang="en-US" dirty="0"/>
              <a:t>Professional software development</a:t>
            </a:r>
          </a:p>
          <a:p>
            <a:pPr marL="628650" lvl="1" indent="-171450">
              <a:buFont typeface="Arial" panose="020B0604020202020204" pitchFamily="34" charset="0"/>
              <a:buChar char="•"/>
            </a:pPr>
            <a:r>
              <a:rPr lang="en-US" dirty="0"/>
              <a:t>What is meant by software engineering.</a:t>
            </a:r>
          </a:p>
          <a:p>
            <a:pPr marL="171450" indent="-171450">
              <a:buFont typeface="Arial" panose="020B0604020202020204" pitchFamily="34" charset="0"/>
              <a:buChar char="•"/>
            </a:pPr>
            <a:r>
              <a:rPr lang="en-US" dirty="0"/>
              <a:t>Software engineering ethics</a:t>
            </a:r>
          </a:p>
          <a:p>
            <a:pPr marL="628650" lvl="1" indent="-171450">
              <a:buFont typeface="Arial" panose="020B0604020202020204" pitchFamily="34" charset="0"/>
              <a:buChar char="•"/>
            </a:pPr>
            <a:r>
              <a:rPr lang="en-US" dirty="0"/>
              <a:t>A brief introduction to ethical issues that affect software engineering.</a:t>
            </a:r>
          </a:p>
          <a:p>
            <a:pPr marL="171450" indent="-171450">
              <a:buFont typeface="Arial" panose="020B0604020202020204" pitchFamily="34" charset="0"/>
              <a:buChar char="•"/>
            </a:pPr>
            <a:r>
              <a:rPr lang="en-US" dirty="0"/>
              <a:t>Suggested student projects</a:t>
            </a:r>
          </a:p>
          <a:p>
            <a:pPr marL="628650" lvl="1" indent="-171450">
              <a:buFont typeface="Arial" panose="020B0604020202020204" pitchFamily="34" charset="0"/>
              <a:buChar char="•"/>
            </a:pPr>
            <a:r>
              <a:rPr lang="en-US" dirty="0"/>
              <a:t>A brief introduction to each suggested project that can be carried out by students for this course</a:t>
            </a:r>
          </a:p>
        </p:txBody>
      </p:sp>
      <p:sp>
        <p:nvSpPr>
          <p:cNvPr id="4" name="Slide Number Placeholder 3"/>
          <p:cNvSpPr>
            <a:spLocks noGrp="1"/>
          </p:cNvSpPr>
          <p:nvPr>
            <p:ph type="sldNum" sz="quarter" idx="10"/>
          </p:nvPr>
        </p:nvSpPr>
        <p:spPr/>
        <p:txBody>
          <a:bodyPr/>
          <a:lstStyle/>
          <a:p>
            <a:fld id="{CB4F38C2-4548-F541-8261-4C1D96E7A166}" type="slidenum">
              <a:rPr lang="en-US" smtClean="0"/>
              <a:pPr/>
              <a:t>20</a:t>
            </a:fld>
            <a:endParaRPr lang="en-US"/>
          </a:p>
        </p:txBody>
      </p:sp>
    </p:spTree>
    <p:extLst>
      <p:ext uri="{BB962C8B-B14F-4D97-AF65-F5344CB8AC3E}">
        <p14:creationId xmlns:p14="http://schemas.microsoft.com/office/powerpoint/2010/main" val="4788003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US" b="1"/>
              <a:t>Topics covered</a:t>
            </a:r>
          </a:p>
          <a:p>
            <a:pPr algn="l"/>
            <a:endParaRPr lang="en-US" b="1" dirty="0"/>
          </a:p>
          <a:p>
            <a:pPr marL="171450" indent="-171450">
              <a:buFont typeface="Arial" panose="020B0604020202020204" pitchFamily="34" charset="0"/>
              <a:buChar char="•"/>
            </a:pPr>
            <a:r>
              <a:rPr lang="en-US" dirty="0"/>
              <a:t>Professional software development</a:t>
            </a:r>
          </a:p>
          <a:p>
            <a:pPr marL="628650" lvl="1" indent="-171450">
              <a:buFont typeface="Arial" panose="020B0604020202020204" pitchFamily="34" charset="0"/>
              <a:buChar char="•"/>
            </a:pPr>
            <a:r>
              <a:rPr lang="en-US" dirty="0"/>
              <a:t>What is meant by software engineering.</a:t>
            </a:r>
          </a:p>
          <a:p>
            <a:pPr marL="171450" indent="-171450">
              <a:buFont typeface="Arial" panose="020B0604020202020204" pitchFamily="34" charset="0"/>
              <a:buChar char="•"/>
            </a:pPr>
            <a:r>
              <a:rPr lang="en-US" dirty="0"/>
              <a:t>Software engineering ethics</a:t>
            </a:r>
          </a:p>
          <a:p>
            <a:pPr marL="628650" lvl="1" indent="-171450">
              <a:buFont typeface="Arial" panose="020B0604020202020204" pitchFamily="34" charset="0"/>
              <a:buChar char="•"/>
            </a:pPr>
            <a:r>
              <a:rPr lang="en-US" dirty="0"/>
              <a:t>A brief introduction to ethical issues that affect software engineering.</a:t>
            </a:r>
          </a:p>
          <a:p>
            <a:pPr marL="171450" indent="-171450">
              <a:buFont typeface="Arial" panose="020B0604020202020204" pitchFamily="34" charset="0"/>
              <a:buChar char="•"/>
            </a:pPr>
            <a:r>
              <a:rPr lang="en-US" dirty="0"/>
              <a:t>Suggested student projects</a:t>
            </a:r>
          </a:p>
          <a:p>
            <a:pPr marL="628650" lvl="1" indent="-171450">
              <a:buFont typeface="Arial" panose="020B0604020202020204" pitchFamily="34" charset="0"/>
              <a:buChar char="•"/>
            </a:pPr>
            <a:r>
              <a:rPr lang="en-US" dirty="0"/>
              <a:t>A brief introduction to each suggested project that can be carried out by students for this course</a:t>
            </a:r>
          </a:p>
        </p:txBody>
      </p:sp>
      <p:sp>
        <p:nvSpPr>
          <p:cNvPr id="4" name="Slide Number Placeholder 3"/>
          <p:cNvSpPr>
            <a:spLocks noGrp="1"/>
          </p:cNvSpPr>
          <p:nvPr>
            <p:ph type="sldNum" sz="quarter" idx="10"/>
          </p:nvPr>
        </p:nvSpPr>
        <p:spPr/>
        <p:txBody>
          <a:bodyPr/>
          <a:lstStyle/>
          <a:p>
            <a:fld id="{CB4F38C2-4548-F541-8261-4C1D96E7A166}" type="slidenum">
              <a:rPr lang="en-US" smtClean="0"/>
              <a:pPr/>
              <a:t>21</a:t>
            </a:fld>
            <a:endParaRPr lang="en-US"/>
          </a:p>
        </p:txBody>
      </p:sp>
    </p:spTree>
    <p:extLst>
      <p:ext uri="{BB962C8B-B14F-4D97-AF65-F5344CB8AC3E}">
        <p14:creationId xmlns:p14="http://schemas.microsoft.com/office/powerpoint/2010/main" val="130255166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US" b="1"/>
              <a:t>Topics covered</a:t>
            </a:r>
          </a:p>
          <a:p>
            <a:pPr algn="l"/>
            <a:endParaRPr lang="en-US" b="1" dirty="0"/>
          </a:p>
          <a:p>
            <a:pPr marL="171450" indent="-171450">
              <a:buFont typeface="Arial" panose="020B0604020202020204" pitchFamily="34" charset="0"/>
              <a:buChar char="•"/>
            </a:pPr>
            <a:r>
              <a:rPr lang="en-US" dirty="0"/>
              <a:t>Professional software development</a:t>
            </a:r>
          </a:p>
          <a:p>
            <a:pPr marL="628650" lvl="1" indent="-171450">
              <a:buFont typeface="Arial" panose="020B0604020202020204" pitchFamily="34" charset="0"/>
              <a:buChar char="•"/>
            </a:pPr>
            <a:r>
              <a:rPr lang="en-US" dirty="0"/>
              <a:t>What is meant by software engineering.</a:t>
            </a:r>
          </a:p>
          <a:p>
            <a:pPr marL="171450" indent="-171450">
              <a:buFont typeface="Arial" panose="020B0604020202020204" pitchFamily="34" charset="0"/>
              <a:buChar char="•"/>
            </a:pPr>
            <a:r>
              <a:rPr lang="en-US" dirty="0"/>
              <a:t>Software engineering ethics</a:t>
            </a:r>
          </a:p>
          <a:p>
            <a:pPr marL="628650" lvl="1" indent="-171450">
              <a:buFont typeface="Arial" panose="020B0604020202020204" pitchFamily="34" charset="0"/>
              <a:buChar char="•"/>
            </a:pPr>
            <a:r>
              <a:rPr lang="en-US" dirty="0"/>
              <a:t>A brief introduction to ethical issues that affect software engineering.</a:t>
            </a:r>
          </a:p>
          <a:p>
            <a:pPr marL="171450" indent="-171450">
              <a:buFont typeface="Arial" panose="020B0604020202020204" pitchFamily="34" charset="0"/>
              <a:buChar char="•"/>
            </a:pPr>
            <a:r>
              <a:rPr lang="en-US" dirty="0"/>
              <a:t>Suggested student projects</a:t>
            </a:r>
          </a:p>
          <a:p>
            <a:pPr marL="628650" lvl="1" indent="-171450">
              <a:buFont typeface="Arial" panose="020B0604020202020204" pitchFamily="34" charset="0"/>
              <a:buChar char="•"/>
            </a:pPr>
            <a:r>
              <a:rPr lang="en-US" dirty="0"/>
              <a:t>A brief introduction to each suggested project that can be carried out by students for this course</a:t>
            </a:r>
          </a:p>
        </p:txBody>
      </p:sp>
      <p:sp>
        <p:nvSpPr>
          <p:cNvPr id="4" name="Slide Number Placeholder 3"/>
          <p:cNvSpPr>
            <a:spLocks noGrp="1"/>
          </p:cNvSpPr>
          <p:nvPr>
            <p:ph type="sldNum" sz="quarter" idx="10"/>
          </p:nvPr>
        </p:nvSpPr>
        <p:spPr/>
        <p:txBody>
          <a:bodyPr/>
          <a:lstStyle/>
          <a:p>
            <a:fld id="{CB4F38C2-4548-F541-8261-4C1D96E7A166}" type="slidenum">
              <a:rPr lang="en-US" smtClean="0"/>
              <a:pPr/>
              <a:t>22</a:t>
            </a:fld>
            <a:endParaRPr lang="en-US"/>
          </a:p>
        </p:txBody>
      </p:sp>
    </p:spTree>
    <p:extLst>
      <p:ext uri="{BB962C8B-B14F-4D97-AF65-F5344CB8AC3E}">
        <p14:creationId xmlns:p14="http://schemas.microsoft.com/office/powerpoint/2010/main" val="3254830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US" b="1"/>
              <a:t>Topics covered</a:t>
            </a:r>
          </a:p>
          <a:p>
            <a:pPr algn="l"/>
            <a:endParaRPr lang="en-US" b="1" dirty="0"/>
          </a:p>
          <a:p>
            <a:pPr marL="171450" indent="-171450">
              <a:buFont typeface="Arial" panose="020B0604020202020204" pitchFamily="34" charset="0"/>
              <a:buChar char="•"/>
            </a:pPr>
            <a:r>
              <a:rPr lang="en-US" dirty="0"/>
              <a:t>Professional software development</a:t>
            </a:r>
          </a:p>
          <a:p>
            <a:pPr marL="628650" lvl="1" indent="-171450">
              <a:buFont typeface="Arial" panose="020B0604020202020204" pitchFamily="34" charset="0"/>
              <a:buChar char="•"/>
            </a:pPr>
            <a:r>
              <a:rPr lang="en-US" dirty="0"/>
              <a:t>What is meant by software engineering.</a:t>
            </a:r>
          </a:p>
          <a:p>
            <a:pPr marL="171450" indent="-171450">
              <a:buFont typeface="Arial" panose="020B0604020202020204" pitchFamily="34" charset="0"/>
              <a:buChar char="•"/>
            </a:pPr>
            <a:r>
              <a:rPr lang="en-US" dirty="0"/>
              <a:t>Software engineering ethics</a:t>
            </a:r>
          </a:p>
          <a:p>
            <a:pPr marL="628650" lvl="1" indent="-171450">
              <a:buFont typeface="Arial" panose="020B0604020202020204" pitchFamily="34" charset="0"/>
              <a:buChar char="•"/>
            </a:pPr>
            <a:r>
              <a:rPr lang="en-US" dirty="0"/>
              <a:t>A brief introduction to ethical issues that affect software engineering.</a:t>
            </a:r>
          </a:p>
          <a:p>
            <a:pPr marL="171450" indent="-171450">
              <a:buFont typeface="Arial" panose="020B0604020202020204" pitchFamily="34" charset="0"/>
              <a:buChar char="•"/>
            </a:pPr>
            <a:r>
              <a:rPr lang="en-US" dirty="0"/>
              <a:t>Suggested student projects</a:t>
            </a:r>
          </a:p>
          <a:p>
            <a:pPr marL="628650" lvl="1" indent="-171450">
              <a:buFont typeface="Arial" panose="020B0604020202020204" pitchFamily="34" charset="0"/>
              <a:buChar char="•"/>
            </a:pPr>
            <a:r>
              <a:rPr lang="en-US" dirty="0"/>
              <a:t>A brief introduction to each suggested project that can be carried out by students for this course</a:t>
            </a:r>
          </a:p>
        </p:txBody>
      </p:sp>
      <p:sp>
        <p:nvSpPr>
          <p:cNvPr id="4" name="Slide Number Placeholder 3"/>
          <p:cNvSpPr>
            <a:spLocks noGrp="1"/>
          </p:cNvSpPr>
          <p:nvPr>
            <p:ph type="sldNum" sz="quarter" idx="10"/>
          </p:nvPr>
        </p:nvSpPr>
        <p:spPr/>
        <p:txBody>
          <a:bodyPr/>
          <a:lstStyle/>
          <a:p>
            <a:fld id="{CB4F38C2-4548-F541-8261-4C1D96E7A166}" type="slidenum">
              <a:rPr lang="en-US" smtClean="0"/>
              <a:pPr/>
              <a:t>23</a:t>
            </a:fld>
            <a:endParaRPr lang="en-US"/>
          </a:p>
        </p:txBody>
      </p:sp>
    </p:spTree>
    <p:extLst>
      <p:ext uri="{BB962C8B-B14F-4D97-AF65-F5344CB8AC3E}">
        <p14:creationId xmlns:p14="http://schemas.microsoft.com/office/powerpoint/2010/main" val="16443357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US" b="1"/>
              <a:t>Topics covered</a:t>
            </a:r>
          </a:p>
          <a:p>
            <a:pPr algn="l"/>
            <a:endParaRPr lang="en-US" b="1" dirty="0"/>
          </a:p>
          <a:p>
            <a:pPr marL="171450" indent="-171450">
              <a:buFont typeface="Arial" panose="020B0604020202020204" pitchFamily="34" charset="0"/>
              <a:buChar char="•"/>
            </a:pPr>
            <a:r>
              <a:rPr lang="en-US" dirty="0"/>
              <a:t>Professional software development</a:t>
            </a:r>
          </a:p>
          <a:p>
            <a:pPr marL="628650" lvl="1" indent="-171450">
              <a:buFont typeface="Arial" panose="020B0604020202020204" pitchFamily="34" charset="0"/>
              <a:buChar char="•"/>
            </a:pPr>
            <a:r>
              <a:rPr lang="en-US" dirty="0"/>
              <a:t>What is meant by software engineering.</a:t>
            </a:r>
          </a:p>
          <a:p>
            <a:pPr marL="171450" indent="-171450">
              <a:buFont typeface="Arial" panose="020B0604020202020204" pitchFamily="34" charset="0"/>
              <a:buChar char="•"/>
            </a:pPr>
            <a:r>
              <a:rPr lang="en-US" dirty="0"/>
              <a:t>Software engineering ethics</a:t>
            </a:r>
          </a:p>
          <a:p>
            <a:pPr marL="628650" lvl="1" indent="-171450">
              <a:buFont typeface="Arial" panose="020B0604020202020204" pitchFamily="34" charset="0"/>
              <a:buChar char="•"/>
            </a:pPr>
            <a:r>
              <a:rPr lang="en-US" dirty="0"/>
              <a:t>A brief introduction to ethical issues that affect software engineering.</a:t>
            </a:r>
          </a:p>
          <a:p>
            <a:pPr marL="171450" indent="-171450">
              <a:buFont typeface="Arial" panose="020B0604020202020204" pitchFamily="34" charset="0"/>
              <a:buChar char="•"/>
            </a:pPr>
            <a:r>
              <a:rPr lang="en-US" dirty="0"/>
              <a:t>Suggested student projects</a:t>
            </a:r>
          </a:p>
          <a:p>
            <a:pPr marL="628650" lvl="1" indent="-171450">
              <a:buFont typeface="Arial" panose="020B0604020202020204" pitchFamily="34" charset="0"/>
              <a:buChar char="•"/>
            </a:pPr>
            <a:r>
              <a:rPr lang="en-US" dirty="0"/>
              <a:t>A brief introduction to each suggested project that can be carried out by students for this course</a:t>
            </a:r>
          </a:p>
        </p:txBody>
      </p:sp>
      <p:sp>
        <p:nvSpPr>
          <p:cNvPr id="4" name="Slide Number Placeholder 3"/>
          <p:cNvSpPr>
            <a:spLocks noGrp="1"/>
          </p:cNvSpPr>
          <p:nvPr>
            <p:ph type="sldNum" sz="quarter" idx="10"/>
          </p:nvPr>
        </p:nvSpPr>
        <p:spPr/>
        <p:txBody>
          <a:bodyPr/>
          <a:lstStyle/>
          <a:p>
            <a:fld id="{CB4F38C2-4548-F541-8261-4C1D96E7A166}" type="slidenum">
              <a:rPr lang="en-US" smtClean="0"/>
              <a:pPr/>
              <a:t>24</a:t>
            </a:fld>
            <a:endParaRPr lang="en-US"/>
          </a:p>
        </p:txBody>
      </p:sp>
    </p:spTree>
    <p:extLst>
      <p:ext uri="{BB962C8B-B14F-4D97-AF65-F5344CB8AC3E}">
        <p14:creationId xmlns:p14="http://schemas.microsoft.com/office/powerpoint/2010/main" val="23280242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US" b="1"/>
              <a:t>Topics covered</a:t>
            </a:r>
          </a:p>
          <a:p>
            <a:pPr algn="l"/>
            <a:endParaRPr lang="en-US" b="1" dirty="0"/>
          </a:p>
          <a:p>
            <a:pPr marL="171450" indent="-171450">
              <a:buFont typeface="Arial" panose="020B0604020202020204" pitchFamily="34" charset="0"/>
              <a:buChar char="•"/>
            </a:pPr>
            <a:r>
              <a:rPr lang="en-US" dirty="0"/>
              <a:t>Professional software development</a:t>
            </a:r>
          </a:p>
          <a:p>
            <a:pPr marL="628650" lvl="1" indent="-171450">
              <a:buFont typeface="Arial" panose="020B0604020202020204" pitchFamily="34" charset="0"/>
              <a:buChar char="•"/>
            </a:pPr>
            <a:r>
              <a:rPr lang="en-US" dirty="0"/>
              <a:t>What is meant by software engineering.</a:t>
            </a:r>
          </a:p>
          <a:p>
            <a:pPr marL="171450" indent="-171450">
              <a:buFont typeface="Arial" panose="020B0604020202020204" pitchFamily="34" charset="0"/>
              <a:buChar char="•"/>
            </a:pPr>
            <a:r>
              <a:rPr lang="en-US" dirty="0"/>
              <a:t>Software engineering ethics</a:t>
            </a:r>
          </a:p>
          <a:p>
            <a:pPr marL="628650" lvl="1" indent="-171450">
              <a:buFont typeface="Arial" panose="020B0604020202020204" pitchFamily="34" charset="0"/>
              <a:buChar char="•"/>
            </a:pPr>
            <a:r>
              <a:rPr lang="en-US" dirty="0"/>
              <a:t>A brief introduction to ethical issues that affect software engineering.</a:t>
            </a:r>
          </a:p>
          <a:p>
            <a:pPr marL="171450" indent="-171450">
              <a:buFont typeface="Arial" panose="020B0604020202020204" pitchFamily="34" charset="0"/>
              <a:buChar char="•"/>
            </a:pPr>
            <a:r>
              <a:rPr lang="en-US" dirty="0"/>
              <a:t>Suggested student projects</a:t>
            </a:r>
          </a:p>
          <a:p>
            <a:pPr marL="628650" lvl="1" indent="-171450">
              <a:buFont typeface="Arial" panose="020B0604020202020204" pitchFamily="34" charset="0"/>
              <a:buChar char="•"/>
            </a:pPr>
            <a:r>
              <a:rPr lang="en-US" dirty="0"/>
              <a:t>A brief introduction to each suggested project that can be carried out by students for this course</a:t>
            </a:r>
          </a:p>
        </p:txBody>
      </p:sp>
      <p:sp>
        <p:nvSpPr>
          <p:cNvPr id="4" name="Slide Number Placeholder 3"/>
          <p:cNvSpPr>
            <a:spLocks noGrp="1"/>
          </p:cNvSpPr>
          <p:nvPr>
            <p:ph type="sldNum" sz="quarter" idx="10"/>
          </p:nvPr>
        </p:nvSpPr>
        <p:spPr/>
        <p:txBody>
          <a:bodyPr/>
          <a:lstStyle/>
          <a:p>
            <a:fld id="{CB4F38C2-4548-F541-8261-4C1D96E7A166}" type="slidenum">
              <a:rPr lang="en-US" smtClean="0"/>
              <a:pPr/>
              <a:t>25</a:t>
            </a:fld>
            <a:endParaRPr lang="en-US"/>
          </a:p>
        </p:txBody>
      </p:sp>
    </p:spTree>
    <p:extLst>
      <p:ext uri="{BB962C8B-B14F-4D97-AF65-F5344CB8AC3E}">
        <p14:creationId xmlns:p14="http://schemas.microsoft.com/office/powerpoint/2010/main" val="36289538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US" b="1"/>
              <a:t>Topics covered</a:t>
            </a:r>
          </a:p>
          <a:p>
            <a:pPr algn="l"/>
            <a:endParaRPr lang="en-US" b="1" dirty="0"/>
          </a:p>
          <a:p>
            <a:pPr marL="171450" indent="-171450">
              <a:buFont typeface="Arial" panose="020B0604020202020204" pitchFamily="34" charset="0"/>
              <a:buChar char="•"/>
            </a:pPr>
            <a:r>
              <a:rPr lang="en-US" dirty="0"/>
              <a:t>Professional software development</a:t>
            </a:r>
          </a:p>
          <a:p>
            <a:pPr marL="628650" lvl="1" indent="-171450">
              <a:buFont typeface="Arial" panose="020B0604020202020204" pitchFamily="34" charset="0"/>
              <a:buChar char="•"/>
            </a:pPr>
            <a:r>
              <a:rPr lang="en-US" dirty="0"/>
              <a:t>What is meant by software engineering.</a:t>
            </a:r>
          </a:p>
          <a:p>
            <a:pPr marL="171450" indent="-171450">
              <a:buFont typeface="Arial" panose="020B0604020202020204" pitchFamily="34" charset="0"/>
              <a:buChar char="•"/>
            </a:pPr>
            <a:r>
              <a:rPr lang="en-US" dirty="0"/>
              <a:t>Software engineering ethics</a:t>
            </a:r>
          </a:p>
          <a:p>
            <a:pPr marL="628650" lvl="1" indent="-171450">
              <a:buFont typeface="Arial" panose="020B0604020202020204" pitchFamily="34" charset="0"/>
              <a:buChar char="•"/>
            </a:pPr>
            <a:r>
              <a:rPr lang="en-US" dirty="0"/>
              <a:t>A brief introduction to ethical issues that affect software engineering.</a:t>
            </a:r>
          </a:p>
          <a:p>
            <a:pPr marL="171450" indent="-171450">
              <a:buFont typeface="Arial" panose="020B0604020202020204" pitchFamily="34" charset="0"/>
              <a:buChar char="•"/>
            </a:pPr>
            <a:r>
              <a:rPr lang="en-US" dirty="0"/>
              <a:t>Suggested student projects</a:t>
            </a:r>
          </a:p>
          <a:p>
            <a:pPr marL="628650" lvl="1" indent="-171450">
              <a:buFont typeface="Arial" panose="020B0604020202020204" pitchFamily="34" charset="0"/>
              <a:buChar char="•"/>
            </a:pPr>
            <a:r>
              <a:rPr lang="en-US" dirty="0"/>
              <a:t>A brief introduction to each suggested project that can be carried out by students for this course</a:t>
            </a:r>
          </a:p>
        </p:txBody>
      </p:sp>
      <p:sp>
        <p:nvSpPr>
          <p:cNvPr id="4" name="Slide Number Placeholder 3"/>
          <p:cNvSpPr>
            <a:spLocks noGrp="1"/>
          </p:cNvSpPr>
          <p:nvPr>
            <p:ph type="sldNum" sz="quarter" idx="10"/>
          </p:nvPr>
        </p:nvSpPr>
        <p:spPr/>
        <p:txBody>
          <a:bodyPr/>
          <a:lstStyle/>
          <a:p>
            <a:fld id="{CB4F38C2-4548-F541-8261-4C1D96E7A166}" type="slidenum">
              <a:rPr lang="en-US" smtClean="0"/>
              <a:pPr/>
              <a:t>26</a:t>
            </a:fld>
            <a:endParaRPr lang="en-US"/>
          </a:p>
        </p:txBody>
      </p:sp>
    </p:spTree>
    <p:extLst>
      <p:ext uri="{BB962C8B-B14F-4D97-AF65-F5344CB8AC3E}">
        <p14:creationId xmlns:p14="http://schemas.microsoft.com/office/powerpoint/2010/main" val="23529405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US" b="1"/>
              <a:t>Topics covered</a:t>
            </a:r>
          </a:p>
          <a:p>
            <a:pPr algn="l"/>
            <a:endParaRPr lang="en-US" b="1" dirty="0"/>
          </a:p>
          <a:p>
            <a:pPr marL="171450" indent="-171450">
              <a:buFont typeface="Arial" panose="020B0604020202020204" pitchFamily="34" charset="0"/>
              <a:buChar char="•"/>
            </a:pPr>
            <a:r>
              <a:rPr lang="en-US" dirty="0"/>
              <a:t>Professional software development</a:t>
            </a:r>
          </a:p>
          <a:p>
            <a:pPr marL="628650" lvl="1" indent="-171450">
              <a:buFont typeface="Arial" panose="020B0604020202020204" pitchFamily="34" charset="0"/>
              <a:buChar char="•"/>
            </a:pPr>
            <a:r>
              <a:rPr lang="en-US" dirty="0"/>
              <a:t>What is meant by software engineering.</a:t>
            </a:r>
          </a:p>
          <a:p>
            <a:pPr marL="171450" indent="-171450">
              <a:buFont typeface="Arial" panose="020B0604020202020204" pitchFamily="34" charset="0"/>
              <a:buChar char="•"/>
            </a:pPr>
            <a:r>
              <a:rPr lang="en-US" dirty="0"/>
              <a:t>Software engineering ethics</a:t>
            </a:r>
          </a:p>
          <a:p>
            <a:pPr marL="628650" lvl="1" indent="-171450">
              <a:buFont typeface="Arial" panose="020B0604020202020204" pitchFamily="34" charset="0"/>
              <a:buChar char="•"/>
            </a:pPr>
            <a:r>
              <a:rPr lang="en-US" dirty="0"/>
              <a:t>A brief introduction to ethical issues that affect software engineering.</a:t>
            </a:r>
          </a:p>
          <a:p>
            <a:pPr marL="171450" indent="-171450">
              <a:buFont typeface="Arial" panose="020B0604020202020204" pitchFamily="34" charset="0"/>
              <a:buChar char="•"/>
            </a:pPr>
            <a:r>
              <a:rPr lang="en-US" dirty="0"/>
              <a:t>Suggested student projects</a:t>
            </a:r>
          </a:p>
          <a:p>
            <a:pPr marL="628650" lvl="1" indent="-171450">
              <a:buFont typeface="Arial" panose="020B0604020202020204" pitchFamily="34" charset="0"/>
              <a:buChar char="•"/>
            </a:pPr>
            <a:r>
              <a:rPr lang="en-US" dirty="0"/>
              <a:t>A brief introduction to each suggested project that can be carried out by students for this course</a:t>
            </a:r>
          </a:p>
        </p:txBody>
      </p:sp>
      <p:sp>
        <p:nvSpPr>
          <p:cNvPr id="4" name="Slide Number Placeholder 3"/>
          <p:cNvSpPr>
            <a:spLocks noGrp="1"/>
          </p:cNvSpPr>
          <p:nvPr>
            <p:ph type="sldNum" sz="quarter" idx="10"/>
          </p:nvPr>
        </p:nvSpPr>
        <p:spPr/>
        <p:txBody>
          <a:bodyPr/>
          <a:lstStyle/>
          <a:p>
            <a:fld id="{CB4F38C2-4548-F541-8261-4C1D96E7A166}" type="slidenum">
              <a:rPr lang="en-US" smtClean="0"/>
              <a:pPr/>
              <a:t>27</a:t>
            </a:fld>
            <a:endParaRPr lang="en-US"/>
          </a:p>
        </p:txBody>
      </p:sp>
    </p:spTree>
    <p:extLst>
      <p:ext uri="{BB962C8B-B14F-4D97-AF65-F5344CB8AC3E}">
        <p14:creationId xmlns:p14="http://schemas.microsoft.com/office/powerpoint/2010/main" val="5052414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US" b="1"/>
              <a:t>Topics covered</a:t>
            </a:r>
          </a:p>
          <a:p>
            <a:pPr algn="l"/>
            <a:endParaRPr lang="en-US" b="1" dirty="0"/>
          </a:p>
          <a:p>
            <a:pPr marL="171450" indent="-171450">
              <a:buFont typeface="Arial" panose="020B0604020202020204" pitchFamily="34" charset="0"/>
              <a:buChar char="•"/>
            </a:pPr>
            <a:r>
              <a:rPr lang="en-US" dirty="0"/>
              <a:t>Professional software development</a:t>
            </a:r>
          </a:p>
          <a:p>
            <a:pPr marL="628650" lvl="1" indent="-171450">
              <a:buFont typeface="Arial" panose="020B0604020202020204" pitchFamily="34" charset="0"/>
              <a:buChar char="•"/>
            </a:pPr>
            <a:r>
              <a:rPr lang="en-US" dirty="0"/>
              <a:t>What is meant by software engineering.</a:t>
            </a:r>
          </a:p>
          <a:p>
            <a:pPr marL="171450" indent="-171450">
              <a:buFont typeface="Arial" panose="020B0604020202020204" pitchFamily="34" charset="0"/>
              <a:buChar char="•"/>
            </a:pPr>
            <a:r>
              <a:rPr lang="en-US" dirty="0"/>
              <a:t>Software engineering ethics</a:t>
            </a:r>
          </a:p>
          <a:p>
            <a:pPr marL="628650" lvl="1" indent="-171450">
              <a:buFont typeface="Arial" panose="020B0604020202020204" pitchFamily="34" charset="0"/>
              <a:buChar char="•"/>
            </a:pPr>
            <a:r>
              <a:rPr lang="en-US" dirty="0"/>
              <a:t>A brief introduction to ethical issues that affect software engineering.</a:t>
            </a:r>
          </a:p>
          <a:p>
            <a:pPr marL="171450" indent="-171450">
              <a:buFont typeface="Arial" panose="020B0604020202020204" pitchFamily="34" charset="0"/>
              <a:buChar char="•"/>
            </a:pPr>
            <a:r>
              <a:rPr lang="en-US" dirty="0"/>
              <a:t>Suggested student projects</a:t>
            </a:r>
          </a:p>
          <a:p>
            <a:pPr marL="628650" lvl="1" indent="-171450">
              <a:buFont typeface="Arial" panose="020B0604020202020204" pitchFamily="34" charset="0"/>
              <a:buChar char="•"/>
            </a:pPr>
            <a:r>
              <a:rPr lang="en-US" dirty="0"/>
              <a:t>A brief introduction to each suggested project that can be carried out by students for this course</a:t>
            </a:r>
          </a:p>
        </p:txBody>
      </p:sp>
      <p:sp>
        <p:nvSpPr>
          <p:cNvPr id="4" name="Slide Number Placeholder 3"/>
          <p:cNvSpPr>
            <a:spLocks noGrp="1"/>
          </p:cNvSpPr>
          <p:nvPr>
            <p:ph type="sldNum" sz="quarter" idx="10"/>
          </p:nvPr>
        </p:nvSpPr>
        <p:spPr/>
        <p:txBody>
          <a:bodyPr/>
          <a:lstStyle/>
          <a:p>
            <a:fld id="{CB4F38C2-4548-F541-8261-4C1D96E7A166}" type="slidenum">
              <a:rPr lang="en-US" smtClean="0"/>
              <a:pPr/>
              <a:t>28</a:t>
            </a:fld>
            <a:endParaRPr lang="en-US"/>
          </a:p>
        </p:txBody>
      </p:sp>
    </p:spTree>
    <p:extLst>
      <p:ext uri="{BB962C8B-B14F-4D97-AF65-F5344CB8AC3E}">
        <p14:creationId xmlns:p14="http://schemas.microsoft.com/office/powerpoint/2010/main" val="10555963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US" b="1"/>
              <a:t>Topics covered</a:t>
            </a:r>
          </a:p>
          <a:p>
            <a:pPr algn="l"/>
            <a:endParaRPr lang="en-US" b="1" dirty="0"/>
          </a:p>
          <a:p>
            <a:pPr marL="171450" indent="-171450">
              <a:buFont typeface="Arial" panose="020B0604020202020204" pitchFamily="34" charset="0"/>
              <a:buChar char="•"/>
            </a:pPr>
            <a:r>
              <a:rPr lang="en-US" dirty="0"/>
              <a:t>Professional software development</a:t>
            </a:r>
          </a:p>
          <a:p>
            <a:pPr marL="628650" lvl="1" indent="-171450">
              <a:buFont typeface="Arial" panose="020B0604020202020204" pitchFamily="34" charset="0"/>
              <a:buChar char="•"/>
            </a:pPr>
            <a:r>
              <a:rPr lang="en-US" dirty="0"/>
              <a:t>What is meant by software engineering.</a:t>
            </a:r>
          </a:p>
          <a:p>
            <a:pPr marL="171450" indent="-171450">
              <a:buFont typeface="Arial" panose="020B0604020202020204" pitchFamily="34" charset="0"/>
              <a:buChar char="•"/>
            </a:pPr>
            <a:r>
              <a:rPr lang="en-US" dirty="0"/>
              <a:t>Software engineering ethics</a:t>
            </a:r>
          </a:p>
          <a:p>
            <a:pPr marL="628650" lvl="1" indent="-171450">
              <a:buFont typeface="Arial" panose="020B0604020202020204" pitchFamily="34" charset="0"/>
              <a:buChar char="•"/>
            </a:pPr>
            <a:r>
              <a:rPr lang="en-US" dirty="0"/>
              <a:t>A brief introduction to ethical issues that affect software engineering.</a:t>
            </a:r>
          </a:p>
          <a:p>
            <a:pPr marL="171450" indent="-171450">
              <a:buFont typeface="Arial" panose="020B0604020202020204" pitchFamily="34" charset="0"/>
              <a:buChar char="•"/>
            </a:pPr>
            <a:r>
              <a:rPr lang="en-US" dirty="0"/>
              <a:t>Suggested student projects</a:t>
            </a:r>
          </a:p>
          <a:p>
            <a:pPr marL="628650" lvl="1" indent="-171450">
              <a:buFont typeface="Arial" panose="020B0604020202020204" pitchFamily="34" charset="0"/>
              <a:buChar char="•"/>
            </a:pPr>
            <a:r>
              <a:rPr lang="en-US" dirty="0"/>
              <a:t>A brief introduction to each suggested project that can be carried out by students for this course</a:t>
            </a:r>
          </a:p>
        </p:txBody>
      </p:sp>
      <p:sp>
        <p:nvSpPr>
          <p:cNvPr id="4" name="Slide Number Placeholder 3"/>
          <p:cNvSpPr>
            <a:spLocks noGrp="1"/>
          </p:cNvSpPr>
          <p:nvPr>
            <p:ph type="sldNum" sz="quarter" idx="10"/>
          </p:nvPr>
        </p:nvSpPr>
        <p:spPr/>
        <p:txBody>
          <a:bodyPr/>
          <a:lstStyle/>
          <a:p>
            <a:fld id="{CB4F38C2-4548-F541-8261-4C1D96E7A166}" type="slidenum">
              <a:rPr lang="en-US" smtClean="0"/>
              <a:pPr/>
              <a:t>29</a:t>
            </a:fld>
            <a:endParaRPr lang="en-US"/>
          </a:p>
        </p:txBody>
      </p:sp>
    </p:spTree>
    <p:extLst>
      <p:ext uri="{BB962C8B-B14F-4D97-AF65-F5344CB8AC3E}">
        <p14:creationId xmlns:p14="http://schemas.microsoft.com/office/powerpoint/2010/main" val="38807057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US" b="1"/>
              <a:t>Topics covered</a:t>
            </a:r>
          </a:p>
          <a:p>
            <a:pPr algn="l"/>
            <a:endParaRPr lang="en-US" b="1" dirty="0"/>
          </a:p>
          <a:p>
            <a:pPr marL="171450" indent="-171450">
              <a:buFont typeface="Arial" panose="020B0604020202020204" pitchFamily="34" charset="0"/>
              <a:buChar char="•"/>
            </a:pPr>
            <a:r>
              <a:rPr lang="en-US" dirty="0"/>
              <a:t>Professional software development</a:t>
            </a:r>
          </a:p>
          <a:p>
            <a:pPr marL="628650" lvl="1" indent="-171450">
              <a:buFont typeface="Arial" panose="020B0604020202020204" pitchFamily="34" charset="0"/>
              <a:buChar char="•"/>
            </a:pPr>
            <a:r>
              <a:rPr lang="en-US" dirty="0"/>
              <a:t>What is meant by software engineering.</a:t>
            </a:r>
          </a:p>
          <a:p>
            <a:pPr marL="171450" indent="-171450">
              <a:buFont typeface="Arial" panose="020B0604020202020204" pitchFamily="34" charset="0"/>
              <a:buChar char="•"/>
            </a:pPr>
            <a:r>
              <a:rPr lang="en-US" dirty="0"/>
              <a:t>Software engineering ethics</a:t>
            </a:r>
          </a:p>
          <a:p>
            <a:pPr marL="628650" lvl="1" indent="-171450">
              <a:buFont typeface="Arial" panose="020B0604020202020204" pitchFamily="34" charset="0"/>
              <a:buChar char="•"/>
            </a:pPr>
            <a:r>
              <a:rPr lang="en-US" dirty="0"/>
              <a:t>A brief introduction to ethical issues that affect software engineering.</a:t>
            </a:r>
          </a:p>
          <a:p>
            <a:pPr marL="171450" indent="-171450">
              <a:buFont typeface="Arial" panose="020B0604020202020204" pitchFamily="34" charset="0"/>
              <a:buChar char="•"/>
            </a:pPr>
            <a:r>
              <a:rPr lang="en-US" dirty="0"/>
              <a:t>Suggested student projects</a:t>
            </a:r>
          </a:p>
          <a:p>
            <a:pPr marL="628650" lvl="1" indent="-171450">
              <a:buFont typeface="Arial" panose="020B0604020202020204" pitchFamily="34" charset="0"/>
              <a:buChar char="•"/>
            </a:pPr>
            <a:r>
              <a:rPr lang="en-US" dirty="0"/>
              <a:t>A brief introduction to each suggested project that can be carried out by students for this course</a:t>
            </a:r>
          </a:p>
        </p:txBody>
      </p:sp>
      <p:sp>
        <p:nvSpPr>
          <p:cNvPr id="4" name="Slide Number Placeholder 3"/>
          <p:cNvSpPr>
            <a:spLocks noGrp="1"/>
          </p:cNvSpPr>
          <p:nvPr>
            <p:ph type="sldNum" sz="quarter" idx="10"/>
          </p:nvPr>
        </p:nvSpPr>
        <p:spPr/>
        <p:txBody>
          <a:bodyPr/>
          <a:lstStyle/>
          <a:p>
            <a:fld id="{CB4F38C2-4548-F541-8261-4C1D96E7A166}" type="slidenum">
              <a:rPr lang="en-US" smtClean="0"/>
              <a:pPr/>
              <a:t>30</a:t>
            </a:fld>
            <a:endParaRPr lang="en-US"/>
          </a:p>
        </p:txBody>
      </p:sp>
    </p:spTree>
    <p:extLst>
      <p:ext uri="{BB962C8B-B14F-4D97-AF65-F5344CB8AC3E}">
        <p14:creationId xmlns:p14="http://schemas.microsoft.com/office/powerpoint/2010/main" val="37789520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US" b="1"/>
              <a:t>Topics covered</a:t>
            </a:r>
          </a:p>
          <a:p>
            <a:pPr algn="l"/>
            <a:endParaRPr lang="en-US" b="1" dirty="0"/>
          </a:p>
          <a:p>
            <a:pPr marL="171450" indent="-171450">
              <a:buFont typeface="Arial" panose="020B0604020202020204" pitchFamily="34" charset="0"/>
              <a:buChar char="•"/>
            </a:pPr>
            <a:r>
              <a:rPr lang="en-US" dirty="0"/>
              <a:t>Professional software development</a:t>
            </a:r>
          </a:p>
          <a:p>
            <a:pPr marL="628650" lvl="1" indent="-171450">
              <a:buFont typeface="Arial" panose="020B0604020202020204" pitchFamily="34" charset="0"/>
              <a:buChar char="•"/>
            </a:pPr>
            <a:r>
              <a:rPr lang="en-US" dirty="0"/>
              <a:t>What is meant by software engineering.</a:t>
            </a:r>
          </a:p>
          <a:p>
            <a:pPr marL="171450" indent="-171450">
              <a:buFont typeface="Arial" panose="020B0604020202020204" pitchFamily="34" charset="0"/>
              <a:buChar char="•"/>
            </a:pPr>
            <a:r>
              <a:rPr lang="en-US" dirty="0"/>
              <a:t>Software engineering ethics</a:t>
            </a:r>
          </a:p>
          <a:p>
            <a:pPr marL="628650" lvl="1" indent="-171450">
              <a:buFont typeface="Arial" panose="020B0604020202020204" pitchFamily="34" charset="0"/>
              <a:buChar char="•"/>
            </a:pPr>
            <a:r>
              <a:rPr lang="en-US" dirty="0"/>
              <a:t>A brief introduction to ethical issues that affect software engineering.</a:t>
            </a:r>
          </a:p>
          <a:p>
            <a:pPr marL="171450" indent="-171450">
              <a:buFont typeface="Arial" panose="020B0604020202020204" pitchFamily="34" charset="0"/>
              <a:buChar char="•"/>
            </a:pPr>
            <a:r>
              <a:rPr lang="en-US" dirty="0"/>
              <a:t>Suggested student projects</a:t>
            </a:r>
          </a:p>
          <a:p>
            <a:pPr marL="628650" lvl="1" indent="-171450">
              <a:buFont typeface="Arial" panose="020B0604020202020204" pitchFamily="34" charset="0"/>
              <a:buChar char="•"/>
            </a:pPr>
            <a:r>
              <a:rPr lang="en-US" dirty="0"/>
              <a:t>A brief introduction to each suggested project that can be carried out by students for this course</a:t>
            </a:r>
          </a:p>
        </p:txBody>
      </p:sp>
      <p:sp>
        <p:nvSpPr>
          <p:cNvPr id="4" name="Slide Number Placeholder 3"/>
          <p:cNvSpPr>
            <a:spLocks noGrp="1"/>
          </p:cNvSpPr>
          <p:nvPr>
            <p:ph type="sldNum" sz="quarter" idx="10"/>
          </p:nvPr>
        </p:nvSpPr>
        <p:spPr/>
        <p:txBody>
          <a:bodyPr/>
          <a:lstStyle/>
          <a:p>
            <a:fld id="{CB4F38C2-4548-F541-8261-4C1D96E7A166}" type="slidenum">
              <a:rPr lang="en-US" smtClean="0"/>
              <a:pPr/>
              <a:t>31</a:t>
            </a:fld>
            <a:endParaRPr lang="en-US"/>
          </a:p>
        </p:txBody>
      </p:sp>
    </p:spTree>
    <p:extLst>
      <p:ext uri="{BB962C8B-B14F-4D97-AF65-F5344CB8AC3E}">
        <p14:creationId xmlns:p14="http://schemas.microsoft.com/office/powerpoint/2010/main" val="264235666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US" b="1"/>
              <a:t>Topics covered</a:t>
            </a:r>
          </a:p>
          <a:p>
            <a:pPr algn="l"/>
            <a:endParaRPr lang="en-US" b="1" dirty="0"/>
          </a:p>
          <a:p>
            <a:pPr marL="171450" indent="-171450">
              <a:buFont typeface="Arial" panose="020B0604020202020204" pitchFamily="34" charset="0"/>
              <a:buChar char="•"/>
            </a:pPr>
            <a:r>
              <a:rPr lang="en-US" dirty="0"/>
              <a:t>Professional software development</a:t>
            </a:r>
          </a:p>
          <a:p>
            <a:pPr marL="628650" lvl="1" indent="-171450">
              <a:buFont typeface="Arial" panose="020B0604020202020204" pitchFamily="34" charset="0"/>
              <a:buChar char="•"/>
            </a:pPr>
            <a:r>
              <a:rPr lang="en-US" dirty="0"/>
              <a:t>What is meant by software engineering.</a:t>
            </a:r>
          </a:p>
          <a:p>
            <a:pPr marL="171450" indent="-171450">
              <a:buFont typeface="Arial" panose="020B0604020202020204" pitchFamily="34" charset="0"/>
              <a:buChar char="•"/>
            </a:pPr>
            <a:r>
              <a:rPr lang="en-US" dirty="0"/>
              <a:t>Software engineering ethics</a:t>
            </a:r>
          </a:p>
          <a:p>
            <a:pPr marL="628650" lvl="1" indent="-171450">
              <a:buFont typeface="Arial" panose="020B0604020202020204" pitchFamily="34" charset="0"/>
              <a:buChar char="•"/>
            </a:pPr>
            <a:r>
              <a:rPr lang="en-US" dirty="0"/>
              <a:t>A brief introduction to ethical issues that affect software engineering.</a:t>
            </a:r>
          </a:p>
          <a:p>
            <a:pPr marL="171450" indent="-171450">
              <a:buFont typeface="Arial" panose="020B0604020202020204" pitchFamily="34" charset="0"/>
              <a:buChar char="•"/>
            </a:pPr>
            <a:r>
              <a:rPr lang="en-US" dirty="0"/>
              <a:t>Suggested student projects</a:t>
            </a:r>
          </a:p>
          <a:p>
            <a:pPr marL="628650" lvl="1" indent="-171450">
              <a:buFont typeface="Arial" panose="020B0604020202020204" pitchFamily="34" charset="0"/>
              <a:buChar char="•"/>
            </a:pPr>
            <a:r>
              <a:rPr lang="en-US" dirty="0"/>
              <a:t>A brief introduction to each suggested project that can be carried out by students for this course</a:t>
            </a:r>
          </a:p>
        </p:txBody>
      </p:sp>
      <p:sp>
        <p:nvSpPr>
          <p:cNvPr id="4" name="Slide Number Placeholder 3"/>
          <p:cNvSpPr>
            <a:spLocks noGrp="1"/>
          </p:cNvSpPr>
          <p:nvPr>
            <p:ph type="sldNum" sz="quarter" idx="10"/>
          </p:nvPr>
        </p:nvSpPr>
        <p:spPr/>
        <p:txBody>
          <a:bodyPr/>
          <a:lstStyle/>
          <a:p>
            <a:fld id="{CB4F38C2-4548-F541-8261-4C1D96E7A166}" type="slidenum">
              <a:rPr lang="en-US" smtClean="0"/>
              <a:pPr/>
              <a:t>32</a:t>
            </a:fld>
            <a:endParaRPr lang="en-US"/>
          </a:p>
        </p:txBody>
      </p:sp>
    </p:spTree>
    <p:extLst>
      <p:ext uri="{BB962C8B-B14F-4D97-AF65-F5344CB8AC3E}">
        <p14:creationId xmlns:p14="http://schemas.microsoft.com/office/powerpoint/2010/main" val="301682807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US" b="1"/>
              <a:t>Topics covered</a:t>
            </a:r>
          </a:p>
          <a:p>
            <a:pPr algn="l"/>
            <a:endParaRPr lang="en-US" b="1" dirty="0"/>
          </a:p>
          <a:p>
            <a:pPr marL="171450" indent="-171450">
              <a:buFont typeface="Arial" panose="020B0604020202020204" pitchFamily="34" charset="0"/>
              <a:buChar char="•"/>
            </a:pPr>
            <a:r>
              <a:rPr lang="en-US" dirty="0"/>
              <a:t>Professional software development</a:t>
            </a:r>
          </a:p>
          <a:p>
            <a:pPr marL="628650" lvl="1" indent="-171450">
              <a:buFont typeface="Arial" panose="020B0604020202020204" pitchFamily="34" charset="0"/>
              <a:buChar char="•"/>
            </a:pPr>
            <a:r>
              <a:rPr lang="en-US" dirty="0"/>
              <a:t>What is meant by software engineering.</a:t>
            </a:r>
          </a:p>
          <a:p>
            <a:pPr marL="171450" indent="-171450">
              <a:buFont typeface="Arial" panose="020B0604020202020204" pitchFamily="34" charset="0"/>
              <a:buChar char="•"/>
            </a:pPr>
            <a:r>
              <a:rPr lang="en-US" dirty="0"/>
              <a:t>Software engineering ethics</a:t>
            </a:r>
          </a:p>
          <a:p>
            <a:pPr marL="628650" lvl="1" indent="-171450">
              <a:buFont typeface="Arial" panose="020B0604020202020204" pitchFamily="34" charset="0"/>
              <a:buChar char="•"/>
            </a:pPr>
            <a:r>
              <a:rPr lang="en-US" dirty="0"/>
              <a:t>A brief introduction to ethical issues that affect software engineering.</a:t>
            </a:r>
          </a:p>
          <a:p>
            <a:pPr marL="171450" indent="-171450">
              <a:buFont typeface="Arial" panose="020B0604020202020204" pitchFamily="34" charset="0"/>
              <a:buChar char="•"/>
            </a:pPr>
            <a:r>
              <a:rPr lang="en-US" dirty="0"/>
              <a:t>Suggested student projects</a:t>
            </a:r>
          </a:p>
          <a:p>
            <a:pPr marL="628650" lvl="1" indent="-171450">
              <a:buFont typeface="Arial" panose="020B0604020202020204" pitchFamily="34" charset="0"/>
              <a:buChar char="•"/>
            </a:pPr>
            <a:r>
              <a:rPr lang="en-US" dirty="0"/>
              <a:t>A brief introduction to each suggested project that can be carried out by students for this course</a:t>
            </a:r>
          </a:p>
        </p:txBody>
      </p:sp>
      <p:sp>
        <p:nvSpPr>
          <p:cNvPr id="4" name="Slide Number Placeholder 3"/>
          <p:cNvSpPr>
            <a:spLocks noGrp="1"/>
          </p:cNvSpPr>
          <p:nvPr>
            <p:ph type="sldNum" sz="quarter" idx="10"/>
          </p:nvPr>
        </p:nvSpPr>
        <p:spPr/>
        <p:txBody>
          <a:bodyPr/>
          <a:lstStyle/>
          <a:p>
            <a:fld id="{CB4F38C2-4548-F541-8261-4C1D96E7A166}" type="slidenum">
              <a:rPr lang="en-US" smtClean="0"/>
              <a:pPr/>
              <a:t>33</a:t>
            </a:fld>
            <a:endParaRPr lang="en-US"/>
          </a:p>
        </p:txBody>
      </p:sp>
    </p:spTree>
    <p:extLst>
      <p:ext uri="{BB962C8B-B14F-4D97-AF65-F5344CB8AC3E}">
        <p14:creationId xmlns:p14="http://schemas.microsoft.com/office/powerpoint/2010/main" val="112192477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US" b="1"/>
              <a:t>Topics covered</a:t>
            </a:r>
          </a:p>
          <a:p>
            <a:pPr algn="l"/>
            <a:endParaRPr lang="en-US" b="1" dirty="0"/>
          </a:p>
          <a:p>
            <a:pPr marL="171450" indent="-171450">
              <a:buFont typeface="Arial" panose="020B0604020202020204" pitchFamily="34" charset="0"/>
              <a:buChar char="•"/>
            </a:pPr>
            <a:r>
              <a:rPr lang="en-US" dirty="0"/>
              <a:t>Professional software development</a:t>
            </a:r>
          </a:p>
          <a:p>
            <a:pPr marL="628650" lvl="1" indent="-171450">
              <a:buFont typeface="Arial" panose="020B0604020202020204" pitchFamily="34" charset="0"/>
              <a:buChar char="•"/>
            </a:pPr>
            <a:r>
              <a:rPr lang="en-US" dirty="0"/>
              <a:t>What is meant by software engineering.</a:t>
            </a:r>
          </a:p>
          <a:p>
            <a:pPr marL="171450" indent="-171450">
              <a:buFont typeface="Arial" panose="020B0604020202020204" pitchFamily="34" charset="0"/>
              <a:buChar char="•"/>
            </a:pPr>
            <a:r>
              <a:rPr lang="en-US" dirty="0"/>
              <a:t>Software engineering ethics</a:t>
            </a:r>
          </a:p>
          <a:p>
            <a:pPr marL="628650" lvl="1" indent="-171450">
              <a:buFont typeface="Arial" panose="020B0604020202020204" pitchFamily="34" charset="0"/>
              <a:buChar char="•"/>
            </a:pPr>
            <a:r>
              <a:rPr lang="en-US" dirty="0"/>
              <a:t>A brief introduction to ethical issues that affect software engineering.</a:t>
            </a:r>
          </a:p>
          <a:p>
            <a:pPr marL="171450" indent="-171450">
              <a:buFont typeface="Arial" panose="020B0604020202020204" pitchFamily="34" charset="0"/>
              <a:buChar char="•"/>
            </a:pPr>
            <a:r>
              <a:rPr lang="en-US" dirty="0"/>
              <a:t>Suggested student projects</a:t>
            </a:r>
          </a:p>
          <a:p>
            <a:pPr marL="628650" lvl="1" indent="-171450">
              <a:buFont typeface="Arial" panose="020B0604020202020204" pitchFamily="34" charset="0"/>
              <a:buChar char="•"/>
            </a:pPr>
            <a:r>
              <a:rPr lang="en-US" dirty="0"/>
              <a:t>A brief introduction to each suggested project that can be carried out by students for this course</a:t>
            </a:r>
          </a:p>
        </p:txBody>
      </p:sp>
      <p:sp>
        <p:nvSpPr>
          <p:cNvPr id="4" name="Slide Number Placeholder 3"/>
          <p:cNvSpPr>
            <a:spLocks noGrp="1"/>
          </p:cNvSpPr>
          <p:nvPr>
            <p:ph type="sldNum" sz="quarter" idx="10"/>
          </p:nvPr>
        </p:nvSpPr>
        <p:spPr/>
        <p:txBody>
          <a:bodyPr/>
          <a:lstStyle/>
          <a:p>
            <a:fld id="{CB4F38C2-4548-F541-8261-4C1D96E7A166}" type="slidenum">
              <a:rPr lang="en-US" smtClean="0"/>
              <a:pPr/>
              <a:t>34</a:t>
            </a:fld>
            <a:endParaRPr lang="en-US"/>
          </a:p>
        </p:txBody>
      </p:sp>
    </p:spTree>
    <p:extLst>
      <p:ext uri="{BB962C8B-B14F-4D97-AF65-F5344CB8AC3E}">
        <p14:creationId xmlns:p14="http://schemas.microsoft.com/office/powerpoint/2010/main" val="307721196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US" b="1"/>
              <a:t>Topics covered</a:t>
            </a:r>
          </a:p>
          <a:p>
            <a:pPr algn="l"/>
            <a:endParaRPr lang="en-US" b="1" dirty="0"/>
          </a:p>
          <a:p>
            <a:pPr marL="171450" indent="-171450">
              <a:buFont typeface="Arial" panose="020B0604020202020204" pitchFamily="34" charset="0"/>
              <a:buChar char="•"/>
            </a:pPr>
            <a:r>
              <a:rPr lang="en-US" dirty="0"/>
              <a:t>Professional software development</a:t>
            </a:r>
          </a:p>
          <a:p>
            <a:pPr marL="628650" lvl="1" indent="-171450">
              <a:buFont typeface="Arial" panose="020B0604020202020204" pitchFamily="34" charset="0"/>
              <a:buChar char="•"/>
            </a:pPr>
            <a:r>
              <a:rPr lang="en-US" dirty="0"/>
              <a:t>What is meant by software engineering.</a:t>
            </a:r>
          </a:p>
          <a:p>
            <a:pPr marL="171450" indent="-171450">
              <a:buFont typeface="Arial" panose="020B0604020202020204" pitchFamily="34" charset="0"/>
              <a:buChar char="•"/>
            </a:pPr>
            <a:r>
              <a:rPr lang="en-US" dirty="0"/>
              <a:t>Software engineering ethics</a:t>
            </a:r>
          </a:p>
          <a:p>
            <a:pPr marL="628650" lvl="1" indent="-171450">
              <a:buFont typeface="Arial" panose="020B0604020202020204" pitchFamily="34" charset="0"/>
              <a:buChar char="•"/>
            </a:pPr>
            <a:r>
              <a:rPr lang="en-US" dirty="0"/>
              <a:t>A brief introduction to ethical issues that affect software engineering.</a:t>
            </a:r>
          </a:p>
          <a:p>
            <a:pPr marL="171450" indent="-171450">
              <a:buFont typeface="Arial" panose="020B0604020202020204" pitchFamily="34" charset="0"/>
              <a:buChar char="•"/>
            </a:pPr>
            <a:r>
              <a:rPr lang="en-US" dirty="0"/>
              <a:t>Suggested student projects</a:t>
            </a:r>
          </a:p>
          <a:p>
            <a:pPr marL="628650" lvl="1" indent="-171450">
              <a:buFont typeface="Arial" panose="020B0604020202020204" pitchFamily="34" charset="0"/>
              <a:buChar char="•"/>
            </a:pPr>
            <a:r>
              <a:rPr lang="en-US" dirty="0"/>
              <a:t>A brief introduction to each suggested project that can be carried out by students for this course</a:t>
            </a:r>
          </a:p>
        </p:txBody>
      </p:sp>
      <p:sp>
        <p:nvSpPr>
          <p:cNvPr id="4" name="Slide Number Placeholder 3"/>
          <p:cNvSpPr>
            <a:spLocks noGrp="1"/>
          </p:cNvSpPr>
          <p:nvPr>
            <p:ph type="sldNum" sz="quarter" idx="10"/>
          </p:nvPr>
        </p:nvSpPr>
        <p:spPr/>
        <p:txBody>
          <a:bodyPr/>
          <a:lstStyle/>
          <a:p>
            <a:fld id="{CB4F38C2-4548-F541-8261-4C1D96E7A166}" type="slidenum">
              <a:rPr lang="en-US" smtClean="0"/>
              <a:pPr/>
              <a:t>35</a:t>
            </a:fld>
            <a:endParaRPr lang="en-US"/>
          </a:p>
        </p:txBody>
      </p:sp>
    </p:spTree>
    <p:extLst>
      <p:ext uri="{BB962C8B-B14F-4D97-AF65-F5344CB8AC3E}">
        <p14:creationId xmlns:p14="http://schemas.microsoft.com/office/powerpoint/2010/main" val="306444891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US" b="1"/>
              <a:t>Topics covered</a:t>
            </a:r>
          </a:p>
          <a:p>
            <a:pPr algn="l"/>
            <a:endParaRPr lang="en-US" b="1" dirty="0"/>
          </a:p>
          <a:p>
            <a:pPr marL="171450" indent="-171450">
              <a:buFont typeface="Arial" panose="020B0604020202020204" pitchFamily="34" charset="0"/>
              <a:buChar char="•"/>
            </a:pPr>
            <a:r>
              <a:rPr lang="en-US" dirty="0"/>
              <a:t>Professional software development</a:t>
            </a:r>
          </a:p>
          <a:p>
            <a:pPr marL="628650" lvl="1" indent="-171450">
              <a:buFont typeface="Arial" panose="020B0604020202020204" pitchFamily="34" charset="0"/>
              <a:buChar char="•"/>
            </a:pPr>
            <a:r>
              <a:rPr lang="en-US" dirty="0"/>
              <a:t>What is meant by software engineering.</a:t>
            </a:r>
          </a:p>
          <a:p>
            <a:pPr marL="171450" indent="-171450">
              <a:buFont typeface="Arial" panose="020B0604020202020204" pitchFamily="34" charset="0"/>
              <a:buChar char="•"/>
            </a:pPr>
            <a:r>
              <a:rPr lang="en-US" dirty="0"/>
              <a:t>Software engineering ethics</a:t>
            </a:r>
          </a:p>
          <a:p>
            <a:pPr marL="628650" lvl="1" indent="-171450">
              <a:buFont typeface="Arial" panose="020B0604020202020204" pitchFamily="34" charset="0"/>
              <a:buChar char="•"/>
            </a:pPr>
            <a:r>
              <a:rPr lang="en-US" dirty="0"/>
              <a:t>A brief introduction to ethical issues that affect software engineering.</a:t>
            </a:r>
          </a:p>
          <a:p>
            <a:pPr marL="171450" indent="-171450">
              <a:buFont typeface="Arial" panose="020B0604020202020204" pitchFamily="34" charset="0"/>
              <a:buChar char="•"/>
            </a:pPr>
            <a:r>
              <a:rPr lang="en-US" dirty="0"/>
              <a:t>Suggested student projects</a:t>
            </a:r>
          </a:p>
          <a:p>
            <a:pPr marL="628650" lvl="1" indent="-171450">
              <a:buFont typeface="Arial" panose="020B0604020202020204" pitchFamily="34" charset="0"/>
              <a:buChar char="•"/>
            </a:pPr>
            <a:r>
              <a:rPr lang="en-US" dirty="0"/>
              <a:t>A brief introduction to each suggested project that can be carried out by students for this course</a:t>
            </a:r>
          </a:p>
        </p:txBody>
      </p:sp>
      <p:sp>
        <p:nvSpPr>
          <p:cNvPr id="4" name="Slide Number Placeholder 3"/>
          <p:cNvSpPr>
            <a:spLocks noGrp="1"/>
          </p:cNvSpPr>
          <p:nvPr>
            <p:ph type="sldNum" sz="quarter" idx="10"/>
          </p:nvPr>
        </p:nvSpPr>
        <p:spPr/>
        <p:txBody>
          <a:bodyPr/>
          <a:lstStyle/>
          <a:p>
            <a:fld id="{CB4F38C2-4548-F541-8261-4C1D96E7A166}" type="slidenum">
              <a:rPr lang="en-US" smtClean="0"/>
              <a:pPr/>
              <a:t>36</a:t>
            </a:fld>
            <a:endParaRPr lang="en-US"/>
          </a:p>
        </p:txBody>
      </p:sp>
    </p:spTree>
    <p:extLst>
      <p:ext uri="{BB962C8B-B14F-4D97-AF65-F5344CB8AC3E}">
        <p14:creationId xmlns:p14="http://schemas.microsoft.com/office/powerpoint/2010/main" val="373925394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US" b="1"/>
              <a:t>Topics covered</a:t>
            </a:r>
          </a:p>
          <a:p>
            <a:pPr algn="l"/>
            <a:endParaRPr lang="en-US" b="1" dirty="0"/>
          </a:p>
          <a:p>
            <a:pPr marL="171450" indent="-171450">
              <a:buFont typeface="Arial" panose="020B0604020202020204" pitchFamily="34" charset="0"/>
              <a:buChar char="•"/>
            </a:pPr>
            <a:r>
              <a:rPr lang="en-US" dirty="0"/>
              <a:t>Professional software development</a:t>
            </a:r>
          </a:p>
          <a:p>
            <a:pPr marL="628650" lvl="1" indent="-171450">
              <a:buFont typeface="Arial" panose="020B0604020202020204" pitchFamily="34" charset="0"/>
              <a:buChar char="•"/>
            </a:pPr>
            <a:r>
              <a:rPr lang="en-US" dirty="0"/>
              <a:t>What is meant by software engineering.</a:t>
            </a:r>
          </a:p>
          <a:p>
            <a:pPr marL="171450" indent="-171450">
              <a:buFont typeface="Arial" panose="020B0604020202020204" pitchFamily="34" charset="0"/>
              <a:buChar char="•"/>
            </a:pPr>
            <a:r>
              <a:rPr lang="en-US" dirty="0"/>
              <a:t>Software engineering ethics</a:t>
            </a:r>
          </a:p>
          <a:p>
            <a:pPr marL="628650" lvl="1" indent="-171450">
              <a:buFont typeface="Arial" panose="020B0604020202020204" pitchFamily="34" charset="0"/>
              <a:buChar char="•"/>
            </a:pPr>
            <a:r>
              <a:rPr lang="en-US" dirty="0"/>
              <a:t>A brief introduction to ethical issues that affect software engineering.</a:t>
            </a:r>
          </a:p>
          <a:p>
            <a:pPr marL="171450" indent="-171450">
              <a:buFont typeface="Arial" panose="020B0604020202020204" pitchFamily="34" charset="0"/>
              <a:buChar char="•"/>
            </a:pPr>
            <a:r>
              <a:rPr lang="en-US" dirty="0"/>
              <a:t>Suggested student projects</a:t>
            </a:r>
          </a:p>
          <a:p>
            <a:pPr marL="628650" lvl="1" indent="-171450">
              <a:buFont typeface="Arial" panose="020B0604020202020204" pitchFamily="34" charset="0"/>
              <a:buChar char="•"/>
            </a:pPr>
            <a:r>
              <a:rPr lang="en-US" dirty="0"/>
              <a:t>A brief introduction to each suggested project that can be carried out by students for this course</a:t>
            </a:r>
          </a:p>
        </p:txBody>
      </p:sp>
      <p:sp>
        <p:nvSpPr>
          <p:cNvPr id="4" name="Slide Number Placeholder 3"/>
          <p:cNvSpPr>
            <a:spLocks noGrp="1"/>
          </p:cNvSpPr>
          <p:nvPr>
            <p:ph type="sldNum" sz="quarter" idx="10"/>
          </p:nvPr>
        </p:nvSpPr>
        <p:spPr/>
        <p:txBody>
          <a:bodyPr/>
          <a:lstStyle/>
          <a:p>
            <a:fld id="{CB4F38C2-4548-F541-8261-4C1D96E7A166}" type="slidenum">
              <a:rPr lang="en-US" smtClean="0"/>
              <a:pPr/>
              <a:t>37</a:t>
            </a:fld>
            <a:endParaRPr lang="en-US"/>
          </a:p>
        </p:txBody>
      </p:sp>
    </p:spTree>
    <p:extLst>
      <p:ext uri="{BB962C8B-B14F-4D97-AF65-F5344CB8AC3E}">
        <p14:creationId xmlns:p14="http://schemas.microsoft.com/office/powerpoint/2010/main" val="419402163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US" b="1"/>
              <a:t>Topics covered</a:t>
            </a:r>
          </a:p>
          <a:p>
            <a:pPr algn="l"/>
            <a:endParaRPr lang="en-US" b="1" dirty="0"/>
          </a:p>
          <a:p>
            <a:pPr marL="171450" indent="-171450">
              <a:buFont typeface="Arial" panose="020B0604020202020204" pitchFamily="34" charset="0"/>
              <a:buChar char="•"/>
            </a:pPr>
            <a:r>
              <a:rPr lang="en-US" dirty="0"/>
              <a:t>Professional software development</a:t>
            </a:r>
          </a:p>
          <a:p>
            <a:pPr marL="628650" lvl="1" indent="-171450">
              <a:buFont typeface="Arial" panose="020B0604020202020204" pitchFamily="34" charset="0"/>
              <a:buChar char="•"/>
            </a:pPr>
            <a:r>
              <a:rPr lang="en-US" dirty="0"/>
              <a:t>What is meant by software engineering.</a:t>
            </a:r>
          </a:p>
          <a:p>
            <a:pPr marL="171450" indent="-171450">
              <a:buFont typeface="Arial" panose="020B0604020202020204" pitchFamily="34" charset="0"/>
              <a:buChar char="•"/>
            </a:pPr>
            <a:r>
              <a:rPr lang="en-US" dirty="0"/>
              <a:t>Software engineering ethics</a:t>
            </a:r>
          </a:p>
          <a:p>
            <a:pPr marL="628650" lvl="1" indent="-171450">
              <a:buFont typeface="Arial" panose="020B0604020202020204" pitchFamily="34" charset="0"/>
              <a:buChar char="•"/>
            </a:pPr>
            <a:r>
              <a:rPr lang="en-US" dirty="0"/>
              <a:t>A brief introduction to ethical issues that affect software engineering.</a:t>
            </a:r>
          </a:p>
          <a:p>
            <a:pPr marL="171450" indent="-171450">
              <a:buFont typeface="Arial" panose="020B0604020202020204" pitchFamily="34" charset="0"/>
              <a:buChar char="•"/>
            </a:pPr>
            <a:r>
              <a:rPr lang="en-US" dirty="0"/>
              <a:t>Suggested student projects</a:t>
            </a:r>
          </a:p>
          <a:p>
            <a:pPr marL="628650" lvl="1" indent="-171450">
              <a:buFont typeface="Arial" panose="020B0604020202020204" pitchFamily="34" charset="0"/>
              <a:buChar char="•"/>
            </a:pPr>
            <a:r>
              <a:rPr lang="en-US" dirty="0"/>
              <a:t>A brief introduction to each suggested project that can be carried out by students for this course</a:t>
            </a:r>
          </a:p>
        </p:txBody>
      </p:sp>
      <p:sp>
        <p:nvSpPr>
          <p:cNvPr id="4" name="Slide Number Placeholder 3"/>
          <p:cNvSpPr>
            <a:spLocks noGrp="1"/>
          </p:cNvSpPr>
          <p:nvPr>
            <p:ph type="sldNum" sz="quarter" idx="10"/>
          </p:nvPr>
        </p:nvSpPr>
        <p:spPr/>
        <p:txBody>
          <a:bodyPr/>
          <a:lstStyle/>
          <a:p>
            <a:fld id="{CB4F38C2-4548-F541-8261-4C1D96E7A166}" type="slidenum">
              <a:rPr lang="en-US" smtClean="0"/>
              <a:pPr/>
              <a:t>38</a:t>
            </a:fld>
            <a:endParaRPr lang="en-US"/>
          </a:p>
        </p:txBody>
      </p:sp>
    </p:spTree>
    <p:extLst>
      <p:ext uri="{BB962C8B-B14F-4D97-AF65-F5344CB8AC3E}">
        <p14:creationId xmlns:p14="http://schemas.microsoft.com/office/powerpoint/2010/main" val="76111470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US" b="1"/>
              <a:t>Topics covered</a:t>
            </a:r>
          </a:p>
          <a:p>
            <a:pPr algn="l"/>
            <a:endParaRPr lang="en-US" b="1" dirty="0"/>
          </a:p>
          <a:p>
            <a:pPr marL="171450" indent="-171450">
              <a:buFont typeface="Arial" panose="020B0604020202020204" pitchFamily="34" charset="0"/>
              <a:buChar char="•"/>
            </a:pPr>
            <a:r>
              <a:rPr lang="en-US" dirty="0"/>
              <a:t>Professional software development</a:t>
            </a:r>
          </a:p>
          <a:p>
            <a:pPr marL="628650" lvl="1" indent="-171450">
              <a:buFont typeface="Arial" panose="020B0604020202020204" pitchFamily="34" charset="0"/>
              <a:buChar char="•"/>
            </a:pPr>
            <a:r>
              <a:rPr lang="en-US" dirty="0"/>
              <a:t>What is meant by software engineering.</a:t>
            </a:r>
          </a:p>
          <a:p>
            <a:pPr marL="171450" indent="-171450">
              <a:buFont typeface="Arial" panose="020B0604020202020204" pitchFamily="34" charset="0"/>
              <a:buChar char="•"/>
            </a:pPr>
            <a:r>
              <a:rPr lang="en-US" dirty="0"/>
              <a:t>Software engineering ethics</a:t>
            </a:r>
          </a:p>
          <a:p>
            <a:pPr marL="628650" lvl="1" indent="-171450">
              <a:buFont typeface="Arial" panose="020B0604020202020204" pitchFamily="34" charset="0"/>
              <a:buChar char="•"/>
            </a:pPr>
            <a:r>
              <a:rPr lang="en-US" dirty="0"/>
              <a:t>A brief introduction to ethical issues that affect software engineering.</a:t>
            </a:r>
          </a:p>
          <a:p>
            <a:pPr marL="171450" indent="-171450">
              <a:buFont typeface="Arial" panose="020B0604020202020204" pitchFamily="34" charset="0"/>
              <a:buChar char="•"/>
            </a:pPr>
            <a:r>
              <a:rPr lang="en-US" dirty="0"/>
              <a:t>Suggested student projects</a:t>
            </a:r>
          </a:p>
          <a:p>
            <a:pPr marL="628650" lvl="1" indent="-171450">
              <a:buFont typeface="Arial" panose="020B0604020202020204" pitchFamily="34" charset="0"/>
              <a:buChar char="•"/>
            </a:pPr>
            <a:r>
              <a:rPr lang="en-US" dirty="0"/>
              <a:t>A brief introduction to each suggested project that can be carried out by students for this course</a:t>
            </a:r>
          </a:p>
        </p:txBody>
      </p:sp>
      <p:sp>
        <p:nvSpPr>
          <p:cNvPr id="4" name="Slide Number Placeholder 3"/>
          <p:cNvSpPr>
            <a:spLocks noGrp="1"/>
          </p:cNvSpPr>
          <p:nvPr>
            <p:ph type="sldNum" sz="quarter" idx="10"/>
          </p:nvPr>
        </p:nvSpPr>
        <p:spPr/>
        <p:txBody>
          <a:bodyPr/>
          <a:lstStyle/>
          <a:p>
            <a:fld id="{CB4F38C2-4548-F541-8261-4C1D96E7A166}" type="slidenum">
              <a:rPr lang="en-US" smtClean="0"/>
              <a:pPr/>
              <a:t>39</a:t>
            </a:fld>
            <a:endParaRPr lang="en-US"/>
          </a:p>
        </p:txBody>
      </p:sp>
    </p:spTree>
    <p:extLst>
      <p:ext uri="{BB962C8B-B14F-4D97-AF65-F5344CB8AC3E}">
        <p14:creationId xmlns:p14="http://schemas.microsoft.com/office/powerpoint/2010/main" val="68417620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US" b="1"/>
              <a:t>Topics covered</a:t>
            </a:r>
          </a:p>
          <a:p>
            <a:pPr algn="l"/>
            <a:endParaRPr lang="en-US" b="1" dirty="0"/>
          </a:p>
          <a:p>
            <a:pPr marL="171450" indent="-171450">
              <a:buFont typeface="Arial" panose="020B0604020202020204" pitchFamily="34" charset="0"/>
              <a:buChar char="•"/>
            </a:pPr>
            <a:r>
              <a:rPr lang="en-US" dirty="0"/>
              <a:t>Professional software development</a:t>
            </a:r>
          </a:p>
          <a:p>
            <a:pPr marL="628650" lvl="1" indent="-171450">
              <a:buFont typeface="Arial" panose="020B0604020202020204" pitchFamily="34" charset="0"/>
              <a:buChar char="•"/>
            </a:pPr>
            <a:r>
              <a:rPr lang="en-US" dirty="0"/>
              <a:t>What is meant by software engineering.</a:t>
            </a:r>
          </a:p>
          <a:p>
            <a:pPr marL="171450" indent="-171450">
              <a:buFont typeface="Arial" panose="020B0604020202020204" pitchFamily="34" charset="0"/>
              <a:buChar char="•"/>
            </a:pPr>
            <a:r>
              <a:rPr lang="en-US" dirty="0"/>
              <a:t>Software engineering ethics</a:t>
            </a:r>
          </a:p>
          <a:p>
            <a:pPr marL="628650" lvl="1" indent="-171450">
              <a:buFont typeface="Arial" panose="020B0604020202020204" pitchFamily="34" charset="0"/>
              <a:buChar char="•"/>
            </a:pPr>
            <a:r>
              <a:rPr lang="en-US" dirty="0"/>
              <a:t>A brief introduction to ethical issues that affect software engineering.</a:t>
            </a:r>
          </a:p>
          <a:p>
            <a:pPr marL="171450" indent="-171450">
              <a:buFont typeface="Arial" panose="020B0604020202020204" pitchFamily="34" charset="0"/>
              <a:buChar char="•"/>
            </a:pPr>
            <a:r>
              <a:rPr lang="en-US" dirty="0"/>
              <a:t>Suggested student projects</a:t>
            </a:r>
          </a:p>
          <a:p>
            <a:pPr marL="628650" lvl="1" indent="-171450">
              <a:buFont typeface="Arial" panose="020B0604020202020204" pitchFamily="34" charset="0"/>
              <a:buChar char="•"/>
            </a:pPr>
            <a:r>
              <a:rPr lang="en-US" dirty="0"/>
              <a:t>A brief introduction to each suggested project that can be carried out by students for this course</a:t>
            </a:r>
          </a:p>
        </p:txBody>
      </p:sp>
      <p:sp>
        <p:nvSpPr>
          <p:cNvPr id="4" name="Slide Number Placeholder 3"/>
          <p:cNvSpPr>
            <a:spLocks noGrp="1"/>
          </p:cNvSpPr>
          <p:nvPr>
            <p:ph type="sldNum" sz="quarter" idx="10"/>
          </p:nvPr>
        </p:nvSpPr>
        <p:spPr/>
        <p:txBody>
          <a:bodyPr/>
          <a:lstStyle/>
          <a:p>
            <a:fld id="{CB4F38C2-4548-F541-8261-4C1D96E7A166}" type="slidenum">
              <a:rPr lang="en-US" smtClean="0"/>
              <a:pPr/>
              <a:t>40</a:t>
            </a:fld>
            <a:endParaRPr lang="en-US"/>
          </a:p>
        </p:txBody>
      </p:sp>
    </p:spTree>
    <p:extLst>
      <p:ext uri="{BB962C8B-B14F-4D97-AF65-F5344CB8AC3E}">
        <p14:creationId xmlns:p14="http://schemas.microsoft.com/office/powerpoint/2010/main" val="108443082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algn="l"/>
            <a:r>
              <a:rPr lang="en-US" b="1"/>
              <a:t>Topics covered</a:t>
            </a:r>
          </a:p>
          <a:p>
            <a:pPr algn="l"/>
            <a:endParaRPr lang="en-US" b="1" dirty="0"/>
          </a:p>
          <a:p>
            <a:pPr marL="171450" indent="-171450">
              <a:buFont typeface="Arial" panose="020B0604020202020204" pitchFamily="34" charset="0"/>
              <a:buChar char="•"/>
            </a:pPr>
            <a:r>
              <a:rPr lang="en-US" dirty="0"/>
              <a:t>Professional software development</a:t>
            </a:r>
          </a:p>
          <a:p>
            <a:pPr marL="628650" lvl="1" indent="-171450">
              <a:buFont typeface="Arial" panose="020B0604020202020204" pitchFamily="34" charset="0"/>
              <a:buChar char="•"/>
            </a:pPr>
            <a:r>
              <a:rPr lang="en-US" dirty="0"/>
              <a:t>What is meant by software engineering.</a:t>
            </a:r>
          </a:p>
          <a:p>
            <a:pPr marL="171450" indent="-171450">
              <a:buFont typeface="Arial" panose="020B0604020202020204" pitchFamily="34" charset="0"/>
              <a:buChar char="•"/>
            </a:pPr>
            <a:r>
              <a:rPr lang="en-US" dirty="0"/>
              <a:t>Software engineering ethics</a:t>
            </a:r>
          </a:p>
          <a:p>
            <a:pPr marL="628650" lvl="1" indent="-171450">
              <a:buFont typeface="Arial" panose="020B0604020202020204" pitchFamily="34" charset="0"/>
              <a:buChar char="•"/>
            </a:pPr>
            <a:r>
              <a:rPr lang="en-US" dirty="0"/>
              <a:t>A brief introduction to ethical issues that affect software engineering.</a:t>
            </a:r>
          </a:p>
          <a:p>
            <a:pPr marL="171450" indent="-171450">
              <a:buFont typeface="Arial" panose="020B0604020202020204" pitchFamily="34" charset="0"/>
              <a:buChar char="•"/>
            </a:pPr>
            <a:r>
              <a:rPr lang="en-US" dirty="0"/>
              <a:t>Suggested student projects</a:t>
            </a:r>
          </a:p>
          <a:p>
            <a:pPr marL="628650" lvl="1" indent="-171450">
              <a:buFont typeface="Arial" panose="020B0604020202020204" pitchFamily="34" charset="0"/>
              <a:buChar char="•"/>
            </a:pPr>
            <a:r>
              <a:rPr lang="en-US" dirty="0"/>
              <a:t>A brief introduction to each suggested project that can be carried out by students for this course</a:t>
            </a:r>
          </a:p>
        </p:txBody>
      </p:sp>
      <p:sp>
        <p:nvSpPr>
          <p:cNvPr id="4" name="Slide Number Placeholder 3"/>
          <p:cNvSpPr>
            <a:spLocks noGrp="1"/>
          </p:cNvSpPr>
          <p:nvPr>
            <p:ph type="sldNum" sz="quarter" idx="10"/>
          </p:nvPr>
        </p:nvSpPr>
        <p:spPr/>
        <p:txBody>
          <a:bodyPr/>
          <a:lstStyle/>
          <a:p>
            <a:fld id="{CB4F38C2-4548-F541-8261-4C1D96E7A166}" type="slidenum">
              <a:rPr lang="en-US" smtClean="0"/>
              <a:pPr/>
              <a:t>41</a:t>
            </a:fld>
            <a:endParaRPr lang="en-US"/>
          </a:p>
        </p:txBody>
      </p:sp>
    </p:spTree>
    <p:extLst>
      <p:ext uri="{BB962C8B-B14F-4D97-AF65-F5344CB8AC3E}">
        <p14:creationId xmlns:p14="http://schemas.microsoft.com/office/powerpoint/2010/main" val="107809647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 name="Rectangle 8"/>
          <p:cNvSpPr/>
          <p:nvPr/>
        </p:nvSpPr>
        <p:spPr>
          <a:xfrm>
            <a:off x="6349" y="1"/>
            <a:ext cx="12192000" cy="52938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9"/>
          <p:cNvSpPr/>
          <p:nvPr/>
        </p:nvSpPr>
        <p:spPr>
          <a:xfrm>
            <a:off x="6350" y="-24063"/>
            <a:ext cx="12185652"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3897256"/>
            <a:ext cx="7772400" cy="1463040"/>
          </a:xfrm>
        </p:spPr>
        <p:txBody>
          <a:bodyPr anchor="ctr">
            <a:normAutofit/>
          </a:bodyPr>
          <a:lstStyle>
            <a:lvl1pPr algn="r">
              <a:defRPr sz="3600" spc="200" baseline="0"/>
            </a:lvl1pPr>
          </a:lstStyle>
          <a:p>
            <a:r>
              <a:rPr lang="en-US"/>
              <a:t>Click to edit Master title style</a:t>
            </a:r>
            <a:endParaRPr lang="en-US" dirty="0"/>
          </a:p>
        </p:txBody>
      </p:sp>
      <p:sp>
        <p:nvSpPr>
          <p:cNvPr id="3" name="Subtitle 2"/>
          <p:cNvSpPr>
            <a:spLocks noGrp="1"/>
          </p:cNvSpPr>
          <p:nvPr>
            <p:ph type="subTitle" idx="1" hasCustomPrompt="1"/>
          </p:nvPr>
        </p:nvSpPr>
        <p:spPr>
          <a:xfrm>
            <a:off x="8610600" y="3897256"/>
            <a:ext cx="3200400" cy="1463040"/>
          </a:xfrm>
        </p:spPr>
        <p:txBody>
          <a:bodyPr lIns="91440" rIns="91440" anchor="ctr">
            <a:normAutofit/>
          </a:bodyPr>
          <a:lstStyle>
            <a:lvl1pPr marL="0" indent="0" algn="l">
              <a:lnSpc>
                <a:spcPct val="100000"/>
              </a:lnSpc>
              <a:spcBef>
                <a:spcPts val="0"/>
              </a:spcBef>
              <a:buNone/>
              <a:defRPr sz="1600" baseline="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Thang</a:t>
            </a:r>
            <a:r>
              <a:rPr lang="en-US" dirty="0"/>
              <a:t> Bui</a:t>
            </a:r>
          </a:p>
        </p:txBody>
      </p:sp>
      <p:cxnSp>
        <p:nvCxnSpPr>
          <p:cNvPr id="8" name="Straight Connector 7"/>
          <p:cNvCxnSpPr/>
          <p:nvPr/>
        </p:nvCxnSpPr>
        <p:spPr>
          <a:xfrm flipV="1">
            <a:off x="8386843" y="4201225"/>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034709"/>
            <a:ext cx="1278800" cy="871990"/>
          </a:xfrm>
          <a:prstGeom prst="rect">
            <a:avLst/>
          </a:prstGeom>
        </p:spPr>
      </p:pic>
      <p:sp>
        <p:nvSpPr>
          <p:cNvPr id="11" name="Title 1"/>
          <p:cNvSpPr txBox="1">
            <a:spLocks/>
          </p:cNvSpPr>
          <p:nvPr/>
        </p:nvSpPr>
        <p:spPr>
          <a:xfrm>
            <a:off x="3322651" y="529389"/>
            <a:ext cx="7772400" cy="2317424"/>
          </a:xfrm>
          <a:prstGeom prst="rect">
            <a:avLst/>
          </a:prstGeom>
        </p:spPr>
        <p:txBody>
          <a:bodyPr vert="horz" lIns="91440" tIns="45720" rIns="91440" bIns="45720" rtlCol="0" anchor="ctr">
            <a:noAutofit/>
          </a:bodyPr>
          <a:lstStyle>
            <a:lvl1pPr algn="r" defTabSz="914400" rtl="0" eaLnBrk="1" latinLnBrk="0" hangingPunct="1">
              <a:lnSpc>
                <a:spcPct val="80000"/>
              </a:lnSpc>
              <a:spcBef>
                <a:spcPct val="0"/>
              </a:spcBef>
              <a:buNone/>
              <a:defRPr sz="4400" kern="1200" cap="all" spc="200" baseline="0">
                <a:solidFill>
                  <a:schemeClr val="tx1">
                    <a:lumMod val="95000"/>
                    <a:lumOff val="5000"/>
                  </a:schemeClr>
                </a:solidFill>
                <a:latin typeface="+mj-lt"/>
                <a:ea typeface="+mj-ea"/>
                <a:cs typeface="+mj-cs"/>
              </a:defRPr>
            </a:lvl1pPr>
          </a:lstStyle>
          <a:p>
            <a:pPr fontAlgn="auto">
              <a:spcAft>
                <a:spcPts val="0"/>
              </a:spcAft>
            </a:pPr>
            <a:r>
              <a:rPr lang="en-US" sz="8000" dirty="0"/>
              <a:t>Software engineering</a:t>
            </a:r>
          </a:p>
        </p:txBody>
      </p:sp>
      <p:sp>
        <p:nvSpPr>
          <p:cNvPr id="12" name="Rectangle 11"/>
          <p:cNvSpPr/>
          <p:nvPr/>
        </p:nvSpPr>
        <p:spPr>
          <a:xfrm>
            <a:off x="1191768" y="6525692"/>
            <a:ext cx="7418832" cy="276999"/>
          </a:xfrm>
          <a:prstGeom prst="rect">
            <a:avLst/>
          </a:prstGeom>
        </p:spPr>
        <p:txBody>
          <a:bodyPr wrap="square">
            <a:spAutoFit/>
          </a:bodyPr>
          <a:lstStyle/>
          <a:p>
            <a:r>
              <a:rPr lang="en-US" sz="1200" dirty="0"/>
              <a:t>Adapted from https://iansommerville.com/software-engineering-book/slides/</a:t>
            </a:r>
          </a:p>
        </p:txBody>
      </p:sp>
      <p:sp>
        <p:nvSpPr>
          <p:cNvPr id="13" name="TextBox 12"/>
          <p:cNvSpPr txBox="1"/>
          <p:nvPr/>
        </p:nvSpPr>
        <p:spPr>
          <a:xfrm>
            <a:off x="9284299" y="2410485"/>
            <a:ext cx="1358064" cy="707886"/>
          </a:xfrm>
          <a:prstGeom prst="rect">
            <a:avLst/>
          </a:prstGeom>
          <a:noFill/>
        </p:spPr>
        <p:txBody>
          <a:bodyPr wrap="none" rtlCol="0">
            <a:spAutoFit/>
          </a:bodyPr>
          <a:lstStyle/>
          <a:p>
            <a:r>
              <a:rPr lang="en-US" sz="4000" dirty="0">
                <a:latin typeface="+mj-lt"/>
              </a:rPr>
              <a:t>CO3001</a:t>
            </a:r>
          </a:p>
        </p:txBody>
      </p:sp>
    </p:spTree>
    <p:extLst>
      <p:ext uri="{BB962C8B-B14F-4D97-AF65-F5344CB8AC3E}">
        <p14:creationId xmlns:p14="http://schemas.microsoft.com/office/powerpoint/2010/main" val="29307265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r>
              <a:rPr lang="en-US" dirty="0"/>
              <a:t>Mar 2021</a:t>
            </a:r>
          </a:p>
        </p:txBody>
      </p:sp>
      <p:sp>
        <p:nvSpPr>
          <p:cNvPr id="5" name="Footer Placeholder 4"/>
          <p:cNvSpPr>
            <a:spLocks noGrp="1"/>
          </p:cNvSpPr>
          <p:nvPr>
            <p:ph type="ftr" sz="quarter" idx="11"/>
          </p:nvPr>
        </p:nvSpPr>
        <p:spPr/>
        <p:txBody>
          <a:bodyPr/>
          <a:lstStyle/>
          <a:p>
            <a:pPr>
              <a:defRPr/>
            </a:pPr>
            <a:r>
              <a:rPr lang="en-US"/>
              <a:t>Ch1. Introduction</a:t>
            </a:r>
          </a:p>
        </p:txBody>
      </p:sp>
    </p:spTree>
    <p:extLst>
      <p:ext uri="{BB962C8B-B14F-4D97-AF65-F5344CB8AC3E}">
        <p14:creationId xmlns:p14="http://schemas.microsoft.com/office/powerpoint/2010/main" val="4137547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1"/>
            <a:ext cx="12192000" cy="577516"/>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Freeform 10"/>
          <p:cNvSpPr/>
          <p:nvPr/>
        </p:nvSpPr>
        <p:spPr>
          <a:xfrm>
            <a:off x="6350" y="1"/>
            <a:ext cx="12185652"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3885224"/>
            <a:ext cx="7772400" cy="1463040"/>
          </a:xfrm>
        </p:spPr>
        <p:txBody>
          <a:bodyPr anchor="ctr">
            <a:normAutofit/>
          </a:bodyPr>
          <a:lstStyle>
            <a:lvl1pPr algn="r">
              <a:defRPr sz="44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3885224"/>
            <a:ext cx="32004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r>
              <a:rPr lang="en-US" dirty="0"/>
              <a:t>Mar 2021</a:t>
            </a:r>
          </a:p>
        </p:txBody>
      </p:sp>
      <p:sp>
        <p:nvSpPr>
          <p:cNvPr id="5" name="Footer Placeholder 4"/>
          <p:cNvSpPr>
            <a:spLocks noGrp="1"/>
          </p:cNvSpPr>
          <p:nvPr>
            <p:ph type="ftr" sz="quarter" idx="11"/>
          </p:nvPr>
        </p:nvSpPr>
        <p:spPr/>
        <p:txBody>
          <a:bodyPr/>
          <a:lstStyle/>
          <a:p>
            <a:pPr>
              <a:defRPr/>
            </a:pPr>
            <a:r>
              <a:rPr lang="en-US"/>
              <a:t>Ch1. Introduction</a:t>
            </a:r>
          </a:p>
        </p:txBody>
      </p:sp>
      <p:cxnSp>
        <p:nvCxnSpPr>
          <p:cNvPr id="8" name="Straight Connector 7"/>
          <p:cNvCxnSpPr/>
          <p:nvPr/>
        </p:nvCxnSpPr>
        <p:spPr>
          <a:xfrm flipV="1">
            <a:off x="8386843" y="4189193"/>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64800"/>
            <a:ext cx="869947" cy="593200"/>
          </a:xfrm>
          <a:prstGeom prst="rect">
            <a:avLst/>
          </a:prstGeom>
        </p:spPr>
      </p:pic>
    </p:spTree>
    <p:extLst>
      <p:ext uri="{BB962C8B-B14F-4D97-AF65-F5344CB8AC3E}">
        <p14:creationId xmlns:p14="http://schemas.microsoft.com/office/powerpoint/2010/main" val="41640621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96254"/>
            <a:ext cx="10786873" cy="12272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8" y="1524002"/>
            <a:ext cx="4965192" cy="47853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81011" y="1524002"/>
            <a:ext cx="5329988" cy="478535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lvl1pPr>
              <a:defRPr/>
            </a:lvl1pPr>
          </a:lstStyle>
          <a:p>
            <a:pPr>
              <a:defRPr/>
            </a:pPr>
            <a:r>
              <a:rPr lang="en-US" dirty="0"/>
              <a:t>Mar 2021</a:t>
            </a:r>
          </a:p>
        </p:txBody>
      </p:sp>
      <p:sp>
        <p:nvSpPr>
          <p:cNvPr id="6" name="Footer Placeholder 5"/>
          <p:cNvSpPr>
            <a:spLocks noGrp="1"/>
          </p:cNvSpPr>
          <p:nvPr>
            <p:ph type="ftr" sz="quarter" idx="11"/>
          </p:nvPr>
        </p:nvSpPr>
        <p:spPr/>
        <p:txBody>
          <a:bodyPr/>
          <a:lstStyle/>
          <a:p>
            <a:pPr>
              <a:defRPr/>
            </a:pPr>
            <a:r>
              <a:rPr lang="en-US"/>
              <a:t>Ch1. Introduction</a:t>
            </a:r>
          </a:p>
        </p:txBody>
      </p:sp>
    </p:spTree>
    <p:extLst>
      <p:ext uri="{BB962C8B-B14F-4D97-AF65-F5344CB8AC3E}">
        <p14:creationId xmlns:p14="http://schemas.microsoft.com/office/powerpoint/2010/main" val="41949711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24128" y="84222"/>
            <a:ext cx="10786873" cy="123925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1524002"/>
            <a:ext cx="5136040" cy="822960"/>
          </a:xfrm>
        </p:spPr>
        <p:txBody>
          <a:bodyPr lIns="137160" rIns="137160" anchor="ctr">
            <a:normAutofit/>
          </a:bodyPr>
          <a:lstStyle>
            <a:lvl1pPr marL="0" indent="0">
              <a:spcBef>
                <a:spcPts val="0"/>
              </a:spcBef>
              <a:spcAft>
                <a:spcPts val="0"/>
              </a:spcAft>
              <a:buNone/>
              <a:defRPr sz="22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346962"/>
            <a:ext cx="5136040" cy="3962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6843" y="1524002"/>
            <a:ext cx="5394157" cy="822960"/>
          </a:xfrm>
        </p:spPr>
        <p:txBody>
          <a:bodyPr lIns="137160" rIns="137160" anchor="ctr">
            <a:normAutofit/>
          </a:bodyPr>
          <a:lstStyle>
            <a:lvl1pPr marL="0" indent="0">
              <a:spcBef>
                <a:spcPts val="0"/>
              </a:spcBef>
              <a:spcAft>
                <a:spcPts val="0"/>
              </a:spcAft>
              <a:buNone/>
              <a:defRPr lang="en-US" sz="22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6416843" y="2346962"/>
            <a:ext cx="5394157" cy="396239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lvl1pPr>
              <a:defRPr/>
            </a:lvl1pPr>
          </a:lstStyle>
          <a:p>
            <a:pPr>
              <a:defRPr/>
            </a:pPr>
            <a:r>
              <a:rPr lang="en-US" dirty="0"/>
              <a:t>Mar 2021</a:t>
            </a:r>
          </a:p>
        </p:txBody>
      </p:sp>
      <p:sp>
        <p:nvSpPr>
          <p:cNvPr id="8" name="Footer Placeholder 7"/>
          <p:cNvSpPr>
            <a:spLocks noGrp="1"/>
          </p:cNvSpPr>
          <p:nvPr>
            <p:ph type="ftr" sz="quarter" idx="11"/>
          </p:nvPr>
        </p:nvSpPr>
        <p:spPr/>
        <p:txBody>
          <a:bodyPr/>
          <a:lstStyle/>
          <a:p>
            <a:pPr>
              <a:defRPr/>
            </a:pPr>
            <a:r>
              <a:rPr lang="en-US"/>
              <a:t>Ch1. Introduction</a:t>
            </a:r>
          </a:p>
        </p:txBody>
      </p:sp>
    </p:spTree>
    <p:extLst>
      <p:ext uri="{BB962C8B-B14F-4D97-AF65-F5344CB8AC3E}">
        <p14:creationId xmlns:p14="http://schemas.microsoft.com/office/powerpoint/2010/main" val="3617807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lvl1pPr>
              <a:defRPr/>
            </a:lvl1pPr>
          </a:lstStyle>
          <a:p>
            <a:pPr>
              <a:defRPr/>
            </a:pPr>
            <a:r>
              <a:rPr lang="en-US" dirty="0"/>
              <a:t>Mar 2021</a:t>
            </a:r>
          </a:p>
        </p:txBody>
      </p:sp>
      <p:sp>
        <p:nvSpPr>
          <p:cNvPr id="4" name="Footer Placeholder 3"/>
          <p:cNvSpPr>
            <a:spLocks noGrp="1"/>
          </p:cNvSpPr>
          <p:nvPr>
            <p:ph type="ftr" sz="quarter" idx="11"/>
          </p:nvPr>
        </p:nvSpPr>
        <p:spPr/>
        <p:txBody>
          <a:bodyPr/>
          <a:lstStyle/>
          <a:p>
            <a:pPr>
              <a:defRPr/>
            </a:pPr>
            <a:r>
              <a:rPr lang="en-US"/>
              <a:t>Ch1. Introduction</a:t>
            </a:r>
          </a:p>
        </p:txBody>
      </p:sp>
    </p:spTree>
    <p:extLst>
      <p:ext uri="{BB962C8B-B14F-4D97-AF65-F5344CB8AC3E}">
        <p14:creationId xmlns:p14="http://schemas.microsoft.com/office/powerpoint/2010/main" val="4599162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pPr>
              <a:defRPr/>
            </a:pPr>
            <a:r>
              <a:rPr lang="en-US" dirty="0"/>
              <a:t>Mar 2021</a:t>
            </a:r>
          </a:p>
        </p:txBody>
      </p:sp>
      <p:sp>
        <p:nvSpPr>
          <p:cNvPr id="3" name="Footer Placeholder 2"/>
          <p:cNvSpPr>
            <a:spLocks noGrp="1"/>
          </p:cNvSpPr>
          <p:nvPr>
            <p:ph type="ftr" sz="quarter" idx="11"/>
          </p:nvPr>
        </p:nvSpPr>
        <p:spPr/>
        <p:txBody>
          <a:bodyPr/>
          <a:lstStyle/>
          <a:p>
            <a:pPr>
              <a:defRPr/>
            </a:pPr>
            <a:r>
              <a:rPr lang="en-US"/>
              <a:t>Ch1. Introduction</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264800"/>
            <a:ext cx="869947" cy="593200"/>
          </a:xfrm>
          <a:prstGeom prst="rect">
            <a:avLst/>
          </a:prstGeom>
        </p:spPr>
      </p:pic>
    </p:spTree>
    <p:extLst>
      <p:ext uri="{BB962C8B-B14F-4D97-AF65-F5344CB8AC3E}">
        <p14:creationId xmlns:p14="http://schemas.microsoft.com/office/powerpoint/2010/main" val="15805959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ext Only">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rtlCol="0"/>
          <a:lstStyle>
            <a:lvl1pPr>
              <a:defRPr smtClean="0">
                <a:latin typeface="Arial" pitchFamily="34" charset="0"/>
                <a:cs typeface="Arial" pitchFamily="34" charset="0"/>
              </a:defRPr>
            </a:lvl1pPr>
          </a:lstStyle>
          <a:p>
            <a:pPr>
              <a:defRPr/>
            </a:pPr>
            <a:r>
              <a:rPr lang="en-US" dirty="0"/>
              <a:t>Mar 2021</a:t>
            </a:r>
          </a:p>
        </p:txBody>
      </p:sp>
      <p:sp>
        <p:nvSpPr>
          <p:cNvPr id="3" name="Footer Placeholder 2"/>
          <p:cNvSpPr>
            <a:spLocks noGrp="1"/>
          </p:cNvSpPr>
          <p:nvPr>
            <p:ph type="ftr" sz="quarter" idx="11"/>
          </p:nvPr>
        </p:nvSpPr>
        <p:spPr/>
        <p:txBody>
          <a:bodyPr/>
          <a:lstStyle>
            <a:lvl1pPr>
              <a:defRPr/>
            </a:lvl1pPr>
          </a:lstStyle>
          <a:p>
            <a:pPr>
              <a:defRPr/>
            </a:pPr>
            <a:r>
              <a:rPr lang="en-US"/>
              <a:t>Ch1. Introduction</a:t>
            </a:r>
          </a:p>
        </p:txBody>
      </p:sp>
      <p:sp>
        <p:nvSpPr>
          <p:cNvPr id="7" name="Content Placeholder 2"/>
          <p:cNvSpPr>
            <a:spLocks noGrp="1"/>
          </p:cNvSpPr>
          <p:nvPr>
            <p:ph idx="1"/>
          </p:nvPr>
        </p:nvSpPr>
        <p:spPr>
          <a:xfrm>
            <a:off x="609600" y="673100"/>
            <a:ext cx="10972800" cy="5803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692852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Text Only">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rtlCol="0"/>
          <a:lstStyle>
            <a:lvl1pPr>
              <a:defRPr smtClean="0">
                <a:latin typeface="Arial" pitchFamily="34" charset="0"/>
                <a:cs typeface="Arial" pitchFamily="34" charset="0"/>
              </a:defRPr>
            </a:lvl1pPr>
          </a:lstStyle>
          <a:p>
            <a:pPr>
              <a:defRPr/>
            </a:pPr>
            <a:r>
              <a:rPr lang="en-US" dirty="0"/>
              <a:t>Mar 2021</a:t>
            </a:r>
          </a:p>
        </p:txBody>
      </p:sp>
      <p:sp>
        <p:nvSpPr>
          <p:cNvPr id="3" name="Footer Placeholder 2"/>
          <p:cNvSpPr>
            <a:spLocks noGrp="1"/>
          </p:cNvSpPr>
          <p:nvPr>
            <p:ph type="ftr" sz="quarter" idx="11"/>
          </p:nvPr>
        </p:nvSpPr>
        <p:spPr/>
        <p:txBody>
          <a:bodyPr/>
          <a:lstStyle>
            <a:lvl1pPr>
              <a:defRPr/>
            </a:lvl1pPr>
          </a:lstStyle>
          <a:p>
            <a:pPr>
              <a:defRPr/>
            </a:pPr>
            <a:r>
              <a:rPr lang="en-US"/>
              <a:t>Ch1. Introduction</a:t>
            </a:r>
          </a:p>
        </p:txBody>
      </p:sp>
      <p:sp>
        <p:nvSpPr>
          <p:cNvPr id="7" name="Content Placeholder 2"/>
          <p:cNvSpPr>
            <a:spLocks noGrp="1"/>
          </p:cNvSpPr>
          <p:nvPr>
            <p:ph idx="1"/>
          </p:nvPr>
        </p:nvSpPr>
        <p:spPr>
          <a:xfrm>
            <a:off x="609600" y="673100"/>
            <a:ext cx="10972800" cy="58039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763014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2.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7" y="96254"/>
            <a:ext cx="10786871" cy="121518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1528012"/>
            <a:ext cx="10786872" cy="4781349"/>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30"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pPr>
              <a:defRPr/>
            </a:pPr>
            <a:r>
              <a:rPr lang="en-US" dirty="0"/>
              <a:t>Mar 2021</a:t>
            </a:r>
          </a:p>
        </p:txBody>
      </p:sp>
      <p:sp>
        <p:nvSpPr>
          <p:cNvPr id="5" name="Footer Placeholder 4"/>
          <p:cNvSpPr>
            <a:spLocks noGrp="1"/>
          </p:cNvSpPr>
          <p:nvPr>
            <p:ph type="ftr" sz="quarter" idx="3"/>
          </p:nvPr>
        </p:nvSpPr>
        <p:spPr>
          <a:xfrm>
            <a:off x="4842933"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pPr>
              <a:defRPr/>
            </a:pPr>
            <a:r>
              <a:rPr lang="en-US"/>
              <a:t>Ch1. Introduction</a:t>
            </a:r>
            <a:endParaRPr lang="en-US" dirty="0"/>
          </a:p>
        </p:txBody>
      </p:sp>
      <p:cxnSp>
        <p:nvCxnSpPr>
          <p:cNvPr id="7" name="Straight Connector 6"/>
          <p:cNvCxnSpPr/>
          <p:nvPr/>
        </p:nvCxnSpPr>
        <p:spPr>
          <a:xfrm flipV="1">
            <a:off x="762000" y="224745"/>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0" y="6264800"/>
            <a:ext cx="869947" cy="593200"/>
          </a:xfrm>
          <a:prstGeom prst="rect">
            <a:avLst/>
          </a:prstGeom>
        </p:spPr>
      </p:pic>
    </p:spTree>
    <p:extLst>
      <p:ext uri="{BB962C8B-B14F-4D97-AF65-F5344CB8AC3E}">
        <p14:creationId xmlns:p14="http://schemas.microsoft.com/office/powerpoint/2010/main" val="913487552"/>
      </p:ext>
    </p:extLst>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61" r:id="rId8"/>
    <p:sldLayoutId id="2147483723" r:id="rId9"/>
  </p:sldLayoutIdLst>
  <p:hf hdr="0"/>
  <p:txStyles>
    <p:titleStyle>
      <a:lvl1pPr algn="l" defTabSz="914400" rtl="0" eaLnBrk="1" latinLnBrk="0" hangingPunct="1">
        <a:lnSpc>
          <a:spcPct val="80000"/>
        </a:lnSpc>
        <a:spcBef>
          <a:spcPct val="0"/>
        </a:spcBef>
        <a:buNone/>
        <a:defRPr sz="3600" kern="1200" cap="all" spc="100" baseline="0">
          <a:solidFill>
            <a:schemeClr val="tx1">
              <a:lumMod val="95000"/>
              <a:lumOff val="5000"/>
            </a:schemeClr>
          </a:solidFill>
          <a:latin typeface="+mj-lt"/>
          <a:ea typeface="+mj-ea"/>
          <a:cs typeface="+mj-cs"/>
        </a:defRPr>
      </a:lvl1pPr>
    </p:titleStyle>
    <p:bodyStyle>
      <a:lvl1pPr marL="400050" indent="-400050" algn="l" defTabSz="914400" rtl="0" eaLnBrk="1" latinLnBrk="0" hangingPunct="1">
        <a:lnSpc>
          <a:spcPct val="90000"/>
        </a:lnSpc>
        <a:spcBef>
          <a:spcPts val="1200"/>
        </a:spcBef>
        <a:spcAft>
          <a:spcPts val="200"/>
        </a:spcAft>
        <a:buClr>
          <a:schemeClr val="accent1"/>
        </a:buClr>
        <a:buSzPct val="100000"/>
        <a:buFont typeface="Wingdings" panose="05000000000000000000" pitchFamily="2" charset="2"/>
        <a:buChar char=""/>
        <a:defRPr sz="3200" kern="1200">
          <a:solidFill>
            <a:schemeClr val="tx1"/>
          </a:solidFill>
          <a:latin typeface="+mn-lt"/>
          <a:ea typeface="+mn-ea"/>
          <a:cs typeface="+mn-cs"/>
        </a:defRPr>
      </a:lvl1pPr>
      <a:lvl2pPr marL="627063" indent="-227013" algn="l" defTabSz="914400" rtl="0" eaLnBrk="1" latinLnBrk="0" hangingPunct="1">
        <a:lnSpc>
          <a:spcPct val="90000"/>
        </a:lnSpc>
        <a:spcBef>
          <a:spcPts val="200"/>
        </a:spcBef>
        <a:spcAft>
          <a:spcPts val="400"/>
        </a:spcAft>
        <a:buClr>
          <a:schemeClr val="accent1"/>
        </a:buClr>
        <a:buFont typeface="Wingdings 3" pitchFamily="18" charset="2"/>
        <a:buChar char=""/>
        <a:defRPr sz="2800" kern="1200">
          <a:solidFill>
            <a:schemeClr val="tx1"/>
          </a:solidFill>
          <a:latin typeface="+mn-lt"/>
          <a:ea typeface="+mn-ea"/>
          <a:cs typeface="+mn-cs"/>
        </a:defRPr>
      </a:lvl2pPr>
      <a:lvl3pPr marL="801688" indent="-174625" algn="l" defTabSz="914400" rtl="0" eaLnBrk="1" latinLnBrk="0" hangingPunct="1">
        <a:lnSpc>
          <a:spcPct val="90000"/>
        </a:lnSpc>
        <a:spcBef>
          <a:spcPts val="200"/>
        </a:spcBef>
        <a:spcAft>
          <a:spcPts val="400"/>
        </a:spcAft>
        <a:buClr>
          <a:schemeClr val="accent1"/>
        </a:buClr>
        <a:buFont typeface="Wingdings 3" pitchFamily="18" charset="2"/>
        <a:buChar char=""/>
        <a:defRPr sz="2000" kern="1200">
          <a:solidFill>
            <a:schemeClr val="tx1"/>
          </a:solidFill>
          <a:latin typeface="+mn-lt"/>
          <a:ea typeface="+mn-ea"/>
          <a:cs typeface="+mn-cs"/>
        </a:defRPr>
      </a:lvl3pPr>
      <a:lvl4pPr marL="976313" indent="-174625" algn="l" defTabSz="914400" rtl="0" eaLnBrk="1" latinLnBrk="0" hangingPunct="1">
        <a:lnSpc>
          <a:spcPct val="90000"/>
        </a:lnSpc>
        <a:spcBef>
          <a:spcPts val="200"/>
        </a:spcBef>
        <a:spcAft>
          <a:spcPts val="400"/>
        </a:spcAft>
        <a:buClr>
          <a:schemeClr val="accent1"/>
        </a:buClr>
        <a:buFont typeface="Wingdings 3" pitchFamily="18" charset="2"/>
        <a:buChar char=""/>
        <a:defRPr sz="2000" kern="1200">
          <a:solidFill>
            <a:schemeClr val="tx1"/>
          </a:solidFill>
          <a:latin typeface="+mn-lt"/>
          <a:ea typeface="+mn-ea"/>
          <a:cs typeface="+mn-cs"/>
        </a:defRPr>
      </a:lvl4pPr>
      <a:lvl5pPr marL="1139825" indent="-163513" algn="l" defTabSz="914400" rtl="0" eaLnBrk="1" latinLnBrk="0" hangingPunct="1">
        <a:lnSpc>
          <a:spcPct val="90000"/>
        </a:lnSpc>
        <a:spcBef>
          <a:spcPts val="200"/>
        </a:spcBef>
        <a:spcAft>
          <a:spcPts val="400"/>
        </a:spcAft>
        <a:buClr>
          <a:schemeClr val="accent1"/>
        </a:buClr>
        <a:buFont typeface="Wingdings 3" pitchFamily="18" charset="2"/>
        <a:buChar char=""/>
        <a:defRPr sz="20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737600DC-B0CD-1F43-6577-EA035114F645}"/>
              </a:ext>
            </a:extLst>
          </p:cNvPr>
          <p:cNvSpPr>
            <a:spLocks noGrp="1"/>
          </p:cNvSpPr>
          <p:nvPr>
            <p:ph type="body" idx="1"/>
          </p:nvPr>
        </p:nvSpPr>
        <p:spPr/>
        <p:txBody>
          <a:bodyPr/>
          <a:lstStyle/>
          <a:p>
            <a:endParaRPr lang="vi-VN"/>
          </a:p>
        </p:txBody>
      </p:sp>
      <p:sp>
        <p:nvSpPr>
          <p:cNvPr id="4" name="Date Placeholder 3">
            <a:extLst>
              <a:ext uri="{FF2B5EF4-FFF2-40B4-BE49-F238E27FC236}">
                <a16:creationId xmlns:a16="http://schemas.microsoft.com/office/drawing/2014/main" id="{D7E45D46-2537-D833-E9C1-997708245E42}"/>
              </a:ext>
            </a:extLst>
          </p:cNvPr>
          <p:cNvSpPr>
            <a:spLocks noGrp="1"/>
          </p:cNvSpPr>
          <p:nvPr>
            <p:ph type="dt" sz="half" idx="10"/>
          </p:nvPr>
        </p:nvSpPr>
        <p:spPr/>
        <p:txBody>
          <a:bodyPr/>
          <a:lstStyle/>
          <a:p>
            <a:pPr>
              <a:defRPr/>
            </a:pPr>
            <a:r>
              <a:rPr lang="en-US" dirty="0"/>
              <a:t>Aug 2024</a:t>
            </a:r>
          </a:p>
        </p:txBody>
      </p:sp>
      <p:sp>
        <p:nvSpPr>
          <p:cNvPr id="9" name="Title 5">
            <a:extLst>
              <a:ext uri="{FF2B5EF4-FFF2-40B4-BE49-F238E27FC236}">
                <a16:creationId xmlns:a16="http://schemas.microsoft.com/office/drawing/2014/main" id="{E6C17DD5-9C6D-BDE9-0272-3FD1C39D156C}"/>
              </a:ext>
            </a:extLst>
          </p:cNvPr>
          <p:cNvSpPr>
            <a:spLocks noGrp="1"/>
          </p:cNvSpPr>
          <p:nvPr>
            <p:ph type="title"/>
          </p:nvPr>
        </p:nvSpPr>
        <p:spPr>
          <a:xfrm>
            <a:off x="392803" y="3879583"/>
            <a:ext cx="7772400" cy="1463040"/>
          </a:xfrm>
        </p:spPr>
        <p:txBody>
          <a:bodyPr/>
          <a:lstStyle/>
          <a:p>
            <a:r>
              <a:rPr lang="en-US" dirty="0"/>
              <a:t>Chapter 13.2 - software product quality</a:t>
            </a:r>
            <a:endParaRPr lang="vi-VN" dirty="0"/>
          </a:p>
        </p:txBody>
      </p:sp>
      <p:sp>
        <p:nvSpPr>
          <p:cNvPr id="10" name="Title 5">
            <a:extLst>
              <a:ext uri="{FF2B5EF4-FFF2-40B4-BE49-F238E27FC236}">
                <a16:creationId xmlns:a16="http://schemas.microsoft.com/office/drawing/2014/main" id="{619AF615-2E55-D393-FD5D-0D9984AC2985}"/>
              </a:ext>
            </a:extLst>
          </p:cNvPr>
          <p:cNvSpPr txBox="1">
            <a:spLocks/>
          </p:cNvSpPr>
          <p:nvPr/>
        </p:nvSpPr>
        <p:spPr>
          <a:xfrm>
            <a:off x="4038600" y="1399074"/>
            <a:ext cx="7772400" cy="1463040"/>
          </a:xfrm>
          <a:prstGeom prst="rect">
            <a:avLst/>
          </a:prstGeom>
        </p:spPr>
        <p:txBody>
          <a:bodyPr vert="horz" lIns="91440" tIns="45720" rIns="91440" bIns="45720" rtlCol="0" anchor="ctr">
            <a:normAutofit/>
          </a:bodyPr>
          <a:lstStyle>
            <a:lvl1pPr algn="r" defTabSz="914400" rtl="0" eaLnBrk="1" latinLnBrk="0" hangingPunct="1">
              <a:lnSpc>
                <a:spcPct val="80000"/>
              </a:lnSpc>
              <a:spcBef>
                <a:spcPct val="0"/>
              </a:spcBef>
              <a:buNone/>
              <a:defRPr sz="4400" b="0" kern="1200" cap="all" spc="200" baseline="0">
                <a:solidFill>
                  <a:schemeClr val="tx1">
                    <a:lumMod val="95000"/>
                    <a:lumOff val="5000"/>
                  </a:schemeClr>
                </a:solidFill>
                <a:latin typeface="+mj-lt"/>
                <a:ea typeface="+mj-ea"/>
                <a:cs typeface="+mj-cs"/>
              </a:defRPr>
            </a:lvl1pPr>
          </a:lstStyle>
          <a:p>
            <a:pPr fontAlgn="auto">
              <a:spcAft>
                <a:spcPts val="0"/>
              </a:spcAft>
            </a:pPr>
            <a:r>
              <a:rPr lang="en-US" dirty="0"/>
              <a:t>SOFTWARE </a:t>
            </a:r>
          </a:p>
          <a:p>
            <a:pPr fontAlgn="auto">
              <a:spcAft>
                <a:spcPts val="0"/>
              </a:spcAft>
            </a:pPr>
            <a:r>
              <a:rPr lang="en-US" dirty="0"/>
              <a:t>PROJECT MANAGEMENT</a:t>
            </a:r>
            <a:endParaRPr lang="vi-VN" dirty="0"/>
          </a:p>
        </p:txBody>
      </p:sp>
    </p:spTree>
    <p:extLst>
      <p:ext uri="{BB962C8B-B14F-4D97-AF65-F5344CB8AC3E}">
        <p14:creationId xmlns:p14="http://schemas.microsoft.com/office/powerpoint/2010/main" val="37699121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BS EN ISO 9001:2000 and quality management systems</a:t>
            </a:r>
          </a:p>
        </p:txBody>
      </p:sp>
      <p:sp>
        <p:nvSpPr>
          <p:cNvPr id="4" name="Footer Placeholder 3"/>
          <p:cNvSpPr>
            <a:spLocks noGrp="1"/>
          </p:cNvSpPr>
          <p:nvPr>
            <p:ph type="ftr" sz="quarter" idx="11"/>
          </p:nvPr>
        </p:nvSpPr>
        <p:spPr/>
        <p:txBody>
          <a:bodyPr/>
          <a:lstStyle/>
          <a:p>
            <a:r>
              <a:rPr lang="en-US" dirty="0" err="1"/>
              <a:t>Ch13.2</a:t>
            </a:r>
            <a:r>
              <a:rPr lang="en-US" dirty="0"/>
              <a:t>. software product quality</a:t>
            </a:r>
          </a:p>
        </p:txBody>
      </p:sp>
      <p:sp>
        <p:nvSpPr>
          <p:cNvPr id="5" name="Slide Number Placeholder 4"/>
          <p:cNvSpPr>
            <a:spLocks noGrp="1"/>
          </p:cNvSpPr>
          <p:nvPr>
            <p:ph type="sldNum" sz="quarter" idx="4294967295"/>
          </p:nvPr>
        </p:nvSpPr>
        <p:spPr>
          <a:xfrm>
            <a:off x="11218863" y="6470650"/>
            <a:ext cx="973137" cy="274638"/>
          </a:xfrm>
          <a:prstGeom prst="rect">
            <a:avLst/>
          </a:prstGeom>
        </p:spPr>
        <p:txBody>
          <a:bodyPr/>
          <a:lstStyle/>
          <a:p>
            <a:fld id="{6A4D3DC4-9E7F-1C47-B729-896D53019E3D}" type="slidenum">
              <a:rPr lang="en-US" smtClean="0"/>
              <a:pPr/>
              <a:t>2</a:t>
            </a:fld>
            <a:endParaRPr lang="en-US"/>
          </a:p>
        </p:txBody>
      </p:sp>
      <p:sp>
        <p:nvSpPr>
          <p:cNvPr id="6" name="Content Placeholder 5">
            <a:extLst>
              <a:ext uri="{FF2B5EF4-FFF2-40B4-BE49-F238E27FC236}">
                <a16:creationId xmlns:a16="http://schemas.microsoft.com/office/drawing/2014/main" id="{F7E2C202-62B0-B80A-98DA-B6A292939FCF}"/>
              </a:ext>
            </a:extLst>
          </p:cNvPr>
          <p:cNvSpPr>
            <a:spLocks noGrp="1"/>
          </p:cNvSpPr>
          <p:nvPr>
            <p:ph idx="1"/>
          </p:nvPr>
        </p:nvSpPr>
        <p:spPr/>
        <p:txBody>
          <a:bodyPr/>
          <a:lstStyle/>
          <a:p>
            <a:r>
              <a:rPr lang="en-US" dirty="0"/>
              <a:t>ISO 9001 is one of a family of standards that specify the characteristics of a good quality management system (QMS)</a:t>
            </a:r>
          </a:p>
          <a:p>
            <a:r>
              <a:rPr lang="en-US" dirty="0"/>
              <a:t>Can be applied to the creation of any type of product or service, not just IT and software </a:t>
            </a:r>
          </a:p>
          <a:p>
            <a:r>
              <a:rPr lang="en-US" dirty="0"/>
              <a:t>Does NOT set universal product/service standards </a:t>
            </a:r>
          </a:p>
          <a:p>
            <a:r>
              <a:rPr lang="en-US" dirty="0"/>
              <a:t>DOES specify the way in which standards are established and monitored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ISO 9001:2000 principles</a:t>
            </a:r>
          </a:p>
        </p:txBody>
      </p:sp>
      <p:sp>
        <p:nvSpPr>
          <p:cNvPr id="4" name="Footer Placeholder 3"/>
          <p:cNvSpPr>
            <a:spLocks noGrp="1"/>
          </p:cNvSpPr>
          <p:nvPr>
            <p:ph type="ftr" sz="quarter" idx="11"/>
          </p:nvPr>
        </p:nvSpPr>
        <p:spPr/>
        <p:txBody>
          <a:bodyPr/>
          <a:lstStyle/>
          <a:p>
            <a:r>
              <a:rPr lang="en-US" dirty="0" err="1"/>
              <a:t>Ch13.2</a:t>
            </a:r>
            <a:r>
              <a:rPr lang="en-US" dirty="0"/>
              <a:t>. software product quality</a:t>
            </a:r>
          </a:p>
        </p:txBody>
      </p:sp>
      <p:sp>
        <p:nvSpPr>
          <p:cNvPr id="5" name="Slide Number Placeholder 4"/>
          <p:cNvSpPr>
            <a:spLocks noGrp="1"/>
          </p:cNvSpPr>
          <p:nvPr>
            <p:ph type="sldNum" sz="quarter" idx="4294967295"/>
          </p:nvPr>
        </p:nvSpPr>
        <p:spPr>
          <a:xfrm>
            <a:off x="11218863" y="6470650"/>
            <a:ext cx="973137" cy="274638"/>
          </a:xfrm>
          <a:prstGeom prst="rect">
            <a:avLst/>
          </a:prstGeom>
        </p:spPr>
        <p:txBody>
          <a:bodyPr/>
          <a:lstStyle/>
          <a:p>
            <a:fld id="{6A4D3DC4-9E7F-1C47-B729-896D53019E3D}" type="slidenum">
              <a:rPr lang="en-US" smtClean="0"/>
              <a:pPr/>
              <a:t>3</a:t>
            </a:fld>
            <a:endParaRPr lang="en-US" dirty="0"/>
          </a:p>
        </p:txBody>
      </p:sp>
      <p:sp>
        <p:nvSpPr>
          <p:cNvPr id="6" name="Content Placeholder 5">
            <a:extLst>
              <a:ext uri="{FF2B5EF4-FFF2-40B4-BE49-F238E27FC236}">
                <a16:creationId xmlns:a16="http://schemas.microsoft.com/office/drawing/2014/main" id="{12C549AB-7486-1AE2-6DC2-5CDE2136C70C}"/>
              </a:ext>
            </a:extLst>
          </p:cNvPr>
          <p:cNvSpPr>
            <a:spLocks noGrp="1"/>
          </p:cNvSpPr>
          <p:nvPr>
            <p:ph idx="1"/>
          </p:nvPr>
        </p:nvSpPr>
        <p:spPr/>
        <p:txBody>
          <a:bodyPr>
            <a:normAutofit/>
          </a:bodyPr>
          <a:lstStyle/>
          <a:p>
            <a:pPr marL="514350" indent="-514350">
              <a:buFont typeface="+mj-lt"/>
              <a:buAutoNum type="arabicPeriod"/>
            </a:pPr>
            <a:r>
              <a:rPr lang="en-US" dirty="0"/>
              <a:t>Understanding the requirements of the customer </a:t>
            </a:r>
          </a:p>
          <a:p>
            <a:pPr marL="514350" indent="-514350">
              <a:buFont typeface="+mj-lt"/>
              <a:buAutoNum type="arabicPeriod"/>
            </a:pPr>
            <a:r>
              <a:rPr lang="en-US" dirty="0"/>
              <a:t>Leadership to provide unity of purpose and direction to achieve quality </a:t>
            </a:r>
          </a:p>
          <a:p>
            <a:pPr marL="514350" indent="-514350">
              <a:buFont typeface="+mj-lt"/>
              <a:buAutoNum type="arabicPeriod"/>
            </a:pPr>
            <a:r>
              <a:rPr lang="en-US" dirty="0"/>
              <a:t>Involvement of staff at all levels </a:t>
            </a:r>
          </a:p>
          <a:p>
            <a:pPr marL="514350" indent="-514350">
              <a:buFont typeface="+mj-lt"/>
              <a:buAutoNum type="arabicPeriod"/>
            </a:pPr>
            <a:r>
              <a:rPr lang="en-US" dirty="0"/>
              <a:t>Focus on the individual which create intermediate and deliverable products and services</a:t>
            </a:r>
          </a:p>
        </p:txBody>
      </p:sp>
    </p:spTree>
    <p:extLst>
      <p:ext uri="{BB962C8B-B14F-4D97-AF65-F5344CB8AC3E}">
        <p14:creationId xmlns:p14="http://schemas.microsoft.com/office/powerpoint/2010/main" val="33270878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7702AB41-A30E-E9CB-E143-62CAC88E82FB}"/>
              </a:ext>
            </a:extLst>
          </p:cNvPr>
          <p:cNvSpPr>
            <a:spLocks noGrp="1"/>
          </p:cNvSpPr>
          <p:nvPr>
            <p:ph idx="1"/>
          </p:nvPr>
        </p:nvSpPr>
        <p:spPr/>
        <p:txBody>
          <a:bodyPr>
            <a:normAutofit/>
          </a:bodyPr>
          <a:lstStyle/>
          <a:p>
            <a:pPr marL="514350" indent="-514350">
              <a:buFont typeface="+mj-lt"/>
              <a:buAutoNum type="arabicPeriod" startAt="5"/>
            </a:pPr>
            <a:r>
              <a:rPr lang="en-US" dirty="0"/>
              <a:t>Focus on interrelation of processes that deliver products and services </a:t>
            </a:r>
          </a:p>
          <a:p>
            <a:pPr marL="514350" indent="-514350">
              <a:buFont typeface="+mj-lt"/>
              <a:buAutoNum type="arabicPeriod" startAt="5"/>
            </a:pPr>
            <a:r>
              <a:rPr lang="en-US" dirty="0"/>
              <a:t>Continuous process improvement </a:t>
            </a:r>
          </a:p>
          <a:p>
            <a:pPr marL="514350" indent="-514350">
              <a:buFont typeface="+mj-lt"/>
              <a:buAutoNum type="arabicPeriod" startAt="5"/>
            </a:pPr>
            <a:r>
              <a:rPr lang="en-US" dirty="0"/>
              <a:t>Decision-making based on factual evidence </a:t>
            </a:r>
          </a:p>
          <a:p>
            <a:pPr marL="514350" indent="-514350">
              <a:buFont typeface="+mj-lt"/>
              <a:buAutoNum type="arabicPeriod" startAt="5"/>
            </a:pPr>
            <a:r>
              <a:rPr lang="en-US" dirty="0"/>
              <a:t>Mutually beneficial relationships with suppliers</a:t>
            </a:r>
          </a:p>
        </p:txBody>
      </p:sp>
      <p:sp>
        <p:nvSpPr>
          <p:cNvPr id="2" name="Title 1"/>
          <p:cNvSpPr>
            <a:spLocks noGrp="1"/>
          </p:cNvSpPr>
          <p:nvPr>
            <p:ph type="title"/>
          </p:nvPr>
        </p:nvSpPr>
        <p:spPr>
          <a:xfrm>
            <a:off x="1024127" y="96254"/>
            <a:ext cx="10786871" cy="1215189"/>
          </a:xfrm>
        </p:spPr>
        <p:txBody>
          <a:bodyPr anchor="ctr">
            <a:normAutofit/>
          </a:bodyPr>
          <a:lstStyle/>
          <a:p>
            <a:r>
              <a:rPr lang="en-US" dirty="0"/>
              <a:t>ISO 9001:2000 principles</a:t>
            </a:r>
          </a:p>
        </p:txBody>
      </p:sp>
      <p:sp>
        <p:nvSpPr>
          <p:cNvPr id="29" name="Date Placeholder 3">
            <a:extLst>
              <a:ext uri="{FF2B5EF4-FFF2-40B4-BE49-F238E27FC236}">
                <a16:creationId xmlns:a16="http://schemas.microsoft.com/office/drawing/2014/main" id="{D75969CB-B379-92FA-8BFA-0F265E47E79C}"/>
              </a:ext>
            </a:extLst>
          </p:cNvPr>
          <p:cNvSpPr>
            <a:spLocks noGrp="1"/>
          </p:cNvSpPr>
          <p:nvPr>
            <p:ph type="dt" sz="half" idx="10"/>
          </p:nvPr>
        </p:nvSpPr>
        <p:spPr>
          <a:xfrm>
            <a:off x="1024130" y="6470704"/>
            <a:ext cx="2154143" cy="274320"/>
          </a:xfrm>
        </p:spPr>
        <p:txBody>
          <a:bodyPr/>
          <a:lstStyle/>
          <a:p>
            <a:pPr>
              <a:spcAft>
                <a:spcPts val="600"/>
              </a:spcAft>
              <a:defRPr/>
            </a:pPr>
            <a:r>
              <a:rPr lang="en-US"/>
              <a:t>Mar 2021</a:t>
            </a:r>
          </a:p>
        </p:txBody>
      </p:sp>
      <p:sp>
        <p:nvSpPr>
          <p:cNvPr id="4" name="Footer Placeholder 3"/>
          <p:cNvSpPr>
            <a:spLocks noGrp="1"/>
          </p:cNvSpPr>
          <p:nvPr>
            <p:ph type="ftr" sz="quarter" idx="11"/>
          </p:nvPr>
        </p:nvSpPr>
        <p:spPr>
          <a:xfrm>
            <a:off x="4842933" y="6470704"/>
            <a:ext cx="5901459" cy="274320"/>
          </a:xfrm>
        </p:spPr>
        <p:txBody>
          <a:bodyPr anchor="ctr">
            <a:normAutofit/>
          </a:bodyPr>
          <a:lstStyle/>
          <a:p>
            <a:r>
              <a:rPr lang="en-US" dirty="0" err="1"/>
              <a:t>Ch13.2</a:t>
            </a:r>
            <a:r>
              <a:rPr lang="en-US" dirty="0"/>
              <a:t>. software product quality</a:t>
            </a:r>
          </a:p>
        </p:txBody>
      </p:sp>
      <p:sp>
        <p:nvSpPr>
          <p:cNvPr id="5" name="Slide Number Placeholder 4" hidden="1"/>
          <p:cNvSpPr>
            <a:spLocks noGrp="1"/>
          </p:cNvSpPr>
          <p:nvPr>
            <p:ph type="sldNum" sz="quarter" idx="4294967295"/>
          </p:nvPr>
        </p:nvSpPr>
        <p:spPr>
          <a:xfrm>
            <a:off x="11218863" y="6470650"/>
            <a:ext cx="973137" cy="274638"/>
          </a:xfrm>
          <a:prstGeom prst="rect">
            <a:avLst/>
          </a:prstGeom>
        </p:spPr>
        <p:txBody>
          <a:bodyPr/>
          <a:lstStyle/>
          <a:p>
            <a:pPr>
              <a:spcAft>
                <a:spcPts val="600"/>
              </a:spcAft>
            </a:pPr>
            <a:fld id="{6A4D3DC4-9E7F-1C47-B729-896D53019E3D}" type="slidenum">
              <a:rPr lang="en-US" smtClean="0"/>
              <a:pPr>
                <a:spcAft>
                  <a:spcPts val="600"/>
                </a:spcAft>
              </a:pPr>
              <a:t>4</a:t>
            </a:fld>
            <a:endParaRPr lang="en-US"/>
          </a:p>
        </p:txBody>
      </p:sp>
      <p:sp>
        <p:nvSpPr>
          <p:cNvPr id="3" name="Slide Number Placeholder 4">
            <a:extLst>
              <a:ext uri="{FF2B5EF4-FFF2-40B4-BE49-F238E27FC236}">
                <a16:creationId xmlns:a16="http://schemas.microsoft.com/office/drawing/2014/main" id="{C1C9E1DB-B900-B004-0A0D-66B55DE7ECA0}"/>
              </a:ext>
            </a:extLst>
          </p:cNvPr>
          <p:cNvSpPr txBox="1">
            <a:spLocks/>
          </p:cNvSpPr>
          <p:nvPr/>
        </p:nvSpPr>
        <p:spPr>
          <a:xfrm>
            <a:off x="11167870" y="6487108"/>
            <a:ext cx="973137" cy="274638"/>
          </a:xfrm>
          <a:prstGeom prst="rect">
            <a:avLst/>
          </a:prstGeom>
        </p:spPr>
        <p:txBody>
          <a:bodyPr/>
          <a:lstStyle>
            <a:defPPr>
              <a:defRPr lang="en-US"/>
            </a:defPPr>
            <a:lvl1pPr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5pPr>
            <a:lvl6pPr marL="2286000" algn="l" defTabSz="457200" rtl="0" eaLnBrk="1" latinLnBrk="0" hangingPunct="1">
              <a:defRPr kern="1200">
                <a:solidFill>
                  <a:schemeClr val="tx1"/>
                </a:solidFill>
                <a:latin typeface="Arial" charset="0"/>
                <a:ea typeface="ＭＳ Ｐゴシック" charset="-128"/>
                <a:cs typeface="ＭＳ Ｐゴシック" charset="-128"/>
              </a:defRPr>
            </a:lvl6pPr>
            <a:lvl7pPr marL="2743200" algn="l" defTabSz="457200" rtl="0" eaLnBrk="1" latinLnBrk="0" hangingPunct="1">
              <a:defRPr kern="1200">
                <a:solidFill>
                  <a:schemeClr val="tx1"/>
                </a:solidFill>
                <a:latin typeface="Arial" charset="0"/>
                <a:ea typeface="ＭＳ Ｐゴシック" charset="-128"/>
                <a:cs typeface="ＭＳ Ｐゴシック" charset="-128"/>
              </a:defRPr>
            </a:lvl7pPr>
            <a:lvl8pPr marL="3200400" algn="l" defTabSz="457200" rtl="0" eaLnBrk="1" latinLnBrk="0" hangingPunct="1">
              <a:defRPr kern="1200">
                <a:solidFill>
                  <a:schemeClr val="tx1"/>
                </a:solidFill>
                <a:latin typeface="Arial" charset="0"/>
                <a:ea typeface="ＭＳ Ｐゴシック" charset="-128"/>
                <a:cs typeface="ＭＳ Ｐゴシック" charset="-128"/>
              </a:defRPr>
            </a:lvl8pPr>
            <a:lvl9pPr marL="3657600" algn="l" defTabSz="457200" rtl="0" eaLnBrk="1" latinLnBrk="0" hangingPunct="1">
              <a:defRPr kern="1200">
                <a:solidFill>
                  <a:schemeClr val="tx1"/>
                </a:solidFill>
                <a:latin typeface="Arial" charset="0"/>
                <a:ea typeface="ＭＳ Ｐゴシック" charset="-128"/>
                <a:cs typeface="ＭＳ Ｐゴシック" charset="-128"/>
              </a:defRPr>
            </a:lvl9pPr>
          </a:lstStyle>
          <a:p>
            <a:fld id="{6A4D3DC4-9E7F-1C47-B729-896D53019E3D}" type="slidenum">
              <a:rPr lang="en-US" smtClean="0"/>
              <a:pPr/>
              <a:t>4</a:t>
            </a:fld>
            <a:endParaRPr lang="en-US" dirty="0"/>
          </a:p>
        </p:txBody>
      </p:sp>
    </p:spTree>
    <p:extLst>
      <p:ext uri="{BB962C8B-B14F-4D97-AF65-F5344CB8AC3E}">
        <p14:creationId xmlns:p14="http://schemas.microsoft.com/office/powerpoint/2010/main" val="20297797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ISO 9001:2000 cycle</a:t>
            </a:r>
          </a:p>
        </p:txBody>
      </p:sp>
      <p:pic>
        <p:nvPicPr>
          <p:cNvPr id="7" name="Content Placeholder 6">
            <a:extLst>
              <a:ext uri="{FF2B5EF4-FFF2-40B4-BE49-F238E27FC236}">
                <a16:creationId xmlns:a16="http://schemas.microsoft.com/office/drawing/2014/main" id="{719C26C3-387F-905E-FAF7-589A8DE52FC8}"/>
              </a:ext>
            </a:extLst>
          </p:cNvPr>
          <p:cNvPicPr>
            <a:picLocks noGrp="1" noChangeAspect="1"/>
          </p:cNvPicPr>
          <p:nvPr>
            <p:ph idx="1"/>
          </p:nvPr>
        </p:nvPicPr>
        <p:blipFill>
          <a:blip r:embed="rId3"/>
          <a:stretch>
            <a:fillRect/>
          </a:stretch>
        </p:blipFill>
        <p:spPr>
          <a:xfrm>
            <a:off x="1757399" y="1311443"/>
            <a:ext cx="8677202" cy="4982286"/>
          </a:xfrm>
        </p:spPr>
      </p:pic>
      <p:sp>
        <p:nvSpPr>
          <p:cNvPr id="4" name="Footer Placeholder 3"/>
          <p:cNvSpPr>
            <a:spLocks noGrp="1"/>
          </p:cNvSpPr>
          <p:nvPr>
            <p:ph type="ftr" sz="quarter" idx="11"/>
          </p:nvPr>
        </p:nvSpPr>
        <p:spPr/>
        <p:txBody>
          <a:bodyPr/>
          <a:lstStyle/>
          <a:p>
            <a:r>
              <a:rPr lang="en-US" dirty="0" err="1"/>
              <a:t>Ch13.2</a:t>
            </a:r>
            <a:r>
              <a:rPr lang="en-US" dirty="0"/>
              <a:t>. software product quality</a:t>
            </a:r>
          </a:p>
        </p:txBody>
      </p:sp>
      <p:sp>
        <p:nvSpPr>
          <p:cNvPr id="5" name="Slide Number Placeholder 4"/>
          <p:cNvSpPr>
            <a:spLocks noGrp="1"/>
          </p:cNvSpPr>
          <p:nvPr>
            <p:ph type="sldNum" sz="quarter" idx="4294967295"/>
          </p:nvPr>
        </p:nvSpPr>
        <p:spPr>
          <a:xfrm>
            <a:off x="11218863" y="6470650"/>
            <a:ext cx="973137" cy="274638"/>
          </a:xfrm>
          <a:prstGeom prst="rect">
            <a:avLst/>
          </a:prstGeom>
        </p:spPr>
        <p:txBody>
          <a:bodyPr/>
          <a:lstStyle/>
          <a:p>
            <a:fld id="{6A4D3DC4-9E7F-1C47-B729-896D53019E3D}" type="slidenum">
              <a:rPr lang="en-US" smtClean="0"/>
              <a:pPr/>
              <a:t>5</a:t>
            </a:fld>
            <a:endParaRPr lang="en-US"/>
          </a:p>
        </p:txBody>
      </p:sp>
    </p:spTree>
    <p:extLst>
      <p:ext uri="{BB962C8B-B14F-4D97-AF65-F5344CB8AC3E}">
        <p14:creationId xmlns:p14="http://schemas.microsoft.com/office/powerpoint/2010/main" val="34142712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need to improve</a:t>
            </a:r>
          </a:p>
        </p:txBody>
      </p:sp>
      <p:sp>
        <p:nvSpPr>
          <p:cNvPr id="4" name="Footer Placeholder 3"/>
          <p:cNvSpPr>
            <a:spLocks noGrp="1"/>
          </p:cNvSpPr>
          <p:nvPr>
            <p:ph type="ftr" sz="quarter" idx="11"/>
          </p:nvPr>
        </p:nvSpPr>
        <p:spPr/>
        <p:txBody>
          <a:bodyPr/>
          <a:lstStyle/>
          <a:p>
            <a:r>
              <a:rPr lang="en-US" dirty="0" err="1"/>
              <a:t>Ch13.2</a:t>
            </a:r>
            <a:r>
              <a:rPr lang="en-US" dirty="0"/>
              <a:t>. software product quality</a:t>
            </a:r>
          </a:p>
        </p:txBody>
      </p:sp>
      <p:sp>
        <p:nvSpPr>
          <p:cNvPr id="5" name="Slide Number Placeholder 4"/>
          <p:cNvSpPr>
            <a:spLocks noGrp="1"/>
          </p:cNvSpPr>
          <p:nvPr>
            <p:ph type="sldNum" sz="quarter" idx="4294967295"/>
          </p:nvPr>
        </p:nvSpPr>
        <p:spPr>
          <a:xfrm>
            <a:off x="11218863" y="6470650"/>
            <a:ext cx="973137" cy="274638"/>
          </a:xfrm>
          <a:prstGeom prst="rect">
            <a:avLst/>
          </a:prstGeom>
        </p:spPr>
        <p:txBody>
          <a:bodyPr/>
          <a:lstStyle/>
          <a:p>
            <a:fld id="{6A4D3DC4-9E7F-1C47-B729-896D53019E3D}" type="slidenum">
              <a:rPr lang="en-US" smtClean="0"/>
              <a:pPr/>
              <a:t>6</a:t>
            </a:fld>
            <a:endParaRPr lang="en-US"/>
          </a:p>
        </p:txBody>
      </p:sp>
      <p:sp>
        <p:nvSpPr>
          <p:cNvPr id="6" name="Content Placeholder 5">
            <a:extLst>
              <a:ext uri="{FF2B5EF4-FFF2-40B4-BE49-F238E27FC236}">
                <a16:creationId xmlns:a16="http://schemas.microsoft.com/office/drawing/2014/main" id="{F0FDFDAC-047C-CDFB-CD4D-0B1442C04E62}"/>
              </a:ext>
            </a:extLst>
          </p:cNvPr>
          <p:cNvSpPr>
            <a:spLocks noGrp="1"/>
          </p:cNvSpPr>
          <p:nvPr>
            <p:ph idx="1"/>
          </p:nvPr>
        </p:nvSpPr>
        <p:spPr/>
        <p:txBody>
          <a:bodyPr>
            <a:normAutofit/>
          </a:bodyPr>
          <a:lstStyle/>
          <a:p>
            <a:r>
              <a:rPr lang="en-US" dirty="0"/>
              <a:t>can everything be improved at one? no, must tackle the most important things first </a:t>
            </a:r>
          </a:p>
          <a:p>
            <a:r>
              <a:rPr lang="en-US" dirty="0"/>
              <a:t>‘poor companies are poor at changing’ some later improvements build on earlier ones </a:t>
            </a:r>
          </a:p>
          <a:p>
            <a:r>
              <a:rPr lang="en-US" dirty="0"/>
              <a:t>but there are problems </a:t>
            </a:r>
          </a:p>
          <a:p>
            <a:pPr lvl="1"/>
            <a:r>
              <a:rPr lang="en-US" sz="3200" dirty="0"/>
              <a:t>improvement takes up time and money </a:t>
            </a:r>
          </a:p>
          <a:p>
            <a:pPr lvl="1"/>
            <a:r>
              <a:rPr lang="en-US" sz="3200" dirty="0"/>
              <a:t>‘improvement’ may simply be more bureaucracy!</a:t>
            </a:r>
          </a:p>
        </p:txBody>
      </p:sp>
    </p:spTree>
    <p:extLst>
      <p:ext uri="{BB962C8B-B14F-4D97-AF65-F5344CB8AC3E}">
        <p14:creationId xmlns:p14="http://schemas.microsoft.com/office/powerpoint/2010/main" val="33924825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Capability maturity model</a:t>
            </a:r>
          </a:p>
        </p:txBody>
      </p:sp>
      <p:sp>
        <p:nvSpPr>
          <p:cNvPr id="4" name="Footer Placeholder 3"/>
          <p:cNvSpPr>
            <a:spLocks noGrp="1"/>
          </p:cNvSpPr>
          <p:nvPr>
            <p:ph type="ftr" sz="quarter" idx="11"/>
          </p:nvPr>
        </p:nvSpPr>
        <p:spPr/>
        <p:txBody>
          <a:bodyPr/>
          <a:lstStyle/>
          <a:p>
            <a:r>
              <a:rPr lang="en-US" dirty="0" err="1"/>
              <a:t>Ch13.2</a:t>
            </a:r>
            <a:r>
              <a:rPr lang="en-US" dirty="0"/>
              <a:t>. software product quality</a:t>
            </a:r>
          </a:p>
        </p:txBody>
      </p:sp>
      <p:sp>
        <p:nvSpPr>
          <p:cNvPr id="5" name="Slide Number Placeholder 4"/>
          <p:cNvSpPr>
            <a:spLocks noGrp="1"/>
          </p:cNvSpPr>
          <p:nvPr>
            <p:ph type="sldNum" sz="quarter" idx="4294967295"/>
          </p:nvPr>
        </p:nvSpPr>
        <p:spPr>
          <a:xfrm>
            <a:off x="11218863" y="6470650"/>
            <a:ext cx="973137" cy="274638"/>
          </a:xfrm>
          <a:prstGeom prst="rect">
            <a:avLst/>
          </a:prstGeom>
        </p:spPr>
        <p:txBody>
          <a:bodyPr/>
          <a:lstStyle/>
          <a:p>
            <a:fld id="{6A4D3DC4-9E7F-1C47-B729-896D53019E3D}" type="slidenum">
              <a:rPr lang="en-US" smtClean="0"/>
              <a:pPr/>
              <a:t>7</a:t>
            </a:fld>
            <a:endParaRPr lang="en-US"/>
          </a:p>
        </p:txBody>
      </p:sp>
      <p:sp>
        <p:nvSpPr>
          <p:cNvPr id="6" name="Content Placeholder 5">
            <a:extLst>
              <a:ext uri="{FF2B5EF4-FFF2-40B4-BE49-F238E27FC236}">
                <a16:creationId xmlns:a16="http://schemas.microsoft.com/office/drawing/2014/main" id="{CD220209-3460-0FEA-91A5-B10E73F583B4}"/>
              </a:ext>
            </a:extLst>
          </p:cNvPr>
          <p:cNvSpPr>
            <a:spLocks noGrp="1"/>
          </p:cNvSpPr>
          <p:nvPr>
            <p:ph idx="1"/>
          </p:nvPr>
        </p:nvSpPr>
        <p:spPr/>
        <p:txBody>
          <a:bodyPr>
            <a:normAutofit/>
          </a:bodyPr>
          <a:lstStyle/>
          <a:p>
            <a:r>
              <a:rPr lang="en-US" dirty="0"/>
              <a:t>created by Software Engineering Institute, Carnegie Mellon University </a:t>
            </a:r>
          </a:p>
          <a:p>
            <a:r>
              <a:rPr lang="en-US" dirty="0" err="1"/>
              <a:t>CMM</a:t>
            </a:r>
            <a:r>
              <a:rPr lang="en-US" dirty="0"/>
              <a:t> developed by SEI for US government to help procurement </a:t>
            </a:r>
          </a:p>
          <a:p>
            <a:r>
              <a:rPr lang="en-US" dirty="0"/>
              <a:t>Watts S. Humphrey ‘Managing the software process’ Addison Wesley </a:t>
            </a:r>
          </a:p>
          <a:p>
            <a:r>
              <a:rPr lang="en-US" dirty="0"/>
              <a:t>Assessment is by questionnaire and interview</a:t>
            </a:r>
          </a:p>
        </p:txBody>
      </p:sp>
    </p:spTree>
    <p:extLst>
      <p:ext uri="{BB962C8B-B14F-4D97-AF65-F5344CB8AC3E}">
        <p14:creationId xmlns:p14="http://schemas.microsoft.com/office/powerpoint/2010/main" val="13310517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Capability maturity model 2</a:t>
            </a:r>
          </a:p>
        </p:txBody>
      </p:sp>
      <p:sp>
        <p:nvSpPr>
          <p:cNvPr id="4" name="Footer Placeholder 3"/>
          <p:cNvSpPr>
            <a:spLocks noGrp="1"/>
          </p:cNvSpPr>
          <p:nvPr>
            <p:ph type="ftr" sz="quarter" idx="11"/>
          </p:nvPr>
        </p:nvSpPr>
        <p:spPr/>
        <p:txBody>
          <a:bodyPr/>
          <a:lstStyle/>
          <a:p>
            <a:r>
              <a:rPr lang="en-US" dirty="0" err="1"/>
              <a:t>Ch13.2</a:t>
            </a:r>
            <a:r>
              <a:rPr lang="en-US" dirty="0"/>
              <a:t>. software product quality</a:t>
            </a:r>
          </a:p>
        </p:txBody>
      </p:sp>
      <p:sp>
        <p:nvSpPr>
          <p:cNvPr id="5" name="Slide Number Placeholder 4"/>
          <p:cNvSpPr>
            <a:spLocks noGrp="1"/>
          </p:cNvSpPr>
          <p:nvPr>
            <p:ph type="sldNum" sz="quarter" idx="4294967295"/>
          </p:nvPr>
        </p:nvSpPr>
        <p:spPr>
          <a:xfrm>
            <a:off x="11218863" y="6470650"/>
            <a:ext cx="973137" cy="274638"/>
          </a:xfrm>
          <a:prstGeom prst="rect">
            <a:avLst/>
          </a:prstGeom>
        </p:spPr>
        <p:txBody>
          <a:bodyPr/>
          <a:lstStyle/>
          <a:p>
            <a:fld id="{6A4D3DC4-9E7F-1C47-B729-896D53019E3D}" type="slidenum">
              <a:rPr lang="en-US" smtClean="0"/>
              <a:pPr/>
              <a:t>8</a:t>
            </a:fld>
            <a:endParaRPr lang="en-US"/>
          </a:p>
        </p:txBody>
      </p:sp>
      <p:sp>
        <p:nvSpPr>
          <p:cNvPr id="6" name="Content Placeholder 5">
            <a:extLst>
              <a:ext uri="{FF2B5EF4-FFF2-40B4-BE49-F238E27FC236}">
                <a16:creationId xmlns:a16="http://schemas.microsoft.com/office/drawing/2014/main" id="{BB2445BA-3A44-067F-4D3E-AF419BFE8567}"/>
              </a:ext>
            </a:extLst>
          </p:cNvPr>
          <p:cNvSpPr>
            <a:spLocks noGrp="1"/>
          </p:cNvSpPr>
          <p:nvPr>
            <p:ph idx="1"/>
          </p:nvPr>
        </p:nvSpPr>
        <p:spPr>
          <a:xfrm>
            <a:off x="1024128" y="1528012"/>
            <a:ext cx="10007666" cy="4781349"/>
          </a:xfrm>
        </p:spPr>
        <p:txBody>
          <a:bodyPr/>
          <a:lstStyle/>
          <a:p>
            <a:r>
              <a:rPr lang="en-US" dirty="0"/>
              <a:t>Different versions have been developed for different environments e.g. software engineering </a:t>
            </a:r>
          </a:p>
          <a:p>
            <a:r>
              <a:rPr lang="en-US" dirty="0"/>
              <a:t>New version CMMI tries to set up a generic model which can be populated differently for different environments</a:t>
            </a:r>
          </a:p>
        </p:txBody>
      </p:sp>
    </p:spTree>
    <p:extLst>
      <p:ext uri="{BB962C8B-B14F-4D97-AF65-F5344CB8AC3E}">
        <p14:creationId xmlns:p14="http://schemas.microsoft.com/office/powerpoint/2010/main" val="32639497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E2BCFE6-C6EB-A92C-10E8-7BACD6A6F8EC}"/>
              </a:ext>
            </a:extLst>
          </p:cNvPr>
          <p:cNvPicPr>
            <a:picLocks noChangeAspect="1"/>
          </p:cNvPicPr>
          <p:nvPr/>
        </p:nvPicPr>
        <p:blipFill>
          <a:blip r:embed="rId3"/>
          <a:stretch>
            <a:fillRect/>
          </a:stretch>
        </p:blipFill>
        <p:spPr>
          <a:xfrm>
            <a:off x="2646491" y="703848"/>
            <a:ext cx="6899018" cy="5594875"/>
          </a:xfrm>
          <a:prstGeom prst="rect">
            <a:avLst/>
          </a:prstGeom>
        </p:spPr>
      </p:pic>
      <p:sp>
        <p:nvSpPr>
          <p:cNvPr id="2" name="Title 1"/>
          <p:cNvSpPr>
            <a:spLocks noGrp="1"/>
          </p:cNvSpPr>
          <p:nvPr>
            <p:ph type="title"/>
          </p:nvPr>
        </p:nvSpPr>
        <p:spPr/>
        <p:txBody>
          <a:bodyPr/>
          <a:lstStyle/>
          <a:p>
            <a:r>
              <a:rPr lang="en-US" dirty="0"/>
              <a:t>Process maturity levels</a:t>
            </a:r>
          </a:p>
        </p:txBody>
      </p:sp>
      <p:sp>
        <p:nvSpPr>
          <p:cNvPr id="3" name="Content Placeholder 2"/>
          <p:cNvSpPr>
            <a:spLocks noGrp="1"/>
          </p:cNvSpPr>
          <p:nvPr>
            <p:ph idx="1"/>
          </p:nvPr>
        </p:nvSpPr>
        <p:spPr>
          <a:xfrm>
            <a:off x="676886" y="1435950"/>
            <a:ext cx="4455553" cy="4432415"/>
          </a:xfrm>
        </p:spPr>
        <p:txBody>
          <a:bodyPr>
            <a:normAutofit/>
          </a:bodyPr>
          <a:lstStyle/>
          <a:p>
            <a:r>
              <a:rPr lang="en-US" dirty="0"/>
              <a:t>A company is at level 1 by default i.e. there is no level zero</a:t>
            </a:r>
            <a:endParaRPr lang="en-US" sz="3200" dirty="0"/>
          </a:p>
        </p:txBody>
      </p:sp>
      <p:sp>
        <p:nvSpPr>
          <p:cNvPr id="4" name="Footer Placeholder 3"/>
          <p:cNvSpPr>
            <a:spLocks noGrp="1"/>
          </p:cNvSpPr>
          <p:nvPr>
            <p:ph type="ftr" sz="quarter" idx="11"/>
          </p:nvPr>
        </p:nvSpPr>
        <p:spPr/>
        <p:txBody>
          <a:bodyPr/>
          <a:lstStyle/>
          <a:p>
            <a:r>
              <a:rPr lang="en-US" dirty="0" err="1"/>
              <a:t>Ch13.2</a:t>
            </a:r>
            <a:r>
              <a:rPr lang="en-US" dirty="0"/>
              <a:t>. software product quality</a:t>
            </a:r>
          </a:p>
        </p:txBody>
      </p:sp>
      <p:sp>
        <p:nvSpPr>
          <p:cNvPr id="5" name="Slide Number Placeholder 4"/>
          <p:cNvSpPr>
            <a:spLocks noGrp="1"/>
          </p:cNvSpPr>
          <p:nvPr>
            <p:ph type="sldNum" sz="quarter" idx="4294967295"/>
          </p:nvPr>
        </p:nvSpPr>
        <p:spPr>
          <a:xfrm>
            <a:off x="11218863" y="6470650"/>
            <a:ext cx="973137" cy="274638"/>
          </a:xfrm>
          <a:prstGeom prst="rect">
            <a:avLst/>
          </a:prstGeom>
        </p:spPr>
        <p:txBody>
          <a:bodyPr/>
          <a:lstStyle/>
          <a:p>
            <a:fld id="{6A4D3DC4-9E7F-1C47-B729-896D53019E3D}" type="slidenum">
              <a:rPr lang="en-US" smtClean="0"/>
              <a:pPr/>
              <a:t>9</a:t>
            </a:fld>
            <a:endParaRPr lang="en-US"/>
          </a:p>
        </p:txBody>
      </p:sp>
    </p:spTree>
    <p:extLst>
      <p:ext uri="{BB962C8B-B14F-4D97-AF65-F5344CB8AC3E}">
        <p14:creationId xmlns:p14="http://schemas.microsoft.com/office/powerpoint/2010/main" val="24688366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repeatable model</a:t>
            </a:r>
          </a:p>
        </p:txBody>
      </p:sp>
      <p:pic>
        <p:nvPicPr>
          <p:cNvPr id="7" name="Content Placeholder 6">
            <a:extLst>
              <a:ext uri="{FF2B5EF4-FFF2-40B4-BE49-F238E27FC236}">
                <a16:creationId xmlns:a16="http://schemas.microsoft.com/office/drawing/2014/main" id="{1A5C043D-4408-95A5-9E5C-0F6250556F8E}"/>
              </a:ext>
            </a:extLst>
          </p:cNvPr>
          <p:cNvPicPr>
            <a:picLocks noGrp="1" noChangeAspect="1"/>
          </p:cNvPicPr>
          <p:nvPr>
            <p:ph idx="1"/>
          </p:nvPr>
        </p:nvPicPr>
        <p:blipFill>
          <a:blip r:embed="rId3"/>
          <a:stretch>
            <a:fillRect/>
          </a:stretch>
        </p:blipFill>
        <p:spPr>
          <a:xfrm>
            <a:off x="1518326" y="1606411"/>
            <a:ext cx="9798471" cy="3840660"/>
          </a:xfrm>
        </p:spPr>
      </p:pic>
      <p:sp>
        <p:nvSpPr>
          <p:cNvPr id="4" name="Footer Placeholder 3"/>
          <p:cNvSpPr>
            <a:spLocks noGrp="1"/>
          </p:cNvSpPr>
          <p:nvPr>
            <p:ph type="ftr" sz="quarter" idx="11"/>
          </p:nvPr>
        </p:nvSpPr>
        <p:spPr/>
        <p:txBody>
          <a:bodyPr/>
          <a:lstStyle/>
          <a:p>
            <a:r>
              <a:rPr lang="en-US" dirty="0" err="1"/>
              <a:t>Ch13.2</a:t>
            </a:r>
            <a:r>
              <a:rPr lang="en-US" dirty="0"/>
              <a:t>. software product quality</a:t>
            </a:r>
          </a:p>
        </p:txBody>
      </p:sp>
      <p:sp>
        <p:nvSpPr>
          <p:cNvPr id="5" name="Slide Number Placeholder 4"/>
          <p:cNvSpPr>
            <a:spLocks noGrp="1"/>
          </p:cNvSpPr>
          <p:nvPr>
            <p:ph type="sldNum" sz="quarter" idx="4294967295"/>
          </p:nvPr>
        </p:nvSpPr>
        <p:spPr>
          <a:xfrm>
            <a:off x="11218863" y="6470650"/>
            <a:ext cx="973137" cy="274638"/>
          </a:xfrm>
          <a:prstGeom prst="rect">
            <a:avLst/>
          </a:prstGeom>
        </p:spPr>
        <p:txBody>
          <a:bodyPr/>
          <a:lstStyle/>
          <a:p>
            <a:fld id="{6A4D3DC4-9E7F-1C47-B729-896D53019E3D}" type="slidenum">
              <a:rPr lang="en-US" smtClean="0"/>
              <a:pPr/>
              <a:t>10</a:t>
            </a:fld>
            <a:endParaRPr lang="en-US"/>
          </a:p>
        </p:txBody>
      </p:sp>
    </p:spTree>
    <p:extLst>
      <p:ext uri="{BB962C8B-B14F-4D97-AF65-F5344CB8AC3E}">
        <p14:creationId xmlns:p14="http://schemas.microsoft.com/office/powerpoint/2010/main" val="37918990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Repeatable model </a:t>
            </a:r>
            <a:r>
              <a:rPr lang="en-US" dirty="0" err="1"/>
              <a:t>KPAs</a:t>
            </a:r>
            <a:endParaRPr lang="en-US" dirty="0"/>
          </a:p>
        </p:txBody>
      </p:sp>
      <p:sp>
        <p:nvSpPr>
          <p:cNvPr id="4" name="Footer Placeholder 3"/>
          <p:cNvSpPr>
            <a:spLocks noGrp="1"/>
          </p:cNvSpPr>
          <p:nvPr>
            <p:ph type="ftr" sz="quarter" idx="11"/>
          </p:nvPr>
        </p:nvSpPr>
        <p:spPr/>
        <p:txBody>
          <a:bodyPr/>
          <a:lstStyle/>
          <a:p>
            <a:r>
              <a:rPr lang="en-US" dirty="0" err="1"/>
              <a:t>Ch13.2</a:t>
            </a:r>
            <a:r>
              <a:rPr lang="en-US" dirty="0"/>
              <a:t>. software product quality</a:t>
            </a:r>
          </a:p>
        </p:txBody>
      </p:sp>
      <p:sp>
        <p:nvSpPr>
          <p:cNvPr id="5" name="Slide Number Placeholder 4"/>
          <p:cNvSpPr>
            <a:spLocks noGrp="1"/>
          </p:cNvSpPr>
          <p:nvPr>
            <p:ph type="sldNum" sz="quarter" idx="4294967295"/>
          </p:nvPr>
        </p:nvSpPr>
        <p:spPr>
          <a:xfrm>
            <a:off x="11218863" y="6470650"/>
            <a:ext cx="973137" cy="274638"/>
          </a:xfrm>
          <a:prstGeom prst="rect">
            <a:avLst/>
          </a:prstGeom>
        </p:spPr>
        <p:txBody>
          <a:bodyPr/>
          <a:lstStyle/>
          <a:p>
            <a:fld id="{6A4D3DC4-9E7F-1C47-B729-896D53019E3D}" type="slidenum">
              <a:rPr lang="en-US" smtClean="0"/>
              <a:pPr/>
              <a:t>11</a:t>
            </a:fld>
            <a:endParaRPr lang="en-US"/>
          </a:p>
        </p:txBody>
      </p:sp>
      <p:sp>
        <p:nvSpPr>
          <p:cNvPr id="7" name="Content Placeholder 6">
            <a:extLst>
              <a:ext uri="{FF2B5EF4-FFF2-40B4-BE49-F238E27FC236}">
                <a16:creationId xmlns:a16="http://schemas.microsoft.com/office/drawing/2014/main" id="{780ED599-B49E-A37C-61BF-30141B1CFDA5}"/>
              </a:ext>
            </a:extLst>
          </p:cNvPr>
          <p:cNvSpPr>
            <a:spLocks noGrp="1"/>
          </p:cNvSpPr>
          <p:nvPr>
            <p:ph idx="1"/>
          </p:nvPr>
        </p:nvSpPr>
        <p:spPr>
          <a:xfrm>
            <a:off x="1024128" y="1344952"/>
            <a:ext cx="10786872" cy="4781349"/>
          </a:xfrm>
        </p:spPr>
        <p:txBody>
          <a:bodyPr/>
          <a:lstStyle/>
          <a:p>
            <a:pPr marL="0" indent="0">
              <a:buNone/>
            </a:pPr>
            <a:r>
              <a:rPr lang="en-US" dirty="0"/>
              <a:t>To move to this level concentrate on: </a:t>
            </a:r>
          </a:p>
          <a:p>
            <a:r>
              <a:rPr lang="en-US" dirty="0"/>
              <a:t>Configuration management </a:t>
            </a:r>
          </a:p>
          <a:p>
            <a:r>
              <a:rPr lang="en-US" dirty="0"/>
              <a:t>Quality assurance </a:t>
            </a:r>
          </a:p>
          <a:p>
            <a:r>
              <a:rPr lang="en-US" dirty="0"/>
              <a:t>Sub-contract management </a:t>
            </a:r>
          </a:p>
          <a:p>
            <a:r>
              <a:rPr lang="en-US" dirty="0"/>
              <a:t>Project planning </a:t>
            </a:r>
          </a:p>
          <a:p>
            <a:r>
              <a:rPr lang="en-US" dirty="0"/>
              <a:t>Project tracking and oversight </a:t>
            </a:r>
          </a:p>
          <a:p>
            <a:r>
              <a:rPr lang="en-US" dirty="0"/>
              <a:t>Measurement and analysis</a:t>
            </a:r>
          </a:p>
        </p:txBody>
      </p:sp>
    </p:spTree>
    <p:extLst>
      <p:ext uri="{BB962C8B-B14F-4D97-AF65-F5344CB8AC3E}">
        <p14:creationId xmlns:p14="http://schemas.microsoft.com/office/powerpoint/2010/main" val="41631441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defined process</a:t>
            </a:r>
          </a:p>
        </p:txBody>
      </p:sp>
      <p:sp>
        <p:nvSpPr>
          <p:cNvPr id="4" name="Footer Placeholder 3"/>
          <p:cNvSpPr>
            <a:spLocks noGrp="1"/>
          </p:cNvSpPr>
          <p:nvPr>
            <p:ph type="ftr" sz="quarter" idx="11"/>
          </p:nvPr>
        </p:nvSpPr>
        <p:spPr/>
        <p:txBody>
          <a:bodyPr/>
          <a:lstStyle/>
          <a:p>
            <a:r>
              <a:rPr lang="en-US" dirty="0" err="1"/>
              <a:t>Ch13.2</a:t>
            </a:r>
            <a:r>
              <a:rPr lang="en-US" dirty="0"/>
              <a:t>. software product quality</a:t>
            </a:r>
          </a:p>
        </p:txBody>
      </p:sp>
      <p:sp>
        <p:nvSpPr>
          <p:cNvPr id="5" name="Slide Number Placeholder 4"/>
          <p:cNvSpPr>
            <a:spLocks noGrp="1"/>
          </p:cNvSpPr>
          <p:nvPr>
            <p:ph type="sldNum" sz="quarter" idx="4294967295"/>
          </p:nvPr>
        </p:nvSpPr>
        <p:spPr>
          <a:xfrm>
            <a:off x="11218863" y="6470650"/>
            <a:ext cx="973137" cy="274638"/>
          </a:xfrm>
          <a:prstGeom prst="rect">
            <a:avLst/>
          </a:prstGeom>
        </p:spPr>
        <p:txBody>
          <a:bodyPr/>
          <a:lstStyle/>
          <a:p>
            <a:fld id="{6A4D3DC4-9E7F-1C47-B729-896D53019E3D}" type="slidenum">
              <a:rPr lang="en-US" smtClean="0"/>
              <a:pPr/>
              <a:t>12</a:t>
            </a:fld>
            <a:endParaRPr lang="en-US"/>
          </a:p>
        </p:txBody>
      </p:sp>
      <p:sp>
        <p:nvSpPr>
          <p:cNvPr id="7" name="Content Placeholder 2">
            <a:extLst>
              <a:ext uri="{FF2B5EF4-FFF2-40B4-BE49-F238E27FC236}">
                <a16:creationId xmlns:a16="http://schemas.microsoft.com/office/drawing/2014/main" id="{C7DB04EA-212D-EC14-4251-FFE52B12C800}"/>
              </a:ext>
            </a:extLst>
          </p:cNvPr>
          <p:cNvSpPr txBox="1">
            <a:spLocks/>
          </p:cNvSpPr>
          <p:nvPr/>
        </p:nvSpPr>
        <p:spPr>
          <a:xfrm>
            <a:off x="1024126" y="1311443"/>
            <a:ext cx="10786872" cy="5334001"/>
          </a:xfrm>
          <a:prstGeom prst="rect">
            <a:avLst/>
          </a:prstGeom>
        </p:spPr>
        <p:txBody>
          <a:bodyPr vert="horz" lIns="45720" tIns="45720" rIns="45720" bIns="45720" rtlCol="0">
            <a:normAutofit/>
          </a:bodyPr>
          <a:lstStyle>
            <a:lvl1pPr marL="400050" indent="-400050" algn="l" defTabSz="914400" rtl="0" eaLnBrk="1" latinLnBrk="0" hangingPunct="1">
              <a:lnSpc>
                <a:spcPct val="90000"/>
              </a:lnSpc>
              <a:spcBef>
                <a:spcPts val="1200"/>
              </a:spcBef>
              <a:spcAft>
                <a:spcPts val="200"/>
              </a:spcAft>
              <a:buClr>
                <a:schemeClr val="accent1"/>
              </a:buClr>
              <a:buSzPct val="100000"/>
              <a:buFont typeface="Wingdings" panose="05000000000000000000" pitchFamily="2" charset="2"/>
              <a:buChar char=""/>
              <a:defRPr sz="3200" kern="1200">
                <a:solidFill>
                  <a:schemeClr val="tx1"/>
                </a:solidFill>
                <a:latin typeface="+mn-lt"/>
                <a:ea typeface="+mn-ea"/>
                <a:cs typeface="+mn-cs"/>
              </a:defRPr>
            </a:lvl1pPr>
            <a:lvl2pPr marL="627063" indent="-227013" algn="l" defTabSz="914400" rtl="0" eaLnBrk="1" latinLnBrk="0" hangingPunct="1">
              <a:lnSpc>
                <a:spcPct val="90000"/>
              </a:lnSpc>
              <a:spcBef>
                <a:spcPts val="200"/>
              </a:spcBef>
              <a:spcAft>
                <a:spcPts val="400"/>
              </a:spcAft>
              <a:buClr>
                <a:schemeClr val="accent1"/>
              </a:buClr>
              <a:buFont typeface="Wingdings 3" pitchFamily="18" charset="2"/>
              <a:buChar char=""/>
              <a:defRPr sz="2800" kern="1200">
                <a:solidFill>
                  <a:schemeClr val="tx1"/>
                </a:solidFill>
                <a:latin typeface="+mn-lt"/>
                <a:ea typeface="+mn-ea"/>
                <a:cs typeface="+mn-cs"/>
              </a:defRPr>
            </a:lvl2pPr>
            <a:lvl3pPr marL="801688" indent="-174625" algn="l" defTabSz="914400" rtl="0" eaLnBrk="1" latinLnBrk="0" hangingPunct="1">
              <a:lnSpc>
                <a:spcPct val="90000"/>
              </a:lnSpc>
              <a:spcBef>
                <a:spcPts val="200"/>
              </a:spcBef>
              <a:spcAft>
                <a:spcPts val="400"/>
              </a:spcAft>
              <a:buClr>
                <a:schemeClr val="accent1"/>
              </a:buClr>
              <a:buFont typeface="Wingdings 3" pitchFamily="18" charset="2"/>
              <a:buChar char=""/>
              <a:defRPr sz="2000" kern="1200">
                <a:solidFill>
                  <a:schemeClr val="tx1"/>
                </a:solidFill>
                <a:latin typeface="+mn-lt"/>
                <a:ea typeface="+mn-ea"/>
                <a:cs typeface="+mn-cs"/>
              </a:defRPr>
            </a:lvl3pPr>
            <a:lvl4pPr marL="976313" indent="-174625" algn="l" defTabSz="914400" rtl="0" eaLnBrk="1" latinLnBrk="0" hangingPunct="1">
              <a:lnSpc>
                <a:spcPct val="90000"/>
              </a:lnSpc>
              <a:spcBef>
                <a:spcPts val="200"/>
              </a:spcBef>
              <a:spcAft>
                <a:spcPts val="400"/>
              </a:spcAft>
              <a:buClr>
                <a:schemeClr val="accent1"/>
              </a:buClr>
              <a:buFont typeface="Wingdings 3" pitchFamily="18" charset="2"/>
              <a:buChar char=""/>
              <a:defRPr sz="2000" kern="1200">
                <a:solidFill>
                  <a:schemeClr val="tx1"/>
                </a:solidFill>
                <a:latin typeface="+mn-lt"/>
                <a:ea typeface="+mn-ea"/>
                <a:cs typeface="+mn-cs"/>
              </a:defRPr>
            </a:lvl4pPr>
            <a:lvl5pPr marL="1139825" indent="-163513" algn="l" defTabSz="914400" rtl="0" eaLnBrk="1" latinLnBrk="0" hangingPunct="1">
              <a:lnSpc>
                <a:spcPct val="90000"/>
              </a:lnSpc>
              <a:spcBef>
                <a:spcPts val="200"/>
              </a:spcBef>
              <a:spcAft>
                <a:spcPts val="400"/>
              </a:spcAft>
              <a:buClr>
                <a:schemeClr val="accent1"/>
              </a:buClr>
              <a:buFont typeface="Wingdings 3" pitchFamily="18" charset="2"/>
              <a:buChar char=""/>
              <a:defRPr sz="20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9pPr>
          </a:lstStyle>
          <a:p>
            <a:pPr fontAlgn="auto"/>
            <a:endParaRPr lang="en-US" sz="3200" dirty="0">
              <a:highlight>
                <a:srgbClr val="FFFFFF"/>
              </a:highlight>
            </a:endParaRPr>
          </a:p>
        </p:txBody>
      </p:sp>
      <p:pic>
        <p:nvPicPr>
          <p:cNvPr id="6" name="Picture 5">
            <a:extLst>
              <a:ext uri="{FF2B5EF4-FFF2-40B4-BE49-F238E27FC236}">
                <a16:creationId xmlns:a16="http://schemas.microsoft.com/office/drawing/2014/main" id="{3955C58B-5959-A293-3B36-7A49295EE95B}"/>
              </a:ext>
            </a:extLst>
          </p:cNvPr>
          <p:cNvPicPr>
            <a:picLocks noChangeAspect="1"/>
          </p:cNvPicPr>
          <p:nvPr/>
        </p:nvPicPr>
        <p:blipFill>
          <a:blip r:embed="rId3"/>
          <a:stretch>
            <a:fillRect/>
          </a:stretch>
        </p:blipFill>
        <p:spPr>
          <a:xfrm>
            <a:off x="2577379" y="1211599"/>
            <a:ext cx="7037242" cy="5021665"/>
          </a:xfrm>
          <a:prstGeom prst="rect">
            <a:avLst/>
          </a:prstGeom>
        </p:spPr>
      </p:pic>
    </p:spTree>
    <p:extLst>
      <p:ext uri="{BB962C8B-B14F-4D97-AF65-F5344CB8AC3E}">
        <p14:creationId xmlns:p14="http://schemas.microsoft.com/office/powerpoint/2010/main" val="15753313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Repeatable to defined </a:t>
            </a:r>
            <a:r>
              <a:rPr lang="en-US" dirty="0" err="1"/>
              <a:t>KPAs</a:t>
            </a:r>
            <a:endParaRPr lang="en-US" dirty="0"/>
          </a:p>
        </p:txBody>
      </p:sp>
      <p:sp>
        <p:nvSpPr>
          <p:cNvPr id="3" name="Content Placeholder 2"/>
          <p:cNvSpPr>
            <a:spLocks noGrp="1"/>
          </p:cNvSpPr>
          <p:nvPr>
            <p:ph idx="1"/>
          </p:nvPr>
        </p:nvSpPr>
        <p:spPr>
          <a:xfrm>
            <a:off x="1024127" y="1311443"/>
            <a:ext cx="10786872" cy="5034700"/>
          </a:xfrm>
        </p:spPr>
        <p:txBody>
          <a:bodyPr>
            <a:normAutofit lnSpcReduction="10000"/>
          </a:bodyPr>
          <a:lstStyle/>
          <a:p>
            <a:pPr marL="0" indent="0">
              <a:buNone/>
            </a:pPr>
            <a:r>
              <a:rPr lang="en-US" dirty="0"/>
              <a:t>Concentrate on </a:t>
            </a:r>
          </a:p>
          <a:p>
            <a:r>
              <a:rPr lang="en-US" dirty="0"/>
              <a:t>Requirements development and technical solution </a:t>
            </a:r>
          </a:p>
          <a:p>
            <a:r>
              <a:rPr lang="en-US" dirty="0"/>
              <a:t>Verification and validation </a:t>
            </a:r>
          </a:p>
          <a:p>
            <a:r>
              <a:rPr lang="en-US" dirty="0"/>
              <a:t>Product integration </a:t>
            </a:r>
          </a:p>
          <a:p>
            <a:r>
              <a:rPr lang="en-US" dirty="0"/>
              <a:t>Risk management </a:t>
            </a:r>
          </a:p>
          <a:p>
            <a:r>
              <a:rPr lang="en-US" dirty="0"/>
              <a:t>Organizational training </a:t>
            </a:r>
          </a:p>
          <a:p>
            <a:r>
              <a:rPr lang="en-US" dirty="0"/>
              <a:t>Organizational process focus (function) </a:t>
            </a:r>
          </a:p>
          <a:p>
            <a:r>
              <a:rPr lang="en-US" dirty="0"/>
              <a:t>Decision analysis and resolution </a:t>
            </a:r>
          </a:p>
          <a:p>
            <a:r>
              <a:rPr lang="en-US" dirty="0"/>
              <a:t>Process definition Integrated project management</a:t>
            </a:r>
            <a:endParaRPr lang="en-US" sz="3200" dirty="0"/>
          </a:p>
        </p:txBody>
      </p:sp>
      <p:sp>
        <p:nvSpPr>
          <p:cNvPr id="4" name="Footer Placeholder 3"/>
          <p:cNvSpPr>
            <a:spLocks noGrp="1"/>
          </p:cNvSpPr>
          <p:nvPr>
            <p:ph type="ftr" sz="quarter" idx="11"/>
          </p:nvPr>
        </p:nvSpPr>
        <p:spPr/>
        <p:txBody>
          <a:bodyPr/>
          <a:lstStyle/>
          <a:p>
            <a:r>
              <a:rPr lang="en-US" dirty="0" err="1"/>
              <a:t>Ch13.2</a:t>
            </a:r>
            <a:r>
              <a:rPr lang="en-US" dirty="0"/>
              <a:t>. software product quality</a:t>
            </a:r>
          </a:p>
        </p:txBody>
      </p:sp>
      <p:sp>
        <p:nvSpPr>
          <p:cNvPr id="5" name="Slide Number Placeholder 4"/>
          <p:cNvSpPr>
            <a:spLocks noGrp="1"/>
          </p:cNvSpPr>
          <p:nvPr>
            <p:ph type="sldNum" sz="quarter" idx="4294967295"/>
          </p:nvPr>
        </p:nvSpPr>
        <p:spPr>
          <a:xfrm>
            <a:off x="11218863" y="6470650"/>
            <a:ext cx="973137" cy="274638"/>
          </a:xfrm>
          <a:prstGeom prst="rect">
            <a:avLst/>
          </a:prstGeom>
        </p:spPr>
        <p:txBody>
          <a:bodyPr/>
          <a:lstStyle/>
          <a:p>
            <a:fld id="{6A4D3DC4-9E7F-1C47-B729-896D53019E3D}" type="slidenum">
              <a:rPr lang="en-US" smtClean="0"/>
              <a:pPr/>
              <a:t>13</a:t>
            </a:fld>
            <a:endParaRPr lang="en-US"/>
          </a:p>
        </p:txBody>
      </p:sp>
    </p:spTree>
    <p:extLst>
      <p:ext uri="{BB962C8B-B14F-4D97-AF65-F5344CB8AC3E}">
        <p14:creationId xmlns:p14="http://schemas.microsoft.com/office/powerpoint/2010/main" val="40584529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managed process</a:t>
            </a:r>
          </a:p>
        </p:txBody>
      </p:sp>
      <p:sp>
        <p:nvSpPr>
          <p:cNvPr id="4" name="Footer Placeholder 3"/>
          <p:cNvSpPr>
            <a:spLocks noGrp="1"/>
          </p:cNvSpPr>
          <p:nvPr>
            <p:ph type="ftr" sz="quarter" idx="11"/>
          </p:nvPr>
        </p:nvSpPr>
        <p:spPr/>
        <p:txBody>
          <a:bodyPr/>
          <a:lstStyle/>
          <a:p>
            <a:r>
              <a:rPr lang="en-US" dirty="0" err="1"/>
              <a:t>Ch13.2</a:t>
            </a:r>
            <a:r>
              <a:rPr lang="en-US" dirty="0"/>
              <a:t>. software product quality</a:t>
            </a:r>
          </a:p>
        </p:txBody>
      </p:sp>
      <p:sp>
        <p:nvSpPr>
          <p:cNvPr id="5" name="Slide Number Placeholder 4"/>
          <p:cNvSpPr>
            <a:spLocks noGrp="1"/>
          </p:cNvSpPr>
          <p:nvPr>
            <p:ph type="sldNum" sz="quarter" idx="4294967295"/>
          </p:nvPr>
        </p:nvSpPr>
        <p:spPr>
          <a:xfrm>
            <a:off x="11218863" y="6470650"/>
            <a:ext cx="973137" cy="274638"/>
          </a:xfrm>
          <a:prstGeom prst="rect">
            <a:avLst/>
          </a:prstGeom>
        </p:spPr>
        <p:txBody>
          <a:bodyPr/>
          <a:lstStyle/>
          <a:p>
            <a:fld id="{6A4D3DC4-9E7F-1C47-B729-896D53019E3D}" type="slidenum">
              <a:rPr lang="en-US" smtClean="0"/>
              <a:pPr/>
              <a:t>14</a:t>
            </a:fld>
            <a:endParaRPr lang="en-US"/>
          </a:p>
        </p:txBody>
      </p:sp>
      <p:pic>
        <p:nvPicPr>
          <p:cNvPr id="7" name="Content Placeholder 6">
            <a:extLst>
              <a:ext uri="{FF2B5EF4-FFF2-40B4-BE49-F238E27FC236}">
                <a16:creationId xmlns:a16="http://schemas.microsoft.com/office/drawing/2014/main" id="{A907BB24-0E2A-B79C-DF03-7F0A702E9350}"/>
              </a:ext>
            </a:extLst>
          </p:cNvPr>
          <p:cNvPicPr>
            <a:picLocks noGrp="1" noChangeAspect="1"/>
          </p:cNvPicPr>
          <p:nvPr>
            <p:ph idx="1"/>
          </p:nvPr>
        </p:nvPicPr>
        <p:blipFill>
          <a:blip r:embed="rId3"/>
          <a:stretch>
            <a:fillRect/>
          </a:stretch>
        </p:blipFill>
        <p:spPr>
          <a:xfrm>
            <a:off x="2479474" y="1086311"/>
            <a:ext cx="7233052" cy="5157172"/>
          </a:xfrm>
        </p:spPr>
      </p:pic>
    </p:spTree>
    <p:extLst>
      <p:ext uri="{BB962C8B-B14F-4D97-AF65-F5344CB8AC3E}">
        <p14:creationId xmlns:p14="http://schemas.microsoft.com/office/powerpoint/2010/main" val="17151327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Defined to managed </a:t>
            </a:r>
            <a:r>
              <a:rPr lang="en-US" dirty="0" err="1"/>
              <a:t>KPAs</a:t>
            </a:r>
            <a:endParaRPr lang="en-US" dirty="0"/>
          </a:p>
        </p:txBody>
      </p:sp>
      <p:sp>
        <p:nvSpPr>
          <p:cNvPr id="4" name="Footer Placeholder 3"/>
          <p:cNvSpPr>
            <a:spLocks noGrp="1"/>
          </p:cNvSpPr>
          <p:nvPr>
            <p:ph type="ftr" sz="quarter" idx="11"/>
          </p:nvPr>
        </p:nvSpPr>
        <p:spPr/>
        <p:txBody>
          <a:bodyPr/>
          <a:lstStyle/>
          <a:p>
            <a:r>
              <a:rPr lang="en-US" dirty="0" err="1"/>
              <a:t>Ch13.2</a:t>
            </a:r>
            <a:r>
              <a:rPr lang="en-US" dirty="0"/>
              <a:t>. software product quality</a:t>
            </a:r>
          </a:p>
        </p:txBody>
      </p:sp>
      <p:sp>
        <p:nvSpPr>
          <p:cNvPr id="5" name="Slide Number Placeholder 4"/>
          <p:cNvSpPr>
            <a:spLocks noGrp="1"/>
          </p:cNvSpPr>
          <p:nvPr>
            <p:ph type="sldNum" sz="quarter" idx="4294967295"/>
          </p:nvPr>
        </p:nvSpPr>
        <p:spPr>
          <a:xfrm>
            <a:off x="11218863" y="6470650"/>
            <a:ext cx="973137" cy="274638"/>
          </a:xfrm>
          <a:prstGeom prst="rect">
            <a:avLst/>
          </a:prstGeom>
        </p:spPr>
        <p:txBody>
          <a:bodyPr/>
          <a:lstStyle/>
          <a:p>
            <a:fld id="{6A4D3DC4-9E7F-1C47-B729-896D53019E3D}" type="slidenum">
              <a:rPr lang="en-US" smtClean="0"/>
              <a:pPr/>
              <a:t>15</a:t>
            </a:fld>
            <a:endParaRPr lang="en-US"/>
          </a:p>
        </p:txBody>
      </p:sp>
      <p:sp>
        <p:nvSpPr>
          <p:cNvPr id="6" name="Content Placeholder 5">
            <a:extLst>
              <a:ext uri="{FF2B5EF4-FFF2-40B4-BE49-F238E27FC236}">
                <a16:creationId xmlns:a16="http://schemas.microsoft.com/office/drawing/2014/main" id="{9301FC24-2E00-E86A-2095-56E071D62F7D}"/>
              </a:ext>
            </a:extLst>
          </p:cNvPr>
          <p:cNvSpPr>
            <a:spLocks noGrp="1"/>
          </p:cNvSpPr>
          <p:nvPr>
            <p:ph idx="1"/>
          </p:nvPr>
        </p:nvSpPr>
        <p:spPr/>
        <p:txBody>
          <a:bodyPr>
            <a:normAutofit/>
          </a:bodyPr>
          <a:lstStyle/>
          <a:p>
            <a:pPr marL="0" indent="0">
              <a:buNone/>
            </a:pPr>
            <a:r>
              <a:rPr lang="en-US" dirty="0"/>
              <a:t>Concentrate on: </a:t>
            </a:r>
          </a:p>
          <a:p>
            <a:r>
              <a:rPr lang="en-US" dirty="0"/>
              <a:t>Organizational process performance </a:t>
            </a:r>
          </a:p>
          <a:p>
            <a:r>
              <a:rPr lang="en-US" dirty="0"/>
              <a:t>Quantitative project management</a:t>
            </a:r>
            <a:endParaRPr lang="en-US" sz="3200" dirty="0"/>
          </a:p>
        </p:txBody>
      </p:sp>
    </p:spTree>
    <p:extLst>
      <p:ext uri="{BB962C8B-B14F-4D97-AF65-F5344CB8AC3E}">
        <p14:creationId xmlns:p14="http://schemas.microsoft.com/office/powerpoint/2010/main" val="2441473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Content Placeholder 10">
            <a:extLst>
              <a:ext uri="{FF2B5EF4-FFF2-40B4-BE49-F238E27FC236}">
                <a16:creationId xmlns:a16="http://schemas.microsoft.com/office/drawing/2014/main" id="{EEB9A6EF-9B32-2475-649D-B6B619F08CB8}"/>
              </a:ext>
            </a:extLst>
          </p:cNvPr>
          <p:cNvPicPr>
            <a:picLocks noGrp="1" noChangeAspect="1"/>
          </p:cNvPicPr>
          <p:nvPr>
            <p:ph idx="1"/>
          </p:nvPr>
        </p:nvPicPr>
        <p:blipFill>
          <a:blip r:embed="rId3"/>
          <a:stretch>
            <a:fillRect/>
          </a:stretch>
        </p:blipFill>
        <p:spPr>
          <a:xfrm>
            <a:off x="2253826" y="624194"/>
            <a:ext cx="8656742" cy="5619289"/>
          </a:xfrm>
        </p:spPr>
      </p:pic>
      <p:sp>
        <p:nvSpPr>
          <p:cNvPr id="2" name="Title 1"/>
          <p:cNvSpPr>
            <a:spLocks noGrp="1"/>
          </p:cNvSpPr>
          <p:nvPr>
            <p:ph type="title"/>
          </p:nvPr>
        </p:nvSpPr>
        <p:spPr/>
        <p:txBody>
          <a:bodyPr/>
          <a:lstStyle/>
          <a:p>
            <a:r>
              <a:rPr lang="en-US" dirty="0"/>
              <a:t>Optimizing</a:t>
            </a:r>
          </a:p>
        </p:txBody>
      </p:sp>
      <p:sp>
        <p:nvSpPr>
          <p:cNvPr id="4" name="Footer Placeholder 3"/>
          <p:cNvSpPr>
            <a:spLocks noGrp="1"/>
          </p:cNvSpPr>
          <p:nvPr>
            <p:ph type="ftr" sz="quarter" idx="11"/>
          </p:nvPr>
        </p:nvSpPr>
        <p:spPr/>
        <p:txBody>
          <a:bodyPr/>
          <a:lstStyle/>
          <a:p>
            <a:r>
              <a:rPr lang="en-US" dirty="0" err="1"/>
              <a:t>Ch13.2</a:t>
            </a:r>
            <a:r>
              <a:rPr lang="en-US" dirty="0"/>
              <a:t>. software product quality</a:t>
            </a:r>
          </a:p>
        </p:txBody>
      </p:sp>
      <p:sp>
        <p:nvSpPr>
          <p:cNvPr id="5" name="Slide Number Placeholder 4"/>
          <p:cNvSpPr>
            <a:spLocks noGrp="1"/>
          </p:cNvSpPr>
          <p:nvPr>
            <p:ph type="sldNum" sz="quarter" idx="4294967295"/>
          </p:nvPr>
        </p:nvSpPr>
        <p:spPr>
          <a:xfrm>
            <a:off x="11218863" y="6470650"/>
            <a:ext cx="973137" cy="274638"/>
          </a:xfrm>
          <a:prstGeom prst="rect">
            <a:avLst/>
          </a:prstGeom>
        </p:spPr>
        <p:txBody>
          <a:bodyPr/>
          <a:lstStyle/>
          <a:p>
            <a:fld id="{6A4D3DC4-9E7F-1C47-B729-896D53019E3D}" type="slidenum">
              <a:rPr lang="en-US" smtClean="0"/>
              <a:pPr/>
              <a:t>16</a:t>
            </a:fld>
            <a:endParaRPr lang="en-US"/>
          </a:p>
        </p:txBody>
      </p:sp>
    </p:spTree>
    <p:extLst>
      <p:ext uri="{BB962C8B-B14F-4D97-AF65-F5344CB8AC3E}">
        <p14:creationId xmlns:p14="http://schemas.microsoft.com/office/powerpoint/2010/main" val="10193573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Managing to optimizing: </a:t>
            </a:r>
            <a:r>
              <a:rPr lang="en-US" dirty="0" err="1"/>
              <a:t>KPAs</a:t>
            </a:r>
            <a:endParaRPr lang="en-US" dirty="0"/>
          </a:p>
        </p:txBody>
      </p:sp>
      <p:sp>
        <p:nvSpPr>
          <p:cNvPr id="4" name="Footer Placeholder 3"/>
          <p:cNvSpPr>
            <a:spLocks noGrp="1"/>
          </p:cNvSpPr>
          <p:nvPr>
            <p:ph type="ftr" sz="quarter" idx="11"/>
          </p:nvPr>
        </p:nvSpPr>
        <p:spPr/>
        <p:txBody>
          <a:bodyPr/>
          <a:lstStyle/>
          <a:p>
            <a:r>
              <a:rPr lang="en-US" dirty="0" err="1"/>
              <a:t>Ch13.2</a:t>
            </a:r>
            <a:r>
              <a:rPr lang="en-US" dirty="0"/>
              <a:t>. software product quality</a:t>
            </a:r>
          </a:p>
        </p:txBody>
      </p:sp>
      <p:sp>
        <p:nvSpPr>
          <p:cNvPr id="5" name="Slide Number Placeholder 4"/>
          <p:cNvSpPr>
            <a:spLocks noGrp="1"/>
          </p:cNvSpPr>
          <p:nvPr>
            <p:ph type="sldNum" sz="quarter" idx="4294967295"/>
          </p:nvPr>
        </p:nvSpPr>
        <p:spPr>
          <a:xfrm>
            <a:off x="11218863" y="6470650"/>
            <a:ext cx="973137" cy="274638"/>
          </a:xfrm>
          <a:prstGeom prst="rect">
            <a:avLst/>
          </a:prstGeom>
        </p:spPr>
        <p:txBody>
          <a:bodyPr/>
          <a:lstStyle/>
          <a:p>
            <a:fld id="{6A4D3DC4-9E7F-1C47-B729-896D53019E3D}" type="slidenum">
              <a:rPr lang="en-US" smtClean="0"/>
              <a:pPr/>
              <a:t>17</a:t>
            </a:fld>
            <a:endParaRPr lang="en-US"/>
          </a:p>
        </p:txBody>
      </p:sp>
      <p:sp>
        <p:nvSpPr>
          <p:cNvPr id="6" name="Content Placeholder 5">
            <a:extLst>
              <a:ext uri="{FF2B5EF4-FFF2-40B4-BE49-F238E27FC236}">
                <a16:creationId xmlns:a16="http://schemas.microsoft.com/office/drawing/2014/main" id="{637BC6DD-3D75-7D05-B9FC-D0D6DC848135}"/>
              </a:ext>
            </a:extLst>
          </p:cNvPr>
          <p:cNvSpPr>
            <a:spLocks noGrp="1"/>
          </p:cNvSpPr>
          <p:nvPr>
            <p:ph idx="1"/>
          </p:nvPr>
        </p:nvSpPr>
        <p:spPr/>
        <p:txBody>
          <a:bodyPr>
            <a:normAutofit/>
          </a:bodyPr>
          <a:lstStyle/>
          <a:p>
            <a:pPr marL="0" indent="0">
              <a:buNone/>
            </a:pPr>
            <a:r>
              <a:rPr lang="en-US" dirty="0"/>
              <a:t>concentrate on: </a:t>
            </a:r>
          </a:p>
          <a:p>
            <a:r>
              <a:rPr lang="en-US" dirty="0"/>
              <a:t>Causal analysis and resolution </a:t>
            </a:r>
          </a:p>
          <a:p>
            <a:r>
              <a:rPr lang="en-US" dirty="0"/>
              <a:t>Organizational innovation and deployment</a:t>
            </a:r>
            <a:endParaRPr lang="en-US" sz="3200" dirty="0"/>
          </a:p>
        </p:txBody>
      </p:sp>
    </p:spTree>
    <p:extLst>
      <p:ext uri="{BB962C8B-B14F-4D97-AF65-F5344CB8AC3E}">
        <p14:creationId xmlns:p14="http://schemas.microsoft.com/office/powerpoint/2010/main" val="29935077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questions about CMMI</a:t>
            </a:r>
          </a:p>
        </p:txBody>
      </p:sp>
      <p:sp>
        <p:nvSpPr>
          <p:cNvPr id="4" name="Footer Placeholder 3"/>
          <p:cNvSpPr>
            <a:spLocks noGrp="1"/>
          </p:cNvSpPr>
          <p:nvPr>
            <p:ph type="ftr" sz="quarter" idx="11"/>
          </p:nvPr>
        </p:nvSpPr>
        <p:spPr/>
        <p:txBody>
          <a:bodyPr/>
          <a:lstStyle/>
          <a:p>
            <a:r>
              <a:rPr lang="en-US" dirty="0" err="1"/>
              <a:t>Ch13.2</a:t>
            </a:r>
            <a:r>
              <a:rPr lang="en-US" dirty="0"/>
              <a:t>. software product quality</a:t>
            </a:r>
          </a:p>
        </p:txBody>
      </p:sp>
      <p:sp>
        <p:nvSpPr>
          <p:cNvPr id="5" name="Slide Number Placeholder 4"/>
          <p:cNvSpPr>
            <a:spLocks noGrp="1"/>
          </p:cNvSpPr>
          <p:nvPr>
            <p:ph type="sldNum" sz="quarter" idx="4294967295"/>
          </p:nvPr>
        </p:nvSpPr>
        <p:spPr>
          <a:xfrm>
            <a:off x="11218863" y="6470650"/>
            <a:ext cx="973137" cy="274638"/>
          </a:xfrm>
          <a:prstGeom prst="rect">
            <a:avLst/>
          </a:prstGeom>
        </p:spPr>
        <p:txBody>
          <a:bodyPr/>
          <a:lstStyle/>
          <a:p>
            <a:fld id="{6A4D3DC4-9E7F-1C47-B729-896D53019E3D}" type="slidenum">
              <a:rPr lang="en-US" smtClean="0"/>
              <a:pPr/>
              <a:t>18</a:t>
            </a:fld>
            <a:endParaRPr lang="en-US"/>
          </a:p>
        </p:txBody>
      </p:sp>
      <p:sp>
        <p:nvSpPr>
          <p:cNvPr id="6" name="Content Placeholder 5">
            <a:extLst>
              <a:ext uri="{FF2B5EF4-FFF2-40B4-BE49-F238E27FC236}">
                <a16:creationId xmlns:a16="http://schemas.microsoft.com/office/drawing/2014/main" id="{7A6F451A-3109-A64B-65AC-A85BC7C36919}"/>
              </a:ext>
            </a:extLst>
          </p:cNvPr>
          <p:cNvSpPr>
            <a:spLocks noGrp="1"/>
          </p:cNvSpPr>
          <p:nvPr>
            <p:ph idx="1"/>
          </p:nvPr>
        </p:nvSpPr>
        <p:spPr>
          <a:xfrm>
            <a:off x="1024128" y="1315455"/>
            <a:ext cx="10786872" cy="4781349"/>
          </a:xfrm>
        </p:spPr>
        <p:txBody>
          <a:bodyPr>
            <a:normAutofit/>
          </a:bodyPr>
          <a:lstStyle/>
          <a:p>
            <a:r>
              <a:rPr lang="en-US" dirty="0"/>
              <a:t>suitable only for large organizations? </a:t>
            </a:r>
          </a:p>
          <a:p>
            <a:pPr lvl="1"/>
            <a:r>
              <a:rPr lang="en-US" sz="3200" dirty="0"/>
              <a:t>e.g. need for special quality assurance and process improvement groups </a:t>
            </a:r>
          </a:p>
          <a:p>
            <a:r>
              <a:rPr lang="en-US" dirty="0"/>
              <a:t>defining processes may not be easy with new technology </a:t>
            </a:r>
          </a:p>
          <a:p>
            <a:pPr lvl="1"/>
            <a:r>
              <a:rPr lang="en-US" sz="3200" dirty="0"/>
              <a:t>how can we plan when we’ve not used the </a:t>
            </a:r>
            <a:r>
              <a:rPr lang="en-US" sz="3200" dirty="0" err="1"/>
              <a:t>the</a:t>
            </a:r>
            <a:r>
              <a:rPr lang="en-US" sz="3200" dirty="0"/>
              <a:t> development method before? </a:t>
            </a:r>
          </a:p>
          <a:p>
            <a:r>
              <a:rPr lang="en-US" dirty="0"/>
              <a:t>higher </a:t>
            </a:r>
            <a:r>
              <a:rPr lang="en-US" dirty="0" err="1"/>
              <a:t>CMM</a:t>
            </a:r>
            <a:r>
              <a:rPr lang="en-US" dirty="0"/>
              <a:t> levels easier with maintenance environments? </a:t>
            </a:r>
          </a:p>
          <a:p>
            <a:r>
              <a:rPr lang="en-US" dirty="0"/>
              <a:t>can you jump levels? (HP level 5 in India)</a:t>
            </a:r>
          </a:p>
        </p:txBody>
      </p:sp>
    </p:spTree>
    <p:extLst>
      <p:ext uri="{BB962C8B-B14F-4D97-AF65-F5344CB8AC3E}">
        <p14:creationId xmlns:p14="http://schemas.microsoft.com/office/powerpoint/2010/main" val="3504693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ISO/IEC 15504 IT process assessment</a:t>
            </a:r>
          </a:p>
        </p:txBody>
      </p:sp>
      <p:sp>
        <p:nvSpPr>
          <p:cNvPr id="4" name="Footer Placeholder 3"/>
          <p:cNvSpPr>
            <a:spLocks noGrp="1"/>
          </p:cNvSpPr>
          <p:nvPr>
            <p:ph type="ftr" sz="quarter" idx="11"/>
          </p:nvPr>
        </p:nvSpPr>
        <p:spPr/>
        <p:txBody>
          <a:bodyPr/>
          <a:lstStyle/>
          <a:p>
            <a:r>
              <a:rPr lang="en-US" dirty="0" err="1"/>
              <a:t>Ch13.2</a:t>
            </a:r>
            <a:r>
              <a:rPr lang="en-US" dirty="0"/>
              <a:t>. software product quality</a:t>
            </a:r>
          </a:p>
        </p:txBody>
      </p:sp>
      <p:sp>
        <p:nvSpPr>
          <p:cNvPr id="5" name="Slide Number Placeholder 4"/>
          <p:cNvSpPr>
            <a:spLocks noGrp="1"/>
          </p:cNvSpPr>
          <p:nvPr>
            <p:ph type="sldNum" sz="quarter" idx="4294967295"/>
          </p:nvPr>
        </p:nvSpPr>
        <p:spPr>
          <a:xfrm>
            <a:off x="11218863" y="6470650"/>
            <a:ext cx="973137" cy="274638"/>
          </a:xfrm>
          <a:prstGeom prst="rect">
            <a:avLst/>
          </a:prstGeom>
        </p:spPr>
        <p:txBody>
          <a:bodyPr/>
          <a:lstStyle/>
          <a:p>
            <a:fld id="{6A4D3DC4-9E7F-1C47-B729-896D53019E3D}" type="slidenum">
              <a:rPr lang="en-US" smtClean="0"/>
              <a:pPr/>
              <a:t>19</a:t>
            </a:fld>
            <a:endParaRPr lang="en-US"/>
          </a:p>
        </p:txBody>
      </p:sp>
      <p:sp>
        <p:nvSpPr>
          <p:cNvPr id="6" name="Content Placeholder 5">
            <a:extLst>
              <a:ext uri="{FF2B5EF4-FFF2-40B4-BE49-F238E27FC236}">
                <a16:creationId xmlns:a16="http://schemas.microsoft.com/office/drawing/2014/main" id="{637BC6DD-3D75-7D05-B9FC-D0D6DC848135}"/>
              </a:ext>
            </a:extLst>
          </p:cNvPr>
          <p:cNvSpPr>
            <a:spLocks noGrp="1"/>
          </p:cNvSpPr>
          <p:nvPr>
            <p:ph idx="1"/>
          </p:nvPr>
        </p:nvSpPr>
        <p:spPr/>
        <p:txBody>
          <a:bodyPr>
            <a:normAutofit/>
          </a:bodyPr>
          <a:lstStyle/>
          <a:p>
            <a:r>
              <a:rPr lang="en-US" dirty="0"/>
              <a:t>To provide guidance on the assessment of software development processes </a:t>
            </a:r>
          </a:p>
          <a:p>
            <a:r>
              <a:rPr lang="en-US" b="1" dirty="0"/>
              <a:t>Process Reference Model</a:t>
            </a:r>
            <a:r>
              <a:rPr lang="en-US" dirty="0"/>
              <a:t>: Needs a defined set of processes that represent good practice to be the benchmark </a:t>
            </a:r>
          </a:p>
          <a:p>
            <a:r>
              <a:rPr lang="en-US" b="1" dirty="0"/>
              <a:t>ISO 12207</a:t>
            </a:r>
            <a:r>
              <a:rPr lang="en-US" dirty="0"/>
              <a:t> is the default reference model </a:t>
            </a:r>
          </a:p>
          <a:p>
            <a:r>
              <a:rPr lang="en-US" dirty="0"/>
              <a:t>Could use others in specific environments</a:t>
            </a:r>
          </a:p>
        </p:txBody>
      </p:sp>
    </p:spTree>
    <p:extLst>
      <p:ext uri="{BB962C8B-B14F-4D97-AF65-F5344CB8AC3E}">
        <p14:creationId xmlns:p14="http://schemas.microsoft.com/office/powerpoint/2010/main" val="10180007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ISO 15504 performance attributes</a:t>
            </a:r>
          </a:p>
        </p:txBody>
      </p:sp>
      <p:sp>
        <p:nvSpPr>
          <p:cNvPr id="4" name="Footer Placeholder 3"/>
          <p:cNvSpPr>
            <a:spLocks noGrp="1"/>
          </p:cNvSpPr>
          <p:nvPr>
            <p:ph type="ftr" sz="quarter" idx="11"/>
          </p:nvPr>
        </p:nvSpPr>
        <p:spPr/>
        <p:txBody>
          <a:bodyPr/>
          <a:lstStyle/>
          <a:p>
            <a:r>
              <a:rPr lang="en-US" dirty="0" err="1"/>
              <a:t>Ch13.2</a:t>
            </a:r>
            <a:r>
              <a:rPr lang="en-US" dirty="0"/>
              <a:t>. software product quality</a:t>
            </a:r>
          </a:p>
        </p:txBody>
      </p:sp>
      <p:sp>
        <p:nvSpPr>
          <p:cNvPr id="5" name="Slide Number Placeholder 4"/>
          <p:cNvSpPr>
            <a:spLocks noGrp="1"/>
          </p:cNvSpPr>
          <p:nvPr>
            <p:ph type="sldNum" sz="quarter" idx="4294967295"/>
          </p:nvPr>
        </p:nvSpPr>
        <p:spPr>
          <a:xfrm>
            <a:off x="11218863" y="6470650"/>
            <a:ext cx="973137" cy="274638"/>
          </a:xfrm>
          <a:prstGeom prst="rect">
            <a:avLst/>
          </a:prstGeom>
        </p:spPr>
        <p:txBody>
          <a:bodyPr/>
          <a:lstStyle/>
          <a:p>
            <a:fld id="{6A4D3DC4-9E7F-1C47-B729-896D53019E3D}" type="slidenum">
              <a:rPr lang="en-US" smtClean="0"/>
              <a:pPr/>
              <a:t>20</a:t>
            </a:fld>
            <a:endParaRPr lang="en-US"/>
          </a:p>
        </p:txBody>
      </p:sp>
      <p:graphicFrame>
        <p:nvGraphicFramePr>
          <p:cNvPr id="9" name="Content Placeholder 8">
            <a:extLst>
              <a:ext uri="{FF2B5EF4-FFF2-40B4-BE49-F238E27FC236}">
                <a16:creationId xmlns:a16="http://schemas.microsoft.com/office/drawing/2014/main" id="{E938CE62-E723-808F-D138-518E1C66B803}"/>
              </a:ext>
            </a:extLst>
          </p:cNvPr>
          <p:cNvGraphicFramePr>
            <a:graphicFrameLocks noGrp="1"/>
          </p:cNvGraphicFramePr>
          <p:nvPr>
            <p:ph idx="1"/>
            <p:extLst>
              <p:ext uri="{D42A27DB-BD31-4B8C-83A1-F6EECF244321}">
                <p14:modId xmlns:p14="http://schemas.microsoft.com/office/powerpoint/2010/main" val="4246726573"/>
              </p:ext>
            </p:extLst>
          </p:nvPr>
        </p:nvGraphicFramePr>
        <p:xfrm>
          <a:off x="702469" y="1311443"/>
          <a:ext cx="10787062" cy="4860407"/>
        </p:xfrm>
        <a:graphic>
          <a:graphicData uri="http://schemas.openxmlformats.org/drawingml/2006/table">
            <a:tbl>
              <a:tblPr firstRow="1" bandRow="1">
                <a:tableStyleId>{5940675A-B579-460E-94D1-54222C63F5DA}</a:tableStyleId>
              </a:tblPr>
              <a:tblGrid>
                <a:gridCol w="2198047">
                  <a:extLst>
                    <a:ext uri="{9D8B030D-6E8A-4147-A177-3AD203B41FA5}">
                      <a16:colId xmlns:a16="http://schemas.microsoft.com/office/drawing/2014/main" val="1934700678"/>
                    </a:ext>
                  </a:extLst>
                </a:gridCol>
                <a:gridCol w="8589015">
                  <a:extLst>
                    <a:ext uri="{9D8B030D-6E8A-4147-A177-3AD203B41FA5}">
                      <a16:colId xmlns:a16="http://schemas.microsoft.com/office/drawing/2014/main" val="118619448"/>
                    </a:ext>
                  </a:extLst>
                </a:gridCol>
              </a:tblGrid>
              <a:tr h="731827">
                <a:tc>
                  <a:txBody>
                    <a:bodyPr/>
                    <a:lstStyle/>
                    <a:p>
                      <a:r>
                        <a:rPr lang="en-US" sz="3200" dirty="0"/>
                        <a:t>CMMI level</a:t>
                      </a:r>
                    </a:p>
                  </a:txBody>
                  <a:tcPr/>
                </a:tc>
                <a:tc>
                  <a:txBody>
                    <a:bodyPr/>
                    <a:lstStyle/>
                    <a:p>
                      <a:r>
                        <a:rPr lang="en-US" sz="3200" dirty="0"/>
                        <a:t>ISO 15504</a:t>
                      </a:r>
                    </a:p>
                  </a:txBody>
                  <a:tcPr/>
                </a:tc>
                <a:extLst>
                  <a:ext uri="{0D108BD9-81ED-4DB2-BD59-A6C34878D82A}">
                    <a16:rowId xmlns:a16="http://schemas.microsoft.com/office/drawing/2014/main" val="4188123454"/>
                  </a:ext>
                </a:extLst>
              </a:tr>
              <a:tr h="731827">
                <a:tc>
                  <a:txBody>
                    <a:bodyPr/>
                    <a:lstStyle/>
                    <a:p>
                      <a:endParaRPr lang="en-US" sz="3200"/>
                    </a:p>
                  </a:txBody>
                  <a:tcPr/>
                </a:tc>
                <a:tc>
                  <a:txBody>
                    <a:bodyPr/>
                    <a:lstStyle/>
                    <a:p>
                      <a:r>
                        <a:rPr lang="en-US" sz="3200" dirty="0"/>
                        <a:t>0 incomplete</a:t>
                      </a:r>
                    </a:p>
                  </a:txBody>
                  <a:tcPr/>
                </a:tc>
                <a:extLst>
                  <a:ext uri="{0D108BD9-81ED-4DB2-BD59-A6C34878D82A}">
                    <a16:rowId xmlns:a16="http://schemas.microsoft.com/office/drawing/2014/main" val="3548717285"/>
                  </a:ext>
                </a:extLst>
              </a:tr>
              <a:tr h="1009210">
                <a:tc>
                  <a:txBody>
                    <a:bodyPr/>
                    <a:lstStyle/>
                    <a:p>
                      <a:r>
                        <a:rPr lang="en-US" sz="3200" dirty="0"/>
                        <a:t>Initial</a:t>
                      </a:r>
                    </a:p>
                  </a:txBody>
                  <a:tcPr/>
                </a:tc>
                <a:tc>
                  <a:txBody>
                    <a:bodyPr/>
                    <a:lstStyle/>
                    <a:p>
                      <a:r>
                        <a:rPr lang="en-US" sz="3200" dirty="0"/>
                        <a:t>1.1 Process performance – achieves defined outcome</a:t>
                      </a:r>
                    </a:p>
                  </a:txBody>
                  <a:tcPr/>
                </a:tc>
                <a:extLst>
                  <a:ext uri="{0D108BD9-81ED-4DB2-BD59-A6C34878D82A}">
                    <a16:rowId xmlns:a16="http://schemas.microsoft.com/office/drawing/2014/main" val="1267481268"/>
                  </a:ext>
                </a:extLst>
              </a:tr>
              <a:tr h="1009210">
                <a:tc>
                  <a:txBody>
                    <a:bodyPr/>
                    <a:lstStyle/>
                    <a:p>
                      <a:r>
                        <a:rPr lang="en-US" sz="3200" dirty="0"/>
                        <a:t>Repeatable</a:t>
                      </a:r>
                    </a:p>
                  </a:txBody>
                  <a:tcPr/>
                </a:tc>
                <a:tc>
                  <a:txBody>
                    <a:bodyPr/>
                    <a:lstStyle/>
                    <a:p>
                      <a:r>
                        <a:rPr lang="en-US" sz="3200" dirty="0"/>
                        <a:t>2.1 Process management – it is planned and monitored</a:t>
                      </a:r>
                    </a:p>
                  </a:txBody>
                  <a:tcPr/>
                </a:tc>
                <a:extLst>
                  <a:ext uri="{0D108BD9-81ED-4DB2-BD59-A6C34878D82A}">
                    <a16:rowId xmlns:a16="http://schemas.microsoft.com/office/drawing/2014/main" val="2373656149"/>
                  </a:ext>
                </a:extLst>
              </a:tr>
              <a:tr h="1263153">
                <a:tc>
                  <a:txBody>
                    <a:bodyPr/>
                    <a:lstStyle/>
                    <a:p>
                      <a:endParaRPr lang="en-US" sz="3200"/>
                    </a:p>
                  </a:txBody>
                  <a:tcPr/>
                </a:tc>
                <a:tc>
                  <a:txBody>
                    <a:bodyPr/>
                    <a:lstStyle/>
                    <a:p>
                      <a:r>
                        <a:rPr lang="en-US" sz="3200" dirty="0"/>
                        <a:t>2.2 Work product management – control of work products</a:t>
                      </a:r>
                    </a:p>
                  </a:txBody>
                  <a:tcPr/>
                </a:tc>
                <a:extLst>
                  <a:ext uri="{0D108BD9-81ED-4DB2-BD59-A6C34878D82A}">
                    <a16:rowId xmlns:a16="http://schemas.microsoft.com/office/drawing/2014/main" val="2437952483"/>
                  </a:ext>
                </a:extLst>
              </a:tr>
            </a:tbl>
          </a:graphicData>
        </a:graphic>
      </p:graphicFrame>
    </p:spTree>
    <p:extLst>
      <p:ext uri="{BB962C8B-B14F-4D97-AF65-F5344CB8AC3E}">
        <p14:creationId xmlns:p14="http://schemas.microsoft.com/office/powerpoint/2010/main" val="42533803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ISO 15504 performance attributes - </a:t>
            </a:r>
            <a:r>
              <a:rPr lang="en-US" dirty="0" err="1"/>
              <a:t>contd</a:t>
            </a:r>
            <a:endParaRPr lang="en-US" dirty="0"/>
          </a:p>
        </p:txBody>
      </p:sp>
      <p:sp>
        <p:nvSpPr>
          <p:cNvPr id="4" name="Footer Placeholder 3"/>
          <p:cNvSpPr>
            <a:spLocks noGrp="1"/>
          </p:cNvSpPr>
          <p:nvPr>
            <p:ph type="ftr" sz="quarter" idx="11"/>
          </p:nvPr>
        </p:nvSpPr>
        <p:spPr/>
        <p:txBody>
          <a:bodyPr/>
          <a:lstStyle/>
          <a:p>
            <a:r>
              <a:rPr lang="en-US" dirty="0" err="1"/>
              <a:t>Ch13.2</a:t>
            </a:r>
            <a:r>
              <a:rPr lang="en-US" dirty="0"/>
              <a:t>. software product quality</a:t>
            </a:r>
          </a:p>
        </p:txBody>
      </p:sp>
      <p:sp>
        <p:nvSpPr>
          <p:cNvPr id="5" name="Slide Number Placeholder 4"/>
          <p:cNvSpPr>
            <a:spLocks noGrp="1"/>
          </p:cNvSpPr>
          <p:nvPr>
            <p:ph type="sldNum" sz="quarter" idx="4294967295"/>
          </p:nvPr>
        </p:nvSpPr>
        <p:spPr>
          <a:xfrm>
            <a:off x="11218863" y="6470650"/>
            <a:ext cx="973137" cy="274638"/>
          </a:xfrm>
          <a:prstGeom prst="rect">
            <a:avLst/>
          </a:prstGeom>
        </p:spPr>
        <p:txBody>
          <a:bodyPr/>
          <a:lstStyle/>
          <a:p>
            <a:fld id="{6A4D3DC4-9E7F-1C47-B729-896D53019E3D}" type="slidenum">
              <a:rPr lang="en-US" smtClean="0"/>
              <a:pPr/>
              <a:t>21</a:t>
            </a:fld>
            <a:endParaRPr lang="en-US"/>
          </a:p>
        </p:txBody>
      </p:sp>
      <p:graphicFrame>
        <p:nvGraphicFramePr>
          <p:cNvPr id="8" name="Content Placeholder 7">
            <a:extLst>
              <a:ext uri="{FF2B5EF4-FFF2-40B4-BE49-F238E27FC236}">
                <a16:creationId xmlns:a16="http://schemas.microsoft.com/office/drawing/2014/main" id="{D25E51C4-DD3B-B7C7-6AD2-345462F398D6}"/>
              </a:ext>
            </a:extLst>
          </p:cNvPr>
          <p:cNvGraphicFramePr>
            <a:graphicFrameLocks noGrp="1"/>
          </p:cNvGraphicFramePr>
          <p:nvPr>
            <p:ph idx="1"/>
            <p:extLst>
              <p:ext uri="{D42A27DB-BD31-4B8C-83A1-F6EECF244321}">
                <p14:modId xmlns:p14="http://schemas.microsoft.com/office/powerpoint/2010/main" val="809344443"/>
              </p:ext>
            </p:extLst>
          </p:nvPr>
        </p:nvGraphicFramePr>
        <p:xfrm>
          <a:off x="1023938" y="1528763"/>
          <a:ext cx="10787062" cy="4370590"/>
        </p:xfrm>
        <a:graphic>
          <a:graphicData uri="http://schemas.openxmlformats.org/drawingml/2006/table">
            <a:tbl>
              <a:tblPr firstRow="1" bandRow="1">
                <a:tableStyleId>{5940675A-B579-460E-94D1-54222C63F5DA}</a:tableStyleId>
              </a:tblPr>
              <a:tblGrid>
                <a:gridCol w="2525507">
                  <a:extLst>
                    <a:ext uri="{9D8B030D-6E8A-4147-A177-3AD203B41FA5}">
                      <a16:colId xmlns:a16="http://schemas.microsoft.com/office/drawing/2014/main" val="1361585951"/>
                    </a:ext>
                  </a:extLst>
                </a:gridCol>
                <a:gridCol w="8261555">
                  <a:extLst>
                    <a:ext uri="{9D8B030D-6E8A-4147-A177-3AD203B41FA5}">
                      <a16:colId xmlns:a16="http://schemas.microsoft.com/office/drawing/2014/main" val="3212414422"/>
                    </a:ext>
                  </a:extLst>
                </a:gridCol>
              </a:tblGrid>
              <a:tr h="624370">
                <a:tc>
                  <a:txBody>
                    <a:bodyPr/>
                    <a:lstStyle/>
                    <a:p>
                      <a:r>
                        <a:rPr lang="en-US" sz="3200" dirty="0"/>
                        <a:t>CMMI level</a:t>
                      </a:r>
                    </a:p>
                  </a:txBody>
                  <a:tcPr/>
                </a:tc>
                <a:tc>
                  <a:txBody>
                    <a:bodyPr/>
                    <a:lstStyle/>
                    <a:p>
                      <a:r>
                        <a:rPr lang="en-US" sz="3200" dirty="0"/>
                        <a:t>ISO 15504</a:t>
                      </a:r>
                    </a:p>
                  </a:txBody>
                  <a:tcPr/>
                </a:tc>
                <a:extLst>
                  <a:ext uri="{0D108BD9-81ED-4DB2-BD59-A6C34878D82A}">
                    <a16:rowId xmlns:a16="http://schemas.microsoft.com/office/drawing/2014/main" val="377022033"/>
                  </a:ext>
                </a:extLst>
              </a:tr>
              <a:tr h="624370">
                <a:tc>
                  <a:txBody>
                    <a:bodyPr/>
                    <a:lstStyle/>
                    <a:p>
                      <a:r>
                        <a:rPr lang="en-US" sz="3200" dirty="0"/>
                        <a:t>Defined</a:t>
                      </a:r>
                    </a:p>
                  </a:txBody>
                  <a:tcPr/>
                </a:tc>
                <a:tc>
                  <a:txBody>
                    <a:bodyPr/>
                    <a:lstStyle/>
                    <a:p>
                      <a:r>
                        <a:rPr lang="en-US" sz="3200" dirty="0"/>
                        <a:t>3.1 Process definition</a:t>
                      </a:r>
                    </a:p>
                  </a:txBody>
                  <a:tcPr/>
                </a:tc>
                <a:extLst>
                  <a:ext uri="{0D108BD9-81ED-4DB2-BD59-A6C34878D82A}">
                    <a16:rowId xmlns:a16="http://schemas.microsoft.com/office/drawing/2014/main" val="2860186453"/>
                  </a:ext>
                </a:extLst>
              </a:tr>
              <a:tr h="624370">
                <a:tc>
                  <a:txBody>
                    <a:bodyPr/>
                    <a:lstStyle/>
                    <a:p>
                      <a:endParaRPr lang="en-US" sz="3200" dirty="0"/>
                    </a:p>
                  </a:txBody>
                  <a:tcPr/>
                </a:tc>
                <a:tc>
                  <a:txBody>
                    <a:bodyPr/>
                    <a:lstStyle/>
                    <a:p>
                      <a:r>
                        <a:rPr lang="en-US" sz="3200" dirty="0"/>
                        <a:t>3.2 Process deployment</a:t>
                      </a:r>
                    </a:p>
                  </a:txBody>
                  <a:tcPr/>
                </a:tc>
                <a:extLst>
                  <a:ext uri="{0D108BD9-81ED-4DB2-BD59-A6C34878D82A}">
                    <a16:rowId xmlns:a16="http://schemas.microsoft.com/office/drawing/2014/main" val="4278347591"/>
                  </a:ext>
                </a:extLst>
              </a:tr>
              <a:tr h="624370">
                <a:tc>
                  <a:txBody>
                    <a:bodyPr/>
                    <a:lstStyle/>
                    <a:p>
                      <a:r>
                        <a:rPr lang="en-US" sz="3200" dirty="0"/>
                        <a:t>Managed</a:t>
                      </a:r>
                    </a:p>
                  </a:txBody>
                  <a:tcPr/>
                </a:tc>
                <a:tc>
                  <a:txBody>
                    <a:bodyPr/>
                    <a:lstStyle/>
                    <a:p>
                      <a:r>
                        <a:rPr lang="en-US" sz="3200" dirty="0"/>
                        <a:t>4.1 Process measurement</a:t>
                      </a:r>
                    </a:p>
                  </a:txBody>
                  <a:tcPr/>
                </a:tc>
                <a:extLst>
                  <a:ext uri="{0D108BD9-81ED-4DB2-BD59-A6C34878D82A}">
                    <a16:rowId xmlns:a16="http://schemas.microsoft.com/office/drawing/2014/main" val="1078767313"/>
                  </a:ext>
                </a:extLst>
              </a:tr>
              <a:tr h="624370">
                <a:tc>
                  <a:txBody>
                    <a:bodyPr/>
                    <a:lstStyle/>
                    <a:p>
                      <a:endParaRPr lang="en-US" sz="3200" dirty="0"/>
                    </a:p>
                  </a:txBody>
                  <a:tcPr/>
                </a:tc>
                <a:tc>
                  <a:txBody>
                    <a:bodyPr/>
                    <a:lstStyle/>
                    <a:p>
                      <a:r>
                        <a:rPr lang="en-US" sz="3200" dirty="0"/>
                        <a:t>4.2 Process control</a:t>
                      </a:r>
                    </a:p>
                  </a:txBody>
                  <a:tcPr/>
                </a:tc>
                <a:extLst>
                  <a:ext uri="{0D108BD9-81ED-4DB2-BD59-A6C34878D82A}">
                    <a16:rowId xmlns:a16="http://schemas.microsoft.com/office/drawing/2014/main" val="2450132784"/>
                  </a:ext>
                </a:extLst>
              </a:tr>
              <a:tr h="624370">
                <a:tc>
                  <a:txBody>
                    <a:bodyPr/>
                    <a:lstStyle/>
                    <a:p>
                      <a:r>
                        <a:rPr lang="en-US" sz="3200" dirty="0"/>
                        <a:t>Optimizing</a:t>
                      </a:r>
                    </a:p>
                  </a:txBody>
                  <a:tcPr/>
                </a:tc>
                <a:tc>
                  <a:txBody>
                    <a:bodyPr/>
                    <a:lstStyle/>
                    <a:p>
                      <a:r>
                        <a:rPr lang="en-US" sz="3200" dirty="0"/>
                        <a:t>5.1 Process innovation</a:t>
                      </a:r>
                    </a:p>
                  </a:txBody>
                  <a:tcPr/>
                </a:tc>
                <a:extLst>
                  <a:ext uri="{0D108BD9-81ED-4DB2-BD59-A6C34878D82A}">
                    <a16:rowId xmlns:a16="http://schemas.microsoft.com/office/drawing/2014/main" val="812683300"/>
                  </a:ext>
                </a:extLst>
              </a:tr>
              <a:tr h="624370">
                <a:tc>
                  <a:txBody>
                    <a:bodyPr/>
                    <a:lstStyle/>
                    <a:p>
                      <a:endParaRPr lang="en-US" sz="3200"/>
                    </a:p>
                  </a:txBody>
                  <a:tcPr/>
                </a:tc>
                <a:tc>
                  <a:txBody>
                    <a:bodyPr/>
                    <a:lstStyle/>
                    <a:p>
                      <a:r>
                        <a:rPr lang="en-US" sz="3200" dirty="0"/>
                        <a:t>5.2 Process optimization</a:t>
                      </a:r>
                    </a:p>
                  </a:txBody>
                  <a:tcPr/>
                </a:tc>
                <a:extLst>
                  <a:ext uri="{0D108BD9-81ED-4DB2-BD59-A6C34878D82A}">
                    <a16:rowId xmlns:a16="http://schemas.microsoft.com/office/drawing/2014/main" val="1001282420"/>
                  </a:ext>
                </a:extLst>
              </a:tr>
            </a:tbl>
          </a:graphicData>
        </a:graphic>
      </p:graphicFrame>
    </p:spTree>
    <p:extLst>
      <p:ext uri="{BB962C8B-B14F-4D97-AF65-F5344CB8AC3E}">
        <p14:creationId xmlns:p14="http://schemas.microsoft.com/office/powerpoint/2010/main" val="24441435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 Reference Model</a:t>
            </a:r>
          </a:p>
        </p:txBody>
      </p:sp>
      <p:sp>
        <p:nvSpPr>
          <p:cNvPr id="4" name="Footer Placeholder 3"/>
          <p:cNvSpPr>
            <a:spLocks noGrp="1"/>
          </p:cNvSpPr>
          <p:nvPr>
            <p:ph type="ftr" sz="quarter" idx="11"/>
          </p:nvPr>
        </p:nvSpPr>
        <p:spPr/>
        <p:txBody>
          <a:bodyPr/>
          <a:lstStyle/>
          <a:p>
            <a:r>
              <a:rPr lang="en-US" dirty="0" err="1"/>
              <a:t>Ch13.2</a:t>
            </a:r>
            <a:r>
              <a:rPr lang="en-US" dirty="0"/>
              <a:t>. software product quality</a:t>
            </a:r>
          </a:p>
        </p:txBody>
      </p:sp>
      <p:sp>
        <p:nvSpPr>
          <p:cNvPr id="5" name="Slide Number Placeholder 4"/>
          <p:cNvSpPr>
            <a:spLocks noGrp="1"/>
          </p:cNvSpPr>
          <p:nvPr>
            <p:ph type="sldNum" sz="quarter" idx="4294967295"/>
          </p:nvPr>
        </p:nvSpPr>
        <p:spPr>
          <a:xfrm>
            <a:off x="11218863" y="6470650"/>
            <a:ext cx="973137" cy="274638"/>
          </a:xfrm>
          <a:prstGeom prst="rect">
            <a:avLst/>
          </a:prstGeom>
        </p:spPr>
        <p:txBody>
          <a:bodyPr/>
          <a:lstStyle/>
          <a:p>
            <a:fld id="{6A4D3DC4-9E7F-1C47-B729-896D53019E3D}" type="slidenum">
              <a:rPr lang="en-US" smtClean="0"/>
              <a:pPr/>
              <a:t>22</a:t>
            </a:fld>
            <a:endParaRPr lang="en-US"/>
          </a:p>
        </p:txBody>
      </p:sp>
      <p:sp>
        <p:nvSpPr>
          <p:cNvPr id="6" name="Content Placeholder 5">
            <a:extLst>
              <a:ext uri="{FF2B5EF4-FFF2-40B4-BE49-F238E27FC236}">
                <a16:creationId xmlns:a16="http://schemas.microsoft.com/office/drawing/2014/main" id="{637BC6DD-3D75-7D05-B9FC-D0D6DC848135}"/>
              </a:ext>
            </a:extLst>
          </p:cNvPr>
          <p:cNvSpPr>
            <a:spLocks noGrp="1"/>
          </p:cNvSpPr>
          <p:nvPr>
            <p:ph idx="1"/>
          </p:nvPr>
        </p:nvSpPr>
        <p:spPr/>
        <p:txBody>
          <a:bodyPr>
            <a:normAutofit/>
          </a:bodyPr>
          <a:lstStyle/>
          <a:p>
            <a:r>
              <a:rPr lang="en-US" dirty="0"/>
              <a:t>A defined standard approach to development </a:t>
            </a:r>
          </a:p>
          <a:p>
            <a:r>
              <a:rPr lang="en-US" dirty="0"/>
              <a:t>Reflects recognized good practice </a:t>
            </a:r>
          </a:p>
          <a:p>
            <a:r>
              <a:rPr lang="en-US" dirty="0"/>
              <a:t>A benchmark against which the processes to be assessed can be judged </a:t>
            </a:r>
          </a:p>
          <a:p>
            <a:r>
              <a:rPr lang="en-US" dirty="0"/>
              <a:t>ISO 12207 is the default model</a:t>
            </a:r>
          </a:p>
        </p:txBody>
      </p:sp>
    </p:spTree>
    <p:extLst>
      <p:ext uri="{BB962C8B-B14F-4D97-AF65-F5344CB8AC3E}">
        <p14:creationId xmlns:p14="http://schemas.microsoft.com/office/powerpoint/2010/main" val="7906728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IS0</a:t>
            </a:r>
            <a:r>
              <a:rPr lang="en-US" dirty="0"/>
              <a:t> 15504 Process Assessment</a:t>
            </a:r>
          </a:p>
        </p:txBody>
      </p:sp>
      <p:sp>
        <p:nvSpPr>
          <p:cNvPr id="4" name="Footer Placeholder 3"/>
          <p:cNvSpPr>
            <a:spLocks noGrp="1"/>
          </p:cNvSpPr>
          <p:nvPr>
            <p:ph type="ftr" sz="quarter" idx="11"/>
          </p:nvPr>
        </p:nvSpPr>
        <p:spPr/>
        <p:txBody>
          <a:bodyPr/>
          <a:lstStyle/>
          <a:p>
            <a:r>
              <a:rPr lang="en-US" dirty="0" err="1"/>
              <a:t>Ch13.2</a:t>
            </a:r>
            <a:r>
              <a:rPr lang="en-US" dirty="0"/>
              <a:t>. software product quality</a:t>
            </a:r>
          </a:p>
        </p:txBody>
      </p:sp>
      <p:sp>
        <p:nvSpPr>
          <p:cNvPr id="5" name="Slide Number Placeholder 4"/>
          <p:cNvSpPr>
            <a:spLocks noGrp="1"/>
          </p:cNvSpPr>
          <p:nvPr>
            <p:ph type="sldNum" sz="quarter" idx="4294967295"/>
          </p:nvPr>
        </p:nvSpPr>
        <p:spPr>
          <a:xfrm>
            <a:off x="11218863" y="6470650"/>
            <a:ext cx="973137" cy="274638"/>
          </a:xfrm>
          <a:prstGeom prst="rect">
            <a:avLst/>
          </a:prstGeom>
        </p:spPr>
        <p:txBody>
          <a:bodyPr/>
          <a:lstStyle/>
          <a:p>
            <a:fld id="{6A4D3DC4-9E7F-1C47-B729-896D53019E3D}" type="slidenum">
              <a:rPr lang="en-US" smtClean="0"/>
              <a:pPr/>
              <a:t>23</a:t>
            </a:fld>
            <a:endParaRPr lang="en-US"/>
          </a:p>
        </p:txBody>
      </p:sp>
      <p:sp>
        <p:nvSpPr>
          <p:cNvPr id="6" name="Content Placeholder 5">
            <a:extLst>
              <a:ext uri="{FF2B5EF4-FFF2-40B4-BE49-F238E27FC236}">
                <a16:creationId xmlns:a16="http://schemas.microsoft.com/office/drawing/2014/main" id="{637BC6DD-3D75-7D05-B9FC-D0D6DC848135}"/>
              </a:ext>
            </a:extLst>
          </p:cNvPr>
          <p:cNvSpPr>
            <a:spLocks noGrp="1"/>
          </p:cNvSpPr>
          <p:nvPr>
            <p:ph idx="1"/>
          </p:nvPr>
        </p:nvSpPr>
        <p:spPr/>
        <p:txBody>
          <a:bodyPr>
            <a:normAutofit/>
          </a:bodyPr>
          <a:lstStyle/>
          <a:p>
            <a:r>
              <a:rPr lang="en-US" dirty="0"/>
              <a:t>For each process in the relevant Process Reference Model </a:t>
            </a:r>
          </a:p>
          <a:p>
            <a:pPr lvl="1"/>
            <a:r>
              <a:rPr lang="en-US" sz="3200" dirty="0"/>
              <a:t>For each set of attribute level criteria </a:t>
            </a:r>
          </a:p>
          <a:p>
            <a:pPr lvl="2">
              <a:buFont typeface="Arial" panose="020B0604020202020204" pitchFamily="34" charset="0"/>
              <a:buChar char="•"/>
            </a:pPr>
            <a:r>
              <a:rPr lang="en-US" sz="3200" dirty="0"/>
              <a:t>Assess whether: </a:t>
            </a:r>
          </a:p>
          <a:p>
            <a:pPr lvl="3">
              <a:buSzPct val="50000"/>
              <a:buFont typeface="Courier New" panose="02070309020205020404" pitchFamily="49" charset="0"/>
              <a:buChar char="o"/>
            </a:pPr>
            <a:r>
              <a:rPr lang="en-US" sz="3200" dirty="0"/>
              <a:t>N: not achieved 0-15% </a:t>
            </a:r>
          </a:p>
          <a:p>
            <a:pPr lvl="3">
              <a:buSzPct val="50000"/>
              <a:buFont typeface="Courier New" panose="02070309020205020404" pitchFamily="49" charset="0"/>
              <a:buChar char="o"/>
            </a:pPr>
            <a:r>
              <a:rPr lang="en-US" sz="3200" dirty="0"/>
              <a:t>P: partially achieved &gt;15%-50% </a:t>
            </a:r>
          </a:p>
          <a:p>
            <a:pPr lvl="3">
              <a:buSzPct val="50000"/>
              <a:buFont typeface="Courier New" panose="02070309020205020404" pitchFamily="49" charset="0"/>
              <a:buChar char="o"/>
            </a:pPr>
            <a:r>
              <a:rPr lang="en-US" sz="3200" dirty="0"/>
              <a:t>L: largely achieved &gt;50%-85% </a:t>
            </a:r>
          </a:p>
          <a:p>
            <a:pPr lvl="3">
              <a:buSzPct val="50000"/>
              <a:buFont typeface="Courier New" panose="02070309020205020404" pitchFamily="49" charset="0"/>
              <a:buChar char="o"/>
            </a:pPr>
            <a:r>
              <a:rPr lang="en-US" sz="3200" dirty="0"/>
              <a:t>F: fully achieved &gt;85%</a:t>
            </a:r>
          </a:p>
        </p:txBody>
      </p:sp>
    </p:spTree>
    <p:extLst>
      <p:ext uri="{BB962C8B-B14F-4D97-AF65-F5344CB8AC3E}">
        <p14:creationId xmlns:p14="http://schemas.microsoft.com/office/powerpoint/2010/main" val="14816094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ISO 15504 performance indicators</a:t>
            </a:r>
          </a:p>
        </p:txBody>
      </p:sp>
      <p:sp>
        <p:nvSpPr>
          <p:cNvPr id="4" name="Footer Placeholder 3"/>
          <p:cNvSpPr>
            <a:spLocks noGrp="1"/>
          </p:cNvSpPr>
          <p:nvPr>
            <p:ph type="ftr" sz="quarter" idx="11"/>
          </p:nvPr>
        </p:nvSpPr>
        <p:spPr/>
        <p:txBody>
          <a:bodyPr/>
          <a:lstStyle/>
          <a:p>
            <a:r>
              <a:rPr lang="en-US" dirty="0" err="1"/>
              <a:t>Ch13.2</a:t>
            </a:r>
            <a:r>
              <a:rPr lang="en-US" dirty="0"/>
              <a:t>. software product quality</a:t>
            </a:r>
          </a:p>
        </p:txBody>
      </p:sp>
      <p:sp>
        <p:nvSpPr>
          <p:cNvPr id="5" name="Slide Number Placeholder 4"/>
          <p:cNvSpPr>
            <a:spLocks noGrp="1"/>
          </p:cNvSpPr>
          <p:nvPr>
            <p:ph type="sldNum" sz="quarter" idx="4294967295"/>
          </p:nvPr>
        </p:nvSpPr>
        <p:spPr>
          <a:xfrm>
            <a:off x="11218863" y="6470650"/>
            <a:ext cx="973137" cy="274638"/>
          </a:xfrm>
          <a:prstGeom prst="rect">
            <a:avLst/>
          </a:prstGeom>
        </p:spPr>
        <p:txBody>
          <a:bodyPr/>
          <a:lstStyle/>
          <a:p>
            <a:fld id="{6A4D3DC4-9E7F-1C47-B729-896D53019E3D}" type="slidenum">
              <a:rPr lang="en-US" smtClean="0"/>
              <a:pPr/>
              <a:t>24</a:t>
            </a:fld>
            <a:endParaRPr lang="en-US"/>
          </a:p>
        </p:txBody>
      </p:sp>
      <p:sp>
        <p:nvSpPr>
          <p:cNvPr id="6" name="Content Placeholder 5">
            <a:extLst>
              <a:ext uri="{FF2B5EF4-FFF2-40B4-BE49-F238E27FC236}">
                <a16:creationId xmlns:a16="http://schemas.microsoft.com/office/drawing/2014/main" id="{637BC6DD-3D75-7D05-B9FC-D0D6DC848135}"/>
              </a:ext>
            </a:extLst>
          </p:cNvPr>
          <p:cNvSpPr>
            <a:spLocks noGrp="1"/>
          </p:cNvSpPr>
          <p:nvPr>
            <p:ph idx="1"/>
          </p:nvPr>
        </p:nvSpPr>
        <p:spPr>
          <a:xfrm>
            <a:off x="1024128" y="1528012"/>
            <a:ext cx="10322298" cy="4781349"/>
          </a:xfrm>
        </p:spPr>
        <p:txBody>
          <a:bodyPr>
            <a:normAutofit/>
          </a:bodyPr>
          <a:lstStyle/>
          <a:p>
            <a:r>
              <a:rPr lang="en-US" dirty="0"/>
              <a:t>This is just an example of how indicators for each level might be identified </a:t>
            </a:r>
          </a:p>
          <a:p>
            <a:pPr marL="0" indent="0">
              <a:buNone/>
            </a:pPr>
            <a:r>
              <a:rPr lang="en-US" dirty="0"/>
              <a:t>     </a:t>
            </a:r>
            <a:r>
              <a:rPr lang="en-US" b="1" dirty="0"/>
              <a:t>1. Performance </a:t>
            </a:r>
            <a:br>
              <a:rPr lang="en-US" dirty="0"/>
            </a:br>
            <a:r>
              <a:rPr lang="en-US" dirty="0"/>
              <a:t>	Descriptions of maximum and minimum expected input 	values exist </a:t>
            </a:r>
          </a:p>
          <a:p>
            <a:pPr marL="0" indent="0">
              <a:buNone/>
            </a:pPr>
            <a:r>
              <a:rPr lang="en-US" dirty="0"/>
              <a:t>     </a:t>
            </a:r>
            <a:r>
              <a:rPr lang="en-US" b="1" dirty="0"/>
              <a:t>2.1 Performance management </a:t>
            </a:r>
            <a:br>
              <a:rPr lang="en-US" dirty="0"/>
            </a:br>
            <a:r>
              <a:rPr lang="en-US" dirty="0"/>
              <a:t>	A plan of how expected input variable ranges are to be 	obtained exists which is up to date</a:t>
            </a:r>
            <a:endParaRPr lang="en-US" sz="3200" dirty="0"/>
          </a:p>
        </p:txBody>
      </p:sp>
    </p:spTree>
    <p:extLst>
      <p:ext uri="{BB962C8B-B14F-4D97-AF65-F5344CB8AC3E}">
        <p14:creationId xmlns:p14="http://schemas.microsoft.com/office/powerpoint/2010/main" val="18296830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ISO 15504 performance indicators 2</a:t>
            </a:r>
          </a:p>
        </p:txBody>
      </p:sp>
      <p:sp>
        <p:nvSpPr>
          <p:cNvPr id="4" name="Footer Placeholder 3"/>
          <p:cNvSpPr>
            <a:spLocks noGrp="1"/>
          </p:cNvSpPr>
          <p:nvPr>
            <p:ph type="ftr" sz="quarter" idx="11"/>
          </p:nvPr>
        </p:nvSpPr>
        <p:spPr/>
        <p:txBody>
          <a:bodyPr/>
          <a:lstStyle/>
          <a:p>
            <a:r>
              <a:rPr lang="en-US" dirty="0" err="1"/>
              <a:t>Ch13.2</a:t>
            </a:r>
            <a:r>
              <a:rPr lang="en-US" dirty="0"/>
              <a:t>. software product quality</a:t>
            </a:r>
          </a:p>
        </p:txBody>
      </p:sp>
      <p:sp>
        <p:nvSpPr>
          <p:cNvPr id="5" name="Slide Number Placeholder 4"/>
          <p:cNvSpPr>
            <a:spLocks noGrp="1"/>
          </p:cNvSpPr>
          <p:nvPr>
            <p:ph type="sldNum" sz="quarter" idx="4294967295"/>
          </p:nvPr>
        </p:nvSpPr>
        <p:spPr>
          <a:xfrm>
            <a:off x="11218863" y="6470650"/>
            <a:ext cx="973137" cy="274638"/>
          </a:xfrm>
          <a:prstGeom prst="rect">
            <a:avLst/>
          </a:prstGeom>
        </p:spPr>
        <p:txBody>
          <a:bodyPr/>
          <a:lstStyle/>
          <a:p>
            <a:fld id="{6A4D3DC4-9E7F-1C47-B729-896D53019E3D}" type="slidenum">
              <a:rPr lang="en-US" smtClean="0"/>
              <a:pPr/>
              <a:t>25</a:t>
            </a:fld>
            <a:endParaRPr lang="en-US"/>
          </a:p>
        </p:txBody>
      </p:sp>
      <p:sp>
        <p:nvSpPr>
          <p:cNvPr id="6" name="Content Placeholder 5">
            <a:extLst>
              <a:ext uri="{FF2B5EF4-FFF2-40B4-BE49-F238E27FC236}">
                <a16:creationId xmlns:a16="http://schemas.microsoft.com/office/drawing/2014/main" id="{637BC6DD-3D75-7D05-B9FC-D0D6DC848135}"/>
              </a:ext>
            </a:extLst>
          </p:cNvPr>
          <p:cNvSpPr>
            <a:spLocks noGrp="1"/>
          </p:cNvSpPr>
          <p:nvPr>
            <p:ph idx="1"/>
          </p:nvPr>
        </p:nvSpPr>
        <p:spPr>
          <a:xfrm>
            <a:off x="1014296" y="1528012"/>
            <a:ext cx="10371459" cy="4781349"/>
          </a:xfrm>
        </p:spPr>
        <p:txBody>
          <a:bodyPr>
            <a:normAutofit lnSpcReduction="10000"/>
          </a:bodyPr>
          <a:lstStyle/>
          <a:p>
            <a:pPr marL="0" indent="0">
              <a:buNone/>
            </a:pPr>
            <a:r>
              <a:rPr lang="en-US" dirty="0"/>
              <a:t>    </a:t>
            </a:r>
            <a:r>
              <a:rPr lang="en-US" b="1" dirty="0"/>
              <a:t>2.2 Work product management</a:t>
            </a:r>
            <a:br>
              <a:rPr lang="en-US" dirty="0"/>
            </a:br>
            <a:r>
              <a:rPr lang="en-US" dirty="0"/>
              <a:t>	There are minutes of a meeting where the input 	requirements document was reviewed and corrections 	were mandated</a:t>
            </a:r>
          </a:p>
          <a:p>
            <a:pPr marL="0" indent="0">
              <a:buNone/>
            </a:pPr>
            <a:r>
              <a:rPr lang="en-US" sz="3200" b="1" dirty="0"/>
              <a:t>    3.1 </a:t>
            </a:r>
            <a:r>
              <a:rPr lang="en-US" b="1" dirty="0"/>
              <a:t>Process definition</a:t>
            </a:r>
            <a:br>
              <a:rPr lang="en-US" dirty="0"/>
            </a:br>
            <a:r>
              <a:rPr lang="en-US" dirty="0"/>
              <a:t>	A written procedure for input requirements gathering 	exists</a:t>
            </a:r>
          </a:p>
          <a:p>
            <a:pPr marL="0" indent="0">
              <a:buNone/>
            </a:pPr>
            <a:r>
              <a:rPr lang="en-US" dirty="0"/>
              <a:t>    </a:t>
            </a:r>
            <a:r>
              <a:rPr lang="en-US" b="1" dirty="0"/>
              <a:t>3.2 Process deployment</a:t>
            </a:r>
            <a:br>
              <a:rPr lang="en-US" dirty="0"/>
            </a:br>
            <a:r>
              <a:rPr lang="en-US" dirty="0"/>
              <a:t>	A control document exists that is signed as each part of 	the procedure is completed</a:t>
            </a:r>
            <a:endParaRPr lang="en-US" sz="3200" dirty="0"/>
          </a:p>
        </p:txBody>
      </p:sp>
    </p:spTree>
    <p:extLst>
      <p:ext uri="{BB962C8B-B14F-4D97-AF65-F5344CB8AC3E}">
        <p14:creationId xmlns:p14="http://schemas.microsoft.com/office/powerpoint/2010/main" val="21377834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ISO 15504 performance indicators 2</a:t>
            </a:r>
          </a:p>
        </p:txBody>
      </p:sp>
      <p:sp>
        <p:nvSpPr>
          <p:cNvPr id="4" name="Footer Placeholder 3"/>
          <p:cNvSpPr>
            <a:spLocks noGrp="1"/>
          </p:cNvSpPr>
          <p:nvPr>
            <p:ph type="ftr" sz="quarter" idx="11"/>
          </p:nvPr>
        </p:nvSpPr>
        <p:spPr/>
        <p:txBody>
          <a:bodyPr/>
          <a:lstStyle/>
          <a:p>
            <a:r>
              <a:rPr lang="en-US" dirty="0" err="1"/>
              <a:t>Ch13.2</a:t>
            </a:r>
            <a:r>
              <a:rPr lang="en-US" dirty="0"/>
              <a:t>. software product quality</a:t>
            </a:r>
          </a:p>
        </p:txBody>
      </p:sp>
      <p:sp>
        <p:nvSpPr>
          <p:cNvPr id="5" name="Slide Number Placeholder 4"/>
          <p:cNvSpPr>
            <a:spLocks noGrp="1"/>
          </p:cNvSpPr>
          <p:nvPr>
            <p:ph type="sldNum" sz="quarter" idx="4294967295"/>
          </p:nvPr>
        </p:nvSpPr>
        <p:spPr>
          <a:xfrm>
            <a:off x="11218863" y="6470650"/>
            <a:ext cx="973137" cy="274638"/>
          </a:xfrm>
          <a:prstGeom prst="rect">
            <a:avLst/>
          </a:prstGeom>
        </p:spPr>
        <p:txBody>
          <a:bodyPr/>
          <a:lstStyle/>
          <a:p>
            <a:fld id="{6A4D3DC4-9E7F-1C47-B729-896D53019E3D}" type="slidenum">
              <a:rPr lang="en-US" smtClean="0"/>
              <a:pPr/>
              <a:t>26</a:t>
            </a:fld>
            <a:endParaRPr lang="en-US"/>
          </a:p>
        </p:txBody>
      </p:sp>
      <p:sp>
        <p:nvSpPr>
          <p:cNvPr id="6" name="Content Placeholder 5">
            <a:extLst>
              <a:ext uri="{FF2B5EF4-FFF2-40B4-BE49-F238E27FC236}">
                <a16:creationId xmlns:a16="http://schemas.microsoft.com/office/drawing/2014/main" id="{637BC6DD-3D75-7D05-B9FC-D0D6DC848135}"/>
              </a:ext>
            </a:extLst>
          </p:cNvPr>
          <p:cNvSpPr>
            <a:spLocks noGrp="1"/>
          </p:cNvSpPr>
          <p:nvPr>
            <p:ph idx="1"/>
          </p:nvPr>
        </p:nvSpPr>
        <p:spPr>
          <a:xfrm>
            <a:off x="1014296" y="1528012"/>
            <a:ext cx="10371459" cy="4781349"/>
          </a:xfrm>
        </p:spPr>
        <p:txBody>
          <a:bodyPr>
            <a:normAutofit/>
          </a:bodyPr>
          <a:lstStyle/>
          <a:p>
            <a:pPr marL="0" indent="0">
              <a:buNone/>
            </a:pPr>
            <a:r>
              <a:rPr lang="en-US" dirty="0"/>
              <a:t>    </a:t>
            </a:r>
            <a:r>
              <a:rPr lang="en-US" b="1" dirty="0"/>
              <a:t>4.1. Process measurement</a:t>
            </a:r>
            <a:br>
              <a:rPr lang="en-US" dirty="0"/>
            </a:br>
            <a:r>
              <a:rPr lang="en-US" dirty="0"/>
              <a:t>	Collected measurement data can be collected e.g.    	number of changes resulting from review</a:t>
            </a:r>
          </a:p>
          <a:p>
            <a:pPr marL="0" indent="0">
              <a:buNone/>
            </a:pPr>
            <a:r>
              <a:rPr lang="en-US" sz="3200" b="1" dirty="0"/>
              <a:t>    4.2. Process control</a:t>
            </a:r>
            <a:br>
              <a:rPr lang="en-US" dirty="0"/>
            </a:br>
            <a:r>
              <a:rPr lang="en-US" dirty="0"/>
              <a:t>	Memos relating to management actions taken in the light 	of the above</a:t>
            </a:r>
          </a:p>
        </p:txBody>
      </p:sp>
    </p:spTree>
    <p:extLst>
      <p:ext uri="{BB962C8B-B14F-4D97-AF65-F5344CB8AC3E}">
        <p14:creationId xmlns:p14="http://schemas.microsoft.com/office/powerpoint/2010/main" val="13592180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ISO 15504 performance indicators 3</a:t>
            </a:r>
          </a:p>
        </p:txBody>
      </p:sp>
      <p:sp>
        <p:nvSpPr>
          <p:cNvPr id="4" name="Footer Placeholder 3"/>
          <p:cNvSpPr>
            <a:spLocks noGrp="1"/>
          </p:cNvSpPr>
          <p:nvPr>
            <p:ph type="ftr" sz="quarter" idx="11"/>
          </p:nvPr>
        </p:nvSpPr>
        <p:spPr/>
        <p:txBody>
          <a:bodyPr/>
          <a:lstStyle/>
          <a:p>
            <a:r>
              <a:rPr lang="en-US" dirty="0" err="1"/>
              <a:t>Ch13.2</a:t>
            </a:r>
            <a:r>
              <a:rPr lang="en-US" dirty="0"/>
              <a:t>. software product quality</a:t>
            </a:r>
          </a:p>
        </p:txBody>
      </p:sp>
      <p:sp>
        <p:nvSpPr>
          <p:cNvPr id="5" name="Slide Number Placeholder 4"/>
          <p:cNvSpPr>
            <a:spLocks noGrp="1"/>
          </p:cNvSpPr>
          <p:nvPr>
            <p:ph type="sldNum" sz="quarter" idx="4294967295"/>
          </p:nvPr>
        </p:nvSpPr>
        <p:spPr>
          <a:xfrm>
            <a:off x="11218863" y="6470650"/>
            <a:ext cx="973137" cy="274638"/>
          </a:xfrm>
          <a:prstGeom prst="rect">
            <a:avLst/>
          </a:prstGeom>
        </p:spPr>
        <p:txBody>
          <a:bodyPr/>
          <a:lstStyle/>
          <a:p>
            <a:fld id="{6A4D3DC4-9E7F-1C47-B729-896D53019E3D}" type="slidenum">
              <a:rPr lang="en-US" smtClean="0"/>
              <a:pPr/>
              <a:t>27</a:t>
            </a:fld>
            <a:endParaRPr lang="en-US"/>
          </a:p>
        </p:txBody>
      </p:sp>
      <p:sp>
        <p:nvSpPr>
          <p:cNvPr id="6" name="Content Placeholder 5">
            <a:extLst>
              <a:ext uri="{FF2B5EF4-FFF2-40B4-BE49-F238E27FC236}">
                <a16:creationId xmlns:a16="http://schemas.microsoft.com/office/drawing/2014/main" id="{637BC6DD-3D75-7D05-B9FC-D0D6DC848135}"/>
              </a:ext>
            </a:extLst>
          </p:cNvPr>
          <p:cNvSpPr>
            <a:spLocks noGrp="1"/>
          </p:cNvSpPr>
          <p:nvPr>
            <p:ph idx="1"/>
          </p:nvPr>
        </p:nvSpPr>
        <p:spPr>
          <a:xfrm>
            <a:off x="1014296" y="1528012"/>
            <a:ext cx="10371459" cy="4781349"/>
          </a:xfrm>
        </p:spPr>
        <p:txBody>
          <a:bodyPr>
            <a:normAutofit/>
          </a:bodyPr>
          <a:lstStyle/>
          <a:p>
            <a:pPr marL="0" indent="0">
              <a:buNone/>
            </a:pPr>
            <a:r>
              <a:rPr lang="en-US" dirty="0"/>
              <a:t>    </a:t>
            </a:r>
            <a:r>
              <a:rPr lang="en-US" b="1" dirty="0"/>
              <a:t>5.1 Process innovation</a:t>
            </a:r>
            <a:br>
              <a:rPr lang="en-US" dirty="0"/>
            </a:br>
            <a:r>
              <a:rPr lang="en-US" dirty="0"/>
              <a:t>	Existence of some kind of ‘lessons learnt’ report at the 	end of project</a:t>
            </a:r>
          </a:p>
          <a:p>
            <a:pPr marL="0" indent="0">
              <a:buNone/>
            </a:pPr>
            <a:r>
              <a:rPr lang="en-US" sz="3200" b="1" dirty="0"/>
              <a:t>    5.2. Process optimization</a:t>
            </a:r>
            <a:br>
              <a:rPr lang="en-US" dirty="0"/>
            </a:br>
            <a:r>
              <a:rPr lang="en-US" dirty="0"/>
              <a:t>	Existence of documents assessing the feasibility of 	suggested process improvements and which show 	consultation with relevant stakeholders</a:t>
            </a:r>
          </a:p>
        </p:txBody>
      </p:sp>
    </p:spTree>
    <p:extLst>
      <p:ext uri="{BB962C8B-B14F-4D97-AF65-F5344CB8AC3E}">
        <p14:creationId xmlns:p14="http://schemas.microsoft.com/office/powerpoint/2010/main" val="31462285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Techniques to improve quality -Inspections</a:t>
            </a:r>
          </a:p>
        </p:txBody>
      </p:sp>
      <p:sp>
        <p:nvSpPr>
          <p:cNvPr id="4" name="Footer Placeholder 3"/>
          <p:cNvSpPr>
            <a:spLocks noGrp="1"/>
          </p:cNvSpPr>
          <p:nvPr>
            <p:ph type="ftr" sz="quarter" idx="11"/>
          </p:nvPr>
        </p:nvSpPr>
        <p:spPr/>
        <p:txBody>
          <a:bodyPr/>
          <a:lstStyle/>
          <a:p>
            <a:r>
              <a:rPr lang="en-US" dirty="0" err="1"/>
              <a:t>Ch13.2</a:t>
            </a:r>
            <a:r>
              <a:rPr lang="en-US" dirty="0"/>
              <a:t>. software product quality</a:t>
            </a:r>
          </a:p>
        </p:txBody>
      </p:sp>
      <p:sp>
        <p:nvSpPr>
          <p:cNvPr id="5" name="Slide Number Placeholder 4"/>
          <p:cNvSpPr>
            <a:spLocks noGrp="1"/>
          </p:cNvSpPr>
          <p:nvPr>
            <p:ph type="sldNum" sz="quarter" idx="4294967295"/>
          </p:nvPr>
        </p:nvSpPr>
        <p:spPr>
          <a:xfrm>
            <a:off x="11218863" y="6470650"/>
            <a:ext cx="973137" cy="274638"/>
          </a:xfrm>
          <a:prstGeom prst="rect">
            <a:avLst/>
          </a:prstGeom>
        </p:spPr>
        <p:txBody>
          <a:bodyPr/>
          <a:lstStyle/>
          <a:p>
            <a:fld id="{6A4D3DC4-9E7F-1C47-B729-896D53019E3D}" type="slidenum">
              <a:rPr lang="en-US" smtClean="0"/>
              <a:pPr/>
              <a:t>28</a:t>
            </a:fld>
            <a:endParaRPr lang="en-US"/>
          </a:p>
        </p:txBody>
      </p:sp>
      <p:sp>
        <p:nvSpPr>
          <p:cNvPr id="6" name="Content Placeholder 5">
            <a:extLst>
              <a:ext uri="{FF2B5EF4-FFF2-40B4-BE49-F238E27FC236}">
                <a16:creationId xmlns:a16="http://schemas.microsoft.com/office/drawing/2014/main" id="{637BC6DD-3D75-7D05-B9FC-D0D6DC848135}"/>
              </a:ext>
            </a:extLst>
          </p:cNvPr>
          <p:cNvSpPr>
            <a:spLocks noGrp="1"/>
          </p:cNvSpPr>
          <p:nvPr>
            <p:ph idx="1"/>
          </p:nvPr>
        </p:nvSpPr>
        <p:spPr/>
        <p:txBody>
          <a:bodyPr>
            <a:normAutofit/>
          </a:bodyPr>
          <a:lstStyle/>
          <a:p>
            <a:r>
              <a:rPr lang="en-US" dirty="0"/>
              <a:t>When a piece of work is completed, copies are distributed to co-workers </a:t>
            </a:r>
          </a:p>
          <a:p>
            <a:r>
              <a:rPr lang="en-US" dirty="0"/>
              <a:t>Time is spent individually going through the work noting defects </a:t>
            </a:r>
          </a:p>
          <a:p>
            <a:r>
              <a:rPr lang="en-US" dirty="0"/>
              <a:t>A meeting is held where the work is then discussed </a:t>
            </a:r>
          </a:p>
          <a:p>
            <a:r>
              <a:rPr lang="en-US" dirty="0"/>
              <a:t>A list of defects requiring re-work is produced</a:t>
            </a:r>
            <a:endParaRPr lang="en-US" sz="3200" dirty="0"/>
          </a:p>
        </p:txBody>
      </p:sp>
    </p:spTree>
    <p:extLst>
      <p:ext uri="{BB962C8B-B14F-4D97-AF65-F5344CB8AC3E}">
        <p14:creationId xmlns:p14="http://schemas.microsoft.com/office/powerpoint/2010/main" val="33307925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Inspections - advantages of approach</a:t>
            </a:r>
          </a:p>
        </p:txBody>
      </p:sp>
      <p:sp>
        <p:nvSpPr>
          <p:cNvPr id="4" name="Footer Placeholder 3"/>
          <p:cNvSpPr>
            <a:spLocks noGrp="1"/>
          </p:cNvSpPr>
          <p:nvPr>
            <p:ph type="ftr" sz="quarter" idx="11"/>
          </p:nvPr>
        </p:nvSpPr>
        <p:spPr/>
        <p:txBody>
          <a:bodyPr/>
          <a:lstStyle/>
          <a:p>
            <a:r>
              <a:rPr lang="en-US" dirty="0" err="1"/>
              <a:t>Ch13.2</a:t>
            </a:r>
            <a:r>
              <a:rPr lang="en-US" dirty="0"/>
              <a:t>. software product quality</a:t>
            </a:r>
          </a:p>
        </p:txBody>
      </p:sp>
      <p:sp>
        <p:nvSpPr>
          <p:cNvPr id="5" name="Slide Number Placeholder 4"/>
          <p:cNvSpPr>
            <a:spLocks noGrp="1"/>
          </p:cNvSpPr>
          <p:nvPr>
            <p:ph type="sldNum" sz="quarter" idx="4294967295"/>
          </p:nvPr>
        </p:nvSpPr>
        <p:spPr>
          <a:xfrm>
            <a:off x="11218863" y="6470650"/>
            <a:ext cx="973137" cy="274638"/>
          </a:xfrm>
          <a:prstGeom prst="rect">
            <a:avLst/>
          </a:prstGeom>
        </p:spPr>
        <p:txBody>
          <a:bodyPr/>
          <a:lstStyle/>
          <a:p>
            <a:fld id="{6A4D3DC4-9E7F-1C47-B729-896D53019E3D}" type="slidenum">
              <a:rPr lang="en-US" smtClean="0"/>
              <a:pPr/>
              <a:t>29</a:t>
            </a:fld>
            <a:endParaRPr lang="en-US"/>
          </a:p>
        </p:txBody>
      </p:sp>
      <p:sp>
        <p:nvSpPr>
          <p:cNvPr id="6" name="Content Placeholder 5">
            <a:extLst>
              <a:ext uri="{FF2B5EF4-FFF2-40B4-BE49-F238E27FC236}">
                <a16:creationId xmlns:a16="http://schemas.microsoft.com/office/drawing/2014/main" id="{637BC6DD-3D75-7D05-B9FC-D0D6DC848135}"/>
              </a:ext>
            </a:extLst>
          </p:cNvPr>
          <p:cNvSpPr>
            <a:spLocks noGrp="1"/>
          </p:cNvSpPr>
          <p:nvPr>
            <p:ph idx="1"/>
          </p:nvPr>
        </p:nvSpPr>
        <p:spPr/>
        <p:txBody>
          <a:bodyPr>
            <a:normAutofit/>
          </a:bodyPr>
          <a:lstStyle/>
          <a:p>
            <a:r>
              <a:rPr lang="en-US" dirty="0"/>
              <a:t>an effective way of removing superficial errors from a piece of software </a:t>
            </a:r>
          </a:p>
          <a:p>
            <a:r>
              <a:rPr lang="en-US" dirty="0"/>
              <a:t>motivates the software developer to produce better structured and self-descriptive code </a:t>
            </a:r>
          </a:p>
          <a:p>
            <a:r>
              <a:rPr lang="en-US" dirty="0"/>
              <a:t>spreads good programming practice </a:t>
            </a:r>
          </a:p>
          <a:p>
            <a:r>
              <a:rPr lang="en-US" dirty="0"/>
              <a:t>enhances team-spirit </a:t>
            </a:r>
          </a:p>
          <a:p>
            <a:r>
              <a:rPr lang="en-US" dirty="0"/>
              <a:t>the main problem maintaining the commitment of participants</a:t>
            </a:r>
            <a:endParaRPr lang="en-US" sz="3200" dirty="0"/>
          </a:p>
        </p:txBody>
      </p:sp>
    </p:spTree>
    <p:extLst>
      <p:ext uri="{BB962C8B-B14F-4D97-AF65-F5344CB8AC3E}">
        <p14:creationId xmlns:p14="http://schemas.microsoft.com/office/powerpoint/2010/main" val="36756823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‘Clean-room’ software development</a:t>
            </a:r>
          </a:p>
        </p:txBody>
      </p:sp>
      <p:sp>
        <p:nvSpPr>
          <p:cNvPr id="4" name="Footer Placeholder 3"/>
          <p:cNvSpPr>
            <a:spLocks noGrp="1"/>
          </p:cNvSpPr>
          <p:nvPr>
            <p:ph type="ftr" sz="quarter" idx="11"/>
          </p:nvPr>
        </p:nvSpPr>
        <p:spPr/>
        <p:txBody>
          <a:bodyPr/>
          <a:lstStyle/>
          <a:p>
            <a:r>
              <a:rPr lang="en-US" dirty="0" err="1"/>
              <a:t>Ch13.2</a:t>
            </a:r>
            <a:r>
              <a:rPr lang="en-US" dirty="0"/>
              <a:t>. software product quality</a:t>
            </a:r>
          </a:p>
        </p:txBody>
      </p:sp>
      <p:sp>
        <p:nvSpPr>
          <p:cNvPr id="5" name="Slide Number Placeholder 4"/>
          <p:cNvSpPr>
            <a:spLocks noGrp="1"/>
          </p:cNvSpPr>
          <p:nvPr>
            <p:ph type="sldNum" sz="quarter" idx="4294967295"/>
          </p:nvPr>
        </p:nvSpPr>
        <p:spPr>
          <a:xfrm>
            <a:off x="11218863" y="6470650"/>
            <a:ext cx="973137" cy="274638"/>
          </a:xfrm>
          <a:prstGeom prst="rect">
            <a:avLst/>
          </a:prstGeom>
        </p:spPr>
        <p:txBody>
          <a:bodyPr/>
          <a:lstStyle/>
          <a:p>
            <a:fld id="{6A4D3DC4-9E7F-1C47-B729-896D53019E3D}" type="slidenum">
              <a:rPr lang="en-US" smtClean="0"/>
              <a:pPr/>
              <a:t>30</a:t>
            </a:fld>
            <a:endParaRPr lang="en-US"/>
          </a:p>
        </p:txBody>
      </p:sp>
      <p:sp>
        <p:nvSpPr>
          <p:cNvPr id="6" name="Content Placeholder 5">
            <a:extLst>
              <a:ext uri="{FF2B5EF4-FFF2-40B4-BE49-F238E27FC236}">
                <a16:creationId xmlns:a16="http://schemas.microsoft.com/office/drawing/2014/main" id="{637BC6DD-3D75-7D05-B9FC-D0D6DC848135}"/>
              </a:ext>
            </a:extLst>
          </p:cNvPr>
          <p:cNvSpPr>
            <a:spLocks noGrp="1"/>
          </p:cNvSpPr>
          <p:nvPr>
            <p:ph idx="1"/>
          </p:nvPr>
        </p:nvSpPr>
        <p:spPr/>
        <p:txBody>
          <a:bodyPr>
            <a:normAutofit/>
          </a:bodyPr>
          <a:lstStyle/>
          <a:p>
            <a:pPr marL="0" indent="0">
              <a:buNone/>
            </a:pPr>
            <a:r>
              <a:rPr lang="en-US" dirty="0"/>
              <a:t>Ideas associated with Harlan Mills at IBM </a:t>
            </a:r>
          </a:p>
          <a:p>
            <a:r>
              <a:rPr lang="en-US" dirty="0"/>
              <a:t>Three separate teams: </a:t>
            </a:r>
          </a:p>
          <a:p>
            <a:pPr lvl="1"/>
            <a:r>
              <a:rPr lang="en-US" sz="3200" dirty="0"/>
              <a:t>Specification team – documents user requirements and usage profiles (how much use each function will have) </a:t>
            </a:r>
          </a:p>
          <a:p>
            <a:pPr lvl="1"/>
            <a:r>
              <a:rPr lang="en-US" sz="3200" dirty="0"/>
              <a:t>Development team – develops code but does not test it. Uses mathematical verification techniques </a:t>
            </a:r>
          </a:p>
          <a:p>
            <a:pPr lvl="1"/>
            <a:r>
              <a:rPr lang="en-US" sz="3200" dirty="0"/>
              <a:t>Certification team – tests code. Statistical model used to decide when to stop</a:t>
            </a:r>
          </a:p>
        </p:txBody>
      </p:sp>
    </p:spTree>
    <p:extLst>
      <p:ext uri="{BB962C8B-B14F-4D97-AF65-F5344CB8AC3E}">
        <p14:creationId xmlns:p14="http://schemas.microsoft.com/office/powerpoint/2010/main" val="17122022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Formal methods</a:t>
            </a:r>
          </a:p>
        </p:txBody>
      </p:sp>
      <p:sp>
        <p:nvSpPr>
          <p:cNvPr id="4" name="Footer Placeholder 3"/>
          <p:cNvSpPr>
            <a:spLocks noGrp="1"/>
          </p:cNvSpPr>
          <p:nvPr>
            <p:ph type="ftr" sz="quarter" idx="11"/>
          </p:nvPr>
        </p:nvSpPr>
        <p:spPr/>
        <p:txBody>
          <a:bodyPr/>
          <a:lstStyle/>
          <a:p>
            <a:r>
              <a:rPr lang="en-US" dirty="0" err="1"/>
              <a:t>Ch13.2</a:t>
            </a:r>
            <a:r>
              <a:rPr lang="en-US" dirty="0"/>
              <a:t>. software product quality</a:t>
            </a:r>
          </a:p>
        </p:txBody>
      </p:sp>
      <p:sp>
        <p:nvSpPr>
          <p:cNvPr id="5" name="Slide Number Placeholder 4"/>
          <p:cNvSpPr>
            <a:spLocks noGrp="1"/>
          </p:cNvSpPr>
          <p:nvPr>
            <p:ph type="sldNum" sz="quarter" idx="4294967295"/>
          </p:nvPr>
        </p:nvSpPr>
        <p:spPr>
          <a:xfrm>
            <a:off x="11218863" y="6470650"/>
            <a:ext cx="973137" cy="274638"/>
          </a:xfrm>
          <a:prstGeom prst="rect">
            <a:avLst/>
          </a:prstGeom>
        </p:spPr>
        <p:txBody>
          <a:bodyPr/>
          <a:lstStyle/>
          <a:p>
            <a:fld id="{6A4D3DC4-9E7F-1C47-B729-896D53019E3D}" type="slidenum">
              <a:rPr lang="en-US" smtClean="0"/>
              <a:pPr/>
              <a:t>31</a:t>
            </a:fld>
            <a:endParaRPr lang="en-US"/>
          </a:p>
        </p:txBody>
      </p:sp>
      <p:sp>
        <p:nvSpPr>
          <p:cNvPr id="6" name="Content Placeholder 5">
            <a:extLst>
              <a:ext uri="{FF2B5EF4-FFF2-40B4-BE49-F238E27FC236}">
                <a16:creationId xmlns:a16="http://schemas.microsoft.com/office/drawing/2014/main" id="{637BC6DD-3D75-7D05-B9FC-D0D6DC848135}"/>
              </a:ext>
            </a:extLst>
          </p:cNvPr>
          <p:cNvSpPr>
            <a:spLocks noGrp="1"/>
          </p:cNvSpPr>
          <p:nvPr>
            <p:ph idx="1"/>
          </p:nvPr>
        </p:nvSpPr>
        <p:spPr>
          <a:xfrm>
            <a:off x="1024128" y="1311443"/>
            <a:ext cx="10786872" cy="4781349"/>
          </a:xfrm>
        </p:spPr>
        <p:txBody>
          <a:bodyPr>
            <a:normAutofit/>
          </a:bodyPr>
          <a:lstStyle/>
          <a:p>
            <a:r>
              <a:rPr lang="en-US" dirty="0"/>
              <a:t>Use of mathematical notations such as </a:t>
            </a:r>
            <a:r>
              <a:rPr lang="en-US" dirty="0" err="1"/>
              <a:t>VDM</a:t>
            </a:r>
            <a:r>
              <a:rPr lang="en-US" dirty="0"/>
              <a:t> and Z to produce unambiguous specifications </a:t>
            </a:r>
          </a:p>
          <a:p>
            <a:r>
              <a:rPr lang="en-US" dirty="0"/>
              <a:t>Can prove correctness of software mathematically (cf. geometric proofs of Pythagoras’ theorem) </a:t>
            </a:r>
          </a:p>
          <a:p>
            <a:r>
              <a:rPr lang="en-US" dirty="0"/>
              <a:t>Newer approach use Object Constraint Language (</a:t>
            </a:r>
            <a:r>
              <a:rPr lang="en-US" dirty="0" err="1"/>
              <a:t>OCL</a:t>
            </a:r>
            <a:r>
              <a:rPr lang="en-US" dirty="0"/>
              <a:t>) to add detail to UML models </a:t>
            </a:r>
          </a:p>
          <a:p>
            <a:r>
              <a:rPr lang="en-US" dirty="0"/>
              <a:t>Aspiration is to be able to generate applications directly from </a:t>
            </a:r>
            <a:r>
              <a:rPr lang="en-US" dirty="0" err="1"/>
              <a:t>UML+OCL</a:t>
            </a:r>
            <a:r>
              <a:rPr lang="en-US" dirty="0"/>
              <a:t> without manual coding – Model Driven Architectures (MDA)</a:t>
            </a:r>
            <a:endParaRPr lang="en-US" sz="3200" dirty="0"/>
          </a:p>
        </p:txBody>
      </p:sp>
    </p:spTree>
    <p:extLst>
      <p:ext uri="{BB962C8B-B14F-4D97-AF65-F5344CB8AC3E}">
        <p14:creationId xmlns:p14="http://schemas.microsoft.com/office/powerpoint/2010/main" val="35764366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Testing: the V-process model</a:t>
            </a:r>
          </a:p>
        </p:txBody>
      </p:sp>
      <p:sp>
        <p:nvSpPr>
          <p:cNvPr id="4" name="Footer Placeholder 3"/>
          <p:cNvSpPr>
            <a:spLocks noGrp="1"/>
          </p:cNvSpPr>
          <p:nvPr>
            <p:ph type="ftr" sz="quarter" idx="11"/>
          </p:nvPr>
        </p:nvSpPr>
        <p:spPr/>
        <p:txBody>
          <a:bodyPr/>
          <a:lstStyle/>
          <a:p>
            <a:r>
              <a:rPr lang="en-US" dirty="0" err="1"/>
              <a:t>Ch13.2</a:t>
            </a:r>
            <a:r>
              <a:rPr lang="en-US" dirty="0"/>
              <a:t>. software product quality</a:t>
            </a:r>
          </a:p>
        </p:txBody>
      </p:sp>
      <p:sp>
        <p:nvSpPr>
          <p:cNvPr id="5" name="Slide Number Placeholder 4"/>
          <p:cNvSpPr>
            <a:spLocks noGrp="1"/>
          </p:cNvSpPr>
          <p:nvPr>
            <p:ph type="sldNum" sz="quarter" idx="4294967295"/>
          </p:nvPr>
        </p:nvSpPr>
        <p:spPr>
          <a:xfrm>
            <a:off x="11218863" y="6470650"/>
            <a:ext cx="973137" cy="274638"/>
          </a:xfrm>
          <a:prstGeom prst="rect">
            <a:avLst/>
          </a:prstGeom>
        </p:spPr>
        <p:txBody>
          <a:bodyPr/>
          <a:lstStyle/>
          <a:p>
            <a:fld id="{6A4D3DC4-9E7F-1C47-B729-896D53019E3D}" type="slidenum">
              <a:rPr lang="en-US" smtClean="0"/>
              <a:pPr/>
              <a:t>32</a:t>
            </a:fld>
            <a:endParaRPr lang="en-US"/>
          </a:p>
        </p:txBody>
      </p:sp>
      <p:sp>
        <p:nvSpPr>
          <p:cNvPr id="6" name="Content Placeholder 5">
            <a:extLst>
              <a:ext uri="{FF2B5EF4-FFF2-40B4-BE49-F238E27FC236}">
                <a16:creationId xmlns:a16="http://schemas.microsoft.com/office/drawing/2014/main" id="{637BC6DD-3D75-7D05-B9FC-D0D6DC848135}"/>
              </a:ext>
            </a:extLst>
          </p:cNvPr>
          <p:cNvSpPr>
            <a:spLocks noGrp="1"/>
          </p:cNvSpPr>
          <p:nvPr>
            <p:ph idx="1"/>
          </p:nvPr>
        </p:nvSpPr>
        <p:spPr/>
        <p:txBody>
          <a:bodyPr>
            <a:normAutofit/>
          </a:bodyPr>
          <a:lstStyle/>
          <a:p>
            <a:r>
              <a:rPr lang="en-US" dirty="0"/>
              <a:t>This shown diagrammatically on the next slide </a:t>
            </a:r>
          </a:p>
          <a:p>
            <a:r>
              <a:rPr lang="en-US" dirty="0"/>
              <a:t>It is an extension of the waterfall approach </a:t>
            </a:r>
          </a:p>
          <a:p>
            <a:r>
              <a:rPr lang="en-US" dirty="0"/>
              <a:t>For each development stage there is a testing stage </a:t>
            </a:r>
          </a:p>
          <a:p>
            <a:r>
              <a:rPr lang="en-US" dirty="0"/>
              <a:t>The testing associated with different stages serves different purposes e.g. system testing tests that components work together correctly, user acceptance testing that users can use system to carry out their work</a:t>
            </a:r>
          </a:p>
        </p:txBody>
      </p:sp>
    </p:spTree>
    <p:extLst>
      <p:ext uri="{BB962C8B-B14F-4D97-AF65-F5344CB8AC3E}">
        <p14:creationId xmlns:p14="http://schemas.microsoft.com/office/powerpoint/2010/main" val="24334381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Testing: the v-process model</a:t>
            </a:r>
          </a:p>
        </p:txBody>
      </p:sp>
      <p:sp>
        <p:nvSpPr>
          <p:cNvPr id="4" name="Footer Placeholder 3"/>
          <p:cNvSpPr>
            <a:spLocks noGrp="1"/>
          </p:cNvSpPr>
          <p:nvPr>
            <p:ph type="ftr" sz="quarter" idx="11"/>
          </p:nvPr>
        </p:nvSpPr>
        <p:spPr/>
        <p:txBody>
          <a:bodyPr/>
          <a:lstStyle/>
          <a:p>
            <a:r>
              <a:rPr lang="en-US" dirty="0" err="1"/>
              <a:t>Ch13.2</a:t>
            </a:r>
            <a:r>
              <a:rPr lang="en-US" dirty="0"/>
              <a:t>. software product quality</a:t>
            </a:r>
          </a:p>
        </p:txBody>
      </p:sp>
      <p:sp>
        <p:nvSpPr>
          <p:cNvPr id="5" name="Slide Number Placeholder 4"/>
          <p:cNvSpPr>
            <a:spLocks noGrp="1"/>
          </p:cNvSpPr>
          <p:nvPr>
            <p:ph type="sldNum" sz="quarter" idx="4294967295"/>
          </p:nvPr>
        </p:nvSpPr>
        <p:spPr>
          <a:xfrm>
            <a:off x="11218863" y="6470650"/>
            <a:ext cx="973137" cy="274638"/>
          </a:xfrm>
          <a:prstGeom prst="rect">
            <a:avLst/>
          </a:prstGeom>
        </p:spPr>
        <p:txBody>
          <a:bodyPr/>
          <a:lstStyle/>
          <a:p>
            <a:fld id="{6A4D3DC4-9E7F-1C47-B729-896D53019E3D}" type="slidenum">
              <a:rPr lang="en-US" smtClean="0"/>
              <a:pPr/>
              <a:t>33</a:t>
            </a:fld>
            <a:endParaRPr lang="en-US"/>
          </a:p>
        </p:txBody>
      </p:sp>
      <p:pic>
        <p:nvPicPr>
          <p:cNvPr id="7" name="Content Placeholder 6">
            <a:extLst>
              <a:ext uri="{FF2B5EF4-FFF2-40B4-BE49-F238E27FC236}">
                <a16:creationId xmlns:a16="http://schemas.microsoft.com/office/drawing/2014/main" id="{775D7995-3226-1F59-7273-DE0A1E7961B9}"/>
              </a:ext>
            </a:extLst>
          </p:cNvPr>
          <p:cNvPicPr>
            <a:picLocks noGrp="1" noChangeAspect="1"/>
          </p:cNvPicPr>
          <p:nvPr>
            <p:ph idx="1"/>
          </p:nvPr>
        </p:nvPicPr>
        <p:blipFill>
          <a:blip r:embed="rId3"/>
          <a:stretch>
            <a:fillRect/>
          </a:stretch>
        </p:blipFill>
        <p:spPr>
          <a:xfrm>
            <a:off x="3005129" y="1311443"/>
            <a:ext cx="6824865" cy="4779962"/>
          </a:xfrm>
        </p:spPr>
      </p:pic>
    </p:spTree>
    <p:extLst>
      <p:ext uri="{BB962C8B-B14F-4D97-AF65-F5344CB8AC3E}">
        <p14:creationId xmlns:p14="http://schemas.microsoft.com/office/powerpoint/2010/main" val="36139451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Black box versus glass box test</a:t>
            </a:r>
          </a:p>
        </p:txBody>
      </p:sp>
      <p:sp>
        <p:nvSpPr>
          <p:cNvPr id="4" name="Footer Placeholder 3"/>
          <p:cNvSpPr>
            <a:spLocks noGrp="1"/>
          </p:cNvSpPr>
          <p:nvPr>
            <p:ph type="ftr" sz="quarter" idx="11"/>
          </p:nvPr>
        </p:nvSpPr>
        <p:spPr/>
        <p:txBody>
          <a:bodyPr/>
          <a:lstStyle/>
          <a:p>
            <a:r>
              <a:rPr lang="en-US" dirty="0" err="1"/>
              <a:t>Ch13.2</a:t>
            </a:r>
            <a:r>
              <a:rPr lang="en-US" dirty="0"/>
              <a:t>. software product quality</a:t>
            </a:r>
          </a:p>
        </p:txBody>
      </p:sp>
      <p:sp>
        <p:nvSpPr>
          <p:cNvPr id="5" name="Slide Number Placeholder 4"/>
          <p:cNvSpPr>
            <a:spLocks noGrp="1"/>
          </p:cNvSpPr>
          <p:nvPr>
            <p:ph type="sldNum" sz="quarter" idx="4294967295"/>
          </p:nvPr>
        </p:nvSpPr>
        <p:spPr>
          <a:xfrm>
            <a:off x="11218863" y="6470650"/>
            <a:ext cx="973137" cy="274638"/>
          </a:xfrm>
          <a:prstGeom prst="rect">
            <a:avLst/>
          </a:prstGeom>
        </p:spPr>
        <p:txBody>
          <a:bodyPr/>
          <a:lstStyle/>
          <a:p>
            <a:fld id="{6A4D3DC4-9E7F-1C47-B729-896D53019E3D}" type="slidenum">
              <a:rPr lang="en-US" smtClean="0"/>
              <a:pPr/>
              <a:t>34</a:t>
            </a:fld>
            <a:endParaRPr lang="en-US"/>
          </a:p>
        </p:txBody>
      </p:sp>
      <p:sp>
        <p:nvSpPr>
          <p:cNvPr id="6" name="Content Placeholder 5">
            <a:extLst>
              <a:ext uri="{FF2B5EF4-FFF2-40B4-BE49-F238E27FC236}">
                <a16:creationId xmlns:a16="http://schemas.microsoft.com/office/drawing/2014/main" id="{637BC6DD-3D75-7D05-B9FC-D0D6DC848135}"/>
              </a:ext>
            </a:extLst>
          </p:cNvPr>
          <p:cNvSpPr>
            <a:spLocks noGrp="1"/>
          </p:cNvSpPr>
          <p:nvPr>
            <p:ph idx="1"/>
          </p:nvPr>
        </p:nvSpPr>
        <p:spPr/>
        <p:txBody>
          <a:bodyPr>
            <a:normAutofit/>
          </a:bodyPr>
          <a:lstStyle/>
          <a:p>
            <a:r>
              <a:rPr lang="en-US" dirty="0"/>
              <a:t>Glass box testing </a:t>
            </a:r>
          </a:p>
          <a:p>
            <a:pPr lvl="1"/>
            <a:r>
              <a:rPr lang="en-US" sz="3200" dirty="0"/>
              <a:t>The tester is aware of the internal structure of the code; can test each path; can assess percentage test coverage of the tests e.g. proportion of code that has been executed </a:t>
            </a:r>
          </a:p>
          <a:p>
            <a:r>
              <a:rPr lang="en-US" dirty="0"/>
              <a:t>Black box testing </a:t>
            </a:r>
          </a:p>
          <a:p>
            <a:pPr lvl="1"/>
            <a:r>
              <a:rPr lang="en-US" sz="3200" dirty="0"/>
              <a:t>The tester is not aware of internal structure; concerned with degree to which it meets user requirements</a:t>
            </a:r>
          </a:p>
        </p:txBody>
      </p:sp>
    </p:spTree>
    <p:extLst>
      <p:ext uri="{BB962C8B-B14F-4D97-AF65-F5344CB8AC3E}">
        <p14:creationId xmlns:p14="http://schemas.microsoft.com/office/powerpoint/2010/main" val="35916768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Test plans</a:t>
            </a:r>
          </a:p>
        </p:txBody>
      </p:sp>
      <p:sp>
        <p:nvSpPr>
          <p:cNvPr id="4" name="Footer Placeholder 3"/>
          <p:cNvSpPr>
            <a:spLocks noGrp="1"/>
          </p:cNvSpPr>
          <p:nvPr>
            <p:ph type="ftr" sz="quarter" idx="11"/>
          </p:nvPr>
        </p:nvSpPr>
        <p:spPr/>
        <p:txBody>
          <a:bodyPr/>
          <a:lstStyle/>
          <a:p>
            <a:r>
              <a:rPr lang="en-US" dirty="0" err="1"/>
              <a:t>Ch13.2</a:t>
            </a:r>
            <a:r>
              <a:rPr lang="en-US" dirty="0"/>
              <a:t>. software product quality</a:t>
            </a:r>
          </a:p>
        </p:txBody>
      </p:sp>
      <p:sp>
        <p:nvSpPr>
          <p:cNvPr id="5" name="Slide Number Placeholder 4"/>
          <p:cNvSpPr>
            <a:spLocks noGrp="1"/>
          </p:cNvSpPr>
          <p:nvPr>
            <p:ph type="sldNum" sz="quarter" idx="4294967295"/>
          </p:nvPr>
        </p:nvSpPr>
        <p:spPr>
          <a:xfrm>
            <a:off x="11218863" y="6470650"/>
            <a:ext cx="973137" cy="274638"/>
          </a:xfrm>
          <a:prstGeom prst="rect">
            <a:avLst/>
          </a:prstGeom>
        </p:spPr>
        <p:txBody>
          <a:bodyPr/>
          <a:lstStyle/>
          <a:p>
            <a:fld id="{6A4D3DC4-9E7F-1C47-B729-896D53019E3D}" type="slidenum">
              <a:rPr lang="en-US" smtClean="0"/>
              <a:pPr/>
              <a:t>35</a:t>
            </a:fld>
            <a:endParaRPr lang="en-US"/>
          </a:p>
        </p:txBody>
      </p:sp>
      <p:sp>
        <p:nvSpPr>
          <p:cNvPr id="6" name="Content Placeholder 5">
            <a:extLst>
              <a:ext uri="{FF2B5EF4-FFF2-40B4-BE49-F238E27FC236}">
                <a16:creationId xmlns:a16="http://schemas.microsoft.com/office/drawing/2014/main" id="{637BC6DD-3D75-7D05-B9FC-D0D6DC848135}"/>
              </a:ext>
            </a:extLst>
          </p:cNvPr>
          <p:cNvSpPr>
            <a:spLocks noGrp="1"/>
          </p:cNvSpPr>
          <p:nvPr>
            <p:ph idx="1"/>
          </p:nvPr>
        </p:nvSpPr>
        <p:spPr/>
        <p:txBody>
          <a:bodyPr>
            <a:normAutofit/>
          </a:bodyPr>
          <a:lstStyle/>
          <a:p>
            <a:r>
              <a:rPr lang="en-US" dirty="0"/>
              <a:t>Specify test environment </a:t>
            </a:r>
          </a:p>
          <a:p>
            <a:pPr lvl="1"/>
            <a:r>
              <a:rPr lang="en-US" sz="3200" dirty="0"/>
              <a:t>In many cases, especially with software that controls equipment, a special test system will need to be set up </a:t>
            </a:r>
          </a:p>
          <a:p>
            <a:r>
              <a:rPr lang="en-US" dirty="0"/>
              <a:t>Usage profile </a:t>
            </a:r>
          </a:p>
          <a:p>
            <a:pPr lvl="1"/>
            <a:r>
              <a:rPr lang="en-US" sz="3200" dirty="0"/>
              <a:t>Failures in operational system more likely in the more heavily used components </a:t>
            </a:r>
          </a:p>
          <a:p>
            <a:pPr lvl="1"/>
            <a:r>
              <a:rPr lang="en-US" sz="3200" dirty="0"/>
              <a:t>Faults in less used parts can lie hidden for a long time </a:t>
            </a:r>
          </a:p>
          <a:p>
            <a:pPr lvl="1"/>
            <a:r>
              <a:rPr lang="en-US" sz="3200" dirty="0"/>
              <a:t>Testing heavily used components more thoroughly tends to reduce number of operational failures</a:t>
            </a:r>
          </a:p>
        </p:txBody>
      </p:sp>
    </p:spTree>
    <p:extLst>
      <p:ext uri="{BB962C8B-B14F-4D97-AF65-F5344CB8AC3E}">
        <p14:creationId xmlns:p14="http://schemas.microsoft.com/office/powerpoint/2010/main" val="9229904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Management of testing</a:t>
            </a:r>
          </a:p>
        </p:txBody>
      </p:sp>
      <p:sp>
        <p:nvSpPr>
          <p:cNvPr id="4" name="Footer Placeholder 3"/>
          <p:cNvSpPr>
            <a:spLocks noGrp="1"/>
          </p:cNvSpPr>
          <p:nvPr>
            <p:ph type="ftr" sz="quarter" idx="11"/>
          </p:nvPr>
        </p:nvSpPr>
        <p:spPr/>
        <p:txBody>
          <a:bodyPr/>
          <a:lstStyle/>
          <a:p>
            <a:r>
              <a:rPr lang="en-US" dirty="0" err="1"/>
              <a:t>Ch13.2</a:t>
            </a:r>
            <a:r>
              <a:rPr lang="en-US" dirty="0"/>
              <a:t>. software product quality</a:t>
            </a:r>
          </a:p>
        </p:txBody>
      </p:sp>
      <p:sp>
        <p:nvSpPr>
          <p:cNvPr id="5" name="Slide Number Placeholder 4"/>
          <p:cNvSpPr>
            <a:spLocks noGrp="1"/>
          </p:cNvSpPr>
          <p:nvPr>
            <p:ph type="sldNum" sz="quarter" idx="4294967295"/>
          </p:nvPr>
        </p:nvSpPr>
        <p:spPr>
          <a:xfrm>
            <a:off x="11218863" y="6470650"/>
            <a:ext cx="973137" cy="274638"/>
          </a:xfrm>
          <a:prstGeom prst="rect">
            <a:avLst/>
          </a:prstGeom>
        </p:spPr>
        <p:txBody>
          <a:bodyPr/>
          <a:lstStyle/>
          <a:p>
            <a:fld id="{6A4D3DC4-9E7F-1C47-B729-896D53019E3D}" type="slidenum">
              <a:rPr lang="en-US" smtClean="0"/>
              <a:pPr/>
              <a:t>36</a:t>
            </a:fld>
            <a:endParaRPr lang="en-US"/>
          </a:p>
        </p:txBody>
      </p:sp>
      <p:sp>
        <p:nvSpPr>
          <p:cNvPr id="6" name="Content Placeholder 5">
            <a:extLst>
              <a:ext uri="{FF2B5EF4-FFF2-40B4-BE49-F238E27FC236}">
                <a16:creationId xmlns:a16="http://schemas.microsoft.com/office/drawing/2014/main" id="{637BC6DD-3D75-7D05-B9FC-D0D6DC848135}"/>
              </a:ext>
            </a:extLst>
          </p:cNvPr>
          <p:cNvSpPr>
            <a:spLocks noGrp="1"/>
          </p:cNvSpPr>
          <p:nvPr>
            <p:ph idx="1"/>
          </p:nvPr>
        </p:nvSpPr>
        <p:spPr/>
        <p:txBody>
          <a:bodyPr>
            <a:normAutofit/>
          </a:bodyPr>
          <a:lstStyle/>
          <a:p>
            <a:pPr marL="0" indent="0">
              <a:buNone/>
            </a:pPr>
            <a:r>
              <a:rPr lang="en-US" dirty="0"/>
              <a:t>The tester executes test cases and may as a result find discrepancies between actual results and expected results – issues </a:t>
            </a:r>
          </a:p>
          <a:p>
            <a:pPr marL="0" indent="0">
              <a:buNone/>
            </a:pPr>
            <a:r>
              <a:rPr lang="en-US" dirty="0"/>
              <a:t>Issue resolution – could be: </a:t>
            </a:r>
          </a:p>
          <a:p>
            <a:r>
              <a:rPr lang="en-US" dirty="0"/>
              <a:t>a mistake by tester </a:t>
            </a:r>
          </a:p>
          <a:p>
            <a:r>
              <a:rPr lang="en-US" dirty="0"/>
              <a:t>a fault – needs correction </a:t>
            </a:r>
          </a:p>
          <a:p>
            <a:r>
              <a:rPr lang="en-US" dirty="0"/>
              <a:t>a fault – may decide not to correct: off-specification </a:t>
            </a:r>
          </a:p>
          <a:p>
            <a:r>
              <a:rPr lang="en-US" dirty="0"/>
              <a:t>a change – software works as specified, but specification wrong: submit to change control</a:t>
            </a:r>
          </a:p>
        </p:txBody>
      </p:sp>
    </p:spTree>
    <p:extLst>
      <p:ext uri="{BB962C8B-B14F-4D97-AF65-F5344CB8AC3E}">
        <p14:creationId xmlns:p14="http://schemas.microsoft.com/office/powerpoint/2010/main" val="9443840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Decision to stop testing</a:t>
            </a:r>
          </a:p>
        </p:txBody>
      </p:sp>
      <p:sp>
        <p:nvSpPr>
          <p:cNvPr id="4" name="Footer Placeholder 3"/>
          <p:cNvSpPr>
            <a:spLocks noGrp="1"/>
          </p:cNvSpPr>
          <p:nvPr>
            <p:ph type="ftr" sz="quarter" idx="11"/>
          </p:nvPr>
        </p:nvSpPr>
        <p:spPr/>
        <p:txBody>
          <a:bodyPr/>
          <a:lstStyle/>
          <a:p>
            <a:r>
              <a:rPr lang="en-US" dirty="0" err="1"/>
              <a:t>Ch13.2</a:t>
            </a:r>
            <a:r>
              <a:rPr lang="en-US" dirty="0"/>
              <a:t>. software product quality</a:t>
            </a:r>
          </a:p>
        </p:txBody>
      </p:sp>
      <p:sp>
        <p:nvSpPr>
          <p:cNvPr id="5" name="Slide Number Placeholder 4"/>
          <p:cNvSpPr>
            <a:spLocks noGrp="1"/>
          </p:cNvSpPr>
          <p:nvPr>
            <p:ph type="sldNum" sz="quarter" idx="4294967295"/>
          </p:nvPr>
        </p:nvSpPr>
        <p:spPr>
          <a:xfrm>
            <a:off x="11218863" y="6470650"/>
            <a:ext cx="973137" cy="274638"/>
          </a:xfrm>
          <a:prstGeom prst="rect">
            <a:avLst/>
          </a:prstGeom>
        </p:spPr>
        <p:txBody>
          <a:bodyPr/>
          <a:lstStyle/>
          <a:p>
            <a:fld id="{6A4D3DC4-9E7F-1C47-B729-896D53019E3D}" type="slidenum">
              <a:rPr lang="en-US" smtClean="0"/>
              <a:pPr/>
              <a:t>37</a:t>
            </a:fld>
            <a:endParaRPr lang="en-US"/>
          </a:p>
        </p:txBody>
      </p:sp>
      <p:sp>
        <p:nvSpPr>
          <p:cNvPr id="6" name="Content Placeholder 5">
            <a:extLst>
              <a:ext uri="{FF2B5EF4-FFF2-40B4-BE49-F238E27FC236}">
                <a16:creationId xmlns:a16="http://schemas.microsoft.com/office/drawing/2014/main" id="{637BC6DD-3D75-7D05-B9FC-D0D6DC848135}"/>
              </a:ext>
            </a:extLst>
          </p:cNvPr>
          <p:cNvSpPr>
            <a:spLocks noGrp="1"/>
          </p:cNvSpPr>
          <p:nvPr>
            <p:ph idx="1"/>
          </p:nvPr>
        </p:nvSpPr>
        <p:spPr/>
        <p:txBody>
          <a:bodyPr>
            <a:normAutofit/>
          </a:bodyPr>
          <a:lstStyle/>
          <a:p>
            <a:pPr marL="0" indent="0">
              <a:buNone/>
            </a:pPr>
            <a:r>
              <a:rPr lang="en-US" dirty="0"/>
              <a:t>The problem: impossible to know there are no more errors in code </a:t>
            </a:r>
          </a:p>
          <a:p>
            <a:pPr marL="0" indent="0">
              <a:buNone/>
            </a:pPr>
            <a:r>
              <a:rPr lang="en-US" dirty="0"/>
              <a:t>Need to estimate how many errors are likely to be left </a:t>
            </a:r>
          </a:p>
          <a:p>
            <a:pPr marL="0" indent="0">
              <a:buNone/>
            </a:pPr>
            <a:r>
              <a:rPr lang="en-US" dirty="0"/>
              <a:t>Bug seeding – insert (or leave) known bugs in code </a:t>
            </a:r>
          </a:p>
          <a:p>
            <a:pPr marL="0" indent="0">
              <a:buNone/>
            </a:pPr>
            <a:r>
              <a:rPr lang="en-US" dirty="0"/>
              <a:t>Estimate of bugs left = (total errors found)/(seeded errors found) x (total seeded errors)</a:t>
            </a:r>
          </a:p>
        </p:txBody>
      </p:sp>
    </p:spTree>
    <p:extLst>
      <p:ext uri="{BB962C8B-B14F-4D97-AF65-F5344CB8AC3E}">
        <p14:creationId xmlns:p14="http://schemas.microsoft.com/office/powerpoint/2010/main" val="5760866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Alternative method of error estimation</a:t>
            </a:r>
          </a:p>
        </p:txBody>
      </p:sp>
      <p:sp>
        <p:nvSpPr>
          <p:cNvPr id="4" name="Footer Placeholder 3"/>
          <p:cNvSpPr>
            <a:spLocks noGrp="1"/>
          </p:cNvSpPr>
          <p:nvPr>
            <p:ph type="ftr" sz="quarter" idx="11"/>
          </p:nvPr>
        </p:nvSpPr>
        <p:spPr/>
        <p:txBody>
          <a:bodyPr/>
          <a:lstStyle/>
          <a:p>
            <a:r>
              <a:rPr lang="en-US" dirty="0" err="1"/>
              <a:t>Ch13.2</a:t>
            </a:r>
            <a:r>
              <a:rPr lang="en-US" dirty="0"/>
              <a:t>. software product quality</a:t>
            </a:r>
          </a:p>
        </p:txBody>
      </p:sp>
      <p:sp>
        <p:nvSpPr>
          <p:cNvPr id="5" name="Slide Number Placeholder 4"/>
          <p:cNvSpPr>
            <a:spLocks noGrp="1"/>
          </p:cNvSpPr>
          <p:nvPr>
            <p:ph type="sldNum" sz="quarter" idx="4294967295"/>
          </p:nvPr>
        </p:nvSpPr>
        <p:spPr>
          <a:xfrm>
            <a:off x="11218863" y="6470650"/>
            <a:ext cx="973137" cy="274638"/>
          </a:xfrm>
          <a:prstGeom prst="rect">
            <a:avLst/>
          </a:prstGeom>
        </p:spPr>
        <p:txBody>
          <a:bodyPr/>
          <a:lstStyle/>
          <a:p>
            <a:fld id="{6A4D3DC4-9E7F-1C47-B729-896D53019E3D}" type="slidenum">
              <a:rPr lang="en-US" smtClean="0"/>
              <a:pPr/>
              <a:t>38</a:t>
            </a:fld>
            <a:endParaRPr lang="en-US"/>
          </a:p>
        </p:txBody>
      </p:sp>
      <p:sp>
        <p:nvSpPr>
          <p:cNvPr id="6" name="Content Placeholder 5">
            <a:extLst>
              <a:ext uri="{FF2B5EF4-FFF2-40B4-BE49-F238E27FC236}">
                <a16:creationId xmlns:a16="http://schemas.microsoft.com/office/drawing/2014/main" id="{637BC6DD-3D75-7D05-B9FC-D0D6DC848135}"/>
              </a:ext>
            </a:extLst>
          </p:cNvPr>
          <p:cNvSpPr>
            <a:spLocks noGrp="1"/>
          </p:cNvSpPr>
          <p:nvPr>
            <p:ph idx="1"/>
          </p:nvPr>
        </p:nvSpPr>
        <p:spPr/>
        <p:txBody>
          <a:bodyPr>
            <a:normAutofit/>
          </a:bodyPr>
          <a:lstStyle/>
          <a:p>
            <a:r>
              <a:rPr lang="en-US" dirty="0"/>
              <a:t>Have two independent testers, A and B </a:t>
            </a:r>
          </a:p>
          <a:p>
            <a:pPr algn="just"/>
            <a:r>
              <a:rPr lang="en-US" dirty="0" err="1"/>
              <a:t>N1</a:t>
            </a:r>
            <a:r>
              <a:rPr lang="en-US" dirty="0"/>
              <a:t> = valid errors found by A </a:t>
            </a:r>
          </a:p>
          <a:p>
            <a:r>
              <a:rPr lang="en-US" dirty="0" err="1"/>
              <a:t>N2</a:t>
            </a:r>
            <a:r>
              <a:rPr lang="en-US" dirty="0"/>
              <a:t> = valid errors found by B </a:t>
            </a:r>
          </a:p>
          <a:p>
            <a:r>
              <a:rPr lang="en-US" dirty="0" err="1"/>
              <a:t>N12</a:t>
            </a:r>
            <a:r>
              <a:rPr lang="en-US" dirty="0"/>
              <a:t> = number of cases where same error found by A and B </a:t>
            </a:r>
          </a:p>
          <a:p>
            <a:r>
              <a:rPr lang="en-US" dirty="0"/>
              <a:t>Estimate = (</a:t>
            </a:r>
            <a:r>
              <a:rPr lang="en-US" dirty="0" err="1"/>
              <a:t>N1</a:t>
            </a:r>
            <a:r>
              <a:rPr lang="en-US" dirty="0"/>
              <a:t> × </a:t>
            </a:r>
            <a:r>
              <a:rPr lang="en-US" dirty="0" err="1"/>
              <a:t>N2</a:t>
            </a:r>
            <a:r>
              <a:rPr lang="en-US" dirty="0"/>
              <a:t> )/ </a:t>
            </a:r>
            <a:r>
              <a:rPr lang="en-US" dirty="0" err="1"/>
              <a:t>N12</a:t>
            </a:r>
            <a:r>
              <a:rPr lang="en-US" dirty="0"/>
              <a:t> </a:t>
            </a:r>
          </a:p>
          <a:p>
            <a:r>
              <a:rPr lang="en-US" dirty="0"/>
              <a:t>Example: A finds 30 errors, B finds 20 errors. 15 are common to A and B. How many errors are there likely to be?</a:t>
            </a:r>
            <a:endParaRPr lang="en-US" sz="3200" dirty="0"/>
          </a:p>
        </p:txBody>
      </p:sp>
    </p:spTree>
    <p:extLst>
      <p:ext uri="{BB962C8B-B14F-4D97-AF65-F5344CB8AC3E}">
        <p14:creationId xmlns:p14="http://schemas.microsoft.com/office/powerpoint/2010/main" val="6606388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Quality plans</a:t>
            </a:r>
          </a:p>
        </p:txBody>
      </p:sp>
      <p:sp>
        <p:nvSpPr>
          <p:cNvPr id="4" name="Footer Placeholder 3"/>
          <p:cNvSpPr>
            <a:spLocks noGrp="1"/>
          </p:cNvSpPr>
          <p:nvPr>
            <p:ph type="ftr" sz="quarter" idx="11"/>
          </p:nvPr>
        </p:nvSpPr>
        <p:spPr/>
        <p:txBody>
          <a:bodyPr/>
          <a:lstStyle/>
          <a:p>
            <a:r>
              <a:rPr lang="en-US" dirty="0" err="1"/>
              <a:t>Ch13.2</a:t>
            </a:r>
            <a:r>
              <a:rPr lang="en-US" dirty="0"/>
              <a:t>. software product quality</a:t>
            </a:r>
          </a:p>
        </p:txBody>
      </p:sp>
      <p:sp>
        <p:nvSpPr>
          <p:cNvPr id="5" name="Slide Number Placeholder 4"/>
          <p:cNvSpPr>
            <a:spLocks noGrp="1"/>
          </p:cNvSpPr>
          <p:nvPr>
            <p:ph type="sldNum" sz="quarter" idx="4294967295"/>
          </p:nvPr>
        </p:nvSpPr>
        <p:spPr>
          <a:xfrm>
            <a:off x="11218863" y="6470650"/>
            <a:ext cx="973137" cy="274638"/>
          </a:xfrm>
          <a:prstGeom prst="rect">
            <a:avLst/>
          </a:prstGeom>
        </p:spPr>
        <p:txBody>
          <a:bodyPr/>
          <a:lstStyle/>
          <a:p>
            <a:fld id="{6A4D3DC4-9E7F-1C47-B729-896D53019E3D}" type="slidenum">
              <a:rPr lang="en-US" smtClean="0"/>
              <a:pPr/>
              <a:t>39</a:t>
            </a:fld>
            <a:endParaRPr lang="en-US"/>
          </a:p>
        </p:txBody>
      </p:sp>
      <p:sp>
        <p:nvSpPr>
          <p:cNvPr id="6" name="Content Placeholder 5">
            <a:extLst>
              <a:ext uri="{FF2B5EF4-FFF2-40B4-BE49-F238E27FC236}">
                <a16:creationId xmlns:a16="http://schemas.microsoft.com/office/drawing/2014/main" id="{637BC6DD-3D75-7D05-B9FC-D0D6DC848135}"/>
              </a:ext>
            </a:extLst>
          </p:cNvPr>
          <p:cNvSpPr>
            <a:spLocks noGrp="1"/>
          </p:cNvSpPr>
          <p:nvPr>
            <p:ph idx="1"/>
          </p:nvPr>
        </p:nvSpPr>
        <p:spPr/>
        <p:txBody>
          <a:bodyPr>
            <a:normAutofit/>
          </a:bodyPr>
          <a:lstStyle/>
          <a:p>
            <a:r>
              <a:rPr lang="en-US" dirty="0"/>
              <a:t>Quality standards and procedures should be documented in an organization’s quality manual </a:t>
            </a:r>
          </a:p>
          <a:p>
            <a:r>
              <a:rPr lang="en-US" dirty="0"/>
              <a:t>For each separate project, the quality needs should be assessed </a:t>
            </a:r>
          </a:p>
          <a:p>
            <a:r>
              <a:rPr lang="en-US" dirty="0"/>
              <a:t>Select the level of quality assurance needed for the project and document in a quality plan</a:t>
            </a:r>
          </a:p>
        </p:txBody>
      </p:sp>
    </p:spTree>
    <p:extLst>
      <p:ext uri="{BB962C8B-B14F-4D97-AF65-F5344CB8AC3E}">
        <p14:creationId xmlns:p14="http://schemas.microsoft.com/office/powerpoint/2010/main" val="35484701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typical contents of a quality</a:t>
            </a:r>
          </a:p>
        </p:txBody>
      </p:sp>
      <p:sp>
        <p:nvSpPr>
          <p:cNvPr id="4" name="Footer Placeholder 3"/>
          <p:cNvSpPr>
            <a:spLocks noGrp="1"/>
          </p:cNvSpPr>
          <p:nvPr>
            <p:ph type="ftr" sz="quarter" idx="11"/>
          </p:nvPr>
        </p:nvSpPr>
        <p:spPr/>
        <p:txBody>
          <a:bodyPr/>
          <a:lstStyle/>
          <a:p>
            <a:r>
              <a:rPr lang="en-US" dirty="0" err="1"/>
              <a:t>Ch13.2</a:t>
            </a:r>
            <a:r>
              <a:rPr lang="en-US" dirty="0"/>
              <a:t>. software product quality</a:t>
            </a:r>
          </a:p>
        </p:txBody>
      </p:sp>
      <p:sp>
        <p:nvSpPr>
          <p:cNvPr id="5" name="Slide Number Placeholder 4"/>
          <p:cNvSpPr>
            <a:spLocks noGrp="1"/>
          </p:cNvSpPr>
          <p:nvPr>
            <p:ph type="sldNum" sz="quarter" idx="4294967295"/>
          </p:nvPr>
        </p:nvSpPr>
        <p:spPr>
          <a:xfrm>
            <a:off x="11218863" y="6470650"/>
            <a:ext cx="973137" cy="274638"/>
          </a:xfrm>
          <a:prstGeom prst="rect">
            <a:avLst/>
          </a:prstGeom>
        </p:spPr>
        <p:txBody>
          <a:bodyPr/>
          <a:lstStyle/>
          <a:p>
            <a:fld id="{6A4D3DC4-9E7F-1C47-B729-896D53019E3D}" type="slidenum">
              <a:rPr lang="en-US" smtClean="0"/>
              <a:pPr/>
              <a:t>40</a:t>
            </a:fld>
            <a:endParaRPr lang="en-US"/>
          </a:p>
        </p:txBody>
      </p:sp>
      <p:sp>
        <p:nvSpPr>
          <p:cNvPr id="6" name="Content Placeholder 5">
            <a:extLst>
              <a:ext uri="{FF2B5EF4-FFF2-40B4-BE49-F238E27FC236}">
                <a16:creationId xmlns:a16="http://schemas.microsoft.com/office/drawing/2014/main" id="{637BC6DD-3D75-7D05-B9FC-D0D6DC848135}"/>
              </a:ext>
            </a:extLst>
          </p:cNvPr>
          <p:cNvSpPr>
            <a:spLocks noGrp="1"/>
          </p:cNvSpPr>
          <p:nvPr>
            <p:ph idx="1"/>
          </p:nvPr>
        </p:nvSpPr>
        <p:spPr/>
        <p:txBody>
          <a:bodyPr>
            <a:normAutofit/>
          </a:bodyPr>
          <a:lstStyle/>
          <a:p>
            <a:r>
              <a:rPr lang="en-US" dirty="0"/>
              <a:t>Plan scope of plan </a:t>
            </a:r>
          </a:p>
          <a:p>
            <a:r>
              <a:rPr lang="en-US" dirty="0"/>
              <a:t>References to other documents </a:t>
            </a:r>
          </a:p>
          <a:p>
            <a:r>
              <a:rPr lang="en-US" dirty="0"/>
              <a:t>Quality management, including organization, tasks, and responsibilities </a:t>
            </a:r>
          </a:p>
          <a:p>
            <a:r>
              <a:rPr lang="en-US" dirty="0"/>
              <a:t>Documentation to be produced </a:t>
            </a:r>
          </a:p>
          <a:p>
            <a:r>
              <a:rPr lang="en-US" dirty="0"/>
              <a:t>Standards, practices and conventions </a:t>
            </a:r>
          </a:p>
          <a:p>
            <a:r>
              <a:rPr lang="en-US" dirty="0"/>
              <a:t>Reviews and audits</a:t>
            </a:r>
            <a:endParaRPr lang="en-US" sz="3200" dirty="0"/>
          </a:p>
        </p:txBody>
      </p:sp>
    </p:spTree>
    <p:extLst>
      <p:ext uri="{BB962C8B-B14F-4D97-AF65-F5344CB8AC3E}">
        <p14:creationId xmlns:p14="http://schemas.microsoft.com/office/powerpoint/2010/main" val="4056059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contents of a quality plan</a:t>
            </a:r>
          </a:p>
        </p:txBody>
      </p:sp>
      <p:sp>
        <p:nvSpPr>
          <p:cNvPr id="4" name="Footer Placeholder 3"/>
          <p:cNvSpPr>
            <a:spLocks noGrp="1"/>
          </p:cNvSpPr>
          <p:nvPr>
            <p:ph type="ftr" sz="quarter" idx="11"/>
          </p:nvPr>
        </p:nvSpPr>
        <p:spPr/>
        <p:txBody>
          <a:bodyPr/>
          <a:lstStyle/>
          <a:p>
            <a:r>
              <a:rPr lang="en-US" dirty="0" err="1"/>
              <a:t>Ch13.2</a:t>
            </a:r>
            <a:r>
              <a:rPr lang="en-US" dirty="0"/>
              <a:t>. software product quality</a:t>
            </a:r>
          </a:p>
        </p:txBody>
      </p:sp>
      <p:sp>
        <p:nvSpPr>
          <p:cNvPr id="5" name="Slide Number Placeholder 4"/>
          <p:cNvSpPr>
            <a:spLocks noGrp="1"/>
          </p:cNvSpPr>
          <p:nvPr>
            <p:ph type="sldNum" sz="quarter" idx="4294967295"/>
          </p:nvPr>
        </p:nvSpPr>
        <p:spPr>
          <a:xfrm>
            <a:off x="11218863" y="6470650"/>
            <a:ext cx="973137" cy="274638"/>
          </a:xfrm>
          <a:prstGeom prst="rect">
            <a:avLst/>
          </a:prstGeom>
        </p:spPr>
        <p:txBody>
          <a:bodyPr/>
          <a:lstStyle/>
          <a:p>
            <a:fld id="{6A4D3DC4-9E7F-1C47-B729-896D53019E3D}" type="slidenum">
              <a:rPr lang="en-US" smtClean="0"/>
              <a:pPr/>
              <a:t>41</a:t>
            </a:fld>
            <a:endParaRPr lang="en-US"/>
          </a:p>
        </p:txBody>
      </p:sp>
      <p:sp>
        <p:nvSpPr>
          <p:cNvPr id="6" name="Content Placeholder 5">
            <a:extLst>
              <a:ext uri="{FF2B5EF4-FFF2-40B4-BE49-F238E27FC236}">
                <a16:creationId xmlns:a16="http://schemas.microsoft.com/office/drawing/2014/main" id="{637BC6DD-3D75-7D05-B9FC-D0D6DC848135}"/>
              </a:ext>
            </a:extLst>
          </p:cNvPr>
          <p:cNvSpPr>
            <a:spLocks noGrp="1"/>
          </p:cNvSpPr>
          <p:nvPr>
            <p:ph idx="1"/>
          </p:nvPr>
        </p:nvSpPr>
        <p:spPr/>
        <p:txBody>
          <a:bodyPr>
            <a:normAutofit/>
          </a:bodyPr>
          <a:lstStyle/>
          <a:p>
            <a:r>
              <a:rPr lang="en-US" dirty="0"/>
              <a:t>testing </a:t>
            </a:r>
          </a:p>
          <a:p>
            <a:r>
              <a:rPr lang="en-US" dirty="0"/>
              <a:t>problem reporting and corrective action </a:t>
            </a:r>
          </a:p>
          <a:p>
            <a:r>
              <a:rPr lang="en-US" dirty="0"/>
              <a:t>tools, techniques, and methodologies </a:t>
            </a:r>
          </a:p>
          <a:p>
            <a:r>
              <a:rPr lang="en-US" dirty="0"/>
              <a:t>code, media and supplier control </a:t>
            </a:r>
          </a:p>
          <a:p>
            <a:r>
              <a:rPr lang="en-US" dirty="0"/>
              <a:t>records collection, maintenance and retention </a:t>
            </a:r>
          </a:p>
          <a:p>
            <a:r>
              <a:rPr lang="en-US" dirty="0"/>
              <a:t>training  </a:t>
            </a:r>
          </a:p>
          <a:p>
            <a:r>
              <a:rPr lang="en-US" dirty="0"/>
              <a:t>risk management</a:t>
            </a:r>
            <a:endParaRPr lang="en-US" sz="3200" dirty="0"/>
          </a:p>
        </p:txBody>
      </p:sp>
    </p:spTree>
    <p:extLst>
      <p:ext uri="{BB962C8B-B14F-4D97-AF65-F5344CB8AC3E}">
        <p14:creationId xmlns:p14="http://schemas.microsoft.com/office/powerpoint/2010/main" val="322199398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heme_SE2019s1">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Theme_SE2019s1" id="{E4EA5176-60B7-4738-A39A-85EA610AC46B}" vid="{8416C537-BC8A-42C5-99D5-28933A3097D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Theme_SE2019s1</Template>
  <TotalTime>6324</TotalTime>
  <Words>3746</Words>
  <Application>Microsoft Office PowerPoint</Application>
  <PresentationFormat>Widescreen</PresentationFormat>
  <Paragraphs>646</Paragraphs>
  <Slides>41</Slides>
  <Notes>40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41</vt:i4>
      </vt:variant>
    </vt:vector>
  </HeadingPairs>
  <TitlesOfParts>
    <vt:vector size="49" baseType="lpstr">
      <vt:lpstr>Arial</vt:lpstr>
      <vt:lpstr>Calibri</vt:lpstr>
      <vt:lpstr>Courier New</vt:lpstr>
      <vt:lpstr>Tw Cen MT</vt:lpstr>
      <vt:lpstr>Tw Cen MT Condensed</vt:lpstr>
      <vt:lpstr>Wingdings</vt:lpstr>
      <vt:lpstr>Wingdings 3</vt:lpstr>
      <vt:lpstr>Theme_SE2019s1</vt:lpstr>
      <vt:lpstr>Chapter 13.2 - software product quality</vt:lpstr>
      <vt:lpstr>BS EN ISO 9001:2000 and quality management systems</vt:lpstr>
      <vt:lpstr>ISO 9001:2000 principles</vt:lpstr>
      <vt:lpstr>ISO 9001:2000 principles</vt:lpstr>
      <vt:lpstr>ISO 9001:2000 cycle</vt:lpstr>
      <vt:lpstr>The need to improve</vt:lpstr>
      <vt:lpstr>Capability maturity model</vt:lpstr>
      <vt:lpstr>Capability maturity model 2</vt:lpstr>
      <vt:lpstr>Process maturity levels</vt:lpstr>
      <vt:lpstr>A repeatable model</vt:lpstr>
      <vt:lpstr>Repeatable model KPAs</vt:lpstr>
      <vt:lpstr>A defined process</vt:lpstr>
      <vt:lpstr>Repeatable to defined KPAs</vt:lpstr>
      <vt:lpstr>A managed process</vt:lpstr>
      <vt:lpstr>Defined to managed KPAs</vt:lpstr>
      <vt:lpstr>Optimizing</vt:lpstr>
      <vt:lpstr>Managing to optimizing: KPAs</vt:lpstr>
      <vt:lpstr>Some questions about CMMI</vt:lpstr>
      <vt:lpstr>ISO/IEC 15504 IT process assessment</vt:lpstr>
      <vt:lpstr>ISO 15504 performance attributes</vt:lpstr>
      <vt:lpstr>ISO 15504 performance attributes - contd</vt:lpstr>
      <vt:lpstr>Process Reference Model</vt:lpstr>
      <vt:lpstr>IS0 15504 Process Assessment</vt:lpstr>
      <vt:lpstr>ISO 15504 performance indicators</vt:lpstr>
      <vt:lpstr>ISO 15504 performance indicators 2</vt:lpstr>
      <vt:lpstr>ISO 15504 performance indicators 2</vt:lpstr>
      <vt:lpstr>ISO 15504 performance indicators 3</vt:lpstr>
      <vt:lpstr>Techniques to improve quality -Inspections</vt:lpstr>
      <vt:lpstr>Inspections - advantages of approach</vt:lpstr>
      <vt:lpstr>‘Clean-room’ software development</vt:lpstr>
      <vt:lpstr>Formal methods</vt:lpstr>
      <vt:lpstr>Testing: the V-process model</vt:lpstr>
      <vt:lpstr>Testing: the v-process model</vt:lpstr>
      <vt:lpstr>Black box versus glass box test</vt:lpstr>
      <vt:lpstr>Test plans</vt:lpstr>
      <vt:lpstr>Management of testing</vt:lpstr>
      <vt:lpstr>Decision to stop testing</vt:lpstr>
      <vt:lpstr>Alternative method of error estimation</vt:lpstr>
      <vt:lpstr>Quality plans</vt:lpstr>
      <vt:lpstr>typical contents of a quality</vt:lpstr>
      <vt:lpstr>more contents of a quality plan</vt:lpstr>
    </vt:vector>
  </TitlesOfParts>
  <Company>HCMUT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 - chap 1. Intro</dc:title>
  <dc:creator>Thang Bui</dc:creator>
  <cp:lastModifiedBy>Mai Phước Lộc</cp:lastModifiedBy>
  <cp:revision>187</cp:revision>
  <dcterms:created xsi:type="dcterms:W3CDTF">2009-12-29T10:39:27Z</dcterms:created>
  <dcterms:modified xsi:type="dcterms:W3CDTF">2024-09-16T01:59:05Z</dcterms:modified>
</cp:coreProperties>
</file>