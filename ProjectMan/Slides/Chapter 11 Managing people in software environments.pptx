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25"/>
  </p:notesMasterIdLst>
  <p:handoutMasterIdLst>
    <p:handoutMasterId r:id="rId26"/>
  </p:handoutMasterIdLst>
  <p:sldIdLst>
    <p:sldId id="299" r:id="rId2"/>
    <p:sldId id="295" r:id="rId3"/>
    <p:sldId id="301" r:id="rId4"/>
    <p:sldId id="347" r:id="rId5"/>
    <p:sldId id="303" r:id="rId6"/>
    <p:sldId id="306" r:id="rId7"/>
    <p:sldId id="335" r:id="rId8"/>
    <p:sldId id="308" r:id="rId9"/>
    <p:sldId id="310" r:id="rId10"/>
    <p:sldId id="336" r:id="rId11"/>
    <p:sldId id="311" r:id="rId12"/>
    <p:sldId id="312" r:id="rId13"/>
    <p:sldId id="339" r:id="rId14"/>
    <p:sldId id="337" r:id="rId15"/>
    <p:sldId id="338" r:id="rId16"/>
    <p:sldId id="314" r:id="rId17"/>
    <p:sldId id="315" r:id="rId18"/>
    <p:sldId id="343" r:id="rId19"/>
    <p:sldId id="342" r:id="rId20"/>
    <p:sldId id="341" r:id="rId21"/>
    <p:sldId id="346" r:id="rId22"/>
    <p:sldId id="345" r:id="rId23"/>
    <p:sldId id="344" r:id="rId2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0" autoAdjust="0"/>
    <p:restoredTop sz="96727" autoAdjust="0"/>
  </p:normalViewPr>
  <p:slideViewPr>
    <p:cSldViewPr snapToGrid="0" snapToObjects="1">
      <p:cViewPr varScale="1">
        <p:scale>
          <a:sx n="155" d="100"/>
          <a:sy n="155" d="100"/>
        </p:scale>
        <p:origin x="576" y="114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6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60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53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1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1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7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0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8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4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51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53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31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29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53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46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73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062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168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887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36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11- Managing people in software environments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topics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64147-2629-2CFA-3E01-58B1E43BE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organizational </a:t>
            </a:r>
            <a:r>
              <a:rPr lang="en-US" dirty="0" err="1"/>
              <a:t>behaviour</a:t>
            </a:r>
            <a:r>
              <a:rPr lang="en-US" dirty="0"/>
              <a:t>? </a:t>
            </a:r>
          </a:p>
          <a:p>
            <a:r>
              <a:rPr lang="en-US" dirty="0"/>
              <a:t>Staff selection and induction </a:t>
            </a:r>
          </a:p>
          <a:p>
            <a:r>
              <a:rPr lang="en-US" dirty="0"/>
              <a:t>Models of motivation – focus on the individual </a:t>
            </a:r>
          </a:p>
          <a:p>
            <a:r>
              <a:rPr lang="en-US" dirty="0"/>
              <a:t>The dark side of motivation - stress </a:t>
            </a:r>
          </a:p>
          <a:p>
            <a:r>
              <a:rPr lang="en-US" dirty="0"/>
              <a:t>The broader issues of health and safety </a:t>
            </a:r>
          </a:p>
          <a:p>
            <a:r>
              <a:rPr lang="en-US" dirty="0"/>
              <a:t>Some ethical and professional concerns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organizational </a:t>
            </a:r>
            <a:r>
              <a:rPr lang="en-US" dirty="0" err="1"/>
              <a:t>behaviour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7983C-FAB6-DA3E-B646-5447DF3B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Frederick Taylor (1856-1915) ‘the father of scientific management’ </a:t>
            </a:r>
          </a:p>
          <a:p>
            <a:r>
              <a:rPr lang="en-US" dirty="0"/>
              <a:t>Focus: </a:t>
            </a:r>
          </a:p>
          <a:p>
            <a:pPr lvl="1"/>
            <a:r>
              <a:rPr lang="en-US" sz="3200" dirty="0"/>
              <a:t>To select the best people for the job; </a:t>
            </a:r>
          </a:p>
          <a:p>
            <a:pPr lvl="1"/>
            <a:r>
              <a:rPr lang="en-US" sz="3200" dirty="0"/>
              <a:t>To instruct them in the best methods; </a:t>
            </a:r>
          </a:p>
          <a:p>
            <a:pPr lvl="1"/>
            <a:r>
              <a:rPr lang="en-US" sz="3200" dirty="0"/>
              <a:t>To give financial incentives in the form of piece work </a:t>
            </a:r>
          </a:p>
          <a:p>
            <a:r>
              <a:rPr lang="en-US" dirty="0"/>
              <a:t>One problem: ‘group norms’</a:t>
            </a:r>
          </a:p>
        </p:txBody>
      </p:sp>
    </p:spTree>
    <p:extLst>
      <p:ext uri="{BB962C8B-B14F-4D97-AF65-F5344CB8AC3E}">
        <p14:creationId xmlns:p14="http://schemas.microsoft.com/office/powerpoint/2010/main" val="332708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Hawthorne effect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7983C-FAB6-DA3E-B646-5447DF3B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1920’s</a:t>
            </a:r>
            <a:r>
              <a:rPr lang="en-US" dirty="0"/>
              <a:t> – series of experiments at the Hawthorne Plant of Western Electric, Chicago </a:t>
            </a:r>
          </a:p>
          <a:p>
            <a:r>
              <a:rPr lang="en-US" dirty="0"/>
              <a:t>Found that simply showing an interest in a group increased productivity </a:t>
            </a:r>
          </a:p>
          <a:p>
            <a:r>
              <a:rPr lang="en-US" dirty="0"/>
              <a:t>Theory X: there is a need for coercion, direction, and control of people at work </a:t>
            </a:r>
          </a:p>
          <a:p>
            <a:r>
              <a:rPr lang="en-US" dirty="0"/>
              <a:t>Theory Y: work is as natural as rest or play</a:t>
            </a:r>
          </a:p>
        </p:txBody>
      </p:sp>
    </p:spTree>
    <p:extLst>
      <p:ext uri="{BB962C8B-B14F-4D97-AF65-F5344CB8AC3E}">
        <p14:creationId xmlns:p14="http://schemas.microsoft.com/office/powerpoint/2010/main" val="407765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</p:spPr>
        <p:txBody>
          <a:bodyPr anchor="ctr">
            <a:normAutofit/>
          </a:bodyPr>
          <a:lstStyle/>
          <a:p>
            <a:r>
              <a:rPr lang="en-US" dirty="0"/>
              <a:t>Selecting the best people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D75969CB-B379-92FA-8BFA-0F265E47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30" y="6470704"/>
            <a:ext cx="2154143" cy="27432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 anchor="ctr">
            <a:normAutofit/>
          </a:bodyPr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6A4D3DC4-9E7F-1C47-B729-896D53019E3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2AB41-A30E-E9CB-E143-62CAC88E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Belbin distinguishes between eligible (having the right qualifications) and suitable candidates (can do the job). </a:t>
            </a:r>
          </a:p>
          <a:p>
            <a:r>
              <a:rPr lang="en-US" dirty="0"/>
              <a:t>The danger is employ someone who is eligible but not suitable </a:t>
            </a:r>
          </a:p>
          <a:p>
            <a:r>
              <a:rPr lang="en-US" dirty="0"/>
              <a:t>The best situation is to employ someone who is suitable but not eligible! For example, these are likely to be cheaper and to stay in the job.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1CF00B6-3951-628E-531F-7AEFC62E4B10}"/>
              </a:ext>
            </a:extLst>
          </p:cNvPr>
          <p:cNvSpPr txBox="1">
            <a:spLocks/>
          </p:cNvSpPr>
          <p:nvPr/>
        </p:nvSpPr>
        <p:spPr>
          <a:xfrm>
            <a:off x="11218863" y="6487108"/>
            <a:ext cx="973137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fld id="{6A4D3DC4-9E7F-1C47-B729-896D53019E3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77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good software developers have innate characteristics?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609" y="1311443"/>
            <a:ext cx="10786872" cy="5334001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highlight>
                  <a:srgbClr val="FFFFFF"/>
                </a:highlight>
              </a:rPr>
              <a:t>1968 study – difference of 1:25 in time taken by different programmers to code program 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Other research found experience better than </a:t>
            </a:r>
            <a:r>
              <a:rPr lang="en-US" b="0" i="0" dirty="0" err="1">
                <a:effectLst/>
                <a:highlight>
                  <a:srgbClr val="FFFFFF"/>
                </a:highlight>
              </a:rPr>
              <a:t>maths</a:t>
            </a:r>
            <a:r>
              <a:rPr lang="en-US" b="0" i="0" dirty="0">
                <a:effectLst/>
                <a:highlight>
                  <a:srgbClr val="FFFFFF"/>
                </a:highlight>
              </a:rPr>
              <a:t> skills as a guide to software skills 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Some research suggested software developers less sociable than other workers 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Later surveys have found no significant social differences between IT workers and others – this could be result of broader role of IT in organizations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7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selection process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97415-829A-DD9D-90ED-3CFD77FA6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job specification. </a:t>
            </a:r>
          </a:p>
          <a:p>
            <a:pPr lvl="1"/>
            <a:r>
              <a:rPr lang="en-US" sz="3200" dirty="0"/>
              <a:t>Content includes types of task to be carried out. </a:t>
            </a:r>
          </a:p>
          <a:p>
            <a:r>
              <a:rPr lang="en-US" dirty="0"/>
              <a:t>Create a job holder profile </a:t>
            </a:r>
          </a:p>
          <a:p>
            <a:pPr lvl="1"/>
            <a:r>
              <a:rPr lang="en-US" sz="3200" dirty="0"/>
              <a:t>Describes the characteristics of the person who could do the job </a:t>
            </a:r>
          </a:p>
          <a:p>
            <a:r>
              <a:rPr lang="en-US" dirty="0"/>
              <a:t>Obtain applicants </a:t>
            </a:r>
          </a:p>
          <a:p>
            <a:pPr lvl="1"/>
            <a:r>
              <a:rPr lang="en-US" sz="3200" dirty="0"/>
              <a:t>Identify the media that potential job holders are likely to consult. Elicit CVs</a:t>
            </a:r>
          </a:p>
        </p:txBody>
      </p:sp>
    </p:spTree>
    <p:extLst>
      <p:ext uri="{BB962C8B-B14F-4D97-AF65-F5344CB8AC3E}">
        <p14:creationId xmlns:p14="http://schemas.microsoft.com/office/powerpoint/2010/main" val="339248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selection process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4. Select potential candidates from CVs. </a:t>
            </a:r>
          </a:p>
          <a:p>
            <a:pPr lvl="1"/>
            <a:r>
              <a:rPr lang="en-US" sz="3200" dirty="0"/>
              <a:t>Do not waste everybody’s time interviewing people whose CV clearly indicates are unsuitable. </a:t>
            </a:r>
          </a:p>
          <a:p>
            <a:r>
              <a:rPr lang="en-US" dirty="0"/>
              <a:t>5. Further selection, including interview </a:t>
            </a:r>
          </a:p>
          <a:p>
            <a:pPr lvl="1"/>
            <a:r>
              <a:rPr lang="en-US" sz="3200" dirty="0"/>
              <a:t>Selection processes could include aptitude tests, examination of work portfolios. Make sure selection processes map to the job holder profile </a:t>
            </a:r>
          </a:p>
          <a:p>
            <a:r>
              <a:rPr lang="en-US" dirty="0"/>
              <a:t>6. Other procedures. </a:t>
            </a:r>
          </a:p>
          <a:p>
            <a:pPr lvl="1"/>
            <a:r>
              <a:rPr lang="en-US" sz="3200" dirty="0"/>
              <a:t>e.g. taking up references, medicals </a:t>
            </a:r>
            <a:r>
              <a:rPr lang="en-US" sz="3200" dirty="0" err="1"/>
              <a:t>etc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3105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in the best methods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B060A-6B42-143D-D351-A03849B6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induction of new staff should be carefully planned – worst case where new recruit is simply ignored and not given any tasks </a:t>
            </a:r>
          </a:p>
          <a:p>
            <a:r>
              <a:rPr lang="en-US" dirty="0"/>
              <a:t>Good induction leads to new recruit becoming productive more quickly </a:t>
            </a:r>
          </a:p>
          <a:p>
            <a:r>
              <a:rPr lang="en-US" dirty="0"/>
              <a:t>Need to review staff progress frequently and provide feedback </a:t>
            </a:r>
          </a:p>
          <a:p>
            <a:r>
              <a:rPr lang="en-US" dirty="0"/>
              <a:t>Need to identify training that could enhance staff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3263949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522431B-004B-3942-5F9A-66922CB8D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Motivation and application can often make up for shortfalls in innate skills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Taylor’s approach - financial incentives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Abraham Maslow (1908-1970)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>
                <a:highlight>
                  <a:srgbClr val="FFFFFF"/>
                </a:highlight>
              </a:rPr>
              <a:t>M</a:t>
            </a:r>
            <a:r>
              <a:rPr lang="en-US" sz="3200" b="0" i="0" dirty="0">
                <a:effectLst/>
                <a:highlight>
                  <a:srgbClr val="FFFFFF"/>
                </a:highlight>
              </a:rPr>
              <a:t>otivations vary from individual to individual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>
                <a:highlight>
                  <a:srgbClr val="FFFFFF"/>
                </a:highlight>
              </a:rPr>
              <a:t>H</a:t>
            </a:r>
            <a:r>
              <a:rPr lang="en-US" sz="3200" b="0" i="0" dirty="0">
                <a:effectLst/>
                <a:highlight>
                  <a:srgbClr val="FFFFFF"/>
                </a:highlight>
              </a:rPr>
              <a:t>ierarchy of needs – as lower ones fulfilled, higher ones emerge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highlight>
                  <a:srgbClr val="FFFFFF"/>
                </a:highlight>
              </a:rPr>
              <a:t>Lowest level – food, shelter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highlight>
                  <a:srgbClr val="FFFFFF"/>
                </a:highlight>
              </a:rPr>
              <a:t>Highest level – self-actualization</a:t>
            </a:r>
          </a:p>
        </p:txBody>
      </p:sp>
    </p:spTree>
    <p:extLst>
      <p:ext uri="{BB962C8B-B14F-4D97-AF65-F5344CB8AC3E}">
        <p14:creationId xmlns:p14="http://schemas.microsoft.com/office/powerpoint/2010/main" val="416314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Herzberg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73BCAA66-6BA8-C09B-9F24-E7975E483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786872" cy="47813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Herzberg suggested two sets of factors affected job satisfaction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highlight>
                  <a:srgbClr val="FFFFFF"/>
                </a:highlight>
              </a:rPr>
              <a:t>Hygiene or maintenance factors – make you dissatisfied if they are not right e.g. pay, working conditions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highlight>
                  <a:srgbClr val="FFFFFF"/>
                </a:highlight>
              </a:rPr>
              <a:t>Motivators – make you feel the job is worthwhile e.g. a sense of achievement</a:t>
            </a:r>
          </a:p>
        </p:txBody>
      </p:sp>
    </p:spTree>
    <p:extLst>
      <p:ext uri="{BB962C8B-B14F-4D97-AF65-F5344CB8AC3E}">
        <p14:creationId xmlns:p14="http://schemas.microsoft.com/office/powerpoint/2010/main" val="157533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/>
          </a:bodyPr>
          <a:lstStyle/>
          <a:p>
            <a:r>
              <a:rPr lang="en-US" dirty="0"/>
              <a:t>Vroom and colleagues identified three influences on motivation </a:t>
            </a:r>
          </a:p>
          <a:p>
            <a:pPr lvl="1"/>
            <a:r>
              <a:rPr lang="en-US" sz="3200" dirty="0"/>
              <a:t>Expectancy – the belief that working harder leads to better performance </a:t>
            </a:r>
          </a:p>
          <a:p>
            <a:pPr lvl="1"/>
            <a:r>
              <a:rPr lang="en-US" sz="3200" dirty="0"/>
              <a:t>Instrumentality – the belief that better performance will be rewarded 3. Perceived value of the reward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3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Oldham-Hackman job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/>
          </a:bodyPr>
          <a:lstStyle/>
          <a:p>
            <a:r>
              <a:rPr lang="en-US" dirty="0"/>
              <a:t>Identified the following characteristics of a job which make it more ‘meaningful’ </a:t>
            </a:r>
          </a:p>
          <a:p>
            <a:pPr lvl="1"/>
            <a:r>
              <a:rPr lang="en-US" sz="3200" dirty="0"/>
              <a:t>Skill variety </a:t>
            </a:r>
          </a:p>
          <a:p>
            <a:pPr lvl="1"/>
            <a:r>
              <a:rPr lang="en-US" sz="3200" dirty="0"/>
              <a:t>Task identity </a:t>
            </a:r>
          </a:p>
          <a:p>
            <a:pPr lvl="1"/>
            <a:r>
              <a:rPr lang="en-US" sz="3200" dirty="0"/>
              <a:t>Task significance </a:t>
            </a:r>
          </a:p>
          <a:p>
            <a:r>
              <a:rPr lang="en-US" dirty="0"/>
              <a:t>Two other factors contributed to satisfaction: </a:t>
            </a:r>
          </a:p>
          <a:p>
            <a:pPr lvl="1"/>
            <a:r>
              <a:rPr lang="en-US" sz="3200" dirty="0"/>
              <a:t>Autonomy </a:t>
            </a:r>
          </a:p>
          <a:p>
            <a:pPr lvl="1"/>
            <a:r>
              <a:rPr lang="en-US" sz="3200" dirty="0"/>
              <a:t>Feedback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9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to improve job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5" y="1435951"/>
            <a:ext cx="10786872" cy="4648326"/>
          </a:xfrm>
        </p:spPr>
        <p:txBody>
          <a:bodyPr>
            <a:normAutofit/>
          </a:bodyPr>
          <a:lstStyle/>
          <a:p>
            <a:pPr marL="808037" indent="-571500"/>
            <a:r>
              <a:rPr lang="en-US" dirty="0"/>
              <a:t>Set specific goals </a:t>
            </a:r>
          </a:p>
          <a:p>
            <a:pPr marL="808037" indent="-571500"/>
            <a:r>
              <a:rPr lang="en-US" dirty="0"/>
              <a:t>Provide feedback on the progress towards meeting those goals </a:t>
            </a:r>
          </a:p>
          <a:p>
            <a:pPr marL="808037" indent="-571500"/>
            <a:r>
              <a:rPr lang="en-US" dirty="0"/>
              <a:t>Consider job redesign </a:t>
            </a:r>
          </a:p>
          <a:p>
            <a:pPr marL="1035050" lvl="1" indent="-571500"/>
            <a:r>
              <a:rPr lang="en-US" sz="3200" dirty="0"/>
              <a:t>Job enlargement </a:t>
            </a:r>
          </a:p>
          <a:p>
            <a:pPr marL="1035050" lvl="1" indent="-571500"/>
            <a:r>
              <a:rPr lang="en-US" sz="3200" dirty="0"/>
              <a:t>Job enrichment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52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0A071-29BC-D6B1-8ED7-41F53B668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Edward Yourdon quotes a project manager: ‘Once a project gets rolling, you should be expecting members to be putting in at least 60 hours a week….The project manager must expect to put in as many hours as possible.’ </a:t>
            </a:r>
          </a:p>
          <a:p>
            <a:r>
              <a:rPr lang="en-US" dirty="0"/>
              <a:t>1960 study in US: people under 45 who worked more than 48 hours a week twice the risk of death from coronary heart disease. </a:t>
            </a:r>
          </a:p>
          <a:p>
            <a:r>
              <a:rPr lang="en-US" dirty="0"/>
              <a:t>XP practice – maximum 40 hour working week</a:t>
            </a:r>
          </a:p>
        </p:txBody>
      </p:sp>
    </p:spTree>
    <p:extLst>
      <p:ext uri="{BB962C8B-B14F-4D97-AF65-F5344CB8AC3E}">
        <p14:creationId xmlns:p14="http://schemas.microsoft.com/office/powerpoint/2010/main" val="171513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can be reduced by good project management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77280-8D17-F8D2-27C6-85E4AE63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Good project management should lead to: </a:t>
            </a:r>
          </a:p>
          <a:p>
            <a:pPr lvl="1"/>
            <a:r>
              <a:rPr lang="en-US" sz="3200" dirty="0"/>
              <a:t>Reasonable estimates of effort </a:t>
            </a:r>
          </a:p>
          <a:p>
            <a:pPr lvl="1"/>
            <a:r>
              <a:rPr lang="en-US" sz="3200" dirty="0"/>
              <a:t>Good project control leading fewer unexpected crises </a:t>
            </a:r>
          </a:p>
          <a:p>
            <a:pPr lvl="1"/>
            <a:r>
              <a:rPr lang="en-US" sz="3200" dirty="0"/>
              <a:t>Making clear what is expected of each team member – reduces role ambiguity </a:t>
            </a:r>
          </a:p>
          <a:p>
            <a:pPr lvl="1"/>
            <a:r>
              <a:rPr lang="en-US" sz="3200" dirty="0"/>
              <a:t>Reduced role conflict where a person is torn between conflicting responsibilities </a:t>
            </a:r>
          </a:p>
          <a:p>
            <a:r>
              <a:rPr lang="en-US" dirty="0"/>
              <a:t>Bullying tactics are a symptom of incompetent project management.</a:t>
            </a:r>
          </a:p>
        </p:txBody>
      </p:sp>
    </p:spTree>
    <p:extLst>
      <p:ext uri="{BB962C8B-B14F-4D97-AF65-F5344CB8AC3E}">
        <p14:creationId xmlns:p14="http://schemas.microsoft.com/office/powerpoint/2010/main" val="244147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and safety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FCF7315-E681-10B3-8ECB-F8A7FAA9D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Apart from stress, health and safety less likely to be an issue compared to other engineering projects. </a:t>
            </a:r>
          </a:p>
          <a:p>
            <a:r>
              <a:rPr lang="en-US" dirty="0"/>
              <a:t>…but sometimes IT infrastructure may be set up as other building work is going on </a:t>
            </a:r>
          </a:p>
          <a:p>
            <a:r>
              <a:rPr lang="en-US" dirty="0"/>
              <a:t>UK law lays down that organizations employing over 5 staff should have a written safety policy </a:t>
            </a:r>
          </a:p>
          <a:p>
            <a:r>
              <a:rPr lang="en-US" dirty="0"/>
              <a:t>Management of safety should be embedded in project management.</a:t>
            </a:r>
          </a:p>
        </p:txBody>
      </p:sp>
    </p:spTree>
    <p:extLst>
      <p:ext uri="{BB962C8B-B14F-4D97-AF65-F5344CB8AC3E}">
        <p14:creationId xmlns:p14="http://schemas.microsoft.com/office/powerpoint/2010/main" val="2993507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and safety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29C85-137A-884B-C480-431934AB1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Top management must be committed to health and safety (</a:t>
            </a:r>
            <a:r>
              <a:rPr lang="en-US" dirty="0" err="1"/>
              <a:t>H&amp;S</a:t>
            </a:r>
            <a:r>
              <a:rPr lang="en-US" dirty="0"/>
              <a:t>) policy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Delegation of responsibilities relating to </a:t>
            </a:r>
            <a:r>
              <a:rPr lang="en-US" dirty="0" err="1"/>
              <a:t>H&amp;S</a:t>
            </a:r>
            <a:r>
              <a:rPr lang="en-US" dirty="0"/>
              <a:t> should be clear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Job descriptions should include </a:t>
            </a:r>
            <a:r>
              <a:rPr lang="en-US" dirty="0" err="1"/>
              <a:t>H&amp;S</a:t>
            </a:r>
            <a:r>
              <a:rPr lang="en-US" dirty="0"/>
              <a:t> related responsibilities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Need to ensure those given </a:t>
            </a:r>
            <a:r>
              <a:rPr lang="en-US" dirty="0" err="1"/>
              <a:t>H&amp;S</a:t>
            </a:r>
            <a:r>
              <a:rPr lang="en-US" dirty="0"/>
              <a:t> responsibilities should understand and accept them</a:t>
            </a:r>
          </a:p>
        </p:txBody>
      </p:sp>
    </p:spTree>
    <p:extLst>
      <p:ext uri="{BB962C8B-B14F-4D97-AF65-F5344CB8AC3E}">
        <p14:creationId xmlns:p14="http://schemas.microsoft.com/office/powerpoint/2010/main" val="563297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and safety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6C81F-D567-6AA5-0C8C-E09F1EB5D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should be a designated safety officer </a:t>
            </a:r>
          </a:p>
          <a:p>
            <a:r>
              <a:rPr lang="en-US" dirty="0"/>
              <a:t>Staff, particularly knowledgeable technical specialists, should consulted about safety </a:t>
            </a:r>
          </a:p>
          <a:p>
            <a:r>
              <a:rPr lang="en-US" dirty="0"/>
              <a:t>There should be an adequate </a:t>
            </a:r>
            <a:r>
              <a:rPr lang="en-US" dirty="0" err="1"/>
              <a:t>H&amp;S</a:t>
            </a:r>
            <a:r>
              <a:rPr lang="en-US" dirty="0"/>
              <a:t> budget</a:t>
            </a:r>
          </a:p>
        </p:txBody>
      </p:sp>
    </p:spTree>
    <p:extLst>
      <p:ext uri="{BB962C8B-B14F-4D97-AF65-F5344CB8AC3E}">
        <p14:creationId xmlns:p14="http://schemas.microsoft.com/office/powerpoint/2010/main" val="1515741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and professional concerns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3276E6-AE97-701B-4738-EC877DA87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Ethics relates to the moral obligation to respect the rights and interests of others – goes beyond strictly legal responsibilities </a:t>
            </a:r>
          </a:p>
          <a:p>
            <a:r>
              <a:rPr lang="en-US" dirty="0"/>
              <a:t>Three groups of responsibilities: </a:t>
            </a:r>
          </a:p>
          <a:p>
            <a:pPr lvl="1"/>
            <a:r>
              <a:rPr lang="en-US" sz="3200" dirty="0"/>
              <a:t>Responsibilities that everyone has </a:t>
            </a:r>
          </a:p>
          <a:p>
            <a:pPr lvl="1"/>
            <a:r>
              <a:rPr lang="en-US" sz="3200" dirty="0"/>
              <a:t>Responsibilities that people in organizations have </a:t>
            </a:r>
          </a:p>
          <a:p>
            <a:pPr lvl="1"/>
            <a:r>
              <a:rPr lang="en-US" sz="3200" dirty="0"/>
              <a:t>Responsibilities relating to your profession or calling</a:t>
            </a:r>
          </a:p>
        </p:txBody>
      </p:sp>
    </p:spTree>
    <p:extLst>
      <p:ext uri="{BB962C8B-B14F-4D97-AF65-F5344CB8AC3E}">
        <p14:creationId xmlns:p14="http://schemas.microsoft.com/office/powerpoint/2010/main" val="3409255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ethics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62BBE-7143-E343-B1D1-0EF239CFB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some who argue that ethical organizational ethics are limited: </a:t>
            </a:r>
          </a:p>
          <a:p>
            <a:pPr lvl="1"/>
            <a:r>
              <a:rPr lang="en-US" sz="3200" dirty="0"/>
              <a:t>Stockholder theory (e.g. Milton Friedman). An employee’s duty is to the owners of the business (which often means the stakeholders) above all others – although legal requirements must be met. </a:t>
            </a:r>
          </a:p>
          <a:p>
            <a:pPr lvl="1"/>
            <a:r>
              <a:rPr lang="en-US" sz="3200" dirty="0"/>
              <a:t>Competitive relationships between businesses. Competition may cause you to do things that could have a negative impact on the owners or employees of competitive businesses</a:t>
            </a:r>
          </a:p>
        </p:txBody>
      </p:sp>
    </p:spTree>
    <p:extLst>
      <p:ext uri="{BB962C8B-B14F-4D97-AF65-F5344CB8AC3E}">
        <p14:creationId xmlns:p14="http://schemas.microsoft.com/office/powerpoint/2010/main" val="3988337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 dirty="0"/>
              <a:t> Managing people in software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Identify some of the possible objections and criticisms that can be made of the stockholder business ethics model described above.</a:t>
            </a:r>
          </a:p>
        </p:txBody>
      </p:sp>
    </p:spTree>
    <p:extLst>
      <p:ext uri="{BB962C8B-B14F-4D97-AF65-F5344CB8AC3E}">
        <p14:creationId xmlns:p14="http://schemas.microsoft.com/office/powerpoint/2010/main" val="4187215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Professional ethics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Ch11</a:t>
            </a:r>
            <a:r>
              <a:rPr lang="en-US"/>
              <a:t> Managing people in software environments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Professionals have knowledge about the technical domain that the general public does not</a:t>
            </a:r>
          </a:p>
          <a:p>
            <a:r>
              <a:rPr lang="en-US" dirty="0"/>
              <a:t>Ethical duty of the expert to warn lay people of the risks involved in a particular course of action</a:t>
            </a:r>
          </a:p>
          <a:p>
            <a:r>
              <a:rPr lang="en-US" dirty="0"/>
              <a:t>Many professions, or would be professions, have codes of conduct for their members e.g.</a:t>
            </a:r>
          </a:p>
        </p:txBody>
      </p:sp>
    </p:spTree>
    <p:extLst>
      <p:ext uri="{BB962C8B-B14F-4D97-AF65-F5344CB8AC3E}">
        <p14:creationId xmlns:p14="http://schemas.microsoft.com/office/powerpoint/2010/main" val="4159576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5879</TotalTime>
  <Words>2342</Words>
  <Application>Microsoft Office PowerPoint</Application>
  <PresentationFormat>Widescreen</PresentationFormat>
  <Paragraphs>366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Tw Cen MT</vt:lpstr>
      <vt:lpstr>Tw Cen MT Condensed</vt:lpstr>
      <vt:lpstr>Wingdings</vt:lpstr>
      <vt:lpstr>Wingdings 3</vt:lpstr>
      <vt:lpstr>Theme_SE2019s1</vt:lpstr>
      <vt:lpstr>Chapter 11- Managing people in software environments</vt:lpstr>
      <vt:lpstr>Main topics</vt:lpstr>
      <vt:lpstr>Before organizational behaviour</vt:lpstr>
      <vt:lpstr>Hawthorne effect</vt:lpstr>
      <vt:lpstr>Selecting the best people</vt:lpstr>
      <vt:lpstr>Do good software developers have innate characteristics?</vt:lpstr>
      <vt:lpstr>A selection process</vt:lpstr>
      <vt:lpstr>A selection process - continued</vt:lpstr>
      <vt:lpstr>Instruction in the best methods</vt:lpstr>
      <vt:lpstr>Motivation</vt:lpstr>
      <vt:lpstr>Herzberg</vt:lpstr>
      <vt:lpstr>Vroom</vt:lpstr>
      <vt:lpstr>Oldham-Hackman job characteristics</vt:lpstr>
      <vt:lpstr>Methods to improve job satisfaction</vt:lpstr>
      <vt:lpstr>Stress</vt:lpstr>
      <vt:lpstr>Stress can be reduced by good project management</vt:lpstr>
      <vt:lpstr>Health and safety</vt:lpstr>
      <vt:lpstr>Health and safety - continued</vt:lpstr>
      <vt:lpstr>Health and safety - continued</vt:lpstr>
      <vt:lpstr>Ethical and professional concerns</vt:lpstr>
      <vt:lpstr>Organizational ethics</vt:lpstr>
      <vt:lpstr>Exercise</vt:lpstr>
      <vt:lpstr>Professional ethics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Mai Phước Lộc</cp:lastModifiedBy>
  <cp:revision>182</cp:revision>
  <dcterms:created xsi:type="dcterms:W3CDTF">2009-12-29T10:39:27Z</dcterms:created>
  <dcterms:modified xsi:type="dcterms:W3CDTF">2024-09-16T01:58:09Z</dcterms:modified>
</cp:coreProperties>
</file>