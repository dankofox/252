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45"/>
  </p:notesMasterIdLst>
  <p:handoutMasterIdLst>
    <p:handoutMasterId r:id="rId46"/>
  </p:handoutMasterIdLst>
  <p:sldIdLst>
    <p:sldId id="299" r:id="rId2"/>
    <p:sldId id="295" r:id="rId3"/>
    <p:sldId id="301" r:id="rId4"/>
    <p:sldId id="303" r:id="rId5"/>
    <p:sldId id="306" r:id="rId6"/>
    <p:sldId id="335" r:id="rId7"/>
    <p:sldId id="308" r:id="rId8"/>
    <p:sldId id="310" r:id="rId9"/>
    <p:sldId id="312" r:id="rId10"/>
    <p:sldId id="339" r:id="rId11"/>
    <p:sldId id="336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5" r:id="rId37"/>
    <p:sldId id="364" r:id="rId38"/>
    <p:sldId id="366" r:id="rId39"/>
    <p:sldId id="367" r:id="rId40"/>
    <p:sldId id="368" r:id="rId41"/>
    <p:sldId id="369" r:id="rId42"/>
    <p:sldId id="370" r:id="rId43"/>
    <p:sldId id="371" r:id="rId4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6727" autoAdjust="0"/>
  </p:normalViewPr>
  <p:slideViewPr>
    <p:cSldViewPr snapToGrid="0" snapToObjects="1">
      <p:cViewPr>
        <p:scale>
          <a:sx n="150" d="100"/>
          <a:sy n="150" d="100"/>
        </p:scale>
        <p:origin x="702" y="228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dirty="0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848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47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5 - Software effort estimation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successful project?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9B599-51E8-88EB-192D-B4CD1D639942}"/>
              </a:ext>
            </a:extLst>
          </p:cNvPr>
          <p:cNvSpPr txBox="1"/>
          <p:nvPr/>
        </p:nvSpPr>
        <p:spPr>
          <a:xfrm>
            <a:off x="2773359" y="5452544"/>
            <a:ext cx="7288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+mn-lt"/>
              </a:rPr>
              <a:t>BUT what if the targets are not achievable?</a:t>
            </a:r>
            <a:endParaRPr lang="en-US" sz="3200" dirty="0">
              <a:latin typeface="+mn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37825A-BBCE-2DCC-AEAA-893DABF80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1524001"/>
            <a:ext cx="4499342" cy="2664939"/>
          </a:xfrm>
        </p:spPr>
        <p:txBody>
          <a:bodyPr>
            <a:normAutofit/>
          </a:bodyPr>
          <a:lstStyle/>
          <a:p>
            <a:r>
              <a:rPr lang="en-US" sz="3200" dirty="0"/>
              <a:t>Delivering:</a:t>
            </a:r>
          </a:p>
          <a:p>
            <a:pPr lvl="1"/>
            <a:r>
              <a:rPr lang="en-US" sz="3200" dirty="0"/>
              <a:t>Agreed functionality on time</a:t>
            </a:r>
          </a:p>
          <a:p>
            <a:pPr lvl="1"/>
            <a:r>
              <a:rPr lang="en-US" sz="3200" dirty="0"/>
              <a:t>At the agreed cost with the required quality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D097429-5938-095A-AF69-680D0BB164CE}"/>
              </a:ext>
            </a:extLst>
          </p:cNvPr>
          <p:cNvSpPr txBox="1">
            <a:spLocks/>
          </p:cNvSpPr>
          <p:nvPr/>
        </p:nvSpPr>
        <p:spPr>
          <a:xfrm>
            <a:off x="6051268" y="1524002"/>
            <a:ext cx="4965192" cy="266493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sz="3200" dirty="0"/>
              <a:t>Stages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3200" dirty="0"/>
              <a:t>1. Set targets</a:t>
            </a:r>
          </a:p>
          <a:p>
            <a:pPr marL="0" indent="0">
              <a:buNone/>
            </a:pPr>
            <a:r>
              <a:rPr lang="en-US" sz="3200" dirty="0"/>
              <a:t>2. Attempt to achieve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problems with estimating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549AB-7486-1AE2-6DC2-5CDE2136C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174051"/>
            <a:ext cx="10786872" cy="4781349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dirty="0"/>
              <a:t>Subjective nature of much of estimating</a:t>
            </a:r>
          </a:p>
          <a:p>
            <a:pPr lvl="1">
              <a:lnSpc>
                <a:spcPct val="80000"/>
              </a:lnSpc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It may be difficult to produce evidence to support your precise target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dirty="0"/>
              <a:t>Political pressures</a:t>
            </a:r>
          </a:p>
          <a:p>
            <a:pPr lvl="1">
              <a:lnSpc>
                <a:spcPct val="80000"/>
              </a:lnSpc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Managers may wish to reduce estimated costs in order to win support for acceptance of a project proposal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dirty="0"/>
              <a:t>Changing technologies</a:t>
            </a:r>
          </a:p>
          <a:p>
            <a:pPr lvl="1">
              <a:lnSpc>
                <a:spcPct val="80000"/>
              </a:lnSpc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these bring uncertainties, especially in the early days when there is a ‘learning curve’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dirty="0"/>
              <a:t>Projects differ</a:t>
            </a:r>
          </a:p>
          <a:p>
            <a:pPr lvl="1">
              <a:lnSpc>
                <a:spcPct val="80000"/>
              </a:lnSpc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Experience on one project may not be applicable to another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4AABB35-9A65-9B82-3552-F56A7FC6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Over and under-estimating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164AF-8486-DAF8-CA14-4E090D90AD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Parkinson’s Law: ‘Work expands to fill the time available’</a:t>
            </a:r>
          </a:p>
          <a:p>
            <a:r>
              <a:rPr lang="en-US" dirty="0"/>
              <a:t>An over-estimate is likely to cause project to take longer than it would otherwise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8AD859-1C98-EEC2-76B1-581486FC7E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Weinberg’s Zeroth Law of reliability: ‘a software project that does not have to meet a reliability requirement can meet any other requirement’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75969CB-B379-92FA-8BFA-0F265E47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Mar 2021</a:t>
            </a:r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6A4D3DC4-9E7F-1C47-B729-896D53019E3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3BD7392-C840-4DA7-6FA8-FD9A534B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60ACDCD9-9495-49A0-B08D-6013DC0B5A61}"/>
              </a:ext>
            </a:extLst>
          </p:cNvPr>
          <p:cNvSpPr txBox="1">
            <a:spLocks/>
          </p:cNvSpPr>
          <p:nvPr/>
        </p:nvSpPr>
        <p:spPr>
          <a:xfrm>
            <a:off x="11324430" y="6476393"/>
            <a:ext cx="973137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fld id="{6A4D3DC4-9E7F-1C47-B729-896D53019E3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for successful estimating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CAA7E-E61C-A9C1-511B-72EF1A54A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about past projects</a:t>
            </a:r>
          </a:p>
          <a:p>
            <a:pPr lvl="1"/>
            <a:r>
              <a:rPr lang="en-US" sz="3200" dirty="0"/>
              <a:t>Need to collect performance details about past project: how big were they? How much effort/time did they need?</a:t>
            </a:r>
          </a:p>
          <a:p>
            <a:r>
              <a:rPr lang="en-US" dirty="0"/>
              <a:t>Need to be able to measure the amount of work involved</a:t>
            </a:r>
          </a:p>
          <a:p>
            <a:pPr lvl="1"/>
            <a:r>
              <a:rPr lang="en-US" sz="3200" dirty="0"/>
              <a:t>Traditional size measurement for software is ‘lines of code’ – but this can have problems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8890D8F-FDC7-D01F-B753-419D7243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taxonomy of estimating methods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DFDAC-047C-CDFB-CD4D-0B1442C04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Bottom-up - activity based, analytical</a:t>
            </a:r>
          </a:p>
          <a:p>
            <a:r>
              <a:rPr lang="en-US" dirty="0"/>
              <a:t>Parametric or algorithmic models e.g. function points</a:t>
            </a:r>
          </a:p>
          <a:p>
            <a:r>
              <a:rPr lang="en-US" dirty="0"/>
              <a:t>Expert opinion - just guessing?</a:t>
            </a:r>
          </a:p>
          <a:p>
            <a:r>
              <a:rPr lang="en-US" dirty="0"/>
              <a:t>Analogy - case-based, comparative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3CA153B-77A1-AD1C-5B2E-53B86782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versus top-down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20209-3460-0FEA-91A5-B10E73F58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Bottom-up</a:t>
            </a:r>
          </a:p>
          <a:p>
            <a:r>
              <a:rPr lang="en-US" dirty="0"/>
              <a:t>use when no past project data</a:t>
            </a:r>
          </a:p>
          <a:p>
            <a:pPr lvl="1"/>
            <a:r>
              <a:rPr lang="en-US" sz="3200" dirty="0"/>
              <a:t>identify all tasks that have to be done – so quite time-consuming</a:t>
            </a:r>
          </a:p>
          <a:p>
            <a:pPr lvl="1"/>
            <a:r>
              <a:rPr lang="en-US" sz="3200" dirty="0"/>
              <a:t>use when you have no data about similar past projects</a:t>
            </a:r>
          </a:p>
          <a:p>
            <a:r>
              <a:rPr lang="en-US" dirty="0"/>
              <a:t>Top-down</a:t>
            </a:r>
          </a:p>
          <a:p>
            <a:pPr lvl="1"/>
            <a:r>
              <a:rPr lang="en-US" sz="3200" dirty="0"/>
              <a:t>produce overall estimate based on project cost drivers</a:t>
            </a:r>
          </a:p>
          <a:p>
            <a:pPr lvl="1"/>
            <a:r>
              <a:rPr lang="en-US" sz="3200" dirty="0"/>
              <a:t>based on past project data</a:t>
            </a:r>
          </a:p>
          <a:p>
            <a:pPr lvl="1"/>
            <a:r>
              <a:rPr lang="en-US" sz="3200" dirty="0"/>
              <a:t>divide overall estimate between jobs to be done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4097C5-4870-355D-B4EA-BACD82A7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6882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estimating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445BA-3A44-067F-4D3E-AF419BFE8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007666" cy="47813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Break project into smaller and smaller components</a:t>
            </a:r>
          </a:p>
          <a:p>
            <a:pPr marL="0" indent="0">
              <a:buNone/>
            </a:pPr>
            <a:r>
              <a:rPr lang="en-US" dirty="0"/>
              <a:t>[2. Stop when you get to what one person can do in one/two weeks]</a:t>
            </a:r>
          </a:p>
          <a:p>
            <a:pPr marL="0" indent="0">
              <a:buNone/>
            </a:pPr>
            <a:r>
              <a:rPr lang="en-US" dirty="0"/>
              <a:t>3. Estimate costs for the lowest level activities</a:t>
            </a:r>
          </a:p>
          <a:p>
            <a:pPr marL="0" indent="0">
              <a:buNone/>
            </a:pPr>
            <a:r>
              <a:rPr lang="en-US" dirty="0"/>
              <a:t>4. At each higher level calculate estimate by adding estimates for lower levels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D927AD-ECA8-72C9-C117-A862F2C4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estimates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CECE32-AD29-9CDC-6349-9520C92055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23937" y="1323475"/>
            <a:ext cx="5512453" cy="4352971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D7D64-33BA-883D-CC8A-E1E9D08EC0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Produce overall estimate using effort driver(s)</a:t>
            </a:r>
          </a:p>
          <a:p>
            <a:r>
              <a:rPr lang="en-US" dirty="0"/>
              <a:t>distribute proportions of overall estimate to components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204677F-FE8C-D475-1AB9-80A98F04A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Algorithmic/Parametric models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BC615C-014A-7496-71F9-22FF8AA37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706" y="3124399"/>
            <a:ext cx="7265340" cy="318496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C15CD-8091-01A7-A124-99BBF04D0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COCOMO</a:t>
            </a:r>
            <a:r>
              <a:rPr lang="en-US" dirty="0"/>
              <a:t> (lines of code) and function points examples of these</a:t>
            </a:r>
          </a:p>
          <a:p>
            <a:r>
              <a:rPr lang="en-US" dirty="0"/>
              <a:t>Problem with </a:t>
            </a:r>
            <a:r>
              <a:rPr lang="en-US" dirty="0" err="1"/>
              <a:t>COCOMO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But what is desired is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6CC9C74-FE82-CAE6-24D3-6A4960DA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models - the need for historical data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0ED599-B49E-A37C-61BF-30141B1C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344952"/>
            <a:ext cx="10786872" cy="4781349"/>
          </a:xfrm>
        </p:spPr>
        <p:txBody>
          <a:bodyPr>
            <a:normAutofit/>
          </a:bodyPr>
          <a:lstStyle/>
          <a:p>
            <a:r>
              <a:rPr lang="en-US" dirty="0"/>
              <a:t>simplistic model for an estimate</a:t>
            </a:r>
          </a:p>
          <a:p>
            <a:pPr lvl="1"/>
            <a:r>
              <a:rPr lang="en-US" sz="3200" dirty="0"/>
              <a:t>estimated effort = (system size) / productivity</a:t>
            </a:r>
          </a:p>
          <a:p>
            <a:r>
              <a:rPr lang="en-US" dirty="0"/>
              <a:t>e.g.</a:t>
            </a:r>
          </a:p>
          <a:p>
            <a:pPr lvl="1"/>
            <a:r>
              <a:rPr lang="en-US" sz="3200" dirty="0"/>
              <a:t>system size = lines of code</a:t>
            </a:r>
          </a:p>
          <a:p>
            <a:pPr lvl="1"/>
            <a:r>
              <a:rPr lang="en-US" sz="3200" dirty="0"/>
              <a:t>productivity = lines of code per day</a:t>
            </a:r>
          </a:p>
          <a:p>
            <a:r>
              <a:rPr lang="en-US" dirty="0"/>
              <a:t>productivity = (system size) / effort</a:t>
            </a:r>
          </a:p>
          <a:p>
            <a:pPr lvl="1"/>
            <a:r>
              <a:rPr lang="en-US" sz="3200" dirty="0"/>
              <a:t>based on past projects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E7C206-9B90-59A3-4ADB-86050BF0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2"/>
            <a:ext cx="10786872" cy="1506866"/>
          </a:xfrm>
        </p:spPr>
        <p:txBody>
          <a:bodyPr>
            <a:noAutofit/>
          </a:bodyPr>
          <a:lstStyle/>
          <a:p>
            <a:r>
              <a:rPr lang="en-US" dirty="0"/>
              <a:t>Some models focus on task or system size e.g. Function Points</a:t>
            </a:r>
          </a:p>
          <a:p>
            <a:r>
              <a:rPr lang="en-US" dirty="0"/>
              <a:t>FPs originally used to estimate Lines of Code, rather than effort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F800B-4908-3AA5-D31F-A865635ACCC0}"/>
              </a:ext>
            </a:extLst>
          </p:cNvPr>
          <p:cNvSpPr/>
          <p:nvPr/>
        </p:nvSpPr>
        <p:spPr>
          <a:xfrm>
            <a:off x="5429508" y="3646192"/>
            <a:ext cx="2353874" cy="1386334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CCBFF7-4277-3555-252F-08B4C32C723D}"/>
              </a:ext>
            </a:extLst>
          </p:cNvPr>
          <p:cNvSpPr txBox="1">
            <a:spLocks/>
          </p:cNvSpPr>
          <p:nvPr/>
        </p:nvSpPr>
        <p:spPr>
          <a:xfrm>
            <a:off x="6021227" y="4085566"/>
            <a:ext cx="1123409" cy="50758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>
                <a:solidFill>
                  <a:srgbClr val="0070C0"/>
                </a:solidFill>
              </a:rPr>
              <a:t>model</a:t>
            </a: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C6656220-0C8A-386A-3692-0EEB1292A4E3}"/>
              </a:ext>
            </a:extLst>
          </p:cNvPr>
          <p:cNvSpPr/>
          <p:nvPr/>
        </p:nvSpPr>
        <p:spPr>
          <a:xfrm>
            <a:off x="3490068" y="4469990"/>
            <a:ext cx="1358828" cy="1086586"/>
          </a:xfrm>
          <a:prstGeom prst="ben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386139EE-70DE-EA60-814F-C46E4E94757E}"/>
              </a:ext>
            </a:extLst>
          </p:cNvPr>
          <p:cNvSpPr/>
          <p:nvPr/>
        </p:nvSpPr>
        <p:spPr>
          <a:xfrm rot="10800000" flipH="1">
            <a:off x="3490067" y="3279487"/>
            <a:ext cx="1358828" cy="1086588"/>
          </a:xfrm>
          <a:prstGeom prst="ben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4647CE2-3584-3EBF-5B3E-9B1262425986}"/>
              </a:ext>
            </a:extLst>
          </p:cNvPr>
          <p:cNvSpPr/>
          <p:nvPr/>
        </p:nvSpPr>
        <p:spPr>
          <a:xfrm>
            <a:off x="8233254" y="4048578"/>
            <a:ext cx="1294630" cy="59500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7BA1B67-45BA-9E47-C1AE-A80F68689551}"/>
              </a:ext>
            </a:extLst>
          </p:cNvPr>
          <p:cNvSpPr txBox="1">
            <a:spLocks/>
          </p:cNvSpPr>
          <p:nvPr/>
        </p:nvSpPr>
        <p:spPr>
          <a:xfrm>
            <a:off x="2019892" y="2676815"/>
            <a:ext cx="4299176" cy="58287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3200" dirty="0"/>
              <a:t>Number of file types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1600677-84F3-34FE-7688-768CA40BA26C}"/>
              </a:ext>
            </a:extLst>
          </p:cNvPr>
          <p:cNvSpPr txBox="1">
            <a:spLocks/>
          </p:cNvSpPr>
          <p:nvPr/>
        </p:nvSpPr>
        <p:spPr>
          <a:xfrm>
            <a:off x="944763" y="5582304"/>
            <a:ext cx="5661682" cy="102992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3200" dirty="0"/>
              <a:t>Numbers of input </a:t>
            </a:r>
            <a:br>
              <a:rPr lang="en-US" sz="3200" dirty="0"/>
            </a:br>
            <a:r>
              <a:rPr lang="en-US" sz="3200" dirty="0"/>
              <a:t>and output transaction types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94CF39F-D9A4-94BC-841B-FD8C70CF8562}"/>
              </a:ext>
            </a:extLst>
          </p:cNvPr>
          <p:cNvSpPr txBox="1">
            <a:spLocks/>
          </p:cNvSpPr>
          <p:nvPr/>
        </p:nvSpPr>
        <p:spPr>
          <a:xfrm>
            <a:off x="9801144" y="3714728"/>
            <a:ext cx="1674188" cy="113068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dirty="0"/>
              <a:t>S</a:t>
            </a:r>
            <a:r>
              <a:rPr lang="en-US" sz="3200" dirty="0"/>
              <a:t>ystem size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4DBE162-C485-A4BA-63CC-C89F215E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Other models focus on productivity: e.g. </a:t>
            </a:r>
            <a:r>
              <a:rPr lang="en-US" dirty="0" err="1"/>
              <a:t>COCOMO</a:t>
            </a:r>
            <a:endParaRPr lang="en-US" dirty="0"/>
          </a:p>
          <a:p>
            <a:r>
              <a:rPr lang="en-US" dirty="0"/>
              <a:t>Lines of code (or FPs </a:t>
            </a:r>
            <a:r>
              <a:rPr lang="en-US" dirty="0" err="1"/>
              <a:t>etc</a:t>
            </a:r>
            <a:r>
              <a:rPr lang="en-US" dirty="0"/>
              <a:t>) an input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3F4F32-9026-79C0-444F-43C09ABDF45A}"/>
              </a:ext>
            </a:extLst>
          </p:cNvPr>
          <p:cNvSpPr/>
          <p:nvPr/>
        </p:nvSpPr>
        <p:spPr>
          <a:xfrm>
            <a:off x="4515107" y="3172195"/>
            <a:ext cx="2353874" cy="988621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8C1C345A-8437-B4DE-75C5-E34933C2DCBD}"/>
              </a:ext>
            </a:extLst>
          </p:cNvPr>
          <p:cNvSpPr/>
          <p:nvPr/>
        </p:nvSpPr>
        <p:spPr>
          <a:xfrm>
            <a:off x="4515107" y="4565245"/>
            <a:ext cx="676893" cy="1389413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5356EFA5-48B8-4476-9251-8E1B9A7AFE94}"/>
              </a:ext>
            </a:extLst>
          </p:cNvPr>
          <p:cNvSpPr/>
          <p:nvPr/>
        </p:nvSpPr>
        <p:spPr>
          <a:xfrm>
            <a:off x="5344400" y="4545580"/>
            <a:ext cx="676893" cy="1389413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3F5951FE-E6EC-38A8-FF34-A44890387BD8}"/>
              </a:ext>
            </a:extLst>
          </p:cNvPr>
          <p:cNvSpPr/>
          <p:nvPr/>
        </p:nvSpPr>
        <p:spPr>
          <a:xfrm>
            <a:off x="6192088" y="4545580"/>
            <a:ext cx="676893" cy="1389413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BE62298-5A44-921C-7D36-3182A5A62D3F}"/>
              </a:ext>
            </a:extLst>
          </p:cNvPr>
          <p:cNvSpPr/>
          <p:nvPr/>
        </p:nvSpPr>
        <p:spPr>
          <a:xfrm>
            <a:off x="2786005" y="3362200"/>
            <a:ext cx="1294411" cy="6086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F8F3A45-1F7C-B323-60A5-D2120D6394D9}"/>
              </a:ext>
            </a:extLst>
          </p:cNvPr>
          <p:cNvSpPr/>
          <p:nvPr/>
        </p:nvSpPr>
        <p:spPr>
          <a:xfrm>
            <a:off x="7303672" y="3362200"/>
            <a:ext cx="1294411" cy="6086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A1236A-D148-7324-2F15-DECA7A4F9D5E}"/>
              </a:ext>
            </a:extLst>
          </p:cNvPr>
          <p:cNvSpPr txBox="1">
            <a:spLocks/>
          </p:cNvSpPr>
          <p:nvPr/>
        </p:nvSpPr>
        <p:spPr>
          <a:xfrm>
            <a:off x="1368209" y="3008311"/>
            <a:ext cx="1294411" cy="113068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dirty="0"/>
              <a:t>S</a:t>
            </a:r>
            <a:r>
              <a:rPr lang="en-US" sz="3200" dirty="0"/>
              <a:t>ystem size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D9A2958-3C44-2211-D7B3-2C86F28E4515}"/>
              </a:ext>
            </a:extLst>
          </p:cNvPr>
          <p:cNvSpPr txBox="1">
            <a:spLocks/>
          </p:cNvSpPr>
          <p:nvPr/>
        </p:nvSpPr>
        <p:spPr>
          <a:xfrm>
            <a:off x="7060750" y="4789466"/>
            <a:ext cx="2202003" cy="113068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3200" dirty="0"/>
              <a:t>Productivity factors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682EEC4-5332-AE1E-C7C0-577D276DBCD5}"/>
              </a:ext>
            </a:extLst>
          </p:cNvPr>
          <p:cNvSpPr txBox="1">
            <a:spLocks/>
          </p:cNvSpPr>
          <p:nvPr/>
        </p:nvSpPr>
        <p:spPr>
          <a:xfrm>
            <a:off x="7060750" y="2863660"/>
            <a:ext cx="2896369" cy="60861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3200" dirty="0"/>
              <a:t>Estimated effort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2861E80-E671-3396-C21A-771E172A7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Expert judgement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Asking someone who is familiar with and knowledgeable about the application area and the technologies to provide an estimate</a:t>
            </a:r>
          </a:p>
          <a:p>
            <a:r>
              <a:rPr lang="en-US" dirty="0"/>
              <a:t>Particularly appropriate where existing code is to be modified</a:t>
            </a:r>
          </a:p>
          <a:p>
            <a:r>
              <a:rPr lang="en-US" dirty="0"/>
              <a:t>Research shows that experts judgement in practice tends to be based on analogy</a:t>
            </a:r>
          </a:p>
          <a:p>
            <a:endParaRPr lang="en-US" sz="3200" dirty="0"/>
          </a:p>
          <a:p>
            <a:r>
              <a:rPr lang="en-US" dirty="0"/>
              <a:t>Attribute values  effort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78F7D57-3D5E-D3A3-376B-284AEFB0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by analogy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Ch3</a:t>
            </a:r>
            <a:r>
              <a:rPr lang="en-US" dirty="0"/>
              <a:t>. Step Wise: An approach to planning software projects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DF7D75-B930-6CDD-CA37-7449D8878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790002"/>
              </p:ext>
            </p:extLst>
          </p:nvPr>
        </p:nvGraphicFramePr>
        <p:xfrm>
          <a:off x="1024126" y="2316480"/>
          <a:ext cx="467602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046">
                  <a:extLst>
                    <a:ext uri="{9D8B030D-6E8A-4147-A177-3AD203B41FA5}">
                      <a16:colId xmlns:a16="http://schemas.microsoft.com/office/drawing/2014/main" val="240386103"/>
                    </a:ext>
                  </a:extLst>
                </a:gridCol>
                <a:gridCol w="1490983">
                  <a:extLst>
                    <a:ext uri="{9D8B030D-6E8A-4147-A177-3AD203B41FA5}">
                      <a16:colId xmlns:a16="http://schemas.microsoft.com/office/drawing/2014/main" val="3572538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attribute values 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effort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27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attribute values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effort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28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attribute values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effort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10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attribute values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effort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487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attribute values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effort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03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attribute values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effort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47429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E480EB-DF1E-43EE-EFBB-0B3DE80DA5F1}"/>
              </a:ext>
            </a:extLst>
          </p:cNvPr>
          <p:cNvSpPr txBox="1">
            <a:spLocks/>
          </p:cNvSpPr>
          <p:nvPr/>
        </p:nvSpPr>
        <p:spPr>
          <a:xfrm>
            <a:off x="754899" y="1622853"/>
            <a:ext cx="2604464" cy="60789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dirty="0"/>
              <a:t>source cases</a:t>
            </a:r>
            <a:endParaRPr lang="en-US" sz="3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25F7D7-17A6-5D6F-DA94-032304A51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260538"/>
              </p:ext>
            </p:extLst>
          </p:nvPr>
        </p:nvGraphicFramePr>
        <p:xfrm>
          <a:off x="6771596" y="3474720"/>
          <a:ext cx="467602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046">
                  <a:extLst>
                    <a:ext uri="{9D8B030D-6E8A-4147-A177-3AD203B41FA5}">
                      <a16:colId xmlns:a16="http://schemas.microsoft.com/office/drawing/2014/main" val="894704416"/>
                    </a:ext>
                  </a:extLst>
                </a:gridCol>
                <a:gridCol w="1490983">
                  <a:extLst>
                    <a:ext uri="{9D8B030D-6E8A-4147-A177-3AD203B41FA5}">
                      <a16:colId xmlns:a16="http://schemas.microsoft.com/office/drawing/2014/main" val="290508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attribute values 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rgbClr val="0070C0"/>
                          </a:solidFill>
                        </a:rPr>
                        <a:t>?????</a:t>
                      </a:r>
                      <a:endParaRPr lang="vi-VN" sz="32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288606"/>
                  </a:ext>
                </a:extLst>
              </a:tr>
            </a:tbl>
          </a:graphicData>
        </a:graphic>
      </p:graphicFrame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CA52F6E1-CE8A-33AC-3B9D-9B44730499FD}"/>
              </a:ext>
            </a:extLst>
          </p:cNvPr>
          <p:cNvSpPr/>
          <p:nvPr/>
        </p:nvSpPr>
        <p:spPr>
          <a:xfrm>
            <a:off x="7042068" y="4733343"/>
            <a:ext cx="3788228" cy="1483773"/>
          </a:xfrm>
          <a:prstGeom prst="wedgeRectCallout">
            <a:avLst>
              <a:gd name="adj1" fmla="val -144818"/>
              <a:gd name="adj2" fmla="val -100948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895BAE-8044-4B5A-CC46-623417313C37}"/>
              </a:ext>
            </a:extLst>
          </p:cNvPr>
          <p:cNvSpPr txBox="1">
            <a:spLocks/>
          </p:cNvSpPr>
          <p:nvPr/>
        </p:nvSpPr>
        <p:spPr>
          <a:xfrm>
            <a:off x="7283628" y="4811341"/>
            <a:ext cx="3297286" cy="135860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>
                <a:solidFill>
                  <a:srgbClr val="0070C0"/>
                </a:solidFill>
              </a:rPr>
              <a:t>Select case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with closet attribute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values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B7A667-0144-67FD-3AB4-35DD562C6E3C}"/>
              </a:ext>
            </a:extLst>
          </p:cNvPr>
          <p:cNvCxnSpPr>
            <a:cxnSpLocks/>
          </p:cNvCxnSpPr>
          <p:nvPr/>
        </p:nvCxnSpPr>
        <p:spPr>
          <a:xfrm>
            <a:off x="5700155" y="4381995"/>
            <a:ext cx="440348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18D197-47F2-281C-47CF-95E631A4056F}"/>
              </a:ext>
            </a:extLst>
          </p:cNvPr>
          <p:cNvCxnSpPr>
            <a:cxnSpLocks/>
          </p:cNvCxnSpPr>
          <p:nvPr/>
        </p:nvCxnSpPr>
        <p:spPr>
          <a:xfrm flipV="1">
            <a:off x="10082151" y="4191990"/>
            <a:ext cx="498763" cy="19000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1F00A2C-88E2-CBAF-5FE6-BBF5DA521E21}"/>
              </a:ext>
            </a:extLst>
          </p:cNvPr>
          <p:cNvSpPr txBox="1">
            <a:spLocks/>
          </p:cNvSpPr>
          <p:nvPr/>
        </p:nvSpPr>
        <p:spPr>
          <a:xfrm>
            <a:off x="6417562" y="2896608"/>
            <a:ext cx="2604464" cy="60789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dirty="0"/>
              <a:t>target cases</a:t>
            </a:r>
            <a:endParaRPr lang="en-US" sz="3200" dirty="0"/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F83580C8-A093-0312-CE97-F8ADD8217754}"/>
              </a:ext>
            </a:extLst>
          </p:cNvPr>
          <p:cNvSpPr/>
          <p:nvPr/>
        </p:nvSpPr>
        <p:spPr>
          <a:xfrm>
            <a:off x="8465925" y="1135331"/>
            <a:ext cx="3015616" cy="1397240"/>
          </a:xfrm>
          <a:prstGeom prst="wedgeRectCallout">
            <a:avLst>
              <a:gd name="adj1" fmla="val 22484"/>
              <a:gd name="adj2" fmla="val 12369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40F94AF-CFCD-794D-C724-B4D6439E52F6}"/>
              </a:ext>
            </a:extLst>
          </p:cNvPr>
          <p:cNvSpPr txBox="1">
            <a:spLocks/>
          </p:cNvSpPr>
          <p:nvPr/>
        </p:nvSpPr>
        <p:spPr>
          <a:xfrm>
            <a:off x="8728603" y="1143176"/>
            <a:ext cx="2578127" cy="135860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>
                <a:solidFill>
                  <a:srgbClr val="0070C0"/>
                </a:solidFill>
              </a:rPr>
              <a:t>Use effort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from source as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estimate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Stages: identify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2"/>
            <a:ext cx="10786872" cy="3086284"/>
          </a:xfrm>
        </p:spPr>
        <p:txBody>
          <a:bodyPr>
            <a:noAutofit/>
          </a:bodyPr>
          <a:lstStyle/>
          <a:p>
            <a:r>
              <a:rPr lang="en-US" dirty="0"/>
              <a:t>Significant features of the current project</a:t>
            </a:r>
          </a:p>
          <a:p>
            <a:r>
              <a:rPr lang="en-US" dirty="0"/>
              <a:t>previous project(s) with similar features</a:t>
            </a:r>
          </a:p>
          <a:p>
            <a:r>
              <a:rPr lang="en-US" dirty="0"/>
              <a:t>differences between the current and previous projects</a:t>
            </a:r>
          </a:p>
          <a:p>
            <a:r>
              <a:rPr lang="en-US" dirty="0"/>
              <a:t>possible reasons for error (risk)</a:t>
            </a:r>
          </a:p>
          <a:p>
            <a:r>
              <a:rPr lang="en-US" dirty="0"/>
              <a:t>measures to reduce uncertainty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730CA7A-8AEA-3ACB-06DD-CF30D062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assistance for source selection (ANGEL)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102" y="5747657"/>
            <a:ext cx="8621795" cy="5083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Euclidean distance = sq root ((</a:t>
            </a:r>
            <a:r>
              <a:rPr lang="en-US" dirty="0" err="1"/>
              <a:t>l</a:t>
            </a:r>
            <a:r>
              <a:rPr lang="en-US" baseline="-25000" dirty="0" err="1"/>
              <a:t>t</a:t>
            </a:r>
            <a:r>
              <a:rPr lang="en-US" dirty="0"/>
              <a:t>-l</a:t>
            </a:r>
            <a:r>
              <a:rPr lang="en-US" baseline="-25000" dirty="0"/>
              <a:t>s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(O</a:t>
            </a:r>
            <a:r>
              <a:rPr lang="en-US" baseline="-25000" dirty="0"/>
              <a:t>t</a:t>
            </a:r>
            <a:r>
              <a:rPr lang="en-US" dirty="0"/>
              <a:t>-</a:t>
            </a:r>
            <a:r>
              <a:rPr lang="en-US" dirty="0" err="1"/>
              <a:t>O</a:t>
            </a:r>
            <a:r>
              <a:rPr lang="en-US" baseline="-25000" dirty="0" err="1"/>
              <a:t>s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)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ACC908-E70B-B50D-CA57-D7A80D5358E9}"/>
              </a:ext>
            </a:extLst>
          </p:cNvPr>
          <p:cNvSpPr txBox="1">
            <a:spLocks/>
          </p:cNvSpPr>
          <p:nvPr/>
        </p:nvSpPr>
        <p:spPr>
          <a:xfrm>
            <a:off x="4399144" y="5075931"/>
            <a:ext cx="3394518" cy="50833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Number of outputs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0E2B46-CA0B-B526-B671-E1D6678030D6}"/>
              </a:ext>
            </a:extLst>
          </p:cNvPr>
          <p:cNvSpPr txBox="1">
            <a:spLocks/>
          </p:cNvSpPr>
          <p:nvPr/>
        </p:nvSpPr>
        <p:spPr>
          <a:xfrm rot="16200000">
            <a:off x="-718036" y="3304994"/>
            <a:ext cx="2975991" cy="50833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Number of inputs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A408A6-DBDB-782A-B4D9-BB1152C7AEF9}"/>
              </a:ext>
            </a:extLst>
          </p:cNvPr>
          <p:cNvSpPr txBox="1">
            <a:spLocks/>
          </p:cNvSpPr>
          <p:nvPr/>
        </p:nvSpPr>
        <p:spPr>
          <a:xfrm>
            <a:off x="3066725" y="1604842"/>
            <a:ext cx="1600278" cy="50833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Source 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06E5CEF-12E1-2765-613B-E7095C4D29DC}"/>
              </a:ext>
            </a:extLst>
          </p:cNvPr>
          <p:cNvSpPr txBox="1">
            <a:spLocks/>
          </p:cNvSpPr>
          <p:nvPr/>
        </p:nvSpPr>
        <p:spPr>
          <a:xfrm>
            <a:off x="8370658" y="2339996"/>
            <a:ext cx="1544744" cy="50833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Source B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195613B-63C2-B2E2-AA6C-2ED00B292DF5}"/>
              </a:ext>
            </a:extLst>
          </p:cNvPr>
          <p:cNvSpPr txBox="1">
            <a:spLocks/>
          </p:cNvSpPr>
          <p:nvPr/>
        </p:nvSpPr>
        <p:spPr>
          <a:xfrm>
            <a:off x="5840008" y="4160992"/>
            <a:ext cx="1155108" cy="50833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target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55710BE-2609-9B18-71C7-669049971688}"/>
              </a:ext>
            </a:extLst>
          </p:cNvPr>
          <p:cNvSpPr txBox="1">
            <a:spLocks/>
          </p:cNvSpPr>
          <p:nvPr/>
        </p:nvSpPr>
        <p:spPr>
          <a:xfrm>
            <a:off x="3992826" y="3856638"/>
            <a:ext cx="1155108" cy="50833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O</a:t>
            </a:r>
            <a:r>
              <a:rPr lang="en-US" baseline="-25000" dirty="0"/>
              <a:t>t</a:t>
            </a:r>
            <a:r>
              <a:rPr lang="en-US" dirty="0"/>
              <a:t>-</a:t>
            </a:r>
            <a:r>
              <a:rPr lang="en-US" dirty="0" err="1"/>
              <a:t>O</a:t>
            </a:r>
            <a:r>
              <a:rPr lang="en-US" baseline="-25000" dirty="0" err="1"/>
              <a:t>s</a:t>
            </a:r>
            <a:endParaRPr lang="en-US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D3CDF-7D49-F936-1AAC-0DFE89E628C3}"/>
              </a:ext>
            </a:extLst>
          </p:cNvPr>
          <p:cNvSpPr txBox="1"/>
          <p:nvPr/>
        </p:nvSpPr>
        <p:spPr>
          <a:xfrm>
            <a:off x="5640779" y="301039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vi-VN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1F8C617-0C7D-B046-5167-EDDABDD3A24E}"/>
              </a:ext>
            </a:extLst>
          </p:cNvPr>
          <p:cNvSpPr txBox="1">
            <a:spLocks/>
          </p:cNvSpPr>
          <p:nvPr/>
        </p:nvSpPr>
        <p:spPr>
          <a:xfrm>
            <a:off x="2672325" y="2901485"/>
            <a:ext cx="693009" cy="50833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 err="1"/>
              <a:t>l</a:t>
            </a:r>
            <a:r>
              <a:rPr lang="en-US" baseline="-25000" dirty="0" err="1"/>
              <a:t>t</a:t>
            </a:r>
            <a:r>
              <a:rPr lang="en-US" dirty="0"/>
              <a:t>-l</a:t>
            </a:r>
            <a:r>
              <a:rPr lang="en-US" baseline="-25000" dirty="0"/>
              <a:t>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C4BB6D-AFF8-9970-67E4-1DA25EF5C301}"/>
              </a:ext>
            </a:extLst>
          </p:cNvPr>
          <p:cNvCxnSpPr>
            <a:cxnSpLocks/>
          </p:cNvCxnSpPr>
          <p:nvPr/>
        </p:nvCxnSpPr>
        <p:spPr>
          <a:xfrm flipV="1">
            <a:off x="1484416" y="1425039"/>
            <a:ext cx="0" cy="34913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88AF4B-B71D-2D85-BB78-3FDF3078B1A5}"/>
              </a:ext>
            </a:extLst>
          </p:cNvPr>
          <p:cNvCxnSpPr>
            <a:cxnSpLocks/>
          </p:cNvCxnSpPr>
          <p:nvPr/>
        </p:nvCxnSpPr>
        <p:spPr>
          <a:xfrm>
            <a:off x="1466011" y="4912541"/>
            <a:ext cx="92599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6D6CE11D-1F38-4464-D2B3-3169CD621ACB}"/>
              </a:ext>
            </a:extLst>
          </p:cNvPr>
          <p:cNvSpPr/>
          <p:nvPr/>
        </p:nvSpPr>
        <p:spPr>
          <a:xfrm>
            <a:off x="3424114" y="2286502"/>
            <a:ext cx="561974" cy="31135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3587B9FD-9F9D-245F-3E2B-1E1AB6C2CDE9}"/>
              </a:ext>
            </a:extLst>
          </p:cNvPr>
          <p:cNvSpPr/>
          <p:nvPr/>
        </p:nvSpPr>
        <p:spPr>
          <a:xfrm>
            <a:off x="8732384" y="3017447"/>
            <a:ext cx="561974" cy="31135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868A096-2768-8559-1896-DDCA9A152B29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3705101" y="2286502"/>
            <a:ext cx="1767178" cy="159775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F45B3A-C6EA-62C1-75DF-2F3366B2AE1A}"/>
              </a:ext>
            </a:extLst>
          </p:cNvPr>
          <p:cNvCxnSpPr>
            <a:cxnSpLocks/>
          </p:cNvCxnSpPr>
          <p:nvPr/>
        </p:nvCxnSpPr>
        <p:spPr>
          <a:xfrm>
            <a:off x="3705101" y="2268187"/>
            <a:ext cx="0" cy="158923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34C69A4-B5E1-A08F-534E-F9EF455E222D}"/>
              </a:ext>
            </a:extLst>
          </p:cNvPr>
          <p:cNvCxnSpPr>
            <a:cxnSpLocks/>
            <a:endCxn id="45" idx="0"/>
          </p:cNvCxnSpPr>
          <p:nvPr/>
        </p:nvCxnSpPr>
        <p:spPr>
          <a:xfrm flipV="1">
            <a:off x="5479016" y="3017447"/>
            <a:ext cx="3534355" cy="8629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F09B56-CA56-6DC9-1BE3-ACC64BD4A249}"/>
              </a:ext>
            </a:extLst>
          </p:cNvPr>
          <p:cNvCxnSpPr>
            <a:cxnSpLocks/>
          </p:cNvCxnSpPr>
          <p:nvPr/>
        </p:nvCxnSpPr>
        <p:spPr>
          <a:xfrm>
            <a:off x="9013371" y="3010395"/>
            <a:ext cx="0" cy="891632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EC7BE52B-FDEE-6C00-8217-8F52D3E90B8D}"/>
              </a:ext>
            </a:extLst>
          </p:cNvPr>
          <p:cNvSpPr/>
          <p:nvPr/>
        </p:nvSpPr>
        <p:spPr>
          <a:xfrm>
            <a:off x="5191292" y="3869423"/>
            <a:ext cx="561974" cy="31135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92892D2-8C63-47A1-B786-FEF778126CEA}"/>
              </a:ext>
            </a:extLst>
          </p:cNvPr>
          <p:cNvCxnSpPr>
            <a:cxnSpLocks/>
          </p:cNvCxnSpPr>
          <p:nvPr/>
        </p:nvCxnSpPr>
        <p:spPr>
          <a:xfrm flipH="1" flipV="1">
            <a:off x="3705101" y="3857423"/>
            <a:ext cx="1773915" cy="26838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47B71ED-50EC-0257-EB4D-D4B782AD3AA7}"/>
              </a:ext>
            </a:extLst>
          </p:cNvPr>
          <p:cNvCxnSpPr>
            <a:cxnSpLocks/>
          </p:cNvCxnSpPr>
          <p:nvPr/>
        </p:nvCxnSpPr>
        <p:spPr>
          <a:xfrm flipH="1" flipV="1">
            <a:off x="5479016" y="3884261"/>
            <a:ext cx="3534355" cy="1776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501480F-7850-0458-B9A8-817A846A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We are now looking more closely at four parametric models: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Albrecht/</a:t>
            </a:r>
            <a:r>
              <a:rPr lang="en-US" sz="3200" dirty="0" err="1"/>
              <a:t>IFPUG</a:t>
            </a:r>
            <a:r>
              <a:rPr lang="en-US" sz="3200" dirty="0"/>
              <a:t> function points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Symons/Mark II function points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COSMIC function points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err="1"/>
              <a:t>COCOMO81</a:t>
            </a:r>
            <a:r>
              <a:rPr lang="en-US" sz="3200" dirty="0"/>
              <a:t> and </a:t>
            </a:r>
            <a:r>
              <a:rPr lang="en-US" sz="3200" dirty="0" err="1"/>
              <a:t>COCOMO</a:t>
            </a:r>
            <a:r>
              <a:rPr lang="en-US" sz="3200" dirty="0"/>
              <a:t>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95CC47C-D580-4B5E-5097-14219D6B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Albrecht/</a:t>
            </a:r>
            <a:r>
              <a:rPr lang="en-US" dirty="0" err="1"/>
              <a:t>IFPUG</a:t>
            </a:r>
            <a:r>
              <a:rPr lang="en-US" dirty="0"/>
              <a:t> function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Albrecht worked at IBM and needed a way of measuring the relative productivity of different programming languages.</a:t>
            </a:r>
          </a:p>
          <a:p>
            <a:r>
              <a:rPr lang="en-US" dirty="0"/>
              <a:t>Needed some way of measuring the size of an application without counting lines of code.</a:t>
            </a:r>
          </a:p>
          <a:p>
            <a:r>
              <a:rPr lang="en-US" dirty="0"/>
              <a:t>Identified five types of component or functionality in an information system</a:t>
            </a:r>
          </a:p>
          <a:p>
            <a:r>
              <a:rPr lang="en-US" dirty="0"/>
              <a:t>Counted occurrences of each type of functionality in order to get an indication of the size of an information system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5C4D603-2CE4-F5D0-C477-E7EA7AB0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Albrecht/</a:t>
            </a:r>
            <a:r>
              <a:rPr lang="en-US" dirty="0" err="1"/>
              <a:t>IFPUG</a:t>
            </a:r>
            <a:r>
              <a:rPr lang="en-US" dirty="0"/>
              <a:t> function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Five function types: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Logical interface file (</a:t>
            </a:r>
            <a:r>
              <a:rPr lang="en-US" sz="3200" dirty="0" err="1"/>
              <a:t>LIF</a:t>
            </a:r>
            <a:r>
              <a:rPr lang="en-US" sz="3200" dirty="0"/>
              <a:t>) types – equates roughly to a datastore in systems analysis terms. Created and accessed by the target system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External interface file types (</a:t>
            </a:r>
            <a:r>
              <a:rPr lang="en-US" sz="3200" dirty="0" err="1"/>
              <a:t>EIF</a:t>
            </a:r>
            <a:r>
              <a:rPr lang="en-US" sz="3200" dirty="0"/>
              <a:t>) – where data is retrieved from a datastore which is actually maintained by a different application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1EC36EC-8816-488B-7C6C-E97A1BCA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Albrecht/</a:t>
            </a:r>
            <a:r>
              <a:rPr lang="en-US" dirty="0" err="1"/>
              <a:t>IFPUG</a:t>
            </a:r>
            <a:r>
              <a:rPr lang="en-US" dirty="0"/>
              <a:t> function points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External input (EI) types – input transactions which update internal computer files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External output (</a:t>
            </a:r>
            <a:r>
              <a:rPr lang="en-US" sz="3200" dirty="0" err="1"/>
              <a:t>EO</a:t>
            </a:r>
            <a:r>
              <a:rPr lang="en-US" sz="3200" dirty="0"/>
              <a:t>) types – transactions which extract and display data from internal computer files. Generally involves creating reports.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External inquiry (EQ) types – user initiated transactions which provide information but do not update computer files. Normally the user inputs some data that guides the system to the information the user needs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E911A88-0CCD-8CA9-CE17-5C4DFD146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Albrecht complexity multipliers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0A56AD-D5BF-994F-511F-BDF9B3DA3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562993"/>
              </p:ext>
            </p:extLst>
          </p:nvPr>
        </p:nvGraphicFramePr>
        <p:xfrm>
          <a:off x="1024126" y="1562814"/>
          <a:ext cx="10019924" cy="4019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981">
                  <a:extLst>
                    <a:ext uri="{9D8B030D-6E8A-4147-A177-3AD203B41FA5}">
                      <a16:colId xmlns:a16="http://schemas.microsoft.com/office/drawing/2014/main" val="1185522265"/>
                    </a:ext>
                  </a:extLst>
                </a:gridCol>
                <a:gridCol w="2504981">
                  <a:extLst>
                    <a:ext uri="{9D8B030D-6E8A-4147-A177-3AD203B41FA5}">
                      <a16:colId xmlns:a16="http://schemas.microsoft.com/office/drawing/2014/main" val="962734570"/>
                    </a:ext>
                  </a:extLst>
                </a:gridCol>
                <a:gridCol w="2504981">
                  <a:extLst>
                    <a:ext uri="{9D8B030D-6E8A-4147-A177-3AD203B41FA5}">
                      <a16:colId xmlns:a16="http://schemas.microsoft.com/office/drawing/2014/main" val="167740788"/>
                    </a:ext>
                  </a:extLst>
                </a:gridCol>
                <a:gridCol w="2504981">
                  <a:extLst>
                    <a:ext uri="{9D8B030D-6E8A-4147-A177-3AD203B41FA5}">
                      <a16:colId xmlns:a16="http://schemas.microsoft.com/office/drawing/2014/main" val="55655637"/>
                    </a:ext>
                  </a:extLst>
                </a:gridCol>
              </a:tblGrid>
              <a:tr h="706539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External user types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Low complexity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Medium complexity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High complexity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67900"/>
                  </a:ext>
                </a:extLst>
              </a:tr>
              <a:tr h="639401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EI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60411"/>
                  </a:ext>
                </a:extLst>
              </a:tr>
              <a:tr h="639401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EO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391936"/>
                  </a:ext>
                </a:extLst>
              </a:tr>
              <a:tr h="639401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EQ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632736"/>
                  </a:ext>
                </a:extLst>
              </a:tr>
              <a:tr h="639401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LIF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740687"/>
                  </a:ext>
                </a:extLst>
              </a:tr>
              <a:tr h="639401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EIF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108634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AFF3666-9DE4-0202-84F9-CD020376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1443"/>
            <a:ext cx="10786872" cy="5425563"/>
          </a:xfrm>
        </p:spPr>
        <p:txBody>
          <a:bodyPr>
            <a:noAutofit/>
          </a:bodyPr>
          <a:lstStyle/>
          <a:p>
            <a:r>
              <a:rPr lang="en-US" sz="2800" dirty="0"/>
              <a:t>Payroll application has: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Transaction to input, amend and delete employee details – an EI that is rated of medium complexity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transaction that calculates pay details from timesheet data that is input – an EI of high complexity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transaction of medium complexity that prints out pay-to-date details for each employee – </a:t>
            </a:r>
            <a:r>
              <a:rPr lang="en-US" dirty="0" err="1"/>
              <a:t>EO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file of payroll details for each employee – assessed as of medium complexity </a:t>
            </a:r>
            <a:r>
              <a:rPr lang="en-US" dirty="0" err="1"/>
              <a:t>LIF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personnel file maintained by another system is accessed for name and address details – a simple </a:t>
            </a:r>
            <a:r>
              <a:rPr lang="en-US" dirty="0" err="1"/>
              <a:t>EIF</a:t>
            </a:r>
            <a:endParaRPr lang="en-US" dirty="0"/>
          </a:p>
          <a:p>
            <a:r>
              <a:rPr lang="en-US" sz="2800" dirty="0"/>
              <a:t>What would be the FP counts for these?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C809FC7-6D02-F0CF-BF44-86D9FDB9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5045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	Medium EI 					4 FPs</a:t>
            </a:r>
          </a:p>
          <a:p>
            <a:pPr marL="0" indent="0">
              <a:buNone/>
            </a:pPr>
            <a:r>
              <a:rPr lang="en-US" sz="3200" dirty="0"/>
              <a:t>	High complexity EI 			6 FPs</a:t>
            </a:r>
          </a:p>
          <a:p>
            <a:pPr marL="0" indent="0">
              <a:buNone/>
            </a:pPr>
            <a:r>
              <a:rPr lang="en-US" sz="3200" dirty="0"/>
              <a:t>	Medium complexity </a:t>
            </a:r>
            <a:r>
              <a:rPr lang="en-US" sz="3200" dirty="0" err="1"/>
              <a:t>EO</a:t>
            </a:r>
            <a:r>
              <a:rPr lang="en-US" sz="3200" dirty="0"/>
              <a:t> 		5 FPs</a:t>
            </a:r>
          </a:p>
          <a:p>
            <a:pPr marL="0" indent="0">
              <a:buNone/>
            </a:pPr>
            <a:r>
              <a:rPr lang="en-US" sz="3200" dirty="0"/>
              <a:t>	Medium complexity </a:t>
            </a:r>
            <a:r>
              <a:rPr lang="en-US" sz="3200" dirty="0" err="1"/>
              <a:t>LIF</a:t>
            </a:r>
            <a:r>
              <a:rPr lang="en-US" sz="3200" dirty="0"/>
              <a:t> 		10 FPs</a:t>
            </a:r>
          </a:p>
          <a:p>
            <a:pPr marL="0" indent="0">
              <a:buNone/>
            </a:pPr>
            <a:r>
              <a:rPr lang="en-US" sz="3200" dirty="0"/>
              <a:t>	Simple </a:t>
            </a:r>
            <a:r>
              <a:rPr lang="en-US" sz="3200" dirty="0" err="1"/>
              <a:t>EIF</a:t>
            </a:r>
            <a:r>
              <a:rPr lang="en-US" sz="3200" dirty="0"/>
              <a:t> 					5 FPs</a:t>
            </a:r>
          </a:p>
          <a:p>
            <a:pPr marL="0" indent="0">
              <a:buNone/>
            </a:pPr>
            <a:r>
              <a:rPr lang="en-US" sz="3200" dirty="0"/>
              <a:t>Total 							30 FPs</a:t>
            </a:r>
          </a:p>
          <a:p>
            <a:pPr marL="0" indent="0">
              <a:buNone/>
            </a:pPr>
            <a:r>
              <a:rPr lang="en-US" sz="3200" dirty="0"/>
              <a:t>	If previous projects delivered 5 FPs a day, implementing the 	above should take 30/5 = 6 days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0D96314-C39F-021F-E0F9-D3196D5A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points Mark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974461"/>
          </a:xfrm>
        </p:spPr>
        <p:txBody>
          <a:bodyPr>
            <a:noAutofit/>
          </a:bodyPr>
          <a:lstStyle/>
          <a:p>
            <a:r>
              <a:rPr lang="en-US" dirty="0"/>
              <a:t>Developed by Charles R. Symons</a:t>
            </a:r>
          </a:p>
          <a:p>
            <a:r>
              <a:rPr lang="en-US" dirty="0"/>
              <a:t>‘Software sizing and estimating - Mk II </a:t>
            </a:r>
            <a:r>
              <a:rPr lang="en-US" dirty="0" err="1"/>
              <a:t>FPA</a:t>
            </a:r>
            <a:r>
              <a:rPr lang="en-US" dirty="0"/>
              <a:t>’, Wiley &amp; Sons, 1991.</a:t>
            </a:r>
          </a:p>
          <a:p>
            <a:r>
              <a:rPr lang="en-US" dirty="0"/>
              <a:t>Builds on work by Albrecht</a:t>
            </a:r>
          </a:p>
          <a:p>
            <a:r>
              <a:rPr lang="en-US" dirty="0"/>
              <a:t>Work originally for CCTA: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should be compatible with SSADM; mainly used in UK</a:t>
            </a:r>
          </a:p>
          <a:p>
            <a:r>
              <a:rPr lang="en-US" dirty="0"/>
              <a:t>has developed in parallel to </a:t>
            </a:r>
            <a:r>
              <a:rPr lang="en-US" dirty="0" err="1"/>
              <a:t>IFPUG</a:t>
            </a:r>
            <a:r>
              <a:rPr lang="en-US" dirty="0"/>
              <a:t> FPs</a:t>
            </a:r>
          </a:p>
          <a:p>
            <a:r>
              <a:rPr lang="en-US" dirty="0"/>
              <a:t>A simpler method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129B730-91BA-B766-7D40-D350CACC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points Mk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3938" y="1319461"/>
            <a:ext cx="4611394" cy="4224013"/>
          </a:xfrm>
        </p:spPr>
        <p:txBody>
          <a:bodyPr>
            <a:noAutofit/>
          </a:bodyPr>
          <a:lstStyle/>
          <a:p>
            <a:r>
              <a:rPr lang="en-US" dirty="0"/>
              <a:t>For each transaction, count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data items input (N</a:t>
            </a:r>
            <a:r>
              <a:rPr lang="en-US" sz="3200" baseline="-25000" dirty="0"/>
              <a:t>i</a:t>
            </a:r>
            <a:r>
              <a:rPr lang="en-US" sz="2000" baseline="-25000" dirty="0"/>
              <a:t> </a:t>
            </a:r>
            <a:r>
              <a:rPr lang="en-US" sz="32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data items output (</a:t>
            </a:r>
            <a:r>
              <a:rPr lang="en-US" sz="3200" dirty="0" err="1"/>
              <a:t>N</a:t>
            </a:r>
            <a:r>
              <a:rPr lang="en-US" sz="3200" baseline="-25000" dirty="0" err="1"/>
              <a:t>0</a:t>
            </a:r>
            <a:r>
              <a:rPr lang="en-US" sz="32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entity types accessed (N</a:t>
            </a:r>
            <a:r>
              <a:rPr lang="en-US" sz="3200" baseline="-25000" dirty="0"/>
              <a:t>e</a:t>
            </a:r>
            <a:r>
              <a:rPr lang="en-US" sz="3200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E2CA05-751D-BDD6-7138-57AE9A0808E8}"/>
              </a:ext>
            </a:extLst>
          </p:cNvPr>
          <p:cNvSpPr txBox="1">
            <a:spLocks/>
          </p:cNvSpPr>
          <p:nvPr/>
        </p:nvSpPr>
        <p:spPr>
          <a:xfrm>
            <a:off x="1785102" y="5747657"/>
            <a:ext cx="7727033" cy="50833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FP count = N</a:t>
            </a:r>
            <a:r>
              <a:rPr lang="en-US" baseline="-25000" dirty="0"/>
              <a:t>i </a:t>
            </a:r>
            <a:r>
              <a:rPr lang="en-US" dirty="0"/>
              <a:t>* 0.58 + N</a:t>
            </a:r>
            <a:r>
              <a:rPr lang="en-US" baseline="-25000" dirty="0"/>
              <a:t>e</a:t>
            </a:r>
            <a:r>
              <a:rPr lang="en-US" dirty="0"/>
              <a:t> * 1.66 + </a:t>
            </a:r>
            <a:r>
              <a:rPr lang="en-US" dirty="0" err="1"/>
              <a:t>N</a:t>
            </a:r>
            <a:r>
              <a:rPr lang="en-US" baseline="-25000" dirty="0" err="1"/>
              <a:t>0</a:t>
            </a:r>
            <a:r>
              <a:rPr lang="en-US" dirty="0"/>
              <a:t> * 0.26  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6B334DD2-5933-7650-A35A-B81BFBBEF3B3}"/>
              </a:ext>
            </a:extLst>
          </p:cNvPr>
          <p:cNvSpPr/>
          <p:nvPr/>
        </p:nvSpPr>
        <p:spPr>
          <a:xfrm>
            <a:off x="2436269" y="1518965"/>
            <a:ext cx="1151907" cy="653143"/>
          </a:xfrm>
          <a:prstGeom prst="ca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0F0D28CA-D036-9CCE-E783-E9C03B42414B}"/>
              </a:ext>
            </a:extLst>
          </p:cNvPr>
          <p:cNvSpPr/>
          <p:nvPr/>
        </p:nvSpPr>
        <p:spPr>
          <a:xfrm>
            <a:off x="2588668" y="1626320"/>
            <a:ext cx="1151907" cy="653143"/>
          </a:xfrm>
          <a:prstGeom prst="ca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29E4DD99-EAD2-EA69-06B9-31E9ACDCE110}"/>
              </a:ext>
            </a:extLst>
          </p:cNvPr>
          <p:cNvSpPr/>
          <p:nvPr/>
        </p:nvSpPr>
        <p:spPr>
          <a:xfrm>
            <a:off x="2741067" y="1733675"/>
            <a:ext cx="1151907" cy="653143"/>
          </a:xfrm>
          <a:prstGeom prst="ca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99CC29-2C1C-E701-A12D-D2787F93AB6B}"/>
              </a:ext>
            </a:extLst>
          </p:cNvPr>
          <p:cNvSpPr txBox="1">
            <a:spLocks/>
          </p:cNvSpPr>
          <p:nvPr/>
        </p:nvSpPr>
        <p:spPr>
          <a:xfrm>
            <a:off x="4126371" y="1577840"/>
            <a:ext cx="2578011" cy="96860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#entities accessed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2C83708-0E52-AE11-DEB4-D5F14AC76CE2}"/>
              </a:ext>
            </a:extLst>
          </p:cNvPr>
          <p:cNvSpPr txBox="1">
            <a:spLocks/>
          </p:cNvSpPr>
          <p:nvPr/>
        </p:nvSpPr>
        <p:spPr>
          <a:xfrm>
            <a:off x="1218433" y="4512651"/>
            <a:ext cx="1643821" cy="96860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#input items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22E3D66-3E42-B81B-0A9C-9955AEC8D1DE}"/>
              </a:ext>
            </a:extLst>
          </p:cNvPr>
          <p:cNvSpPr txBox="1">
            <a:spLocks/>
          </p:cNvSpPr>
          <p:nvPr/>
        </p:nvSpPr>
        <p:spPr>
          <a:xfrm>
            <a:off x="4296225" y="4508435"/>
            <a:ext cx="1799775" cy="96860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#output items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7E058-CAC1-2D23-3CE4-A82DD03DED6E}"/>
              </a:ext>
            </a:extLst>
          </p:cNvPr>
          <p:cNvSpPr/>
          <p:nvPr/>
        </p:nvSpPr>
        <p:spPr>
          <a:xfrm>
            <a:off x="2741067" y="3764948"/>
            <a:ext cx="1151907" cy="7997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5B98CABD-F345-C321-1E83-C1D672FE9533}"/>
              </a:ext>
            </a:extLst>
          </p:cNvPr>
          <p:cNvSpPr/>
          <p:nvPr/>
        </p:nvSpPr>
        <p:spPr>
          <a:xfrm>
            <a:off x="3067638" y="2730355"/>
            <a:ext cx="498764" cy="799766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BBB58BD-78E7-9D1E-5DEC-1AF79235B9B0}"/>
              </a:ext>
            </a:extLst>
          </p:cNvPr>
          <p:cNvSpPr/>
          <p:nvPr/>
        </p:nvSpPr>
        <p:spPr>
          <a:xfrm>
            <a:off x="1187532" y="3859508"/>
            <a:ext cx="1273298" cy="65314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1CB974E-E0B7-5CBC-204A-50B5A347C3AF}"/>
              </a:ext>
            </a:extLst>
          </p:cNvPr>
          <p:cNvSpPr/>
          <p:nvPr/>
        </p:nvSpPr>
        <p:spPr>
          <a:xfrm>
            <a:off x="4189192" y="3838259"/>
            <a:ext cx="1273298" cy="65314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FF646F4-518D-EB8B-C732-709A7DDA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points for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Mark II function points, </a:t>
            </a:r>
            <a:r>
              <a:rPr lang="en-US" dirty="0" err="1"/>
              <a:t>IFPUG</a:t>
            </a:r>
            <a:r>
              <a:rPr lang="en-US" dirty="0"/>
              <a:t> function points were designed for information systems environments</a:t>
            </a:r>
          </a:p>
          <a:p>
            <a:r>
              <a:rPr lang="en-US" dirty="0"/>
              <a:t>COSMIC FPs attempt to extend concept to embedded systems</a:t>
            </a:r>
          </a:p>
          <a:p>
            <a:r>
              <a:rPr lang="en-US" dirty="0"/>
              <a:t>Embedded software seen as being in a particular ‘layer’ in the system</a:t>
            </a:r>
          </a:p>
          <a:p>
            <a:r>
              <a:rPr lang="en-US" dirty="0"/>
              <a:t>Communicates with other layers and also other components at same level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3BCA971-041B-3D78-5AB7-CACAC093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software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B17D24-8112-691B-6C0B-983F81013FB1}"/>
              </a:ext>
            </a:extLst>
          </p:cNvPr>
          <p:cNvSpPr/>
          <p:nvPr/>
        </p:nvSpPr>
        <p:spPr>
          <a:xfrm>
            <a:off x="2910015" y="1632493"/>
            <a:ext cx="4386648" cy="33730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910125-5535-F504-1569-E6B4CB2FB8CC}"/>
              </a:ext>
            </a:extLst>
          </p:cNvPr>
          <p:cNvSpPr/>
          <p:nvPr/>
        </p:nvSpPr>
        <p:spPr>
          <a:xfrm>
            <a:off x="2996514" y="2804984"/>
            <a:ext cx="6166021" cy="15260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3C491B4-6383-9448-FBEA-8D7580EE8456}"/>
              </a:ext>
            </a:extLst>
          </p:cNvPr>
          <p:cNvSpPr txBox="1">
            <a:spLocks/>
          </p:cNvSpPr>
          <p:nvPr/>
        </p:nvSpPr>
        <p:spPr>
          <a:xfrm>
            <a:off x="3441644" y="2426542"/>
            <a:ext cx="1754084" cy="337303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1800" dirty="0"/>
              <a:t>Receives request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F7A91DE-770C-4810-6CE4-6033528EC3CE}"/>
              </a:ext>
            </a:extLst>
          </p:cNvPr>
          <p:cNvSpPr txBox="1">
            <a:spLocks/>
          </p:cNvSpPr>
          <p:nvPr/>
        </p:nvSpPr>
        <p:spPr>
          <a:xfrm>
            <a:off x="6161231" y="2394524"/>
            <a:ext cx="1754084" cy="337303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1800" dirty="0"/>
              <a:t>Supplies service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D39F5D5-CA23-88A1-2AC1-8502DF4BAB1A}"/>
              </a:ext>
            </a:extLst>
          </p:cNvPr>
          <p:cNvSpPr txBox="1">
            <a:spLocks/>
          </p:cNvSpPr>
          <p:nvPr/>
        </p:nvSpPr>
        <p:spPr>
          <a:xfrm>
            <a:off x="3441644" y="4442552"/>
            <a:ext cx="1754084" cy="57912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1800" dirty="0"/>
              <a:t>Makes a request for a service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5D1AE52-8830-C28A-356D-7C40B41C8044}"/>
              </a:ext>
            </a:extLst>
          </p:cNvPr>
          <p:cNvSpPr txBox="1">
            <a:spLocks/>
          </p:cNvSpPr>
          <p:nvPr/>
        </p:nvSpPr>
        <p:spPr>
          <a:xfrm>
            <a:off x="6160203" y="4548173"/>
            <a:ext cx="1754084" cy="337303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1800" dirty="0"/>
              <a:t>Receives service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DC8200-A626-9711-68EF-BACC19C04C0D}"/>
              </a:ext>
            </a:extLst>
          </p:cNvPr>
          <p:cNvSpPr/>
          <p:nvPr/>
        </p:nvSpPr>
        <p:spPr>
          <a:xfrm>
            <a:off x="3113757" y="3491759"/>
            <a:ext cx="1204929" cy="59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4EE6C6-917E-5077-D315-3C5E120EE140}"/>
              </a:ext>
            </a:extLst>
          </p:cNvPr>
          <p:cNvSpPr/>
          <p:nvPr/>
        </p:nvSpPr>
        <p:spPr>
          <a:xfrm>
            <a:off x="7632504" y="3496962"/>
            <a:ext cx="1262301" cy="59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74D9E5-C164-6B43-D026-31CED26AC0C5}"/>
              </a:ext>
            </a:extLst>
          </p:cNvPr>
          <p:cNvSpPr/>
          <p:nvPr/>
        </p:nvSpPr>
        <p:spPr>
          <a:xfrm>
            <a:off x="4970288" y="3609065"/>
            <a:ext cx="2067985" cy="366446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4DB93CD-1959-FACD-38E6-C0523AC233BC}"/>
              </a:ext>
            </a:extLst>
          </p:cNvPr>
          <p:cNvSpPr txBox="1">
            <a:spLocks/>
          </p:cNvSpPr>
          <p:nvPr/>
        </p:nvSpPr>
        <p:spPr>
          <a:xfrm>
            <a:off x="3233206" y="3491760"/>
            <a:ext cx="961913" cy="590652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sz="1800" dirty="0"/>
              <a:t>Receives storage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B6A293A-231F-B53D-4293-2F8D685D3947}"/>
              </a:ext>
            </a:extLst>
          </p:cNvPr>
          <p:cNvSpPr txBox="1">
            <a:spLocks/>
          </p:cNvSpPr>
          <p:nvPr/>
        </p:nvSpPr>
        <p:spPr>
          <a:xfrm>
            <a:off x="7729151" y="3512708"/>
            <a:ext cx="1087395" cy="590652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anose="05000000000000000000" pitchFamily="2" charset="2"/>
              <a:buNone/>
            </a:pPr>
            <a:r>
              <a:rPr lang="en-US" sz="1800" dirty="0"/>
              <a:t>peer component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5935642-B2D2-1E9A-0CB6-BA86FAB8926C}"/>
              </a:ext>
            </a:extLst>
          </p:cNvPr>
          <p:cNvSpPr txBox="1">
            <a:spLocks/>
          </p:cNvSpPr>
          <p:nvPr/>
        </p:nvSpPr>
        <p:spPr>
          <a:xfrm>
            <a:off x="5047519" y="3633006"/>
            <a:ext cx="1989726" cy="337303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1800" dirty="0"/>
              <a:t>Software component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8B7BCDE-FE1C-C20E-5BB4-EA928C18FAC2}"/>
              </a:ext>
            </a:extLst>
          </p:cNvPr>
          <p:cNvCxnSpPr>
            <a:cxnSpLocks/>
          </p:cNvCxnSpPr>
          <p:nvPr/>
        </p:nvCxnSpPr>
        <p:spPr>
          <a:xfrm>
            <a:off x="5316041" y="2285256"/>
            <a:ext cx="3543" cy="13238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D3F682C-2B27-73DB-715E-B3E6060F75D2}"/>
              </a:ext>
            </a:extLst>
          </p:cNvPr>
          <p:cNvCxnSpPr>
            <a:cxnSpLocks/>
          </p:cNvCxnSpPr>
          <p:nvPr/>
        </p:nvCxnSpPr>
        <p:spPr>
          <a:xfrm>
            <a:off x="5319870" y="3970309"/>
            <a:ext cx="3543" cy="11322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0A106111-87DA-6DBA-8AB1-F159919E635F}"/>
              </a:ext>
            </a:extLst>
          </p:cNvPr>
          <p:cNvSpPr/>
          <p:nvPr/>
        </p:nvSpPr>
        <p:spPr>
          <a:xfrm>
            <a:off x="3062415" y="1784893"/>
            <a:ext cx="4386648" cy="33730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3BF458-7D82-B67A-F3B0-DE18F1EF7A14}"/>
              </a:ext>
            </a:extLst>
          </p:cNvPr>
          <p:cNvSpPr/>
          <p:nvPr/>
        </p:nvSpPr>
        <p:spPr>
          <a:xfrm>
            <a:off x="3214815" y="1937293"/>
            <a:ext cx="4386648" cy="33730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805F29D-8688-2E1D-168E-C624CEE313CF}"/>
              </a:ext>
            </a:extLst>
          </p:cNvPr>
          <p:cNvSpPr txBox="1">
            <a:spLocks/>
          </p:cNvSpPr>
          <p:nvPr/>
        </p:nvSpPr>
        <p:spPr>
          <a:xfrm>
            <a:off x="4685556" y="1946117"/>
            <a:ext cx="1445165" cy="337303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0070C0"/>
                </a:solidFill>
              </a:rPr>
              <a:t>Higher layers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6CA9B6A-932C-5B65-0CD3-0ABA05745436}"/>
              </a:ext>
            </a:extLst>
          </p:cNvPr>
          <p:cNvSpPr/>
          <p:nvPr/>
        </p:nvSpPr>
        <p:spPr>
          <a:xfrm>
            <a:off x="2910015" y="5434584"/>
            <a:ext cx="4386648" cy="33730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9B04BD-2BB7-52FC-337A-D20FCC24CE91}"/>
              </a:ext>
            </a:extLst>
          </p:cNvPr>
          <p:cNvSpPr/>
          <p:nvPr/>
        </p:nvSpPr>
        <p:spPr>
          <a:xfrm>
            <a:off x="3066533" y="5257938"/>
            <a:ext cx="4386648" cy="33730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C9DB84-E665-61B5-4CE1-64625BB88451}"/>
              </a:ext>
            </a:extLst>
          </p:cNvPr>
          <p:cNvSpPr/>
          <p:nvPr/>
        </p:nvSpPr>
        <p:spPr>
          <a:xfrm>
            <a:off x="3214814" y="5113206"/>
            <a:ext cx="4386648" cy="33730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580D23DE-3408-A5E9-3BA1-4691DD0FC123}"/>
              </a:ext>
            </a:extLst>
          </p:cNvPr>
          <p:cNvSpPr txBox="1">
            <a:spLocks/>
          </p:cNvSpPr>
          <p:nvPr/>
        </p:nvSpPr>
        <p:spPr>
          <a:xfrm>
            <a:off x="4685555" y="5107022"/>
            <a:ext cx="1445165" cy="337303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0070C0"/>
                </a:solidFill>
              </a:rPr>
              <a:t>Lower layers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9E4F47C-C072-93B5-8317-CA00C079AC57}"/>
              </a:ext>
            </a:extLst>
          </p:cNvPr>
          <p:cNvCxnSpPr/>
          <p:nvPr/>
        </p:nvCxnSpPr>
        <p:spPr>
          <a:xfrm flipV="1">
            <a:off x="5850924" y="3975511"/>
            <a:ext cx="0" cy="11270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21F09C5-C406-8B0C-4504-9C1B4BF8E890}"/>
              </a:ext>
            </a:extLst>
          </p:cNvPr>
          <p:cNvCxnSpPr>
            <a:cxnSpLocks/>
          </p:cNvCxnSpPr>
          <p:nvPr/>
        </p:nvCxnSpPr>
        <p:spPr>
          <a:xfrm flipV="1">
            <a:off x="5848864" y="2285256"/>
            <a:ext cx="0" cy="13238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04EAA49-AEA3-A9D1-DFDF-D9115F64022D}"/>
              </a:ext>
            </a:extLst>
          </p:cNvPr>
          <p:cNvCxnSpPr>
            <a:cxnSpLocks/>
          </p:cNvCxnSpPr>
          <p:nvPr/>
        </p:nvCxnSpPr>
        <p:spPr>
          <a:xfrm>
            <a:off x="4318686" y="3724276"/>
            <a:ext cx="62478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ABF078D-E68D-AFE6-F97A-535B4972C7A2}"/>
              </a:ext>
            </a:extLst>
          </p:cNvPr>
          <p:cNvCxnSpPr>
            <a:cxnSpLocks/>
          </p:cNvCxnSpPr>
          <p:nvPr/>
        </p:nvCxnSpPr>
        <p:spPr>
          <a:xfrm flipH="1">
            <a:off x="4318686" y="3859824"/>
            <a:ext cx="624789" cy="2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90B5115-DFEF-657B-5550-8F2E0961694C}"/>
              </a:ext>
            </a:extLst>
          </p:cNvPr>
          <p:cNvCxnSpPr>
            <a:cxnSpLocks/>
          </p:cNvCxnSpPr>
          <p:nvPr/>
        </p:nvCxnSpPr>
        <p:spPr>
          <a:xfrm>
            <a:off x="7054817" y="3859573"/>
            <a:ext cx="560115" cy="281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3CC236E-840E-9F44-4BB8-57119247EEDE}"/>
              </a:ext>
            </a:extLst>
          </p:cNvPr>
          <p:cNvCxnSpPr>
            <a:cxnSpLocks/>
          </p:cNvCxnSpPr>
          <p:nvPr/>
        </p:nvCxnSpPr>
        <p:spPr>
          <a:xfrm flipH="1">
            <a:off x="7052379" y="3721712"/>
            <a:ext cx="562553" cy="256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48153FA7-E3F8-EB63-0F33-9D677DCBFA03}"/>
              </a:ext>
            </a:extLst>
          </p:cNvPr>
          <p:cNvSpPr txBox="1">
            <a:spLocks/>
          </p:cNvSpPr>
          <p:nvPr/>
        </p:nvSpPr>
        <p:spPr>
          <a:xfrm>
            <a:off x="3746541" y="2904832"/>
            <a:ext cx="1445165" cy="550528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0070C0"/>
                </a:solidFill>
              </a:rPr>
              <a:t>Data reads/ writes</a:t>
            </a: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FC8CC5CD-DF02-AD83-ADE7-AA35ADBB7D4F}"/>
              </a:ext>
            </a:extLst>
          </p:cNvPr>
          <p:cNvSpPr txBox="1">
            <a:spLocks/>
          </p:cNvSpPr>
          <p:nvPr/>
        </p:nvSpPr>
        <p:spPr>
          <a:xfrm>
            <a:off x="6574080" y="2892469"/>
            <a:ext cx="1445165" cy="55494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0070C0"/>
                </a:solidFill>
              </a:rPr>
              <a:t>Peer to peer communication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0B90A5C-1CB8-2F68-8B86-0060D1DB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COSMIC FPs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The following are counted: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Entries: movement of data into software component from a higher layer or a peer component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Exits: movements of data out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Reads: data movement from persistent storage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Writes: data movement to persistent storage</a:t>
            </a:r>
          </a:p>
          <a:p>
            <a:r>
              <a:rPr lang="en-US" dirty="0"/>
              <a:t>Each counts as 1 ‘COSMIC functional size unit’ (</a:t>
            </a:r>
            <a:r>
              <a:rPr lang="en-US" dirty="0" err="1"/>
              <a:t>Cfsu</a:t>
            </a:r>
            <a:r>
              <a:rPr lang="en-US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287703C-576B-F7EE-B5EA-47A681F5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COCOMO81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5010087"/>
          </a:xfrm>
        </p:spPr>
        <p:txBody>
          <a:bodyPr>
            <a:noAutofit/>
          </a:bodyPr>
          <a:lstStyle/>
          <a:p>
            <a:r>
              <a:rPr lang="en-US" dirty="0"/>
              <a:t>Based on industry productivity standards - database is constantly updated</a:t>
            </a:r>
          </a:p>
          <a:p>
            <a:r>
              <a:rPr lang="en-US" dirty="0"/>
              <a:t>Allows an organization to benchmark its software development productivity</a:t>
            </a:r>
          </a:p>
          <a:p>
            <a:r>
              <a:rPr lang="en-US" b="1" dirty="0"/>
              <a:t>Basic model</a:t>
            </a:r>
          </a:p>
          <a:p>
            <a:pPr marL="0" indent="0">
              <a:buNone/>
            </a:pPr>
            <a:r>
              <a:rPr lang="en-US" b="1" dirty="0"/>
              <a:t>	effort = c x size </a:t>
            </a:r>
            <a:r>
              <a:rPr lang="en-US" b="1" baseline="30000" dirty="0"/>
              <a:t>k</a:t>
            </a:r>
          </a:p>
          <a:p>
            <a:r>
              <a:rPr lang="en-US" dirty="0"/>
              <a:t>C and k depend on the type of system: organic, semi-detached, embedded</a:t>
            </a:r>
          </a:p>
          <a:p>
            <a:r>
              <a:rPr lang="en-US" dirty="0"/>
              <a:t>Size is measured in ‘</a:t>
            </a:r>
            <a:r>
              <a:rPr lang="en-US" dirty="0" err="1"/>
              <a:t>kloc</a:t>
            </a:r>
            <a:r>
              <a:rPr lang="en-US" dirty="0"/>
              <a:t>’ </a:t>
            </a:r>
            <a:r>
              <a:rPr lang="en-US" dirty="0" err="1"/>
              <a:t>ie</a:t>
            </a:r>
            <a:r>
              <a:rPr lang="en-US" dirty="0"/>
              <a:t>. Thousands of lines of code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CF5D14E-7E56-F0CF-3CD9-0F356D260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COCOMO</a:t>
            </a:r>
            <a:r>
              <a:rPr lang="en-US" dirty="0"/>
              <a:t> constants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CB653D-B782-349F-D608-C6755A191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10329"/>
              </p:ext>
            </p:extLst>
          </p:nvPr>
        </p:nvGraphicFramePr>
        <p:xfrm>
          <a:off x="1967602" y="1571513"/>
          <a:ext cx="7924542" cy="2761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8159">
                  <a:extLst>
                    <a:ext uri="{9D8B030D-6E8A-4147-A177-3AD203B41FA5}">
                      <a16:colId xmlns:a16="http://schemas.microsoft.com/office/drawing/2014/main" val="1227751588"/>
                    </a:ext>
                  </a:extLst>
                </a:gridCol>
                <a:gridCol w="2274869">
                  <a:extLst>
                    <a:ext uri="{9D8B030D-6E8A-4147-A177-3AD203B41FA5}">
                      <a16:colId xmlns:a16="http://schemas.microsoft.com/office/drawing/2014/main" val="4191200989"/>
                    </a:ext>
                  </a:extLst>
                </a:gridCol>
                <a:gridCol w="2641514">
                  <a:extLst>
                    <a:ext uri="{9D8B030D-6E8A-4147-A177-3AD203B41FA5}">
                      <a16:colId xmlns:a16="http://schemas.microsoft.com/office/drawing/2014/main" val="2445587497"/>
                    </a:ext>
                  </a:extLst>
                </a:gridCol>
              </a:tblGrid>
              <a:tr h="58979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System type</a:t>
                      </a:r>
                      <a:endParaRPr lang="vi-V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vi-V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vi-VN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374097"/>
                  </a:ext>
                </a:extLst>
              </a:tr>
              <a:tr h="5257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Organic (broadly, information systems)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2.4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1.05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860144"/>
                  </a:ext>
                </a:extLst>
              </a:tr>
              <a:tr h="5257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Semi-detached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1.12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011238"/>
                  </a:ext>
                </a:extLst>
              </a:tr>
              <a:tr h="52573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Embedded (broadly, real-time)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3.6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1.20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44473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DF29ED-8085-A517-93C6-B0A1D2EE26E5}"/>
              </a:ext>
            </a:extLst>
          </p:cNvPr>
          <p:cNvSpPr txBox="1">
            <a:spLocks/>
          </p:cNvSpPr>
          <p:nvPr/>
        </p:nvSpPr>
        <p:spPr>
          <a:xfrm>
            <a:off x="1024127" y="4639332"/>
            <a:ext cx="10194736" cy="1831318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k exponentiation – ‘to the power of…’</a:t>
            </a:r>
          </a:p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adds disproportionately more effort to the larger projects</a:t>
            </a:r>
          </a:p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takes account of bigger management overheads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680E3-4AF8-2FC4-74BF-FBAB2D0B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effort multipliers (dem)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5151243"/>
          </a:xfrm>
        </p:spPr>
        <p:txBody>
          <a:bodyPr>
            <a:noAutofit/>
          </a:bodyPr>
          <a:lstStyle/>
          <a:p>
            <a:r>
              <a:rPr lang="en-US" dirty="0"/>
              <a:t>According to </a:t>
            </a:r>
            <a:r>
              <a:rPr lang="en-US" dirty="0" err="1"/>
              <a:t>COCOMO</a:t>
            </a:r>
            <a:r>
              <a:rPr lang="en-US" dirty="0"/>
              <a:t>, the major productivity drivers include: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1" dirty="0"/>
              <a:t>Product attributes</a:t>
            </a:r>
            <a:r>
              <a:rPr lang="en-US" sz="3200" dirty="0"/>
              <a:t>: required reliability, database size, product complexity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1" dirty="0"/>
              <a:t>Computer attributes</a:t>
            </a:r>
            <a:r>
              <a:rPr lang="en-US" sz="3200" dirty="0"/>
              <a:t>: execution time constraints, storage constraints, virtual machine (</a:t>
            </a:r>
            <a:r>
              <a:rPr lang="en-US" sz="3200" dirty="0" err="1"/>
              <a:t>VM</a:t>
            </a:r>
            <a:r>
              <a:rPr lang="en-US" sz="3200" dirty="0"/>
              <a:t>) volatility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1" dirty="0"/>
              <a:t>Personnel attributes</a:t>
            </a:r>
            <a:r>
              <a:rPr lang="en-US" sz="3200" dirty="0"/>
              <a:t>: analyst capability, application experience, </a:t>
            </a:r>
            <a:r>
              <a:rPr lang="en-US" sz="3200" dirty="0" err="1"/>
              <a:t>VM</a:t>
            </a:r>
            <a:r>
              <a:rPr lang="en-US" sz="3200" dirty="0"/>
              <a:t> experience, programming language experience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b="1" dirty="0"/>
              <a:t>Project attributes</a:t>
            </a:r>
            <a:r>
              <a:rPr lang="en-US" sz="3200" dirty="0"/>
              <a:t>: modern programming practices, software tools, schedule constraints: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A81EB29-D845-9D90-5C9C-45E1E7FF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COCOMO</a:t>
            </a:r>
            <a:r>
              <a:rPr lang="en-US" dirty="0"/>
              <a:t> development effort multipliers (dem)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891334"/>
          </a:xfrm>
        </p:spPr>
        <p:txBody>
          <a:bodyPr>
            <a:noAutofit/>
          </a:bodyPr>
          <a:lstStyle/>
          <a:p>
            <a:r>
              <a:rPr lang="en-US" dirty="0"/>
              <a:t>An example: for analyst capability: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Assess capability as very low, low, nominal, high or very high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Extract multiplier:</a:t>
            </a:r>
          </a:p>
          <a:p>
            <a:pPr marL="400050" lvl="1" indent="0">
              <a:buNone/>
            </a:pPr>
            <a:r>
              <a:rPr lang="en-US" sz="3200" dirty="0"/>
              <a:t>		very low 	1.46</a:t>
            </a:r>
          </a:p>
          <a:p>
            <a:pPr marL="400050" lvl="1" indent="0">
              <a:buNone/>
            </a:pPr>
            <a:r>
              <a:rPr lang="en-US" sz="3200" dirty="0"/>
              <a:t>		low 		1.19</a:t>
            </a:r>
          </a:p>
          <a:p>
            <a:pPr marL="400050" lvl="1" indent="0">
              <a:buNone/>
            </a:pPr>
            <a:r>
              <a:rPr lang="en-US" sz="3200" dirty="0"/>
              <a:t>		nominal 	1.00</a:t>
            </a:r>
          </a:p>
          <a:p>
            <a:pPr marL="400050" lvl="1" indent="0">
              <a:buNone/>
            </a:pPr>
            <a:r>
              <a:rPr lang="en-US" sz="3200" dirty="0"/>
              <a:t>		high 		0.80</a:t>
            </a:r>
          </a:p>
          <a:p>
            <a:pPr marL="400050" lvl="1" indent="0">
              <a:buNone/>
            </a:pPr>
            <a:r>
              <a:rPr lang="en-US" sz="3200" dirty="0"/>
              <a:t>		very high 	0.71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Adjust nominal estimate e.g. 32.6 x 0.80 = 26.8 staff months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4D56037-1213-BFA1-FD07-8AD2BE2E5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COCOMO</a:t>
            </a:r>
            <a:r>
              <a:rPr lang="en-US" dirty="0"/>
              <a:t>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An updated version of </a:t>
            </a:r>
            <a:r>
              <a:rPr lang="en-US" dirty="0" err="1"/>
              <a:t>COCOMO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There are different </a:t>
            </a:r>
            <a:r>
              <a:rPr lang="en-US" sz="3200" dirty="0" err="1"/>
              <a:t>COCOMO</a:t>
            </a:r>
            <a:r>
              <a:rPr lang="en-US" sz="3200" dirty="0"/>
              <a:t> II models for estimating at the ‘early design’ stage and the ‘post architecture’ stage when the final system is implemented. We’ll look specifically at the first.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The core model is:</a:t>
            </a:r>
          </a:p>
          <a:p>
            <a:pPr marL="400050" lvl="1" indent="0">
              <a:buNone/>
            </a:pPr>
            <a:r>
              <a:rPr lang="en-US" sz="3200" dirty="0"/>
              <a:t>	pm = A(size)</a:t>
            </a:r>
            <a:r>
              <a:rPr lang="en-US" sz="3200" baseline="30000" dirty="0"/>
              <a:t>(sf) </a:t>
            </a:r>
            <a:r>
              <a:rPr lang="en-US" sz="3200" dirty="0"/>
              <a:t>×(</a:t>
            </a:r>
            <a:r>
              <a:rPr lang="en-US" sz="3200" dirty="0" err="1"/>
              <a:t>em</a:t>
            </a:r>
            <a:r>
              <a:rPr lang="en-US" sz="3200" baseline="-25000" dirty="0" err="1"/>
              <a:t>1</a:t>
            </a:r>
            <a:r>
              <a:rPr lang="en-US" sz="3200" dirty="0"/>
              <a:t>) ×(</a:t>
            </a:r>
            <a:r>
              <a:rPr lang="en-US" sz="3200" dirty="0" err="1"/>
              <a:t>em</a:t>
            </a:r>
            <a:r>
              <a:rPr lang="en-US" sz="3200" baseline="-25000" dirty="0" err="1"/>
              <a:t>2</a:t>
            </a:r>
            <a:r>
              <a:rPr lang="en-US" sz="3200" dirty="0"/>
              <a:t>) ×(</a:t>
            </a:r>
            <a:r>
              <a:rPr lang="en-US" sz="3200" dirty="0" err="1"/>
              <a:t>em</a:t>
            </a:r>
            <a:r>
              <a:rPr lang="en-US" sz="3200" baseline="-25000" dirty="0" err="1"/>
              <a:t>3</a:t>
            </a:r>
            <a:r>
              <a:rPr lang="en-US" sz="3200" dirty="0"/>
              <a:t>)….</a:t>
            </a:r>
          </a:p>
          <a:p>
            <a:pPr marL="400050" lvl="1" indent="0">
              <a:buNone/>
            </a:pPr>
            <a:r>
              <a:rPr lang="en-US" sz="3200" dirty="0"/>
              <a:t>	where </a:t>
            </a:r>
            <a:r>
              <a:rPr lang="en-US" sz="3200" b="1" dirty="0"/>
              <a:t>pm</a:t>
            </a:r>
            <a:r>
              <a:rPr lang="en-US" sz="3200" dirty="0"/>
              <a:t> = person months, </a:t>
            </a:r>
            <a:r>
              <a:rPr lang="en-US" sz="3200" b="1" dirty="0"/>
              <a:t>A</a:t>
            </a:r>
            <a:r>
              <a:rPr lang="en-US" sz="3200" dirty="0"/>
              <a:t> is 2.94, </a:t>
            </a:r>
            <a:r>
              <a:rPr lang="en-US" sz="3200" b="1" dirty="0"/>
              <a:t>size</a:t>
            </a:r>
            <a:r>
              <a:rPr lang="en-US" sz="3200" dirty="0"/>
              <a:t> is number of 	thousands of lines of code, </a:t>
            </a:r>
            <a:r>
              <a:rPr lang="en-US" sz="3200" b="1" dirty="0"/>
              <a:t>sf</a:t>
            </a:r>
            <a:r>
              <a:rPr lang="en-US" sz="3200" dirty="0"/>
              <a:t> is the scale factor, and </a:t>
            </a:r>
            <a:r>
              <a:rPr lang="en-US" sz="3200" b="1" dirty="0" err="1"/>
              <a:t>em</a:t>
            </a:r>
            <a:r>
              <a:rPr lang="en-US" sz="3200" dirty="0"/>
              <a:t> is 	an effort multiplier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D3ED6B1-A8B0-ADC0-2C66-1B3A08B1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COCOMO</a:t>
            </a:r>
            <a:r>
              <a:rPr lang="en-US" dirty="0"/>
              <a:t> II Scale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5442285"/>
          </a:xfrm>
        </p:spPr>
        <p:txBody>
          <a:bodyPr>
            <a:noAutofit/>
          </a:bodyPr>
          <a:lstStyle/>
          <a:p>
            <a:r>
              <a:rPr lang="en-US" sz="3000" dirty="0"/>
              <a:t>Based on five factors which appear to be particularly sensitive to system size</a:t>
            </a:r>
          </a:p>
          <a:p>
            <a:r>
              <a:rPr lang="en-US" sz="3000" dirty="0" err="1"/>
              <a:t>Precedentedness</a:t>
            </a:r>
            <a:r>
              <a:rPr lang="en-US" sz="3000" dirty="0"/>
              <a:t> (</a:t>
            </a:r>
            <a:r>
              <a:rPr lang="en-US" sz="3000" dirty="0" err="1"/>
              <a:t>PREC</a:t>
            </a:r>
            <a:r>
              <a:rPr lang="en-US" sz="3000" dirty="0"/>
              <a:t>). Degree to which there are past examples that can be consulted</a:t>
            </a:r>
          </a:p>
          <a:p>
            <a:r>
              <a:rPr lang="en-US" sz="3000" dirty="0"/>
              <a:t>Development flexibility (FLEX). Degree of flexibility that exists when implementing the project</a:t>
            </a:r>
          </a:p>
          <a:p>
            <a:r>
              <a:rPr lang="en-US" sz="3000" dirty="0"/>
              <a:t>Architecture/risk resolution (</a:t>
            </a:r>
            <a:r>
              <a:rPr lang="en-US" sz="3000" dirty="0" err="1"/>
              <a:t>RESL</a:t>
            </a:r>
            <a:r>
              <a:rPr lang="en-US" sz="3000" dirty="0"/>
              <a:t>). Degree of uncertainty about requirements</a:t>
            </a:r>
          </a:p>
          <a:p>
            <a:r>
              <a:rPr lang="en-US" sz="3000" dirty="0"/>
              <a:t>Team cohesion (TEAM).</a:t>
            </a:r>
          </a:p>
          <a:p>
            <a:r>
              <a:rPr lang="en-US" sz="3000" dirty="0"/>
              <a:t>Process maturity (</a:t>
            </a:r>
            <a:r>
              <a:rPr lang="en-US" sz="3000" dirty="0" err="1"/>
              <a:t>PMAT</a:t>
            </a:r>
            <a:r>
              <a:rPr lang="en-US" sz="3000" dirty="0"/>
              <a:t>) could be assessed by CMMI – see Section 13.8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E4AE454-A43B-FD86-A00B-EA701DEE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COCOMO</a:t>
            </a:r>
            <a:r>
              <a:rPr lang="en-US" dirty="0"/>
              <a:t> II Scale factor values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3B137D-70FD-679E-37DD-7E620AA38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33416"/>
              </p:ext>
            </p:extLst>
          </p:nvPr>
        </p:nvGraphicFramePr>
        <p:xfrm>
          <a:off x="1753847" y="1845832"/>
          <a:ext cx="8684305" cy="3616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615">
                  <a:extLst>
                    <a:ext uri="{9D8B030D-6E8A-4147-A177-3AD203B41FA5}">
                      <a16:colId xmlns:a16="http://schemas.microsoft.com/office/drawing/2014/main" val="1227751588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4191200989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2445587497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1161725235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1702094752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4226114236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4088386935"/>
                    </a:ext>
                  </a:extLst>
                </a:gridCol>
              </a:tblGrid>
              <a:tr h="558731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Driver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Very low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Nom-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inal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Very high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Extra high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374097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PREC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6.20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4.92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3.72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2.48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1.24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860144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FLEX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5.07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4.05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3.04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2.03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1.01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011238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RESL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7.07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5.65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4.24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2.83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1.41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44473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TEAM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5.48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4.38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3.29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2.19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1.10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74125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PMAT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7.80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6.24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4.68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3.12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1.56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163465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95D9B5E-9F37-8E3C-4888-7A2949A9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2494398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scale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879458"/>
          </a:xfrm>
        </p:spPr>
        <p:txBody>
          <a:bodyPr>
            <a:noAutofit/>
          </a:bodyPr>
          <a:lstStyle/>
          <a:p>
            <a:r>
              <a:rPr lang="en-US" dirty="0"/>
              <a:t>A software development team is developing an application which is very similar to previous ones it has developed.</a:t>
            </a:r>
          </a:p>
          <a:p>
            <a:r>
              <a:rPr lang="en-US" dirty="0"/>
              <a:t>A very precise software engineering document lays down very strict requirements. </a:t>
            </a:r>
            <a:r>
              <a:rPr lang="en-US" dirty="0" err="1"/>
              <a:t>PREC</a:t>
            </a:r>
            <a:r>
              <a:rPr lang="en-US" dirty="0"/>
              <a:t> is very high (score 1.24).</a:t>
            </a:r>
          </a:p>
          <a:p>
            <a:r>
              <a:rPr lang="en-US" dirty="0"/>
              <a:t>FLEX is very low (score 5.07).</a:t>
            </a:r>
          </a:p>
          <a:p>
            <a:r>
              <a:rPr lang="en-US" dirty="0"/>
              <a:t>The good news is that these tight requirements are unlikely to change (</a:t>
            </a:r>
            <a:r>
              <a:rPr lang="en-US" dirty="0" err="1"/>
              <a:t>RESL</a:t>
            </a:r>
            <a:r>
              <a:rPr lang="en-US" dirty="0"/>
              <a:t> is high with a score 2.83).</a:t>
            </a:r>
          </a:p>
          <a:p>
            <a:r>
              <a:rPr lang="en-US" dirty="0"/>
              <a:t>The team is tightly knit (TEAM has high score of 2.19), but processes are informal (so </a:t>
            </a:r>
            <a:r>
              <a:rPr lang="en-US" dirty="0" err="1"/>
              <a:t>PMAT</a:t>
            </a:r>
            <a:r>
              <a:rPr lang="en-US" dirty="0"/>
              <a:t> is low and scores 6.24)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3E807D2-7E45-3F5F-4328-C6566253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factor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5151243"/>
          </a:xfrm>
        </p:spPr>
        <p:txBody>
          <a:bodyPr>
            <a:noAutofit/>
          </a:bodyPr>
          <a:lstStyle/>
          <a:p>
            <a:r>
              <a:rPr lang="en-US" dirty="0"/>
              <a:t>The formula for sf is</a:t>
            </a:r>
          </a:p>
          <a:p>
            <a:pPr marL="0" indent="0">
              <a:buNone/>
            </a:pPr>
            <a:r>
              <a:rPr lang="en-US" dirty="0"/>
              <a:t>	sf = B + 0.01× Σ scale factor values</a:t>
            </a:r>
          </a:p>
          <a:p>
            <a:pPr marL="0" indent="0">
              <a:buNone/>
            </a:pPr>
            <a:r>
              <a:rPr lang="en-US" dirty="0"/>
              <a:t>	i.e. sf = 0/91 + 0.01</a:t>
            </a:r>
          </a:p>
          <a:p>
            <a:pPr marL="0" indent="0">
              <a:buNone/>
            </a:pPr>
            <a:r>
              <a:rPr lang="en-US" dirty="0"/>
              <a:t>	× (1.24 + 5.07 + 2.83 + 2.19 + 6.24)</a:t>
            </a:r>
          </a:p>
          <a:p>
            <a:pPr marL="0" indent="0">
              <a:buNone/>
            </a:pPr>
            <a:r>
              <a:rPr lang="en-US" dirty="0"/>
              <a:t>	= 1.0857</a:t>
            </a:r>
          </a:p>
          <a:p>
            <a:r>
              <a:rPr lang="en-US" dirty="0"/>
              <a:t>If system contained 10 </a:t>
            </a:r>
            <a:r>
              <a:rPr lang="en-US" dirty="0" err="1"/>
              <a:t>kloc</a:t>
            </a:r>
            <a:r>
              <a:rPr lang="en-US" dirty="0"/>
              <a:t> then estimate would be 2.94 x 10</a:t>
            </a:r>
            <a:r>
              <a:rPr lang="en-US" baseline="30000" dirty="0"/>
              <a:t>1.0857</a:t>
            </a:r>
            <a:r>
              <a:rPr lang="en-US" dirty="0"/>
              <a:t> = 35.8 person months</a:t>
            </a:r>
          </a:p>
          <a:p>
            <a:r>
              <a:rPr lang="en-US" dirty="0"/>
              <a:t>Using exponentiation (‘to the power of’) adds disproportionately more to the estimates for larger applications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D3C5CAB-CFC9-DFB0-B156-F91B6F3A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multipliers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As well as the scale factor effort multipliers are also assessed: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err="1"/>
              <a:t>RCPX</a:t>
            </a:r>
            <a:r>
              <a:rPr lang="en-US" sz="3200" dirty="0"/>
              <a:t> 		Product reliability and complexity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RUSE 		Reuse required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err="1"/>
              <a:t>PDIF</a:t>
            </a:r>
            <a:r>
              <a:rPr lang="en-US" sz="3200" dirty="0"/>
              <a:t> 		Platform difficulty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PERS 		Personnel capability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err="1"/>
              <a:t>FCIL</a:t>
            </a:r>
            <a:r>
              <a:rPr lang="en-US" sz="3200" dirty="0"/>
              <a:t> 		Facilities available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err="1"/>
              <a:t>SCED</a:t>
            </a:r>
            <a:r>
              <a:rPr lang="en-US" sz="3200" dirty="0"/>
              <a:t> 		Schedule pressure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5D11BDF-AB98-E24D-C743-848554CD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multipliers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53BF65-DE91-1BE9-3FC5-CCFA593A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93297"/>
              </p:ext>
            </p:extLst>
          </p:nvPr>
        </p:nvGraphicFramePr>
        <p:xfrm>
          <a:off x="1133540" y="1461387"/>
          <a:ext cx="9924920" cy="4734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615">
                  <a:extLst>
                    <a:ext uri="{9D8B030D-6E8A-4147-A177-3AD203B41FA5}">
                      <a16:colId xmlns:a16="http://schemas.microsoft.com/office/drawing/2014/main" val="1227751588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4120229011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4191200989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2445587497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1161725235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1702094752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4226114236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4088386935"/>
                    </a:ext>
                  </a:extLst>
                </a:gridCol>
              </a:tblGrid>
              <a:tr h="558731">
                <a:tc>
                  <a:txBody>
                    <a:bodyPr/>
                    <a:lstStyle/>
                    <a:p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Extra low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Very low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Nom-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inal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Very high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Extra high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374097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RCPX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0.49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0.60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0.83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1.33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1.91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2.72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860144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RUSE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1.15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1.24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011238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PDIF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1.29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1.81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2.61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44473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PPERS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2.12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1.62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1.26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0.83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74125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PREX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1.59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1.33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1.12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0.74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0.62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163465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FCIL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1.43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1.30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1.10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0.73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0.62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730854"/>
                  </a:ext>
                </a:extLst>
              </a:tr>
              <a:tr h="558731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SCED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1.43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1.14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37360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051D82E-9D16-442E-5888-78696306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938835"/>
          </a:xfrm>
        </p:spPr>
        <p:txBody>
          <a:bodyPr>
            <a:noAutofit/>
          </a:bodyPr>
          <a:lstStyle/>
          <a:p>
            <a:r>
              <a:rPr lang="en-US" dirty="0"/>
              <a:t>Say that a new project is similar in most characteristics to those that an organization has been dealing for some time:</a:t>
            </a:r>
          </a:p>
          <a:p>
            <a:r>
              <a:rPr lang="en-US" dirty="0"/>
              <a:t>except: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the software to be produced is exceptionally complex and will be used in a safety critical system.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The software will interface with a new operating system that is currently in beta status.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To deal with this the team allocated to the job are regarded as exceptionally good, but do not have a lot of experience on this type of software.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D7E8094-1CA9-0710-19E9-2FA95EB8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820082"/>
          </a:xfrm>
        </p:spPr>
        <p:txBody>
          <a:bodyPr>
            <a:noAutofit/>
          </a:bodyPr>
          <a:lstStyle/>
          <a:p>
            <a:r>
              <a:rPr lang="en-US" dirty="0" err="1"/>
              <a:t>RCPX</a:t>
            </a:r>
            <a:r>
              <a:rPr lang="en-US" dirty="0"/>
              <a:t> 		very high 		1.91</a:t>
            </a:r>
          </a:p>
          <a:p>
            <a:r>
              <a:rPr lang="en-US" dirty="0" err="1"/>
              <a:t>PDIF</a:t>
            </a:r>
            <a:r>
              <a:rPr lang="en-US" dirty="0"/>
              <a:t> 		very high 		1.81</a:t>
            </a:r>
          </a:p>
          <a:p>
            <a:r>
              <a:rPr lang="en-US" dirty="0"/>
              <a:t>PERS 		extra high 		0.50</a:t>
            </a:r>
          </a:p>
          <a:p>
            <a:r>
              <a:rPr lang="en-US" dirty="0" err="1"/>
              <a:t>PREX</a:t>
            </a:r>
            <a:r>
              <a:rPr lang="en-US" dirty="0"/>
              <a:t> 		nominal 		1.00</a:t>
            </a:r>
          </a:p>
          <a:p>
            <a:r>
              <a:rPr lang="en-US" dirty="0"/>
              <a:t>All other factors are nominal</a:t>
            </a:r>
          </a:p>
          <a:p>
            <a:r>
              <a:rPr lang="en-US" dirty="0"/>
              <a:t>Say estimate is 35.8 person months</a:t>
            </a:r>
          </a:p>
          <a:p>
            <a:r>
              <a:rPr lang="en-US" sz="3200" dirty="0"/>
              <a:t>With effort multipliers this becomes 35.8 x 1.91 x 1.81 x 0.5 = 61.9 person months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92F0DB4-1BA0-CAA4-A016-611CBA73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conclusions: how to review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Ask the following questions about an estimate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What are the task size drivers?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What productivity rates have been used?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Is there an example of a previous project of about the same size?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Are there examples of where the productivity rates used have actually been found?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F033FD9-3F77-249C-143E-22280D7F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/>
              <a:t>Ch5</a:t>
            </a:r>
            <a:r>
              <a:rPr lang="en-US" dirty="0"/>
              <a:t>. Software effort estimation</a:t>
            </a:r>
          </a:p>
        </p:txBody>
      </p:sp>
    </p:spTree>
    <p:extLst>
      <p:ext uri="{BB962C8B-B14F-4D97-AF65-F5344CB8AC3E}">
        <p14:creationId xmlns:p14="http://schemas.microsoft.com/office/powerpoint/2010/main" val="3282607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6634</TotalTime>
  <Words>4603</Words>
  <Application>Microsoft Office PowerPoint</Application>
  <PresentationFormat>Widescreen</PresentationFormat>
  <Paragraphs>879</Paragraphs>
  <Slides>43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Tw Cen MT</vt:lpstr>
      <vt:lpstr>Tw Cen MT Condensed</vt:lpstr>
      <vt:lpstr>Wingdings</vt:lpstr>
      <vt:lpstr>Wingdings 3</vt:lpstr>
      <vt:lpstr>Theme_SE2019s1</vt:lpstr>
      <vt:lpstr>Chapter 5 - Software effort estimation</vt:lpstr>
      <vt:lpstr>What makes a successful project?</vt:lpstr>
      <vt:lpstr>Some problems with estimating</vt:lpstr>
      <vt:lpstr>Over and under-estimating</vt:lpstr>
      <vt:lpstr>Basis for successful estimating</vt:lpstr>
      <vt:lpstr>A taxonomy of estimating methods</vt:lpstr>
      <vt:lpstr>Bottom-up versus top-down</vt:lpstr>
      <vt:lpstr>Bottom-up estimating</vt:lpstr>
      <vt:lpstr>Top-down estimates</vt:lpstr>
      <vt:lpstr>Algorithmic/Parametric models</vt:lpstr>
      <vt:lpstr>Parametric models - the need for historical data</vt:lpstr>
      <vt:lpstr>Parametric models</vt:lpstr>
      <vt:lpstr>Parametric models</vt:lpstr>
      <vt:lpstr>Expert judgement</vt:lpstr>
      <vt:lpstr>Estimating by analogy</vt:lpstr>
      <vt:lpstr>Stages: identify</vt:lpstr>
      <vt:lpstr>Machine assistance for source selection (ANGEL)</vt:lpstr>
      <vt:lpstr>Parametric models</vt:lpstr>
      <vt:lpstr>Albrecht/IFPUG function points</vt:lpstr>
      <vt:lpstr>Albrecht/IFPUG function points</vt:lpstr>
      <vt:lpstr>Albrecht/IFPUG function points </vt:lpstr>
      <vt:lpstr>Albrecht complexity multipliers</vt:lpstr>
      <vt:lpstr>Examples</vt:lpstr>
      <vt:lpstr>FP counts</vt:lpstr>
      <vt:lpstr>Function points Mark II</vt:lpstr>
      <vt:lpstr>Function points Mk II</vt:lpstr>
      <vt:lpstr>Function points for embedded systems</vt:lpstr>
      <vt:lpstr>Layered software</vt:lpstr>
      <vt:lpstr>COSMIC FPs</vt:lpstr>
      <vt:lpstr>COCOMO81</vt:lpstr>
      <vt:lpstr>The COCOMO constants</vt:lpstr>
      <vt:lpstr>Development effort multipliers (dem)</vt:lpstr>
      <vt:lpstr>Using COCOMO development effort multipliers (dem)</vt:lpstr>
      <vt:lpstr>COCOMO II</vt:lpstr>
      <vt:lpstr>COCOMO II Scale factor</vt:lpstr>
      <vt:lpstr>COCOMO II Scale factor values</vt:lpstr>
      <vt:lpstr>Example of scale factor</vt:lpstr>
      <vt:lpstr>Scale factor calculation</vt:lpstr>
      <vt:lpstr>Effort multipliers</vt:lpstr>
      <vt:lpstr>Effort multipliers</vt:lpstr>
      <vt:lpstr>Example</vt:lpstr>
      <vt:lpstr>Example</vt:lpstr>
      <vt:lpstr>Some conclusions: how to review estimates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Mai Phước Lộc</cp:lastModifiedBy>
  <cp:revision>235</cp:revision>
  <dcterms:created xsi:type="dcterms:W3CDTF">2009-12-29T10:39:27Z</dcterms:created>
  <dcterms:modified xsi:type="dcterms:W3CDTF">2024-09-13T02:21:47Z</dcterms:modified>
</cp:coreProperties>
</file>