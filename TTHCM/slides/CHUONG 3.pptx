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1"/>
  </p:notesMasterIdLst>
  <p:sldIdLst>
    <p:sldId id="257" r:id="rId2"/>
    <p:sldId id="411" r:id="rId3"/>
    <p:sldId id="258" r:id="rId4"/>
    <p:sldId id="321" r:id="rId5"/>
    <p:sldId id="374" r:id="rId6"/>
    <p:sldId id="375" r:id="rId7"/>
    <p:sldId id="377" r:id="rId8"/>
    <p:sldId id="379" r:id="rId9"/>
    <p:sldId id="380" r:id="rId10"/>
    <p:sldId id="378" r:id="rId11"/>
    <p:sldId id="382" r:id="rId12"/>
    <p:sldId id="383" r:id="rId13"/>
    <p:sldId id="384" r:id="rId14"/>
    <p:sldId id="385" r:id="rId15"/>
    <p:sldId id="386" r:id="rId16"/>
    <p:sldId id="387" r:id="rId17"/>
    <p:sldId id="388" r:id="rId18"/>
    <p:sldId id="389" r:id="rId19"/>
    <p:sldId id="390" r:id="rId20"/>
    <p:sldId id="391" r:id="rId21"/>
    <p:sldId id="392" r:id="rId22"/>
    <p:sldId id="393" r:id="rId23"/>
    <p:sldId id="394" r:id="rId24"/>
    <p:sldId id="395" r:id="rId25"/>
    <p:sldId id="396" r:id="rId26"/>
    <p:sldId id="397" r:id="rId27"/>
    <p:sldId id="398" r:id="rId28"/>
    <p:sldId id="399" r:id="rId29"/>
    <p:sldId id="400" r:id="rId30"/>
    <p:sldId id="401" r:id="rId31"/>
    <p:sldId id="402" r:id="rId32"/>
    <p:sldId id="403" r:id="rId33"/>
    <p:sldId id="404" r:id="rId34"/>
    <p:sldId id="405" r:id="rId35"/>
    <p:sldId id="406" r:id="rId36"/>
    <p:sldId id="407" r:id="rId37"/>
    <p:sldId id="408" r:id="rId38"/>
    <p:sldId id="409" r:id="rId39"/>
    <p:sldId id="412"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02047B-58C5-43E6-B9D6-6E88D756E43A}" type="datetimeFigureOut">
              <a:rPr lang="en-US" smtClean="0"/>
              <a:t>9/12/2025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8BE33-0988-40F8-B168-04F60BE9FD82}" type="slidenum">
              <a:rPr lang="en-US" smtClean="0"/>
              <a:t>‹#›</a:t>
            </a:fld>
            <a:endParaRPr lang="en-US"/>
          </a:p>
        </p:txBody>
      </p:sp>
    </p:spTree>
    <p:extLst>
      <p:ext uri="{BB962C8B-B14F-4D97-AF65-F5344CB8AC3E}">
        <p14:creationId xmlns:p14="http://schemas.microsoft.com/office/powerpoint/2010/main" val="4134277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EB454DE-53F2-4E13-8CCA-248411AB7CBA}" type="datetime1">
              <a:rPr lang="en-US" smtClean="0"/>
              <a:t>9/12/2025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8300930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5B725E-A179-4815-A3FF-3C3F9953D44A}" type="datetime1">
              <a:rPr lang="en-US" smtClean="0"/>
              <a:t>9/12/2025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00850667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222ABD9-1E20-48E1-8FD2-B9F4A2649645}" type="datetime1">
              <a:rPr lang="en-US" smtClean="0"/>
              <a:t>9/12/2025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pic>
        <p:nvPicPr>
          <p:cNvPr id="7" name="Picture 6" descr="logoTDT-banquye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43543"/>
            <a:ext cx="1959430" cy="10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986092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96C2175-857C-404A-B0AC-7FF3A3528F2F}" type="datetime1">
              <a:rPr lang="en-US" smtClean="0"/>
              <a:t>9/12/2025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813833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D315094-D398-4D10-8870-3637DEEE2FAD}" type="datetime1">
              <a:rPr lang="en-US" smtClean="0"/>
              <a:t>9/12/2025</a:t>
            </a:fld>
            <a:endParaRPr lang="en-US"/>
          </a:p>
        </p:txBody>
      </p:sp>
      <p:sp>
        <p:nvSpPr>
          <p:cNvPr id="8" name="Footer Placeholder 7"/>
          <p:cNvSpPr>
            <a:spLocks noGrp="1"/>
          </p:cNvSpPr>
          <p:nvPr>
            <p:ph type="ftr" sz="quarter" idx="11"/>
          </p:nvPr>
        </p:nvSpPr>
        <p:spPr/>
        <p:txBody>
          <a:bodyPr/>
          <a:lstStyle/>
          <a:p>
            <a:r>
              <a:rPr lang="vi-VN" smtClean="0"/>
              <a:t>301002_Chương 7</a:t>
            </a:r>
            <a:endParaRPr lang="en-US"/>
          </a:p>
        </p:txBody>
      </p:sp>
      <p:sp>
        <p:nvSpPr>
          <p:cNvPr id="9" name="Slide Number Placeholder 8"/>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57967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C390A9-5F19-43AD-91C6-55F2342B4DCC}"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5" name="Slide Number Placeholder 4"/>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87966338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2C3203-D6A3-4BA8-AEB4-CD5FE82A1718}" type="datetime1">
              <a:rPr lang="en-US" smtClean="0"/>
              <a:t>9/12/2025</a:t>
            </a:fld>
            <a:endParaRPr lang="en-US"/>
          </a:p>
        </p:txBody>
      </p:sp>
      <p:sp>
        <p:nvSpPr>
          <p:cNvPr id="3" name="Footer Placeholder 2"/>
          <p:cNvSpPr>
            <a:spLocks noGrp="1"/>
          </p:cNvSpPr>
          <p:nvPr>
            <p:ph type="ftr" sz="quarter" idx="11"/>
          </p:nvPr>
        </p:nvSpPr>
        <p:spPr/>
        <p:txBody>
          <a:bodyPr/>
          <a:lstStyle/>
          <a:p>
            <a:r>
              <a:rPr lang="vi-VN" smtClean="0"/>
              <a:t>301002_Chương 7</a:t>
            </a:r>
            <a:endParaRPr lang="en-US"/>
          </a:p>
        </p:txBody>
      </p:sp>
      <p:sp>
        <p:nvSpPr>
          <p:cNvPr id="4" name="Slide Number Placeholder 3"/>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4219421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9C8B3EC-862A-4835-86EA-7F72D68C2751}" type="datetime1">
              <a:rPr lang="en-US" smtClean="0"/>
              <a:t>9/12/2025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186088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626026B-B951-4D24-9FFD-31F96799685B}" type="datetime1">
              <a:rPr lang="en-US" smtClean="0"/>
              <a:t>9/12/2025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122616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5A0EDBE-881C-4345-A5AE-01B3096C158A}" type="datetime1">
              <a:rPr lang="en-US" smtClean="0"/>
              <a:t>9/12/2025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3501333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7964512-9659-41B0-BFC6-97CAFC9E1246}" type="datetime1">
              <a:rPr lang="en-US" smtClean="0"/>
              <a:t>9/12/2025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1080952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B46D90-EA8E-4D33-86A5-21E3581C5B53}" type="datetime1">
              <a:rPr lang="en-US" smtClean="0"/>
              <a:t>9/12/2025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smtClean="0"/>
              <a:t>301002_Chương 7</a:t>
            </a: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8A153D-734D-405D-8FB4-686C2D8CE407}" type="slidenum">
              <a:rPr lang="en-US" smtClean="0"/>
              <a:pPr/>
              <a:t>‹#›</a:t>
            </a:fld>
            <a:endParaRPr lang="en-US"/>
          </a:p>
        </p:txBody>
      </p:sp>
      <p:pic>
        <p:nvPicPr>
          <p:cNvPr id="7" name="Picture 6" descr="logoTDT-banquyen"/>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4008" y="0"/>
            <a:ext cx="1959430" cy="10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03100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14400"/>
            <a:ext cx="9144000" cy="3886200"/>
          </a:xfrm>
        </p:spPr>
        <p:txBody>
          <a:bodyPr>
            <a:noAutofit/>
          </a:bodyPr>
          <a:lstStyle/>
          <a:p>
            <a:pPr>
              <a:lnSpc>
                <a:spcPct val="150000"/>
              </a:lnSpc>
              <a:spcBef>
                <a:spcPts val="0"/>
              </a:spcBef>
            </a:pPr>
            <a:endParaRPr lang="en-US" sz="3100" b="1" dirty="0" smtClean="0">
              <a:solidFill>
                <a:srgbClr val="FF0000"/>
              </a:solidFill>
              <a:latin typeface="Times New Roman" pitchFamily="18" charset="0"/>
              <a:cs typeface="Times New Roman" pitchFamily="18" charset="0"/>
            </a:endParaRPr>
          </a:p>
          <a:p>
            <a:pPr>
              <a:lnSpc>
                <a:spcPct val="150000"/>
              </a:lnSpc>
              <a:spcBef>
                <a:spcPts val="0"/>
              </a:spcBef>
            </a:pPr>
            <a:r>
              <a:rPr lang="en-US" sz="3100" b="1" dirty="0" err="1" smtClean="0">
                <a:solidFill>
                  <a:srgbClr val="FF0000"/>
                </a:solidFill>
                <a:latin typeface="Times New Roman" pitchFamily="18" charset="0"/>
                <a:cs typeface="Times New Roman" pitchFamily="18" charset="0"/>
              </a:rPr>
              <a:t>Chương</a:t>
            </a:r>
            <a:r>
              <a:rPr lang="en-US" sz="3100" b="1" dirty="0" smtClean="0">
                <a:solidFill>
                  <a:srgbClr val="FF0000"/>
                </a:solidFill>
                <a:latin typeface="Times New Roman" pitchFamily="18" charset="0"/>
                <a:cs typeface="Times New Roman" pitchFamily="18" charset="0"/>
              </a:rPr>
              <a:t> </a:t>
            </a:r>
            <a:r>
              <a:rPr lang="en-US" sz="3100" b="1" dirty="0">
                <a:solidFill>
                  <a:srgbClr val="FF0000"/>
                </a:solidFill>
                <a:latin typeface="Times New Roman" pitchFamily="18" charset="0"/>
                <a:cs typeface="Times New Roman" pitchFamily="18" charset="0"/>
              </a:rPr>
              <a:t>3</a:t>
            </a:r>
            <a:endParaRPr lang="en-US" sz="3100" b="1" dirty="0" smtClean="0">
              <a:solidFill>
                <a:srgbClr val="FF0000"/>
              </a:solidFill>
              <a:latin typeface="Times New Roman" pitchFamily="18" charset="0"/>
              <a:cs typeface="Times New Roman" pitchFamily="18" charset="0"/>
            </a:endParaRPr>
          </a:p>
          <a:p>
            <a:pPr>
              <a:lnSpc>
                <a:spcPct val="150000"/>
              </a:lnSpc>
              <a:spcBef>
                <a:spcPts val="0"/>
              </a:spcBef>
            </a:pPr>
            <a:r>
              <a:rPr lang="en-US" sz="3100" b="1" dirty="0" smtClean="0">
                <a:solidFill>
                  <a:srgbClr val="FF0000"/>
                </a:solidFill>
                <a:latin typeface="Times New Roman" pitchFamily="18" charset="0"/>
                <a:cs typeface="Times New Roman" pitchFamily="18" charset="0"/>
              </a:rPr>
              <a:t>TƯ TƯỞNG HỒ CHÍ MINH </a:t>
            </a:r>
          </a:p>
          <a:p>
            <a:pPr>
              <a:lnSpc>
                <a:spcPct val="150000"/>
              </a:lnSpc>
              <a:spcBef>
                <a:spcPts val="0"/>
              </a:spcBef>
            </a:pPr>
            <a:r>
              <a:rPr lang="en-US" sz="3100" b="1" dirty="0" smtClean="0">
                <a:solidFill>
                  <a:srgbClr val="FF0000"/>
                </a:solidFill>
                <a:latin typeface="Times New Roman" pitchFamily="18" charset="0"/>
                <a:cs typeface="Times New Roman" pitchFamily="18" charset="0"/>
              </a:rPr>
              <a:t>VỀ ĐỘC LẬP DÂN TỘC VÀ CHỦ NGHĨA XÃ HỘI</a:t>
            </a:r>
          </a:p>
          <a:p>
            <a:pPr>
              <a:lnSpc>
                <a:spcPct val="150000"/>
              </a:lnSpc>
              <a:spcBef>
                <a:spcPts val="0"/>
              </a:spcBef>
            </a:pPr>
            <a:endParaRPr lang="en-US" sz="3100" b="1" dirty="0" smtClean="0">
              <a:solidFill>
                <a:srgbClr val="FF0000"/>
              </a:solidFill>
              <a:latin typeface="Times New Roman" pitchFamily="18" charset="0"/>
              <a:cs typeface="Times New Roman" pitchFamily="18" charset="0"/>
            </a:endParaRPr>
          </a:p>
          <a:p>
            <a:pPr>
              <a:lnSpc>
                <a:spcPct val="150000"/>
              </a:lnSpc>
              <a:spcBef>
                <a:spcPts val="0"/>
              </a:spcBef>
            </a:pPr>
            <a:endParaRPr lang="en-US" sz="3100" b="1" dirty="0">
              <a:solidFill>
                <a:srgbClr val="FF0000"/>
              </a:solidFill>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fld id="{2ECB21DE-0B5A-4F32-BC26-DDDC94AB31B2}"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a:t>
            </a:r>
            <a:r>
              <a:rPr lang="en-US"/>
              <a:t>3</a:t>
            </a:r>
          </a:p>
        </p:txBody>
      </p:sp>
      <p:sp>
        <p:nvSpPr>
          <p:cNvPr id="6" name="Slide Number Placeholder 5"/>
          <p:cNvSpPr>
            <a:spLocks noGrp="1"/>
          </p:cNvSpPr>
          <p:nvPr>
            <p:ph type="sldNum" sz="quarter" idx="12"/>
          </p:nvPr>
        </p:nvSpPr>
        <p:spPr/>
        <p:txBody>
          <a:bodyPr/>
          <a:lstStyle/>
          <a:p>
            <a:fld id="{A58A153D-734D-405D-8FB4-686C2D8CE407}" type="slidenum">
              <a:rPr lang="en-US" smtClean="0"/>
              <a:pPr/>
              <a:t>1</a:t>
            </a:fld>
            <a:endParaRPr lang="en-US"/>
          </a:p>
        </p:txBody>
      </p:sp>
      <p:sp>
        <p:nvSpPr>
          <p:cNvPr id="5" name="Rectangle 4"/>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a:t>
            </a:r>
            <a:endParaRPr lang="en-US" sz="3000" b="1" dirty="0">
              <a:solidFill>
                <a:srgbClr val="CC0099"/>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2</a:t>
            </a:fld>
            <a:endParaRPr lang="en-US"/>
          </a:p>
        </p:txBody>
      </p:sp>
      <p:sp>
        <p:nvSpPr>
          <p:cNvPr id="10" name="Text Box 36"/>
          <p:cNvSpPr txBox="1">
            <a:spLocks noChangeArrowheads="1"/>
          </p:cNvSpPr>
          <p:nvPr/>
        </p:nvSpPr>
        <p:spPr bwMode="auto">
          <a:xfrm>
            <a:off x="152400" y="2830908"/>
            <a:ext cx="964102" cy="101566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b="1" dirty="0" err="1" smtClean="0">
                <a:solidFill>
                  <a:srgbClr val="FF0000"/>
                </a:solidFill>
                <a:latin typeface="Times New Roman"/>
                <a:cs typeface="Times New Roman"/>
              </a:rPr>
              <a:t>Mục</a:t>
            </a:r>
            <a:r>
              <a:rPr lang="en-US" sz="3000" b="1" dirty="0" smtClean="0">
                <a:solidFill>
                  <a:srgbClr val="FF0000"/>
                </a:solidFill>
                <a:latin typeface="Times New Roman"/>
                <a:cs typeface="Times New Roman"/>
              </a:rPr>
              <a:t> </a:t>
            </a:r>
            <a:r>
              <a:rPr lang="en-US" sz="3000" b="1" dirty="0" err="1" smtClean="0">
                <a:solidFill>
                  <a:srgbClr val="FF0000"/>
                </a:solidFill>
                <a:latin typeface="Times New Roman"/>
                <a:cs typeface="Times New Roman"/>
              </a:rPr>
              <a:t>tiêu</a:t>
            </a:r>
            <a:endParaRPr lang="en-US" sz="3000" b="1" dirty="0">
              <a:solidFill>
                <a:srgbClr val="FF0000"/>
              </a:solidFill>
              <a:latin typeface="Times New Roman"/>
              <a:cs typeface="Times New Roman"/>
            </a:endParaRPr>
          </a:p>
        </p:txBody>
      </p:sp>
      <p:sp>
        <p:nvSpPr>
          <p:cNvPr id="11" name="Text Box 36"/>
          <p:cNvSpPr txBox="1">
            <a:spLocks noChangeArrowheads="1"/>
          </p:cNvSpPr>
          <p:nvPr/>
        </p:nvSpPr>
        <p:spPr bwMode="auto">
          <a:xfrm>
            <a:off x="1905000" y="1066800"/>
            <a:ext cx="867956"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Kiến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thức</a:t>
            </a:r>
            <a:endParaRPr lang="en-US" sz="2600" dirty="0">
              <a:solidFill>
                <a:srgbClr val="FF0000"/>
              </a:solidFill>
              <a:latin typeface="Times New Roman"/>
              <a:cs typeface="Times New Roman"/>
            </a:endParaRPr>
          </a:p>
        </p:txBody>
      </p:sp>
      <p:sp>
        <p:nvSpPr>
          <p:cNvPr id="12" name="Text Box 36"/>
          <p:cNvSpPr txBox="1">
            <a:spLocks noChangeArrowheads="1"/>
          </p:cNvSpPr>
          <p:nvPr/>
        </p:nvSpPr>
        <p:spPr bwMode="auto">
          <a:xfrm>
            <a:off x="1792552" y="2589217"/>
            <a:ext cx="874448" cy="122078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Kỹ</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năng</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068638" y="1197700"/>
            <a:ext cx="5791199"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nhận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thức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được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bản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chất</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cách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mạng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khoa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học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những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sáng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tạo</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nắm</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vững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được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tính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quy</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luật</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của</a:t>
            </a:r>
            <a:r>
              <a:rPr lang="en-US" sz="2600" dirty="0" smtClean="0">
                <a:solidFill>
                  <a:srgbClr val="002060"/>
                </a:solidFill>
                <a:latin typeface="Times New Roman" panose="02020603050405020304" pitchFamily="18" charset="0"/>
                <a:cs typeface="Times New Roman" panose="02020603050405020304" pitchFamily="18" charset="0"/>
              </a:rPr>
              <a:t> CMVN.</a:t>
            </a:r>
            <a:endParaRPr lang="en-US" sz="2600" dirty="0">
              <a:solidFill>
                <a:srgbClr val="002060"/>
              </a:solidFill>
              <a:latin typeface="Times New Roman" panose="02020603050405020304" pitchFamily="18" charset="0"/>
              <a:cs typeface="Times New Roman" panose="02020603050405020304" pitchFamily="18" charset="0"/>
            </a:endParaRPr>
          </a:p>
        </p:txBody>
      </p:sp>
      <p:cxnSp>
        <p:nvCxnSpPr>
          <p:cNvPr id="15" name="Straight Connector 14"/>
          <p:cNvCxnSpPr/>
          <p:nvPr/>
        </p:nvCxnSpPr>
        <p:spPr>
          <a:xfrm>
            <a:off x="1186354" y="1653474"/>
            <a:ext cx="17235" cy="327291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155883" y="1653474"/>
            <a:ext cx="67291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1189133" y="4926385"/>
            <a:ext cx="715867" cy="26615"/>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8" name="Text Box 36"/>
          <p:cNvSpPr txBox="1">
            <a:spLocks noChangeArrowheads="1"/>
          </p:cNvSpPr>
          <p:nvPr/>
        </p:nvSpPr>
        <p:spPr bwMode="auto">
          <a:xfrm>
            <a:off x="1847850" y="4267200"/>
            <a:ext cx="97155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endParaRPr lang="en-US" sz="2600" dirty="0">
              <a:solidFill>
                <a:srgbClr val="FF0000"/>
              </a:solidFill>
              <a:latin typeface="Times New Roman"/>
              <a:cs typeface="Times New Roman"/>
            </a:endParaRPr>
          </a:p>
        </p:txBody>
      </p:sp>
      <p:cxnSp>
        <p:nvCxnSpPr>
          <p:cNvPr id="19" name="Straight Arrow Connector 18"/>
          <p:cNvCxnSpPr/>
          <p:nvPr/>
        </p:nvCxnSpPr>
        <p:spPr>
          <a:xfrm>
            <a:off x="1203589" y="3122617"/>
            <a:ext cx="625211"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Connector 26"/>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8"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
        <p:nvSpPr>
          <p:cNvPr id="25" name="Text Box 36"/>
          <p:cNvSpPr txBox="1">
            <a:spLocks noChangeArrowheads="1"/>
          </p:cNvSpPr>
          <p:nvPr/>
        </p:nvSpPr>
        <p:spPr bwMode="auto">
          <a:xfrm>
            <a:off x="3124199" y="2743200"/>
            <a:ext cx="5735637"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có</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khả</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năng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nhận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diện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phản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bác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những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luận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điểm</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xuyên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tạc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tưởng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Hồ</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Chí</a:t>
            </a:r>
            <a:r>
              <a:rPr lang="en-US" sz="2600" dirty="0" smtClean="0">
                <a:solidFill>
                  <a:srgbClr val="002060"/>
                </a:solidFill>
                <a:latin typeface="Times New Roman" panose="02020603050405020304" pitchFamily="18" charset="0"/>
                <a:cs typeface="Times New Roman" panose="02020603050405020304" pitchFamily="18" charset="0"/>
              </a:rPr>
              <a:t> Minh </a:t>
            </a:r>
            <a:r>
              <a:rPr lang="en-US" sz="2600" dirty="0" err="1" smtClean="0">
                <a:solidFill>
                  <a:srgbClr val="002060"/>
                </a:solidFill>
                <a:latin typeface="Times New Roman" panose="02020603050405020304" pitchFamily="18" charset="0"/>
                <a:cs typeface="Times New Roman" panose="02020603050405020304" pitchFamily="18" charset="0"/>
              </a:rPr>
              <a:t>về</a:t>
            </a:r>
            <a:r>
              <a:rPr lang="en-US" sz="2600" dirty="0" smtClean="0">
                <a:solidFill>
                  <a:srgbClr val="002060"/>
                </a:solidFill>
                <a:latin typeface="Times New Roman" panose="02020603050405020304" pitchFamily="18" charset="0"/>
                <a:cs typeface="Times New Roman" panose="02020603050405020304" pitchFamily="18" charset="0"/>
              </a:rPr>
              <a:t> ĐLDT </a:t>
            </a:r>
            <a:r>
              <a:rPr lang="en-US" sz="2600" dirty="0" err="1" smtClean="0">
                <a:solidFill>
                  <a:srgbClr val="002060"/>
                </a:solidFill>
                <a:latin typeface="Times New Roman" panose="02020603050405020304" pitchFamily="18" charset="0"/>
                <a:cs typeface="Times New Roman" panose="02020603050405020304" pitchFamily="18" charset="0"/>
              </a:rPr>
              <a:t>và</a:t>
            </a:r>
            <a:r>
              <a:rPr lang="en-US" sz="2600" dirty="0" smtClean="0">
                <a:solidFill>
                  <a:srgbClr val="002060"/>
                </a:solidFill>
                <a:latin typeface="Times New Roman" panose="02020603050405020304" pitchFamily="18" charset="0"/>
                <a:cs typeface="Times New Roman" panose="02020603050405020304" pitchFamily="18" charset="0"/>
              </a:rPr>
              <a:t> CNXH.</a:t>
            </a:r>
            <a:endParaRPr lang="en-US" sz="2600" dirty="0">
              <a:solidFill>
                <a:srgbClr val="002060"/>
              </a:solidFill>
              <a:latin typeface="Times New Roman" panose="02020603050405020304" pitchFamily="18" charset="0"/>
              <a:cs typeface="Times New Roman" panose="02020603050405020304" pitchFamily="18" charset="0"/>
            </a:endParaRPr>
          </a:p>
        </p:txBody>
      </p:sp>
      <p:sp>
        <p:nvSpPr>
          <p:cNvPr id="34" name="Text Box 36"/>
          <p:cNvSpPr txBox="1">
            <a:spLocks noChangeArrowheads="1"/>
          </p:cNvSpPr>
          <p:nvPr/>
        </p:nvSpPr>
        <p:spPr bwMode="auto">
          <a:xfrm>
            <a:off x="3124200" y="4498538"/>
            <a:ext cx="6040437"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thêm</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tự</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hào</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về</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sức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mạnh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của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dân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tộc</a:t>
            </a:r>
            <a:r>
              <a:rPr lang="en-US" sz="2600" dirty="0" smtClean="0">
                <a:solidFill>
                  <a:srgbClr val="002060"/>
                </a:solidFill>
                <a:latin typeface="Times New Roman" panose="02020603050405020304" pitchFamily="18" charset="0"/>
                <a:cs typeface="Times New Roman" panose="02020603050405020304" pitchFamily="18" charset="0"/>
              </a:rPr>
              <a:t>, tin </a:t>
            </a:r>
            <a:r>
              <a:rPr lang="en-US" sz="2600" dirty="0" err="1" smtClean="0">
                <a:solidFill>
                  <a:srgbClr val="002060"/>
                </a:solidFill>
                <a:latin typeface="Times New Roman" panose="02020603050405020304" pitchFamily="18" charset="0"/>
                <a:cs typeface="Times New Roman" panose="02020603050405020304" pitchFamily="18" charset="0"/>
              </a:rPr>
              <a:t>tưởng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vào</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sự</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nghiệp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cách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mạng</a:t>
            </a:r>
            <a:r>
              <a:rPr lang="en-US" sz="2600" dirty="0" smtClean="0">
                <a:solidFill>
                  <a:srgbClr val="002060"/>
                </a:solidFill>
                <a:latin typeface="Times New Roman" panose="02020603050405020304" pitchFamily="18" charset="0"/>
                <a:cs typeface="Times New Roman" panose="02020603050405020304" pitchFamily="18" charset="0"/>
              </a:rPr>
              <a:t> XHCN ở </a:t>
            </a:r>
            <a:r>
              <a:rPr lang="en-US" sz="2600" dirty="0" err="1" smtClean="0">
                <a:solidFill>
                  <a:srgbClr val="002060"/>
                </a:solidFill>
                <a:latin typeface="Times New Roman" panose="02020603050405020304" pitchFamily="18" charset="0"/>
                <a:cs typeface="Times New Roman" panose="02020603050405020304" pitchFamily="18" charset="0"/>
              </a:rPr>
              <a:t>Việt</a:t>
            </a:r>
            <a:r>
              <a:rPr lang="en-US" sz="2600" dirty="0" smtClean="0">
                <a:solidFill>
                  <a:srgbClr val="002060"/>
                </a:solidFill>
                <a:latin typeface="Times New Roman" panose="02020603050405020304" pitchFamily="18" charset="0"/>
                <a:cs typeface="Times New Roman" panose="02020603050405020304" pitchFamily="18" charset="0"/>
              </a:rPr>
              <a:t> Nam.</a:t>
            </a:r>
            <a:endParaRPr lang="en-US" sz="2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977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anim calcmode="lin" valueType="num">
                                      <p:cBhvr>
                                        <p:cTn id="15" dur="1000" fill="hold"/>
                                        <p:tgtEl>
                                          <p:spTgt spid="25"/>
                                        </p:tgtEl>
                                        <p:attrNameLst>
                                          <p:attrName>ppt_x</p:attrName>
                                        </p:attrNameLst>
                                      </p:cBhvr>
                                      <p:tavLst>
                                        <p:tav tm="0">
                                          <p:val>
                                            <p:strVal val="#ppt_x"/>
                                          </p:val>
                                        </p:tav>
                                        <p:tav tm="100000">
                                          <p:val>
                                            <p:strVal val="#ppt_x"/>
                                          </p:val>
                                        </p:tav>
                                      </p:tavLst>
                                    </p:anim>
                                    <p:anim calcmode="lin" valueType="num">
                                      <p:cBhvr>
                                        <p:cTn id="1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1000"/>
                                        <p:tgtEl>
                                          <p:spTgt spid="34"/>
                                        </p:tgtEl>
                                      </p:cBhvr>
                                    </p:animEffect>
                                    <p:anim calcmode="lin" valueType="num">
                                      <p:cBhvr>
                                        <p:cTn id="22" dur="1000" fill="hold"/>
                                        <p:tgtEl>
                                          <p:spTgt spid="34"/>
                                        </p:tgtEl>
                                        <p:attrNameLst>
                                          <p:attrName>ppt_x</p:attrName>
                                        </p:attrNameLst>
                                      </p:cBhvr>
                                      <p:tavLst>
                                        <p:tav tm="0">
                                          <p:val>
                                            <p:strVal val="#ppt_x"/>
                                          </p:val>
                                        </p:tav>
                                        <p:tav tm="100000">
                                          <p:val>
                                            <p:strVal val="#ppt_x"/>
                                          </p:val>
                                        </p:tav>
                                      </p:tavLst>
                                    </p:anim>
                                    <p:anim calcmode="lin" valueType="num">
                                      <p:cBhvr>
                                        <p:cTn id="23"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5"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9/12/2025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3</a:t>
            </a:fld>
            <a:endParaRPr lang="en-US"/>
          </a:p>
        </p:txBody>
      </p:sp>
      <p:sp>
        <p:nvSpPr>
          <p:cNvPr id="10" name="Text Box 36"/>
          <p:cNvSpPr txBox="1">
            <a:spLocks noChangeArrowheads="1"/>
          </p:cNvSpPr>
          <p:nvPr/>
        </p:nvSpPr>
        <p:spPr bwMode="auto">
          <a:xfrm>
            <a:off x="152400" y="2830908"/>
            <a:ext cx="1928980" cy="120032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600" b="1" dirty="0" err="1" smtClean="0">
                <a:solidFill>
                  <a:srgbClr val="FF0000"/>
                </a:solidFill>
                <a:latin typeface="Times New Roman"/>
                <a:cs typeface="Times New Roman"/>
              </a:rPr>
              <a:t>Nội</a:t>
            </a:r>
            <a:r>
              <a:rPr lang="en-US" sz="3600" b="1" dirty="0" smtClean="0">
                <a:solidFill>
                  <a:srgbClr val="FF0000"/>
                </a:solidFill>
                <a:latin typeface="Times New Roman"/>
                <a:cs typeface="Times New Roman"/>
              </a:rPr>
              <a:t> dung</a:t>
            </a:r>
            <a:endParaRPr lang="en-US" sz="3600" b="1" dirty="0">
              <a:solidFill>
                <a:srgbClr val="FF0000"/>
              </a:solidFill>
              <a:latin typeface="Times New Roman"/>
              <a:cs typeface="Times New Roman"/>
            </a:endParaRPr>
          </a:p>
        </p:txBody>
      </p:sp>
      <p:sp>
        <p:nvSpPr>
          <p:cNvPr id="11" name="Text Box 36"/>
          <p:cNvSpPr txBox="1">
            <a:spLocks noChangeArrowheads="1"/>
          </p:cNvSpPr>
          <p:nvPr/>
        </p:nvSpPr>
        <p:spPr bwMode="auto">
          <a:xfrm>
            <a:off x="3056435" y="1336357"/>
            <a:ext cx="6163765"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dirty="0" smtClean="0">
                <a:solidFill>
                  <a:srgbClr val="002060"/>
                </a:solidFill>
                <a:latin typeface="Times New Roman"/>
                <a:cs typeface="Times New Roman"/>
              </a:rPr>
              <a:t>I. </a:t>
            </a:r>
            <a:r>
              <a:rPr lang="en-US" sz="2600" dirty="0" err="1" smtClean="0">
                <a:solidFill>
                  <a:srgbClr val="002060"/>
                </a:solidFill>
                <a:latin typeface="Times New Roman"/>
                <a:cs typeface="Times New Roman"/>
              </a:rPr>
              <a:t>Tư</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tưởng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Hồ</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Chí</a:t>
            </a:r>
            <a:r>
              <a:rPr lang="en-US" sz="2600" dirty="0" smtClean="0">
                <a:solidFill>
                  <a:srgbClr val="002060"/>
                </a:solidFill>
                <a:latin typeface="Times New Roman"/>
                <a:cs typeface="Times New Roman"/>
              </a:rPr>
              <a:t> Minh </a:t>
            </a:r>
            <a:r>
              <a:rPr lang="en-US" sz="2600" dirty="0" err="1" smtClean="0">
                <a:solidFill>
                  <a:srgbClr val="002060"/>
                </a:solidFill>
                <a:latin typeface="Times New Roman"/>
                <a:cs typeface="Times New Roman"/>
              </a:rPr>
              <a:t>về</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độc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lập</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dân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tộc</a:t>
            </a:r>
            <a:endParaRPr lang="en-US" sz="2600" dirty="0">
              <a:solidFill>
                <a:srgbClr val="002060"/>
              </a:solidFill>
              <a:latin typeface="Times New Roman"/>
              <a:cs typeface="Times New Roman"/>
            </a:endParaRPr>
          </a:p>
        </p:txBody>
      </p:sp>
      <p:sp>
        <p:nvSpPr>
          <p:cNvPr id="13" name="Text Box 36"/>
          <p:cNvSpPr txBox="1">
            <a:spLocks noChangeArrowheads="1"/>
          </p:cNvSpPr>
          <p:nvPr/>
        </p:nvSpPr>
        <p:spPr bwMode="auto">
          <a:xfrm>
            <a:off x="3252686" y="2209800"/>
            <a:ext cx="5738914"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smtClean="0">
                <a:solidFill>
                  <a:srgbClr val="002060"/>
                </a:solidFill>
                <a:latin typeface="Times New Roman"/>
                <a:cs typeface="Times New Roman"/>
              </a:rPr>
              <a:t>II. </a:t>
            </a:r>
            <a:r>
              <a:rPr lang="en-US" sz="2600" dirty="0" err="1" smtClean="0">
                <a:solidFill>
                  <a:srgbClr val="002060"/>
                </a:solidFill>
                <a:latin typeface="Times New Roman"/>
                <a:cs typeface="Times New Roman"/>
              </a:rPr>
              <a:t>Tư</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tưởng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Hồ</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Chí</a:t>
            </a:r>
            <a:r>
              <a:rPr lang="en-US" sz="2600" dirty="0" smtClean="0">
                <a:solidFill>
                  <a:srgbClr val="002060"/>
                </a:solidFill>
                <a:latin typeface="Times New Roman"/>
                <a:cs typeface="Times New Roman"/>
              </a:rPr>
              <a:t> Minh </a:t>
            </a:r>
            <a:r>
              <a:rPr lang="en-US" sz="2600" dirty="0" err="1" smtClean="0">
                <a:solidFill>
                  <a:srgbClr val="002060"/>
                </a:solidFill>
                <a:latin typeface="Times New Roman"/>
                <a:cs typeface="Times New Roman"/>
              </a:rPr>
              <a:t>về</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chủ</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nghĩa</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xã</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hội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và</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xây</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dựng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chủ</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nghĩa</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xã</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hội</a:t>
            </a:r>
            <a:r>
              <a:rPr lang="en-US" sz="2600" dirty="0" smtClean="0">
                <a:solidFill>
                  <a:srgbClr val="002060"/>
                </a:solidFill>
                <a:latin typeface="Times New Roman"/>
                <a:cs typeface="Times New Roman"/>
              </a:rPr>
              <a:t>                       ở </a:t>
            </a:r>
            <a:r>
              <a:rPr lang="en-US" sz="2600" dirty="0" err="1" smtClean="0">
                <a:solidFill>
                  <a:srgbClr val="002060"/>
                </a:solidFill>
                <a:latin typeface="Times New Roman"/>
                <a:cs typeface="Times New Roman"/>
              </a:rPr>
              <a:t>Việt</a:t>
            </a:r>
            <a:r>
              <a:rPr lang="en-US" sz="2600" dirty="0" smtClean="0">
                <a:solidFill>
                  <a:srgbClr val="002060"/>
                </a:solidFill>
                <a:latin typeface="Times New Roman"/>
                <a:cs typeface="Times New Roman"/>
              </a:rPr>
              <a:t> Nam</a:t>
            </a:r>
            <a:endParaRPr lang="en-US" sz="2600" dirty="0">
              <a:solidFill>
                <a:srgbClr val="002060"/>
              </a:solidFill>
              <a:latin typeface="Times New Roman"/>
              <a:cs typeface="Times New Roman"/>
            </a:endParaRPr>
          </a:p>
        </p:txBody>
      </p:sp>
      <p:cxnSp>
        <p:nvCxnSpPr>
          <p:cNvPr id="15" name="Straight Connector 14"/>
          <p:cNvCxnSpPr/>
          <p:nvPr/>
        </p:nvCxnSpPr>
        <p:spPr>
          <a:xfrm>
            <a:off x="2174308" y="1623126"/>
            <a:ext cx="2780" cy="393947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143838" y="1600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177088" y="28194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8" name="Text Box 36"/>
          <p:cNvSpPr txBox="1">
            <a:spLocks noChangeArrowheads="1"/>
          </p:cNvSpPr>
          <p:nvPr/>
        </p:nvSpPr>
        <p:spPr bwMode="auto">
          <a:xfrm>
            <a:off x="3164505" y="3733800"/>
            <a:ext cx="5903295"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smtClean="0">
                <a:solidFill>
                  <a:srgbClr val="002060"/>
                </a:solidFill>
                <a:latin typeface="Times New Roman"/>
                <a:cs typeface="Times New Roman"/>
              </a:rPr>
              <a:t>III. </a:t>
            </a:r>
            <a:r>
              <a:rPr lang="en-US" sz="2600" dirty="0" err="1" smtClean="0">
                <a:solidFill>
                  <a:srgbClr val="002060"/>
                </a:solidFill>
                <a:latin typeface="Times New Roman"/>
                <a:cs typeface="Times New Roman"/>
              </a:rPr>
              <a:t>Tư</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tưởng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Hồ</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Chí</a:t>
            </a:r>
            <a:r>
              <a:rPr lang="en-US" sz="2600" dirty="0" smtClean="0">
                <a:solidFill>
                  <a:srgbClr val="002060"/>
                </a:solidFill>
                <a:latin typeface="Times New Roman"/>
                <a:cs typeface="Times New Roman"/>
              </a:rPr>
              <a:t> Minh </a:t>
            </a:r>
            <a:r>
              <a:rPr lang="en-US" sz="2600" dirty="0" err="1" smtClean="0">
                <a:solidFill>
                  <a:srgbClr val="002060"/>
                </a:solidFill>
                <a:latin typeface="Times New Roman"/>
                <a:cs typeface="Times New Roman"/>
              </a:rPr>
              <a:t>về</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mối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quan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hệ</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giữa</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độc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lập</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dân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tộc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và</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chủ</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nghĩa</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xã</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hội</a:t>
            </a:r>
            <a:endParaRPr lang="en-US" sz="2600" dirty="0">
              <a:solidFill>
                <a:srgbClr val="002060"/>
              </a:solidFill>
              <a:latin typeface="Times New Roman"/>
              <a:cs typeface="Times New Roman"/>
            </a:endParaRPr>
          </a:p>
        </p:txBody>
      </p:sp>
      <p:cxnSp>
        <p:nvCxnSpPr>
          <p:cNvPr id="19" name="Straight Arrow Connector 18"/>
          <p:cNvCxnSpPr/>
          <p:nvPr/>
        </p:nvCxnSpPr>
        <p:spPr>
          <a:xfrm>
            <a:off x="2143837" y="41910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Connector 23"/>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5"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a:t>
            </a:r>
            <a:r>
              <a:rPr lang="en-US" sz="3000" b="1" dirty="0">
                <a:solidFill>
                  <a:srgbClr val="CC0099"/>
                </a:solidFill>
                <a:latin typeface="Times New Roman" pitchFamily="18" charset="0"/>
                <a:cs typeface="Times New Roman" pitchFamily="18" charset="0"/>
              </a:rPr>
              <a:t>3</a:t>
            </a:r>
          </a:p>
        </p:txBody>
      </p:sp>
      <p:sp>
        <p:nvSpPr>
          <p:cNvPr id="26" name="Text Box 36"/>
          <p:cNvSpPr txBox="1">
            <a:spLocks noChangeArrowheads="1"/>
          </p:cNvSpPr>
          <p:nvPr/>
        </p:nvSpPr>
        <p:spPr bwMode="auto">
          <a:xfrm>
            <a:off x="3164505" y="4800600"/>
            <a:ext cx="5903295"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smtClean="0">
                <a:solidFill>
                  <a:srgbClr val="002060"/>
                </a:solidFill>
                <a:latin typeface="Times New Roman"/>
                <a:cs typeface="Times New Roman"/>
              </a:rPr>
              <a:t>IV. </a:t>
            </a:r>
            <a:r>
              <a:rPr lang="en-US" sz="2600" dirty="0" err="1" smtClean="0">
                <a:solidFill>
                  <a:srgbClr val="002060"/>
                </a:solidFill>
                <a:latin typeface="Times New Roman"/>
                <a:cs typeface="Times New Roman"/>
              </a:rPr>
              <a:t>Vận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dụng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tư</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tưởng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Hồ</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Chí</a:t>
            </a:r>
            <a:r>
              <a:rPr lang="en-US" sz="2600" dirty="0" smtClean="0">
                <a:solidFill>
                  <a:srgbClr val="002060"/>
                </a:solidFill>
                <a:latin typeface="Times New Roman"/>
                <a:cs typeface="Times New Roman"/>
              </a:rPr>
              <a:t> Minh </a:t>
            </a:r>
            <a:r>
              <a:rPr lang="en-US" sz="2600" dirty="0" err="1" smtClean="0">
                <a:solidFill>
                  <a:srgbClr val="002060"/>
                </a:solidFill>
                <a:latin typeface="Times New Roman"/>
                <a:cs typeface="Times New Roman"/>
              </a:rPr>
              <a:t>về</a:t>
            </a:r>
            <a:r>
              <a:rPr lang="en-US" sz="2600" dirty="0" smtClean="0">
                <a:solidFill>
                  <a:srgbClr val="002060"/>
                </a:solidFill>
                <a:latin typeface="Times New Roman"/>
                <a:cs typeface="Times New Roman"/>
              </a:rPr>
              <a:t> ĐLDT </a:t>
            </a:r>
            <a:r>
              <a:rPr lang="en-US" sz="2600" dirty="0" err="1" smtClean="0">
                <a:solidFill>
                  <a:srgbClr val="002060"/>
                </a:solidFill>
                <a:latin typeface="Times New Roman"/>
                <a:cs typeface="Times New Roman"/>
              </a:rPr>
              <a:t>gắn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liền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với</a:t>
            </a:r>
            <a:r>
              <a:rPr lang="en-US" sz="2600" dirty="0" smtClean="0">
                <a:solidFill>
                  <a:srgbClr val="002060"/>
                </a:solidFill>
                <a:latin typeface="Times New Roman"/>
                <a:cs typeface="Times New Roman"/>
              </a:rPr>
              <a:t> CNXH </a:t>
            </a:r>
            <a:r>
              <a:rPr lang="en-US" sz="2600" dirty="0" err="1" smtClean="0">
                <a:solidFill>
                  <a:srgbClr val="002060"/>
                </a:solidFill>
                <a:latin typeface="Times New Roman"/>
                <a:cs typeface="Times New Roman"/>
              </a:rPr>
              <a:t>trong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sự</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nghiệp</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cách</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mạng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Việt</a:t>
            </a:r>
            <a:r>
              <a:rPr lang="en-US" sz="2600" dirty="0" smtClean="0">
                <a:solidFill>
                  <a:srgbClr val="002060"/>
                </a:solidFill>
                <a:latin typeface="Times New Roman"/>
                <a:cs typeface="Times New Roman"/>
              </a:rPr>
              <a:t> Nam </a:t>
            </a:r>
            <a:r>
              <a:rPr lang="en-US" sz="2600" dirty="0" err="1" smtClean="0">
                <a:solidFill>
                  <a:srgbClr val="002060"/>
                </a:solidFill>
                <a:latin typeface="Times New Roman"/>
                <a:cs typeface="Times New Roman"/>
              </a:rPr>
              <a:t>giai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đoạn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hiện</a:t>
            </a:r>
            <a:r>
              <a:rPr lang="en-US" sz="2600" dirty="0" smtClean="0">
                <a:solidFill>
                  <a:srgbClr val="002060"/>
                </a:solidFill>
                <a:latin typeface="Times New Roman"/>
                <a:cs typeface="Times New Roman"/>
              </a:rPr>
              <a:t> nay</a:t>
            </a:r>
            <a:endParaRPr lang="en-US" sz="2600" dirty="0">
              <a:solidFill>
                <a:srgbClr val="002060"/>
              </a:solidFill>
              <a:latin typeface="Times New Roman"/>
              <a:cs typeface="Times New Roman"/>
            </a:endParaRPr>
          </a:p>
        </p:txBody>
      </p:sp>
      <p:cxnSp>
        <p:nvCxnSpPr>
          <p:cNvPr id="27" name="Straight Arrow Connector 26"/>
          <p:cNvCxnSpPr/>
          <p:nvPr/>
        </p:nvCxnSpPr>
        <p:spPr>
          <a:xfrm>
            <a:off x="2143837" y="55626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000"/>
                                        <p:tgtEl>
                                          <p:spTgt spid="13"/>
                                        </p:tgtEl>
                                      </p:cBhvr>
                                    </p:animEffec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1000"/>
                                        <p:tgtEl>
                                          <p:spTgt spid="19"/>
                                        </p:tgtEl>
                                      </p:cBhvr>
                                    </p:animEffect>
                                    <p:anim calcmode="lin" valueType="num">
                                      <p:cBhvr>
                                        <p:cTn id="37" dur="1000" fill="hold"/>
                                        <p:tgtEl>
                                          <p:spTgt spid="19"/>
                                        </p:tgtEl>
                                        <p:attrNameLst>
                                          <p:attrName>ppt_x</p:attrName>
                                        </p:attrNameLst>
                                      </p:cBhvr>
                                      <p:tavLst>
                                        <p:tav tm="0">
                                          <p:val>
                                            <p:strVal val="#ppt_x"/>
                                          </p:val>
                                        </p:tav>
                                        <p:tav tm="100000">
                                          <p:val>
                                            <p:strVal val="#ppt_x"/>
                                          </p:val>
                                        </p:tav>
                                      </p:tavLst>
                                    </p:anim>
                                    <p:anim calcmode="lin" valueType="num">
                                      <p:cBhvr>
                                        <p:cTn id="38" dur="1000" fill="hold"/>
                                        <p:tgtEl>
                                          <p:spTgt spid="19"/>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1000"/>
                                        <p:tgtEl>
                                          <p:spTgt spid="18"/>
                                        </p:tgtEl>
                                      </p:cBhvr>
                                    </p:animEffect>
                                    <p:anim calcmode="lin" valueType="num">
                                      <p:cBhvr>
                                        <p:cTn id="42" dur="1000" fill="hold"/>
                                        <p:tgtEl>
                                          <p:spTgt spid="18"/>
                                        </p:tgtEl>
                                        <p:attrNameLst>
                                          <p:attrName>ppt_x</p:attrName>
                                        </p:attrNameLst>
                                      </p:cBhvr>
                                      <p:tavLst>
                                        <p:tav tm="0">
                                          <p:val>
                                            <p:strVal val="#ppt_x"/>
                                          </p:val>
                                        </p:tav>
                                        <p:tav tm="100000">
                                          <p:val>
                                            <p:strVal val="#ppt_x"/>
                                          </p:val>
                                        </p:tav>
                                      </p:tavLst>
                                    </p:anim>
                                    <p:anim calcmode="lin" valueType="num">
                                      <p:cBhvr>
                                        <p:cTn id="4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1000"/>
                                        <p:tgtEl>
                                          <p:spTgt spid="27"/>
                                        </p:tgtEl>
                                      </p:cBhvr>
                                    </p:animEffect>
                                    <p:anim calcmode="lin" valueType="num">
                                      <p:cBhvr>
                                        <p:cTn id="49" dur="1000" fill="hold"/>
                                        <p:tgtEl>
                                          <p:spTgt spid="27"/>
                                        </p:tgtEl>
                                        <p:attrNameLst>
                                          <p:attrName>ppt_x</p:attrName>
                                        </p:attrNameLst>
                                      </p:cBhvr>
                                      <p:tavLst>
                                        <p:tav tm="0">
                                          <p:val>
                                            <p:strVal val="#ppt_x"/>
                                          </p:val>
                                        </p:tav>
                                        <p:tav tm="100000">
                                          <p:val>
                                            <p:strVal val="#ppt_x"/>
                                          </p:val>
                                        </p:tav>
                                      </p:tavLst>
                                    </p:anim>
                                    <p:anim calcmode="lin" valueType="num">
                                      <p:cBhvr>
                                        <p:cTn id="50" dur="1000" fill="hold"/>
                                        <p:tgtEl>
                                          <p:spTgt spid="27"/>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1000"/>
                                        <p:tgtEl>
                                          <p:spTgt spid="26"/>
                                        </p:tgtEl>
                                      </p:cBhvr>
                                    </p:animEffect>
                                    <p:anim calcmode="lin" valueType="num">
                                      <p:cBhvr>
                                        <p:cTn id="54" dur="1000" fill="hold"/>
                                        <p:tgtEl>
                                          <p:spTgt spid="26"/>
                                        </p:tgtEl>
                                        <p:attrNameLst>
                                          <p:attrName>ppt_x</p:attrName>
                                        </p:attrNameLst>
                                      </p:cBhvr>
                                      <p:tavLst>
                                        <p:tav tm="0">
                                          <p:val>
                                            <p:strVal val="#ppt_x"/>
                                          </p:val>
                                        </p:tav>
                                        <p:tav tm="100000">
                                          <p:val>
                                            <p:strVal val="#ppt_x"/>
                                          </p:val>
                                        </p:tav>
                                      </p:tavLst>
                                    </p:anim>
                                    <p:anim calcmode="lin" valueType="num">
                                      <p:cBhvr>
                                        <p:cTn id="55"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8" grpId="0"/>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4</a:t>
            </a:fld>
            <a:endParaRPr lang="en-US"/>
          </a:p>
        </p:txBody>
      </p:sp>
      <p:sp>
        <p:nvSpPr>
          <p:cNvPr id="7" name="Title 1"/>
          <p:cNvSpPr txBox="1">
            <a:spLocks/>
          </p:cNvSpPr>
          <p:nvPr/>
        </p:nvSpPr>
        <p:spPr>
          <a:xfrm>
            <a:off x="404764" y="30099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smtClean="0">
                <a:solidFill>
                  <a:srgbClr val="FF0000"/>
                </a:solidFill>
                <a:latin typeface="Times New Roman" pitchFamily="18" charset="0"/>
                <a:cs typeface="Times New Roman" pitchFamily="18" charset="0"/>
              </a:rPr>
              <a:t>I. TƯ TƯỞNG HỒ CHÍ MINH</a:t>
            </a:r>
          </a:p>
          <a:p>
            <a:pPr>
              <a:lnSpc>
                <a:spcPct val="150000"/>
              </a:lnSpc>
            </a:pPr>
            <a:r>
              <a:rPr lang="en-US" sz="3000" b="1" dirty="0" smtClean="0">
                <a:solidFill>
                  <a:srgbClr val="FF0000"/>
                </a:solidFill>
                <a:latin typeface="Times New Roman" pitchFamily="18" charset="0"/>
                <a:cs typeface="Times New Roman" pitchFamily="18" charset="0"/>
              </a:rPr>
              <a:t>VỀ ĐỘC LẬP DÂN TỘC</a:t>
            </a:r>
            <a:endParaRPr lang="en-US" sz="3000" b="1" dirty="0">
              <a:solidFill>
                <a:srgbClr val="FF0000"/>
              </a:solidFill>
              <a:latin typeface="Times New Roman" pitchFamily="18" charset="0"/>
              <a:cs typeface="Times New Roman" pitchFamily="18" charset="0"/>
            </a:endParaRP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8" name="Rectangle 7"/>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9849689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9/12/2025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5</a:t>
            </a:fld>
            <a:endParaRPr lang="en-US"/>
          </a:p>
        </p:txBody>
      </p:sp>
      <p:sp>
        <p:nvSpPr>
          <p:cNvPr id="10" name="Text Box 36"/>
          <p:cNvSpPr txBox="1">
            <a:spLocks noChangeArrowheads="1"/>
          </p:cNvSpPr>
          <p:nvPr/>
        </p:nvSpPr>
        <p:spPr bwMode="auto">
          <a:xfrm>
            <a:off x="152400" y="2830908"/>
            <a:ext cx="1928980" cy="120032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600" b="1" dirty="0" err="1" smtClean="0">
                <a:solidFill>
                  <a:srgbClr val="FF0000"/>
                </a:solidFill>
                <a:latin typeface="Times New Roman"/>
                <a:cs typeface="Times New Roman"/>
              </a:rPr>
              <a:t>Nội</a:t>
            </a:r>
            <a:r>
              <a:rPr lang="en-US" sz="3600" b="1" dirty="0" smtClean="0">
                <a:solidFill>
                  <a:srgbClr val="FF0000"/>
                </a:solidFill>
                <a:latin typeface="Times New Roman"/>
                <a:cs typeface="Times New Roman"/>
              </a:rPr>
              <a:t> dung</a:t>
            </a:r>
            <a:endParaRPr lang="en-US" sz="3600" b="1" dirty="0">
              <a:solidFill>
                <a:srgbClr val="FF0000"/>
              </a:solidFill>
              <a:latin typeface="Times New Roman"/>
              <a:cs typeface="Times New Roman"/>
            </a:endParaRPr>
          </a:p>
        </p:txBody>
      </p:sp>
      <p:sp>
        <p:nvSpPr>
          <p:cNvPr id="11" name="Text Box 36"/>
          <p:cNvSpPr txBox="1">
            <a:spLocks noChangeArrowheads="1"/>
          </p:cNvSpPr>
          <p:nvPr/>
        </p:nvSpPr>
        <p:spPr bwMode="auto">
          <a:xfrm>
            <a:off x="2827835" y="1600200"/>
            <a:ext cx="4030165"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1. Vấn đề độc lập dân tộc</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245312" y="4829681"/>
            <a:ext cx="5365288"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smtClean="0">
                <a:solidFill>
                  <a:srgbClr val="FF0000"/>
                </a:solidFill>
                <a:latin typeface="Times New Roman"/>
                <a:cs typeface="Times New Roman"/>
              </a:rPr>
              <a:t>2. Về cách mạng giải phóng dân tộc</a:t>
            </a:r>
            <a:endParaRPr lang="en-US" sz="2600" dirty="0">
              <a:solidFill>
                <a:srgbClr val="FF0000"/>
              </a:solidFill>
              <a:latin typeface="Times New Roman"/>
              <a:cs typeface="Times New Roman"/>
            </a:endParaRPr>
          </a:p>
        </p:txBody>
      </p:sp>
      <p:cxnSp>
        <p:nvCxnSpPr>
          <p:cNvPr id="14" name="Straight Connector 13"/>
          <p:cNvCxnSpPr/>
          <p:nvPr/>
        </p:nvCxnSpPr>
        <p:spPr>
          <a:xfrm>
            <a:off x="1714544" y="3505200"/>
            <a:ext cx="46805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174308" y="1905000"/>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143838" y="1882074"/>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143837" y="5075903"/>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20" name="Rectangle 19"/>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374596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1000"/>
                                        <p:tgtEl>
                                          <p:spTgt spid="19"/>
                                        </p:tgtEl>
                                      </p:cBhvr>
                                    </p:animEffect>
                                    <p:anim calcmode="lin" valueType="num">
                                      <p:cBhvr>
                                        <p:cTn id="30" dur="1000" fill="hold"/>
                                        <p:tgtEl>
                                          <p:spTgt spid="19"/>
                                        </p:tgtEl>
                                        <p:attrNameLst>
                                          <p:attrName>ppt_x</p:attrName>
                                        </p:attrNameLst>
                                      </p:cBhvr>
                                      <p:tavLst>
                                        <p:tav tm="0">
                                          <p:val>
                                            <p:strVal val="#ppt_x"/>
                                          </p:val>
                                        </p:tav>
                                        <p:tav tm="100000">
                                          <p:val>
                                            <p:strVal val="#ppt_x"/>
                                          </p:val>
                                        </p:tav>
                                      </p:tavLst>
                                    </p:anim>
                                    <p:anim calcmode="lin" valueType="num">
                                      <p:cBhvr>
                                        <p:cTn id="31" dur="1000" fill="hold"/>
                                        <p:tgtEl>
                                          <p:spTgt spid="1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6</a:t>
            </a:fld>
            <a:endParaRPr lang="en-US"/>
          </a:p>
        </p:txBody>
      </p:sp>
      <p:sp>
        <p:nvSpPr>
          <p:cNvPr id="7" name="Title 1"/>
          <p:cNvSpPr txBox="1">
            <a:spLocks/>
          </p:cNvSpPr>
          <p:nvPr/>
        </p:nvSpPr>
        <p:spPr>
          <a:xfrm>
            <a:off x="381000" y="30099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4400" b="1" smtClean="0">
                <a:solidFill>
                  <a:srgbClr val="FF0000"/>
                </a:solidFill>
                <a:latin typeface="Times New Roman" pitchFamily="18" charset="0"/>
                <a:cs typeface="Times New Roman" pitchFamily="18" charset="0"/>
              </a:rPr>
              <a:t>1. Vấn đề độc lập dân tộc</a:t>
            </a:r>
            <a:endParaRPr lang="en-US" sz="4400" b="1" dirty="0">
              <a:solidFill>
                <a:srgbClr val="FF0000"/>
              </a:solidFill>
              <a:latin typeface="Times New Roman" pitchFamily="18" charset="0"/>
              <a:cs typeface="Times New Roman" pitchFamily="18" charset="0"/>
            </a:endParaRP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8" name="Rectangle 7"/>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4515682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7</a:t>
            </a:fld>
            <a:endParaRPr lang="en-US"/>
          </a:p>
        </p:txBody>
      </p:sp>
      <p:sp>
        <p:nvSpPr>
          <p:cNvPr id="9" name="Text Box 36"/>
          <p:cNvSpPr txBox="1">
            <a:spLocks noChangeArrowheads="1"/>
          </p:cNvSpPr>
          <p:nvPr/>
        </p:nvSpPr>
        <p:spPr bwMode="auto">
          <a:xfrm>
            <a:off x="2403296" y="1712893"/>
            <a:ext cx="5957487"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dirty="0" smtClean="0">
                <a:solidFill>
                  <a:srgbClr val="FF0000"/>
                </a:solidFill>
                <a:latin typeface="Times New Roman"/>
                <a:cs typeface="Times New Roman"/>
              </a:rPr>
              <a:t>a. </a:t>
            </a:r>
            <a:r>
              <a:rPr lang="en-US" sz="2800" dirty="0" err="1" smtClean="0">
                <a:solidFill>
                  <a:srgbClr val="FF0000"/>
                </a:solidFill>
                <a:latin typeface="Times New Roman"/>
                <a:cs typeface="Times New Roman"/>
              </a:rPr>
              <a:t>Độc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lập</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tự</a:t>
            </a:r>
            <a:r>
              <a:rPr lang="en-US" sz="2800" dirty="0" smtClean="0">
                <a:solidFill>
                  <a:srgbClr val="FF0000"/>
                </a:solidFill>
                <a:latin typeface="Times New Roman"/>
                <a:cs typeface="Times New Roman"/>
              </a:rPr>
              <a:t> do </a:t>
            </a:r>
            <a:r>
              <a:rPr lang="en-US" sz="2800" dirty="0" err="1" smtClean="0">
                <a:solidFill>
                  <a:srgbClr val="FF0000"/>
                </a:solidFill>
                <a:latin typeface="Times New Roman"/>
                <a:cs typeface="Times New Roman"/>
              </a:rPr>
              <a:t>là</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quyền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thiêng</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liêng</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bất</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khả</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xâm</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phạm</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của</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tất</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cả</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các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dân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tộc</a:t>
            </a:r>
            <a:endParaRPr lang="en-US" sz="2800" dirty="0">
              <a:solidFill>
                <a:srgbClr val="FF0000"/>
              </a:solidFill>
              <a:latin typeface="Times New Roman"/>
              <a:cs typeface="Times New Roman"/>
            </a:endParaRPr>
          </a:p>
        </p:txBody>
      </p:sp>
      <p:cxnSp>
        <p:nvCxnSpPr>
          <p:cNvPr id="11" name="Straight Connector 10"/>
          <p:cNvCxnSpPr/>
          <p:nvPr/>
        </p:nvCxnSpPr>
        <p:spPr>
          <a:xfrm>
            <a:off x="1741454" y="2057400"/>
            <a:ext cx="0" cy="399989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142136" y="2392341"/>
            <a:ext cx="1186851" cy="1394356"/>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cxnSp>
        <p:nvCxnSpPr>
          <p:cNvPr id="14" name="Straight Connector 13"/>
          <p:cNvCxnSpPr/>
          <p:nvPr/>
        </p:nvCxnSpPr>
        <p:spPr>
          <a:xfrm>
            <a:off x="1195280" y="3230628"/>
            <a:ext cx="546174"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332512" y="2779258"/>
            <a:ext cx="6201888" cy="3316742"/>
          </a:xfrm>
          <a:prstGeom prst="rect">
            <a:avLst/>
          </a:prstGeom>
        </p:spPr>
        <p:txBody>
          <a:bodyPr wrap="square">
            <a:spAutoFit/>
          </a:bodyPr>
          <a:lstStyle/>
          <a:p>
            <a:pPr algn="just">
              <a:lnSpc>
                <a:spcPct val="150000"/>
              </a:lnSpc>
            </a:pPr>
            <a:r>
              <a:rPr lang="vi-VN" sz="3600" b="1" i="1" dirty="0">
                <a:solidFill>
                  <a:srgbClr val="002060"/>
                </a:solidFill>
                <a:latin typeface="Times New Roman" pitchFamily="18" charset="0"/>
                <a:cs typeface="Times New Roman" pitchFamily="18" charset="0"/>
              </a:rPr>
              <a:t>"Độc lập nghĩa là chúng tôi điều khiển lấy mọi công việc của chúng tôi, không có sự can thiệp ở ngoài vào"</a:t>
            </a:r>
            <a:endParaRPr lang="en-US" sz="3600" b="1"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6" name="Rectangle 15"/>
          <p:cNvSpPr/>
          <p:nvPr/>
        </p:nvSpPr>
        <p:spPr>
          <a:xfrm>
            <a:off x="0" y="0"/>
            <a:ext cx="2332512"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11907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3018F1E-720D-4B7A-9D03-B5F7EFACBCD0}" type="datetime1">
              <a:rPr lang="en-US" smtClean="0"/>
              <a:t>9/12/2025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8</a:t>
            </a:fld>
            <a:endParaRPr lang="en-US"/>
          </a:p>
        </p:txBody>
      </p:sp>
      <p:sp>
        <p:nvSpPr>
          <p:cNvPr id="11" name="Text Box 36"/>
          <p:cNvSpPr txBox="1">
            <a:spLocks noChangeArrowheads="1"/>
          </p:cNvSpPr>
          <p:nvPr/>
        </p:nvSpPr>
        <p:spPr bwMode="auto">
          <a:xfrm>
            <a:off x="66668" y="3037344"/>
            <a:ext cx="3667132" cy="2677656"/>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vi-VN" sz="2400">
                <a:solidFill>
                  <a:srgbClr val="002060"/>
                </a:solidFill>
                <a:latin typeface="Times New Roman"/>
                <a:cs typeface="Times New Roman"/>
              </a:rPr>
              <a:t>"Tất cả mọi người đều sinh ra bình đẳng. Tạo hoá cho họ những quyền không ai có thể xâm phạm được, trong những quyền ấy, có quyền được sống, quyền tự do và quyền mưu cầu hạnh phúc". </a:t>
            </a:r>
            <a:endParaRPr lang="en-US" sz="2400" smtClean="0">
              <a:solidFill>
                <a:srgbClr val="002060"/>
              </a:solidFill>
              <a:latin typeface="Times New Roman"/>
              <a:cs typeface="Times New Roman"/>
            </a:endParaRPr>
          </a:p>
        </p:txBody>
      </p:sp>
      <p:pic>
        <p:nvPicPr>
          <p:cNvPr id="1026" name="Picture 2" descr="https://tulieuvankien.dangcongsan.vn/Uploads/2018/7/5/4/flag_of_the_united_stat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799" y="1304543"/>
            <a:ext cx="2438401" cy="1286257"/>
          </a:xfrm>
          <a:prstGeom prst="rect">
            <a:avLst/>
          </a:prstGeom>
          <a:noFill/>
          <a:extLst>
            <a:ext uri="{909E8E84-426E-40DD-AFC4-6F175D3DCCD1}">
              <a14:hiddenFill xmlns:a14="http://schemas.microsoft.com/office/drawing/2010/main">
                <a:solidFill>
                  <a:srgbClr val="FFFFFF"/>
                </a:solidFill>
              </a14:hiddenFill>
            </a:ext>
          </a:extLst>
        </p:spPr>
      </p:pic>
      <p:sp>
        <p:nvSpPr>
          <p:cNvPr id="22" name="Text Box 36"/>
          <p:cNvSpPr txBox="1">
            <a:spLocks noChangeArrowheads="1"/>
          </p:cNvSpPr>
          <p:nvPr/>
        </p:nvSpPr>
        <p:spPr bwMode="auto">
          <a:xfrm>
            <a:off x="4748164" y="3124200"/>
            <a:ext cx="4395836" cy="2400657"/>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3000" smtClean="0">
                <a:solidFill>
                  <a:srgbClr val="002060"/>
                </a:solidFill>
                <a:latin typeface="Times New Roman"/>
                <a:cs typeface="Times New Roman"/>
              </a:rPr>
              <a:t>“</a:t>
            </a:r>
            <a:r>
              <a:rPr lang="vi-VN" sz="3000" smtClean="0">
                <a:solidFill>
                  <a:srgbClr val="002060"/>
                </a:solidFill>
                <a:latin typeface="Times New Roman"/>
                <a:cs typeface="Times New Roman"/>
              </a:rPr>
              <a:t>Tất </a:t>
            </a:r>
            <a:r>
              <a:rPr lang="vi-VN" sz="3000">
                <a:solidFill>
                  <a:srgbClr val="002060"/>
                </a:solidFill>
                <a:latin typeface="Times New Roman"/>
                <a:cs typeface="Times New Roman"/>
              </a:rPr>
              <a:t>cả các dân tộc trên thế giới đều sinh ra bình đẳng; dân tộc nào cũng có quyền sống, quyền sung sướng và quyền tự </a:t>
            </a:r>
            <a:r>
              <a:rPr lang="vi-VN" sz="3000" smtClean="0">
                <a:solidFill>
                  <a:srgbClr val="002060"/>
                </a:solidFill>
                <a:latin typeface="Times New Roman"/>
                <a:cs typeface="Times New Roman"/>
              </a:rPr>
              <a:t>do</a:t>
            </a:r>
            <a:r>
              <a:rPr lang="en-US" sz="3000" smtClean="0">
                <a:solidFill>
                  <a:srgbClr val="002060"/>
                </a:solidFill>
                <a:latin typeface="Times New Roman"/>
                <a:cs typeface="Times New Roman"/>
              </a:rPr>
              <a:t>”</a:t>
            </a:r>
          </a:p>
        </p:txBody>
      </p:sp>
      <p:sp>
        <p:nvSpPr>
          <p:cNvPr id="2" name="AutoShape 6" descr="Quốc kỳ Việt N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8" descr="https://miro.medium.com/max/600/0*DwTols9ZA8p8PNc_.gif"/>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10" descr="https://miro.medium.com/max/600/0*DwTols9ZA8p8PNc_.gif"/>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6" name="Picture 12" descr=" Cờ Việt Nam Nhỏ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1143000"/>
            <a:ext cx="2895600" cy="1688646"/>
          </a:xfrm>
          <a:prstGeom prst="rect">
            <a:avLst/>
          </a:prstGeom>
          <a:noFill/>
          <a:extLst>
            <a:ext uri="{909E8E84-426E-40DD-AFC4-6F175D3DCCD1}">
              <a14:hiddenFill xmlns:a14="http://schemas.microsoft.com/office/drawing/2010/main">
                <a:solidFill>
                  <a:srgbClr val="FFFFFF"/>
                </a:solidFill>
              </a14:hiddenFill>
            </a:ext>
          </a:extLst>
        </p:spPr>
      </p:pic>
      <p:sp>
        <p:nvSpPr>
          <p:cNvPr id="9" name="Right Arrow 8"/>
          <p:cNvSpPr/>
          <p:nvPr/>
        </p:nvSpPr>
        <p:spPr>
          <a:xfrm>
            <a:off x="4038600" y="4038600"/>
            <a:ext cx="533400" cy="838200"/>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7"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5" name="Rectangle 14"/>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882548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036"/>
                                        </p:tgtEl>
                                        <p:attrNameLst>
                                          <p:attrName>style.visibility</p:attrName>
                                        </p:attrNameLst>
                                      </p:cBhvr>
                                      <p:to>
                                        <p:strVal val="visible"/>
                                      </p:to>
                                    </p:set>
                                    <p:animEffect transition="in" filter="fade">
                                      <p:cBhvr>
                                        <p:cTn id="24" dur="1000"/>
                                        <p:tgtEl>
                                          <p:spTgt spid="1036"/>
                                        </p:tgtEl>
                                      </p:cBhvr>
                                    </p:animEffect>
                                    <p:anim calcmode="lin" valueType="num">
                                      <p:cBhvr>
                                        <p:cTn id="25" dur="1000" fill="hold"/>
                                        <p:tgtEl>
                                          <p:spTgt spid="1036"/>
                                        </p:tgtEl>
                                        <p:attrNameLst>
                                          <p:attrName>ppt_x</p:attrName>
                                        </p:attrNameLst>
                                      </p:cBhvr>
                                      <p:tavLst>
                                        <p:tav tm="0">
                                          <p:val>
                                            <p:strVal val="#ppt_x"/>
                                          </p:val>
                                        </p:tav>
                                        <p:tav tm="100000">
                                          <p:val>
                                            <p:strVal val="#ppt_x"/>
                                          </p:val>
                                        </p:tav>
                                      </p:tavLst>
                                    </p:anim>
                                    <p:anim calcmode="lin" valueType="num">
                                      <p:cBhvr>
                                        <p:cTn id="26" dur="1000" fill="hold"/>
                                        <p:tgtEl>
                                          <p:spTgt spid="103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1000"/>
                                        <p:tgtEl>
                                          <p:spTgt spid="22"/>
                                        </p:tgtEl>
                                      </p:cBhvr>
                                    </p:animEffect>
                                    <p:anim calcmode="lin" valueType="num">
                                      <p:cBhvr>
                                        <p:cTn id="30" dur="1000" fill="hold"/>
                                        <p:tgtEl>
                                          <p:spTgt spid="22"/>
                                        </p:tgtEl>
                                        <p:attrNameLst>
                                          <p:attrName>ppt_x</p:attrName>
                                        </p:attrNameLst>
                                      </p:cBhvr>
                                      <p:tavLst>
                                        <p:tav tm="0">
                                          <p:val>
                                            <p:strVal val="#ppt_x"/>
                                          </p:val>
                                        </p:tav>
                                        <p:tav tm="100000">
                                          <p:val>
                                            <p:strVal val="#ppt_x"/>
                                          </p:val>
                                        </p:tav>
                                      </p:tavLst>
                                    </p:anim>
                                    <p:anim calcmode="lin" valueType="num">
                                      <p:cBhvr>
                                        <p:cTn id="3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2" grpId="0"/>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9</a:t>
            </a:fld>
            <a:endParaRPr lang="en-US"/>
          </a:p>
        </p:txBody>
      </p:sp>
      <p:sp>
        <p:nvSpPr>
          <p:cNvPr id="9" name="Text Box 36"/>
          <p:cNvSpPr txBox="1">
            <a:spLocks noChangeArrowheads="1"/>
          </p:cNvSpPr>
          <p:nvPr/>
        </p:nvSpPr>
        <p:spPr bwMode="auto">
          <a:xfrm>
            <a:off x="2439739" y="1825811"/>
            <a:ext cx="5957487"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dirty="0" smtClean="0">
                <a:solidFill>
                  <a:srgbClr val="FF0000"/>
                </a:solidFill>
                <a:latin typeface="Times New Roman"/>
                <a:cs typeface="Times New Roman"/>
              </a:rPr>
              <a:t>a. </a:t>
            </a:r>
            <a:r>
              <a:rPr lang="en-US" sz="2800" dirty="0" err="1" smtClean="0">
                <a:solidFill>
                  <a:srgbClr val="FF0000"/>
                </a:solidFill>
                <a:latin typeface="Times New Roman"/>
                <a:cs typeface="Times New Roman"/>
              </a:rPr>
              <a:t>Độc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lập</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tự</a:t>
            </a:r>
            <a:r>
              <a:rPr lang="en-US" sz="2800" dirty="0" smtClean="0">
                <a:solidFill>
                  <a:srgbClr val="FF0000"/>
                </a:solidFill>
                <a:latin typeface="Times New Roman"/>
                <a:cs typeface="Times New Roman"/>
              </a:rPr>
              <a:t> do </a:t>
            </a:r>
            <a:r>
              <a:rPr lang="en-US" sz="2800" dirty="0" err="1" smtClean="0">
                <a:solidFill>
                  <a:srgbClr val="FF0000"/>
                </a:solidFill>
                <a:latin typeface="Times New Roman"/>
                <a:cs typeface="Times New Roman"/>
              </a:rPr>
              <a:t>là</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quyền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thiêng</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liêng</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bất</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khả</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xâm</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phạm</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của</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tất</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cả</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các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dân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tộc</a:t>
            </a:r>
            <a:endParaRPr lang="en-US" sz="2800" dirty="0">
              <a:solidFill>
                <a:srgbClr val="FF0000"/>
              </a:solidFill>
              <a:latin typeface="Times New Roman"/>
              <a:cs typeface="Times New Roman"/>
            </a:endParaRPr>
          </a:p>
        </p:txBody>
      </p:sp>
      <p:cxnSp>
        <p:nvCxnSpPr>
          <p:cNvPr id="11" name="Straight Connector 10"/>
          <p:cNvCxnSpPr/>
          <p:nvPr/>
        </p:nvCxnSpPr>
        <p:spPr>
          <a:xfrm>
            <a:off x="1741454" y="1981200"/>
            <a:ext cx="0" cy="407609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142136" y="2392341"/>
            <a:ext cx="1186851" cy="1394356"/>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cxnSp>
        <p:nvCxnSpPr>
          <p:cNvPr id="14" name="Straight Connector 13"/>
          <p:cNvCxnSpPr/>
          <p:nvPr/>
        </p:nvCxnSpPr>
        <p:spPr>
          <a:xfrm>
            <a:off x="1195280" y="3230628"/>
            <a:ext cx="546174"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Rectangle 7" descr="Canvas"/>
          <p:cNvSpPr>
            <a:spLocks noChangeArrowheads="1"/>
          </p:cNvSpPr>
          <p:nvPr/>
        </p:nvSpPr>
        <p:spPr bwMode="auto">
          <a:xfrm>
            <a:off x="1924026" y="5252120"/>
            <a:ext cx="7092788" cy="996280"/>
          </a:xfrm>
          <a:prstGeom prst="rect">
            <a:avLst/>
          </a:prstGeom>
          <a:blipFill dpi="0" rotWithShape="0">
            <a:blip r:embed="rId2"/>
            <a:srcRect/>
            <a:tile tx="0" ty="0" sx="100000" sy="100000" flip="none" algn="tl"/>
          </a:blipFill>
          <a:ln w="38100">
            <a:solidFill>
              <a:srgbClr val="00CCFF"/>
            </a:solidFill>
            <a:miter lim="800000"/>
            <a:headEnd/>
            <a:tailEnd/>
          </a:ln>
          <a:effectLst>
            <a:prstShdw prst="shdw17" dist="17961" dir="2700000">
              <a:srgbClr val="007A99"/>
            </a:prstShdw>
          </a:effectLst>
        </p:spPr>
        <p:txBody>
          <a:bodyPr wrap="none" anchor="ctr"/>
          <a:lstStyle/>
          <a:p>
            <a:pPr algn="ctr"/>
            <a:r>
              <a:rPr lang="en-US" sz="2800" b="1" i="1" smtClean="0">
                <a:solidFill>
                  <a:srgbClr val="CC0000"/>
                </a:solidFill>
                <a:latin typeface="Times New Roman"/>
                <a:cs typeface="Times New Roman"/>
              </a:rPr>
              <a:t>“Cái </a:t>
            </a:r>
            <a:r>
              <a:rPr lang="en-US" sz="2800" b="1" i="1" dirty="0" err="1" smtClean="0">
                <a:solidFill>
                  <a:srgbClr val="CC0000"/>
                </a:solidFill>
                <a:latin typeface="Times New Roman"/>
                <a:cs typeface="Times New Roman"/>
              </a:rPr>
              <a:t>tôi</a:t>
            </a:r>
            <a:r>
              <a:rPr lang="en-US" sz="2800" b="1" i="1" dirty="0" smtClean="0">
                <a:solidFill>
                  <a:srgbClr val="CC0000"/>
                </a:solidFill>
                <a:latin typeface="Times New Roman"/>
                <a:cs typeface="Times New Roman"/>
              </a:rPr>
              <a:t> </a:t>
            </a:r>
            <a:r>
              <a:rPr lang="en-US" sz="2800" b="1" i="1" dirty="0" err="1" smtClean="0">
                <a:solidFill>
                  <a:srgbClr val="CC0000"/>
                </a:solidFill>
                <a:latin typeface="Times New Roman"/>
                <a:cs typeface="Times New Roman"/>
              </a:rPr>
              <a:t>cần</a:t>
            </a:r>
            <a:r>
              <a:rPr lang="en-US" sz="2800" b="1" i="1" dirty="0" smtClean="0">
                <a:solidFill>
                  <a:srgbClr val="CC0000"/>
                </a:solidFill>
                <a:latin typeface="Times New Roman"/>
                <a:cs typeface="Times New Roman"/>
              </a:rPr>
              <a:t> </a:t>
            </a:r>
            <a:r>
              <a:rPr lang="en-US" sz="2800" b="1" i="1" dirty="0" err="1" smtClean="0">
                <a:solidFill>
                  <a:srgbClr val="CC0000"/>
                </a:solidFill>
                <a:latin typeface="Times New Roman"/>
                <a:cs typeface="Times New Roman"/>
              </a:rPr>
              <a:t>nhất</a:t>
            </a:r>
            <a:r>
              <a:rPr lang="en-US" sz="2800" b="1" i="1" dirty="0" smtClean="0">
                <a:solidFill>
                  <a:srgbClr val="CC0000"/>
                </a:solidFill>
                <a:latin typeface="Times New Roman"/>
                <a:cs typeface="Times New Roman"/>
              </a:rPr>
              <a:t> </a:t>
            </a:r>
            <a:r>
              <a:rPr lang="en-US" sz="2800" b="1" i="1" dirty="0" err="1" smtClean="0">
                <a:solidFill>
                  <a:srgbClr val="CC0000"/>
                </a:solidFill>
                <a:latin typeface="Times New Roman"/>
                <a:cs typeface="Times New Roman"/>
              </a:rPr>
              <a:t>trên</a:t>
            </a:r>
            <a:r>
              <a:rPr lang="en-US" sz="2800" b="1" i="1" dirty="0" smtClean="0">
                <a:solidFill>
                  <a:srgbClr val="CC0000"/>
                </a:solidFill>
                <a:latin typeface="Times New Roman"/>
                <a:cs typeface="Times New Roman"/>
              </a:rPr>
              <a:t> </a:t>
            </a:r>
            <a:r>
              <a:rPr lang="en-US" sz="2800" b="1" i="1" dirty="0" err="1" smtClean="0">
                <a:solidFill>
                  <a:srgbClr val="CC0000"/>
                </a:solidFill>
                <a:latin typeface="Times New Roman"/>
                <a:cs typeface="Times New Roman"/>
              </a:rPr>
              <a:t>đời</a:t>
            </a:r>
            <a:r>
              <a:rPr lang="en-US" sz="2800" b="1" i="1" dirty="0" smtClean="0">
                <a:solidFill>
                  <a:srgbClr val="CC0000"/>
                </a:solidFill>
                <a:latin typeface="Times New Roman"/>
                <a:cs typeface="Times New Roman"/>
              </a:rPr>
              <a:t> </a:t>
            </a:r>
            <a:r>
              <a:rPr lang="en-US" sz="2800" b="1" i="1" dirty="0" err="1" smtClean="0">
                <a:solidFill>
                  <a:srgbClr val="CC0000"/>
                </a:solidFill>
                <a:latin typeface="Times New Roman"/>
                <a:cs typeface="Times New Roman"/>
              </a:rPr>
              <a:t>là</a:t>
            </a:r>
            <a:r>
              <a:rPr lang="en-US" sz="2800" b="1" i="1" dirty="0" smtClean="0">
                <a:solidFill>
                  <a:srgbClr val="CC0000"/>
                </a:solidFill>
                <a:latin typeface="Times New Roman"/>
                <a:cs typeface="Times New Roman"/>
              </a:rPr>
              <a:t> </a:t>
            </a:r>
            <a:r>
              <a:rPr lang="en-US" sz="2800" b="1" i="1" dirty="0" err="1" smtClean="0">
                <a:solidFill>
                  <a:srgbClr val="CC0000"/>
                </a:solidFill>
                <a:latin typeface="Times New Roman"/>
                <a:cs typeface="Times New Roman"/>
              </a:rPr>
              <a:t>Tổ</a:t>
            </a:r>
            <a:r>
              <a:rPr lang="en-US" sz="2800" b="1" i="1" dirty="0" smtClean="0">
                <a:solidFill>
                  <a:srgbClr val="CC0000"/>
                </a:solidFill>
                <a:latin typeface="Times New Roman"/>
                <a:cs typeface="Times New Roman"/>
              </a:rPr>
              <a:t> </a:t>
            </a:r>
            <a:r>
              <a:rPr lang="en-US" sz="2800" b="1" i="1" dirty="0" err="1" smtClean="0">
                <a:solidFill>
                  <a:srgbClr val="CC0000"/>
                </a:solidFill>
                <a:latin typeface="Times New Roman"/>
                <a:cs typeface="Times New Roman"/>
              </a:rPr>
              <a:t>quốc</a:t>
            </a:r>
            <a:r>
              <a:rPr lang="en-US" sz="2800" b="1" i="1" dirty="0" smtClean="0">
                <a:solidFill>
                  <a:srgbClr val="CC0000"/>
                </a:solidFill>
                <a:latin typeface="Times New Roman"/>
                <a:cs typeface="Times New Roman"/>
              </a:rPr>
              <a:t> </a:t>
            </a:r>
            <a:r>
              <a:rPr lang="en-US" sz="2800" b="1" i="1" dirty="0" err="1" smtClean="0">
                <a:solidFill>
                  <a:srgbClr val="CC0000"/>
                </a:solidFill>
                <a:latin typeface="Times New Roman"/>
                <a:cs typeface="Times New Roman"/>
              </a:rPr>
              <a:t>tôi</a:t>
            </a:r>
            <a:r>
              <a:rPr lang="en-US" sz="2800" b="1" i="1" dirty="0" smtClean="0">
                <a:solidFill>
                  <a:srgbClr val="CC0000"/>
                </a:solidFill>
                <a:latin typeface="Times New Roman"/>
                <a:cs typeface="Times New Roman"/>
              </a:rPr>
              <a:t> </a:t>
            </a:r>
          </a:p>
          <a:p>
            <a:pPr algn="ctr"/>
            <a:r>
              <a:rPr lang="en-US" sz="2800" b="1" i="1" dirty="0" err="1" smtClean="0">
                <a:solidFill>
                  <a:srgbClr val="CC0000"/>
                </a:solidFill>
                <a:latin typeface="Times New Roman"/>
                <a:cs typeface="Times New Roman"/>
              </a:rPr>
              <a:t>được</a:t>
            </a:r>
            <a:r>
              <a:rPr lang="en-US" sz="2800" b="1" i="1" dirty="0" smtClean="0">
                <a:solidFill>
                  <a:srgbClr val="CC0000"/>
                </a:solidFill>
                <a:latin typeface="Times New Roman"/>
                <a:cs typeface="Times New Roman"/>
              </a:rPr>
              <a:t> </a:t>
            </a:r>
            <a:r>
              <a:rPr lang="en-US" sz="2800" b="1" i="1" dirty="0" err="1" smtClean="0">
                <a:solidFill>
                  <a:srgbClr val="CC0000"/>
                </a:solidFill>
                <a:latin typeface="Times New Roman"/>
                <a:cs typeface="Times New Roman"/>
              </a:rPr>
              <a:t>độc</a:t>
            </a:r>
            <a:r>
              <a:rPr lang="en-US" sz="2800" b="1" i="1" dirty="0" smtClean="0">
                <a:solidFill>
                  <a:srgbClr val="CC0000"/>
                </a:solidFill>
                <a:latin typeface="Times New Roman"/>
                <a:cs typeface="Times New Roman"/>
              </a:rPr>
              <a:t> </a:t>
            </a:r>
            <a:r>
              <a:rPr lang="en-US" sz="2800" b="1" i="1" dirty="0" err="1" smtClean="0">
                <a:solidFill>
                  <a:srgbClr val="CC0000"/>
                </a:solidFill>
                <a:latin typeface="Times New Roman"/>
                <a:cs typeface="Times New Roman"/>
              </a:rPr>
              <a:t>lập</a:t>
            </a:r>
            <a:r>
              <a:rPr lang="en-US" sz="2800" b="1" i="1" dirty="0" smtClean="0">
                <a:solidFill>
                  <a:srgbClr val="CC0000"/>
                </a:solidFill>
                <a:latin typeface="Times New Roman"/>
                <a:cs typeface="Times New Roman"/>
              </a:rPr>
              <a:t>, </a:t>
            </a:r>
            <a:r>
              <a:rPr lang="en-US" sz="2800" b="1" i="1" dirty="0" err="1" smtClean="0">
                <a:solidFill>
                  <a:srgbClr val="CC0000"/>
                </a:solidFill>
                <a:latin typeface="Times New Roman"/>
                <a:cs typeface="Times New Roman"/>
              </a:rPr>
              <a:t>đồng</a:t>
            </a:r>
            <a:r>
              <a:rPr lang="en-US" sz="2800" b="1" i="1" dirty="0" smtClean="0">
                <a:solidFill>
                  <a:srgbClr val="CC0000"/>
                </a:solidFill>
                <a:latin typeface="Times New Roman"/>
                <a:cs typeface="Times New Roman"/>
              </a:rPr>
              <a:t> </a:t>
            </a:r>
            <a:r>
              <a:rPr lang="en-US" sz="2800" b="1" i="1" dirty="0" err="1" smtClean="0">
                <a:solidFill>
                  <a:srgbClr val="CC0000"/>
                </a:solidFill>
                <a:latin typeface="Times New Roman"/>
                <a:cs typeface="Times New Roman"/>
              </a:rPr>
              <a:t>bào</a:t>
            </a:r>
            <a:r>
              <a:rPr lang="en-US" sz="2800" b="1" i="1" dirty="0" smtClean="0">
                <a:solidFill>
                  <a:srgbClr val="CC0000"/>
                </a:solidFill>
                <a:latin typeface="Times New Roman"/>
                <a:cs typeface="Times New Roman"/>
              </a:rPr>
              <a:t> </a:t>
            </a:r>
            <a:r>
              <a:rPr lang="en-US" sz="2800" b="1" i="1" dirty="0" err="1" smtClean="0">
                <a:solidFill>
                  <a:srgbClr val="CC0000"/>
                </a:solidFill>
                <a:latin typeface="Times New Roman"/>
                <a:cs typeface="Times New Roman"/>
              </a:rPr>
              <a:t>tôi</a:t>
            </a:r>
            <a:r>
              <a:rPr lang="en-US" sz="2800" b="1" i="1" dirty="0">
                <a:solidFill>
                  <a:srgbClr val="CC0000"/>
                </a:solidFill>
                <a:latin typeface="Times New Roman"/>
                <a:cs typeface="Times New Roman"/>
              </a:rPr>
              <a:t> </a:t>
            </a:r>
            <a:r>
              <a:rPr lang="en-US" sz="2800" b="1" i="1" dirty="0" err="1" smtClean="0">
                <a:solidFill>
                  <a:srgbClr val="CC0000"/>
                </a:solidFill>
                <a:latin typeface="Times New Roman"/>
                <a:cs typeface="Times New Roman"/>
              </a:rPr>
              <a:t>được</a:t>
            </a:r>
            <a:r>
              <a:rPr lang="en-US" sz="2800" b="1" i="1" dirty="0" smtClean="0">
                <a:solidFill>
                  <a:srgbClr val="CC0000"/>
                </a:solidFill>
                <a:latin typeface="Times New Roman"/>
                <a:cs typeface="Times New Roman"/>
              </a:rPr>
              <a:t> </a:t>
            </a:r>
            <a:r>
              <a:rPr lang="en-US" sz="2800" b="1" i="1" dirty="0" err="1" smtClean="0">
                <a:solidFill>
                  <a:srgbClr val="CC0000"/>
                </a:solidFill>
                <a:latin typeface="Times New Roman"/>
                <a:cs typeface="Times New Roman"/>
              </a:rPr>
              <a:t>tự</a:t>
            </a:r>
            <a:r>
              <a:rPr lang="en-US" sz="2800" b="1" i="1" dirty="0" smtClean="0">
                <a:solidFill>
                  <a:srgbClr val="CC0000"/>
                </a:solidFill>
                <a:latin typeface="Times New Roman"/>
                <a:cs typeface="Times New Roman"/>
              </a:rPr>
              <a:t> do ”</a:t>
            </a:r>
            <a:endParaRPr lang="en-US" sz="2800" b="1" i="1" dirty="0">
              <a:solidFill>
                <a:srgbClr val="CC0000"/>
              </a:solidFill>
              <a:latin typeface="Times New Roman"/>
              <a:cs typeface="Times New Roman"/>
            </a:endParaRPr>
          </a:p>
        </p:txBody>
      </p:sp>
      <p:sp>
        <p:nvSpPr>
          <p:cNvPr id="17" name="Rectangle 16"/>
          <p:cNvSpPr/>
          <p:nvPr/>
        </p:nvSpPr>
        <p:spPr>
          <a:xfrm>
            <a:off x="2789712" y="3383340"/>
            <a:ext cx="6278088" cy="1569660"/>
          </a:xfrm>
          <a:prstGeom prst="rect">
            <a:avLst/>
          </a:prstGeom>
        </p:spPr>
        <p:txBody>
          <a:bodyPr wrap="square">
            <a:spAutoFit/>
          </a:bodyPr>
          <a:lstStyle/>
          <a:p>
            <a:pPr algn="just"/>
            <a:r>
              <a:rPr lang="en-US" sz="2400" i="1" dirty="0" smtClean="0">
                <a:solidFill>
                  <a:srgbClr val="002060"/>
                </a:solidFill>
                <a:latin typeface="Times New Roman" pitchFamily="18" charset="0"/>
                <a:cs typeface="Times New Roman" pitchFamily="18" charset="0"/>
              </a:rPr>
              <a:t>“</a:t>
            </a:r>
            <a:r>
              <a:rPr lang="vi-VN" sz="2400" i="1" dirty="0" smtClean="0">
                <a:solidFill>
                  <a:srgbClr val="002060"/>
                </a:solidFill>
                <a:latin typeface="Times New Roman" pitchFamily="18" charset="0"/>
                <a:cs typeface="Times New Roman" pitchFamily="18" charset="0"/>
              </a:rPr>
              <a:t>Tôi </a:t>
            </a:r>
            <a:r>
              <a:rPr lang="vi-VN" sz="2400" i="1" dirty="0">
                <a:solidFill>
                  <a:srgbClr val="002060"/>
                </a:solidFill>
                <a:latin typeface="Times New Roman" pitchFamily="18" charset="0"/>
                <a:cs typeface="Times New Roman" pitchFamily="18" charset="0"/>
              </a:rPr>
              <a:t>chỉ có một sự ham muốn, ham muốn tột bậc, là làm sao cho nước ta được hoàn toàn độc lập, dân ta được hoàn toàn tự do, đồng bào ai cũng có cơm ăn áo mặc, ai cũng được học </a:t>
            </a:r>
            <a:r>
              <a:rPr lang="vi-VN" sz="2400" i="1" dirty="0" smtClean="0">
                <a:solidFill>
                  <a:srgbClr val="002060"/>
                </a:solidFill>
                <a:latin typeface="Times New Roman" pitchFamily="18" charset="0"/>
                <a:cs typeface="Times New Roman" pitchFamily="18" charset="0"/>
              </a:rPr>
              <a:t>hành</a:t>
            </a:r>
            <a:r>
              <a:rPr lang="en-US" sz="2400" i="1" dirty="0" smtClean="0">
                <a:solidFill>
                  <a:srgbClr val="002060"/>
                </a:solidFill>
                <a:latin typeface="Times New Roman" pitchFamily="18" charset="0"/>
                <a:cs typeface="Times New Roman" pitchFamily="18" charset="0"/>
              </a:rPr>
              <a:t>”</a:t>
            </a:r>
            <a:r>
              <a:rPr lang="vi-VN" sz="2400" i="1" dirty="0" smtClean="0">
                <a:solidFill>
                  <a:srgbClr val="002060"/>
                </a:solidFill>
                <a:latin typeface="Times New Roman" pitchFamily="18" charset="0"/>
                <a:cs typeface="Times New Roman" pitchFamily="18" charset="0"/>
              </a:rPr>
              <a:t>.</a:t>
            </a:r>
            <a:endParaRPr lang="en-US" sz="2400" i="1" dirty="0">
              <a:solidFill>
                <a:srgbClr val="002060"/>
              </a:solidFill>
              <a:latin typeface="Times New Roman" pitchFamily="18" charset="0"/>
              <a:cs typeface="Times New Roman" pitchFamily="18" charset="0"/>
            </a:endParaRPr>
          </a:p>
        </p:txBody>
      </p:sp>
      <p:sp>
        <p:nvSpPr>
          <p:cNvPr id="18"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9"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20" name="Rectangle 19"/>
          <p:cNvSpPr/>
          <p:nvPr/>
        </p:nvSpPr>
        <p:spPr>
          <a:xfrm>
            <a:off x="0" y="0"/>
            <a:ext cx="2403296"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781456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10</a:t>
            </a:fld>
            <a:endParaRPr lang="en-US"/>
          </a:p>
        </p:txBody>
      </p:sp>
      <p:sp>
        <p:nvSpPr>
          <p:cNvPr id="9" name="Text Box 36"/>
          <p:cNvSpPr txBox="1">
            <a:spLocks noChangeArrowheads="1"/>
          </p:cNvSpPr>
          <p:nvPr/>
        </p:nvSpPr>
        <p:spPr bwMode="auto">
          <a:xfrm>
            <a:off x="2403296" y="1714114"/>
            <a:ext cx="5957487"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smtClean="0">
                <a:solidFill>
                  <a:srgbClr val="FF0000"/>
                </a:solidFill>
                <a:latin typeface="Times New Roman"/>
                <a:cs typeface="Times New Roman"/>
              </a:rPr>
              <a:t>b. Độc lập dân tộc phải gắn liền với tự do, hạnh phúc của nhân dân</a:t>
            </a:r>
            <a:endParaRPr lang="en-US" sz="2800" dirty="0">
              <a:solidFill>
                <a:srgbClr val="FF0000"/>
              </a:solidFill>
              <a:latin typeface="Times New Roman"/>
              <a:cs typeface="Times New Roman"/>
            </a:endParaRPr>
          </a:p>
        </p:txBody>
      </p:sp>
      <p:cxnSp>
        <p:nvCxnSpPr>
          <p:cNvPr id="11" name="Straight Connector 10"/>
          <p:cNvCxnSpPr/>
          <p:nvPr/>
        </p:nvCxnSpPr>
        <p:spPr>
          <a:xfrm>
            <a:off x="1741454" y="1981200"/>
            <a:ext cx="0" cy="377129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142136" y="2392341"/>
            <a:ext cx="1186851" cy="1394356"/>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cxnSp>
        <p:nvCxnSpPr>
          <p:cNvPr id="14" name="Straight Connector 13"/>
          <p:cNvCxnSpPr/>
          <p:nvPr/>
        </p:nvCxnSpPr>
        <p:spPr>
          <a:xfrm>
            <a:off x="1195280" y="3230628"/>
            <a:ext cx="546174"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Text Box 36"/>
          <p:cNvSpPr txBox="1">
            <a:spLocks noChangeArrowheads="1"/>
          </p:cNvSpPr>
          <p:nvPr/>
        </p:nvSpPr>
        <p:spPr bwMode="auto">
          <a:xfrm>
            <a:off x="5249907" y="3541455"/>
            <a:ext cx="3817893" cy="2554545"/>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vi-VN" sz="3200" smtClean="0">
                <a:solidFill>
                  <a:srgbClr val="002060"/>
                </a:solidFill>
                <a:latin typeface="Times New Roman" pitchFamily="18" charset="0"/>
                <a:cs typeface="Times New Roman" pitchFamily="18" charset="0"/>
              </a:rPr>
              <a:t>“</a:t>
            </a:r>
            <a:r>
              <a:rPr lang="en-US" sz="3200" smtClean="0">
                <a:solidFill>
                  <a:srgbClr val="002060"/>
                </a:solidFill>
                <a:latin typeface="Times New Roman" pitchFamily="18" charset="0"/>
                <a:cs typeface="Times New Roman" pitchFamily="18" charset="0"/>
              </a:rPr>
              <a:t>… n</a:t>
            </a:r>
            <a:r>
              <a:rPr lang="vi-VN" sz="3200" smtClean="0">
                <a:solidFill>
                  <a:srgbClr val="002060"/>
                </a:solidFill>
                <a:latin typeface="Times New Roman" pitchFamily="18" charset="0"/>
                <a:cs typeface="Times New Roman" pitchFamily="18" charset="0"/>
              </a:rPr>
              <a:t>ếu </a:t>
            </a:r>
            <a:r>
              <a:rPr lang="vi-VN" sz="3200" dirty="0">
                <a:solidFill>
                  <a:srgbClr val="002060"/>
                </a:solidFill>
                <a:latin typeface="Times New Roman" pitchFamily="18" charset="0"/>
                <a:cs typeface="Times New Roman" pitchFamily="18" charset="0"/>
              </a:rPr>
              <a:t>nước độc lập </a:t>
            </a:r>
            <a:endParaRPr lang="en-US" sz="3200" dirty="0" smtClean="0">
              <a:solidFill>
                <a:srgbClr val="002060"/>
              </a:solidFill>
              <a:latin typeface="Times New Roman" pitchFamily="18" charset="0"/>
              <a:cs typeface="Times New Roman" pitchFamily="18" charset="0"/>
            </a:endParaRPr>
          </a:p>
          <a:p>
            <a:pPr algn="just"/>
            <a:r>
              <a:rPr lang="vi-VN" sz="3200" dirty="0" smtClean="0">
                <a:solidFill>
                  <a:srgbClr val="002060"/>
                </a:solidFill>
                <a:latin typeface="Times New Roman" pitchFamily="18" charset="0"/>
                <a:cs typeface="Times New Roman" pitchFamily="18" charset="0"/>
              </a:rPr>
              <a:t>mà </a:t>
            </a:r>
            <a:r>
              <a:rPr lang="vi-VN" sz="3200" dirty="0">
                <a:solidFill>
                  <a:srgbClr val="002060"/>
                </a:solidFill>
                <a:latin typeface="Times New Roman" pitchFamily="18" charset="0"/>
                <a:cs typeface="Times New Roman" pitchFamily="18" charset="0"/>
              </a:rPr>
              <a:t>dân không hưởng </a:t>
            </a:r>
            <a:r>
              <a:rPr lang="en-US" sz="3200" dirty="0" smtClean="0">
                <a:solidFill>
                  <a:srgbClr val="002060"/>
                </a:solidFill>
                <a:latin typeface="Times New Roman" pitchFamily="18" charset="0"/>
                <a:cs typeface="Times New Roman" pitchFamily="18" charset="0"/>
              </a:rPr>
              <a:t>             </a:t>
            </a:r>
            <a:r>
              <a:rPr lang="vi-VN" sz="3200" dirty="0" smtClean="0">
                <a:solidFill>
                  <a:srgbClr val="002060"/>
                </a:solidFill>
                <a:latin typeface="Times New Roman" pitchFamily="18" charset="0"/>
                <a:cs typeface="Times New Roman" pitchFamily="18" charset="0"/>
              </a:rPr>
              <a:t>hạnh </a:t>
            </a:r>
            <a:r>
              <a:rPr lang="vi-VN" sz="3200" dirty="0">
                <a:solidFill>
                  <a:srgbClr val="002060"/>
                </a:solidFill>
                <a:latin typeface="Times New Roman" pitchFamily="18" charset="0"/>
                <a:cs typeface="Times New Roman" pitchFamily="18" charset="0"/>
              </a:rPr>
              <a:t>phúc tự do, </a:t>
            </a:r>
            <a:r>
              <a:rPr lang="en-US" sz="3200" dirty="0" smtClean="0">
                <a:solidFill>
                  <a:srgbClr val="002060"/>
                </a:solidFill>
                <a:latin typeface="Times New Roman" pitchFamily="18" charset="0"/>
                <a:cs typeface="Times New Roman" pitchFamily="18" charset="0"/>
              </a:rPr>
              <a:t>                             </a:t>
            </a:r>
            <a:r>
              <a:rPr lang="vi-VN" sz="3200" dirty="0" smtClean="0">
                <a:solidFill>
                  <a:srgbClr val="002060"/>
                </a:solidFill>
                <a:latin typeface="Times New Roman" pitchFamily="18" charset="0"/>
                <a:cs typeface="Times New Roman" pitchFamily="18" charset="0"/>
              </a:rPr>
              <a:t>thì </a:t>
            </a:r>
            <a:r>
              <a:rPr lang="vi-VN" sz="3200" dirty="0">
                <a:solidFill>
                  <a:srgbClr val="002060"/>
                </a:solidFill>
                <a:latin typeface="Times New Roman" pitchFamily="18" charset="0"/>
                <a:cs typeface="Times New Roman" pitchFamily="18" charset="0"/>
              </a:rPr>
              <a:t>độc lập cũng </a:t>
            </a:r>
            <a:r>
              <a:rPr lang="en-US" sz="3200" dirty="0" smtClean="0">
                <a:solidFill>
                  <a:srgbClr val="002060"/>
                </a:solidFill>
                <a:latin typeface="Times New Roman" pitchFamily="18" charset="0"/>
                <a:cs typeface="Times New Roman" pitchFamily="18" charset="0"/>
              </a:rPr>
              <a:t>                       </a:t>
            </a:r>
            <a:r>
              <a:rPr lang="vi-VN" sz="3200" dirty="0" smtClean="0">
                <a:solidFill>
                  <a:srgbClr val="002060"/>
                </a:solidFill>
                <a:latin typeface="Times New Roman" pitchFamily="18" charset="0"/>
                <a:cs typeface="Times New Roman" pitchFamily="18" charset="0"/>
              </a:rPr>
              <a:t>chẳng </a:t>
            </a:r>
            <a:r>
              <a:rPr lang="vi-VN" sz="3200" dirty="0">
                <a:solidFill>
                  <a:srgbClr val="002060"/>
                </a:solidFill>
                <a:latin typeface="Times New Roman" pitchFamily="18" charset="0"/>
                <a:cs typeface="Times New Roman" pitchFamily="18" charset="0"/>
              </a:rPr>
              <a:t>có nghĩa lý gì”</a:t>
            </a:r>
          </a:p>
        </p:txBody>
      </p:sp>
      <p:pic>
        <p:nvPicPr>
          <p:cNvPr id="19" name="Picture 2" descr="Káº¿t quáº£ hÃ¬nh áº£nh cho ho chi minh cham lo nhan d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807913"/>
            <a:ext cx="3193002" cy="2059487"/>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7" name="Rectangle 16"/>
          <p:cNvSpPr/>
          <p:nvPr/>
        </p:nvSpPr>
        <p:spPr>
          <a:xfrm>
            <a:off x="0" y="0"/>
            <a:ext cx="25146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Connector 20"/>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2"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4530246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11</a:t>
            </a:fld>
            <a:endParaRPr lang="en-US"/>
          </a:p>
        </p:txBody>
      </p:sp>
      <p:sp>
        <p:nvSpPr>
          <p:cNvPr id="9" name="Text Box 36"/>
          <p:cNvSpPr txBox="1">
            <a:spLocks noChangeArrowheads="1"/>
          </p:cNvSpPr>
          <p:nvPr/>
        </p:nvSpPr>
        <p:spPr bwMode="auto">
          <a:xfrm>
            <a:off x="3110313" y="1331893"/>
            <a:ext cx="5957487"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dirty="0" smtClean="0">
                <a:solidFill>
                  <a:srgbClr val="FF0000"/>
                </a:solidFill>
                <a:latin typeface="Times New Roman"/>
                <a:cs typeface="Times New Roman"/>
              </a:rPr>
              <a:t>b. </a:t>
            </a:r>
            <a:r>
              <a:rPr lang="en-US" sz="2800" dirty="0" err="1" smtClean="0">
                <a:solidFill>
                  <a:srgbClr val="FF0000"/>
                </a:solidFill>
                <a:latin typeface="Times New Roman"/>
                <a:cs typeface="Times New Roman"/>
              </a:rPr>
              <a:t>Độc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lập</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dân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tộc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phải</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gắn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liền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với</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tự</a:t>
            </a:r>
            <a:r>
              <a:rPr lang="en-US" sz="2800" dirty="0" smtClean="0">
                <a:solidFill>
                  <a:srgbClr val="FF0000"/>
                </a:solidFill>
                <a:latin typeface="Times New Roman"/>
                <a:cs typeface="Times New Roman"/>
              </a:rPr>
              <a:t> do, </a:t>
            </a:r>
            <a:r>
              <a:rPr lang="en-US" sz="2800" dirty="0" err="1" smtClean="0">
                <a:solidFill>
                  <a:srgbClr val="FF0000"/>
                </a:solidFill>
                <a:latin typeface="Times New Roman"/>
                <a:cs typeface="Times New Roman"/>
              </a:rPr>
              <a:t>hạnh</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phúc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của</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nhân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dân</a:t>
            </a:r>
            <a:endParaRPr lang="en-US" sz="2800" dirty="0">
              <a:solidFill>
                <a:srgbClr val="FF0000"/>
              </a:solidFill>
              <a:latin typeface="Times New Roman"/>
              <a:cs typeface="Times New Roman"/>
            </a:endParaRPr>
          </a:p>
        </p:txBody>
      </p:sp>
      <p:sp>
        <p:nvSpPr>
          <p:cNvPr id="18" name="Text Box 36"/>
          <p:cNvSpPr txBox="1">
            <a:spLocks noChangeArrowheads="1"/>
          </p:cNvSpPr>
          <p:nvPr/>
        </p:nvSpPr>
        <p:spPr bwMode="auto">
          <a:xfrm>
            <a:off x="2954594" y="2282666"/>
            <a:ext cx="6113206" cy="1569660"/>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vi-VN" sz="2400" dirty="0" smtClean="0">
                <a:solidFill>
                  <a:srgbClr val="002060"/>
                </a:solidFill>
                <a:latin typeface="Times New Roman" pitchFamily="18" charset="0"/>
                <a:cs typeface="Times New Roman" pitchFamily="18" charset="0"/>
              </a:rPr>
              <a:t>“Chúng </a:t>
            </a:r>
            <a:r>
              <a:rPr lang="vi-VN" sz="2400" dirty="0">
                <a:solidFill>
                  <a:srgbClr val="002060"/>
                </a:solidFill>
                <a:latin typeface="Times New Roman" pitchFamily="18" charset="0"/>
                <a:cs typeface="Times New Roman" pitchFamily="18" charset="0"/>
              </a:rPr>
              <a:t>ta tranh được tự do, độc lập rồi mà dân cứ chết đói, chết rét, thì tự do, độc lập cũng không làm gì. Dân chỉ biết rõ giá trị của tự do, của độc lập khi mà dân được ăn no, mặc đủ.  </a:t>
            </a:r>
          </a:p>
        </p:txBody>
      </p:sp>
      <p:pic>
        <p:nvPicPr>
          <p:cNvPr id="2050" name="Picture 2" descr="Vấn đề nông dân, nông nghiệp, nông thôn trong Di chúc Hồ Chí Minh - Ảnh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94" y="2282666"/>
            <a:ext cx="2743200" cy="1984534"/>
          </a:xfrm>
          <a:prstGeom prst="rect">
            <a:avLst/>
          </a:prstGeom>
          <a:noFill/>
          <a:extLst>
            <a:ext uri="{909E8E84-426E-40DD-AFC4-6F175D3DCCD1}">
              <a14:hiddenFill xmlns:a14="http://schemas.microsoft.com/office/drawing/2010/main">
                <a:solidFill>
                  <a:srgbClr val="FFFFFF"/>
                </a:solidFill>
              </a14:hiddenFill>
            </a:ext>
          </a:extLst>
        </p:spPr>
      </p:pic>
      <p:sp>
        <p:nvSpPr>
          <p:cNvPr id="15" name="Text Box 36"/>
          <p:cNvSpPr txBox="1">
            <a:spLocks noChangeArrowheads="1"/>
          </p:cNvSpPr>
          <p:nvPr/>
        </p:nvSpPr>
        <p:spPr bwMode="auto">
          <a:xfrm>
            <a:off x="457200" y="4309408"/>
            <a:ext cx="8458200" cy="193899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vi-VN" sz="2400" dirty="0" smtClean="0">
                <a:solidFill>
                  <a:srgbClr val="002060"/>
                </a:solidFill>
                <a:latin typeface="Times New Roman" pitchFamily="18" charset="0"/>
                <a:cs typeface="Times New Roman" pitchFamily="18" charset="0"/>
              </a:rPr>
              <a:t>Chúng </a:t>
            </a:r>
            <a:r>
              <a:rPr lang="vi-VN" sz="2400" dirty="0">
                <a:solidFill>
                  <a:srgbClr val="002060"/>
                </a:solidFill>
                <a:latin typeface="Times New Roman" pitchFamily="18" charset="0"/>
                <a:cs typeface="Times New Roman" pitchFamily="18" charset="0"/>
              </a:rPr>
              <a:t>ta phải thực hiện ngay:  1. Làm cho dân có ăn.  2. Làm cho dân có mặc.  3. Làm cho dân có chỗ ở.  4. Làm cho dân có học hành. </a:t>
            </a:r>
            <a:r>
              <a:rPr lang="vi-VN" sz="2400" dirty="0" smtClean="0">
                <a:solidFill>
                  <a:srgbClr val="002060"/>
                </a:solidFill>
                <a:latin typeface="Times New Roman" pitchFamily="18" charset="0"/>
                <a:cs typeface="Times New Roman" pitchFamily="18" charset="0"/>
              </a:rPr>
              <a:t>Cái </a:t>
            </a:r>
            <a:r>
              <a:rPr lang="vi-VN" sz="2400" dirty="0">
                <a:solidFill>
                  <a:srgbClr val="002060"/>
                </a:solidFill>
                <a:latin typeface="Times New Roman" pitchFamily="18" charset="0"/>
                <a:cs typeface="Times New Roman" pitchFamily="18" charset="0"/>
              </a:rPr>
              <a:t>mục đích chúng ta đi đến là bốn điều đó. Đi đến để dân nước ta xứng đáng với tự do độc lập và giúp sức được cho tự do độc </a:t>
            </a:r>
            <a:r>
              <a:rPr lang="vi-VN" sz="2400" dirty="0" smtClean="0">
                <a:solidFill>
                  <a:srgbClr val="002060"/>
                </a:solidFill>
                <a:latin typeface="Times New Roman" pitchFamily="18" charset="0"/>
                <a:cs typeface="Times New Roman" pitchFamily="18" charset="0"/>
              </a:rPr>
              <a:t>lập”</a:t>
            </a:r>
            <a:r>
              <a:rPr lang="en-US" sz="2400" smtClean="0">
                <a:solidFill>
                  <a:srgbClr val="002060"/>
                </a:solidFill>
                <a:latin typeface="Times New Roman" pitchFamily="18" charset="0"/>
                <a:cs typeface="Times New Roman" pitchFamily="18" charset="0"/>
              </a:rPr>
              <a:t>.</a:t>
            </a:r>
            <a:endParaRPr lang="vi-VN" sz="2400" dirty="0">
              <a:solidFill>
                <a:srgbClr val="002060"/>
              </a:solidFill>
              <a:latin typeface="Times New Roman" pitchFamily="18" charset="0"/>
              <a:cs typeface="Times New Roman" pitchFamily="18" charset="0"/>
            </a:endParaRPr>
          </a:p>
        </p:txBody>
      </p:sp>
      <p:sp>
        <p:nvSpPr>
          <p:cNvPr id="11"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2"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3" name="Rectangle 12"/>
          <p:cNvSpPr/>
          <p:nvPr/>
        </p:nvSpPr>
        <p:spPr>
          <a:xfrm>
            <a:off x="0" y="0"/>
            <a:ext cx="2802194"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63173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12</a:t>
            </a:fld>
            <a:endParaRPr lang="en-US"/>
          </a:p>
        </p:txBody>
      </p:sp>
      <p:sp>
        <p:nvSpPr>
          <p:cNvPr id="9" name="Text Box 36"/>
          <p:cNvSpPr txBox="1">
            <a:spLocks noChangeArrowheads="1"/>
          </p:cNvSpPr>
          <p:nvPr/>
        </p:nvSpPr>
        <p:spPr bwMode="auto">
          <a:xfrm>
            <a:off x="2403296" y="1828800"/>
            <a:ext cx="5957487"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dirty="0">
                <a:solidFill>
                  <a:srgbClr val="FF0000"/>
                </a:solidFill>
                <a:latin typeface="Times New Roman"/>
                <a:cs typeface="Times New Roman"/>
              </a:rPr>
              <a:t>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Độc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lập</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dân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tộc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phải</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là</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nền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độc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lập</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thật</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sự</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hoàn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toàn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và</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triệt</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để</a:t>
            </a:r>
            <a:endParaRPr lang="en-US" sz="2800" dirty="0">
              <a:solidFill>
                <a:srgbClr val="FF0000"/>
              </a:solidFill>
              <a:latin typeface="Times New Roman"/>
              <a:cs typeface="Times New Roman"/>
            </a:endParaRPr>
          </a:p>
        </p:txBody>
      </p:sp>
      <p:cxnSp>
        <p:nvCxnSpPr>
          <p:cNvPr id="11" name="Straight Connector 10"/>
          <p:cNvCxnSpPr/>
          <p:nvPr/>
        </p:nvCxnSpPr>
        <p:spPr>
          <a:xfrm>
            <a:off x="1741454" y="2286000"/>
            <a:ext cx="0" cy="377129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142136" y="3780472"/>
            <a:ext cx="1186851"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dirty="0" err="1" smtClean="0">
                <a:solidFill>
                  <a:srgbClr val="FF0000"/>
                </a:solidFill>
                <a:latin typeface="Times New Roman"/>
                <a:cs typeface="Times New Roman"/>
              </a:rPr>
              <a:t>Luận</a:t>
            </a:r>
            <a:r>
              <a:rPr lang="en-US" sz="3000" dirty="0" smtClean="0">
                <a:solidFill>
                  <a:srgbClr val="FF0000"/>
                </a:solidFill>
                <a:latin typeface="Times New Roman"/>
                <a:cs typeface="Times New Roman"/>
              </a:rPr>
              <a:t> </a:t>
            </a:r>
            <a:r>
              <a:rPr lang="en-US" sz="3000" dirty="0" err="1" smtClean="0">
                <a:solidFill>
                  <a:srgbClr val="FF0000"/>
                </a:solidFill>
                <a:latin typeface="Times New Roman"/>
                <a:cs typeface="Times New Roman"/>
              </a:rPr>
              <a:t>điểm</a:t>
            </a:r>
            <a:endParaRPr lang="en-US" sz="3000" dirty="0">
              <a:solidFill>
                <a:srgbClr val="FF0000"/>
              </a:solidFill>
              <a:latin typeface="Times New Roman"/>
              <a:cs typeface="Times New Roman"/>
            </a:endParaRPr>
          </a:p>
        </p:txBody>
      </p:sp>
      <p:cxnSp>
        <p:nvCxnSpPr>
          <p:cNvPr id="14" name="Straight Connector 13"/>
          <p:cNvCxnSpPr/>
          <p:nvPr/>
        </p:nvCxnSpPr>
        <p:spPr>
          <a:xfrm>
            <a:off x="1195280" y="4618759"/>
            <a:ext cx="546174"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Text Box 36"/>
          <p:cNvSpPr txBox="1">
            <a:spLocks noChangeArrowheads="1"/>
          </p:cNvSpPr>
          <p:nvPr/>
        </p:nvSpPr>
        <p:spPr bwMode="auto">
          <a:xfrm>
            <a:off x="5382039" y="2615148"/>
            <a:ext cx="3533362" cy="378565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200000"/>
              </a:lnSpc>
            </a:pPr>
            <a:r>
              <a:rPr lang="en-US" sz="3000" smtClean="0">
                <a:solidFill>
                  <a:srgbClr val="002060"/>
                </a:solidFill>
                <a:latin typeface="Times New Roman" pitchFamily="18" charset="0"/>
                <a:cs typeface="Times New Roman" pitchFamily="18" charset="0"/>
              </a:rPr>
              <a:t>- Chủ quyền</a:t>
            </a:r>
          </a:p>
          <a:p>
            <a:pPr algn="ctr">
              <a:lnSpc>
                <a:spcPct val="200000"/>
              </a:lnSpc>
            </a:pPr>
            <a:r>
              <a:rPr lang="en-US" sz="3000" smtClean="0">
                <a:solidFill>
                  <a:srgbClr val="002060"/>
                </a:solidFill>
                <a:latin typeface="Times New Roman" pitchFamily="18" charset="0"/>
                <a:cs typeface="Times New Roman" pitchFamily="18" charset="0"/>
              </a:rPr>
              <a:t>- Chính trị</a:t>
            </a:r>
          </a:p>
          <a:p>
            <a:pPr algn="ctr">
              <a:lnSpc>
                <a:spcPct val="200000"/>
              </a:lnSpc>
            </a:pPr>
            <a:r>
              <a:rPr lang="en-US" sz="3000" smtClean="0">
                <a:solidFill>
                  <a:srgbClr val="002060"/>
                </a:solidFill>
                <a:latin typeface="Times New Roman" pitchFamily="18" charset="0"/>
                <a:cs typeface="Times New Roman" pitchFamily="18" charset="0"/>
              </a:rPr>
              <a:t>- Kinh tế</a:t>
            </a:r>
          </a:p>
          <a:p>
            <a:pPr algn="ctr">
              <a:lnSpc>
                <a:spcPct val="200000"/>
              </a:lnSpc>
            </a:pPr>
            <a:r>
              <a:rPr lang="en-US" sz="3000" smtClean="0">
                <a:solidFill>
                  <a:srgbClr val="002060"/>
                </a:solidFill>
                <a:latin typeface="Times New Roman" pitchFamily="18" charset="0"/>
                <a:cs typeface="Times New Roman" pitchFamily="18" charset="0"/>
              </a:rPr>
              <a:t>- Văn hóa</a:t>
            </a:r>
          </a:p>
        </p:txBody>
      </p:sp>
      <p:pic>
        <p:nvPicPr>
          <p:cNvPr id="3074" name="Picture 2" descr="http://nvhtn.org.vn/wp-content/uploads/2019/03/chu-tich_hochiminh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654" y="3472368"/>
            <a:ext cx="3363946" cy="2242632"/>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7" name="Rectangle 16"/>
          <p:cNvSpPr/>
          <p:nvPr/>
        </p:nvSpPr>
        <p:spPr>
          <a:xfrm>
            <a:off x="0" y="0"/>
            <a:ext cx="2403296"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4250760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xEl>
                                              <p:pRg st="1" end="1"/>
                                            </p:txEl>
                                          </p:spTgt>
                                        </p:tgtEl>
                                        <p:attrNameLst>
                                          <p:attrName>style.visibility</p:attrName>
                                        </p:attrNameLst>
                                      </p:cBhvr>
                                      <p:to>
                                        <p:strVal val="visible"/>
                                      </p:to>
                                    </p:set>
                                    <p:anim calcmode="lin" valueType="num">
                                      <p:cBhvr additive="base">
                                        <p:cTn id="13" dur="500" fill="hold"/>
                                        <p:tgtEl>
                                          <p:spTgt spid="1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anim calcmode="lin" valueType="num">
                                      <p:cBhvr additive="base">
                                        <p:cTn id="19" dur="500" fill="hold"/>
                                        <p:tgtEl>
                                          <p:spTgt spid="1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
                                            <p:txEl>
                                              <p:pRg st="3" end="3"/>
                                            </p:txEl>
                                          </p:spTgt>
                                        </p:tgtEl>
                                        <p:attrNameLst>
                                          <p:attrName>style.visibility</p:attrName>
                                        </p:attrNameLst>
                                      </p:cBhvr>
                                      <p:to>
                                        <p:strVal val="visible"/>
                                      </p:to>
                                    </p:set>
                                    <p:anim calcmode="lin" valueType="num">
                                      <p:cBhvr additive="base">
                                        <p:cTn id="25" dur="500" fill="hold"/>
                                        <p:tgtEl>
                                          <p:spTgt spid="1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13</a:t>
            </a:fld>
            <a:endParaRPr lang="en-US"/>
          </a:p>
        </p:txBody>
      </p:sp>
      <p:sp>
        <p:nvSpPr>
          <p:cNvPr id="9" name="Text Box 36"/>
          <p:cNvSpPr txBox="1">
            <a:spLocks noChangeArrowheads="1"/>
          </p:cNvSpPr>
          <p:nvPr/>
        </p:nvSpPr>
        <p:spPr bwMode="auto">
          <a:xfrm>
            <a:off x="2403296" y="1408093"/>
            <a:ext cx="5957487"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dirty="0">
                <a:solidFill>
                  <a:srgbClr val="FF0000"/>
                </a:solidFill>
                <a:latin typeface="Times New Roman"/>
                <a:cs typeface="Times New Roman"/>
              </a:rPr>
              <a:t>d</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Độc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lập</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dân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tộc</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gắn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liền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với</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thống</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nhất</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và</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toàn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vẹn</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lãnh</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thổ</a:t>
            </a:r>
            <a:endParaRPr lang="en-US" sz="2800" dirty="0">
              <a:solidFill>
                <a:srgbClr val="FF0000"/>
              </a:solidFill>
              <a:latin typeface="Times New Roman"/>
              <a:cs typeface="Times New Roman"/>
            </a:endParaRPr>
          </a:p>
        </p:txBody>
      </p:sp>
      <p:cxnSp>
        <p:nvCxnSpPr>
          <p:cNvPr id="11" name="Straight Connector 10"/>
          <p:cNvCxnSpPr/>
          <p:nvPr/>
        </p:nvCxnSpPr>
        <p:spPr>
          <a:xfrm>
            <a:off x="1676400" y="2057400"/>
            <a:ext cx="65054" cy="399989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142136" y="2392341"/>
            <a:ext cx="1186851" cy="1394356"/>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Quan điểm</a:t>
            </a:r>
            <a:endParaRPr lang="en-US" sz="3000" dirty="0">
              <a:solidFill>
                <a:srgbClr val="FF0000"/>
              </a:solidFill>
              <a:latin typeface="Times New Roman"/>
              <a:cs typeface="Times New Roman"/>
            </a:endParaRPr>
          </a:p>
        </p:txBody>
      </p:sp>
      <p:sp>
        <p:nvSpPr>
          <p:cNvPr id="18" name="Text Box 36"/>
          <p:cNvSpPr txBox="1">
            <a:spLocks noChangeArrowheads="1"/>
          </p:cNvSpPr>
          <p:nvPr/>
        </p:nvSpPr>
        <p:spPr bwMode="auto">
          <a:xfrm>
            <a:off x="5418910" y="2438400"/>
            <a:ext cx="3533362" cy="2092881"/>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vi-VN" sz="2600">
                <a:solidFill>
                  <a:srgbClr val="002060"/>
                </a:solidFill>
                <a:latin typeface="Times New Roman" pitchFamily="18" charset="0"/>
                <a:cs typeface="Times New Roman" pitchFamily="18" charset="0"/>
              </a:rPr>
              <a:t>Đồng bào Nam Bộ là dân nước Việt Nam. Sông có thể cạn, núi có thể mòn, song chân lý đó không bao giờ thay đổi! </a:t>
            </a:r>
            <a:endParaRPr lang="en-US" sz="2600" smtClean="0">
              <a:solidFill>
                <a:srgbClr val="002060"/>
              </a:solidFill>
              <a:latin typeface="Times New Roman" pitchFamily="18" charset="0"/>
              <a:cs typeface="Times New Roman" pitchFamily="18" charset="0"/>
            </a:endParaRPr>
          </a:p>
        </p:txBody>
      </p:sp>
      <p:pic>
        <p:nvPicPr>
          <p:cNvPr id="3074" name="Picture 2" descr="http://nvhtn.org.vn/wp-content/uploads/2019/03/chu-tich_hochiminh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654" y="2743200"/>
            <a:ext cx="3363946" cy="2242632"/>
          </a:xfrm>
          <a:prstGeom prst="rect">
            <a:avLst/>
          </a:prstGeom>
          <a:noFill/>
          <a:extLst>
            <a:ext uri="{909E8E84-426E-40DD-AFC4-6F175D3DCCD1}">
              <a14:hiddenFill xmlns:a14="http://schemas.microsoft.com/office/drawing/2010/main">
                <a:solidFill>
                  <a:srgbClr val="FFFFFF"/>
                </a:solidFill>
              </a14:hiddenFill>
            </a:ext>
          </a:extLst>
        </p:spPr>
      </p:pic>
      <p:sp>
        <p:nvSpPr>
          <p:cNvPr id="15" name="Text Box 36"/>
          <p:cNvSpPr txBox="1">
            <a:spLocks noChangeArrowheads="1"/>
          </p:cNvSpPr>
          <p:nvPr/>
        </p:nvSpPr>
        <p:spPr bwMode="auto">
          <a:xfrm>
            <a:off x="1970054" y="5432048"/>
            <a:ext cx="7173946"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vi-VN" sz="2600">
                <a:solidFill>
                  <a:srgbClr val="002060"/>
                </a:solidFill>
                <a:latin typeface="Times New Roman" pitchFamily="18" charset="0"/>
                <a:cs typeface="Times New Roman" pitchFamily="18" charset="0"/>
              </a:rPr>
              <a:t>Tổ quốc ta nhất định sẽ thống nhất. </a:t>
            </a:r>
            <a:endParaRPr lang="en-US" sz="2600" smtClean="0">
              <a:solidFill>
                <a:srgbClr val="002060"/>
              </a:solidFill>
              <a:latin typeface="Times New Roman" pitchFamily="18" charset="0"/>
              <a:cs typeface="Times New Roman" pitchFamily="18" charset="0"/>
            </a:endParaRPr>
          </a:p>
          <a:p>
            <a:pPr algn="ctr"/>
            <a:r>
              <a:rPr lang="vi-VN" sz="2600" smtClean="0">
                <a:solidFill>
                  <a:srgbClr val="002060"/>
                </a:solidFill>
                <a:latin typeface="Times New Roman" pitchFamily="18" charset="0"/>
                <a:cs typeface="Times New Roman" pitchFamily="18" charset="0"/>
              </a:rPr>
              <a:t>Đồng </a:t>
            </a:r>
            <a:r>
              <a:rPr lang="vi-VN" sz="2600">
                <a:solidFill>
                  <a:srgbClr val="002060"/>
                </a:solidFill>
                <a:latin typeface="Times New Roman" pitchFamily="18" charset="0"/>
                <a:cs typeface="Times New Roman" pitchFamily="18" charset="0"/>
              </a:rPr>
              <a:t>bào Nam, Bắc nhất định sẽ sum họp một nhà.</a:t>
            </a:r>
            <a:endParaRPr lang="en-US" sz="2600" smtClean="0">
              <a:solidFill>
                <a:srgbClr val="002060"/>
              </a:solidFill>
              <a:latin typeface="Times New Roman" pitchFamily="18" charset="0"/>
              <a:cs typeface="Times New Roman" pitchFamily="18" charset="0"/>
            </a:endParaRPr>
          </a:p>
        </p:txBody>
      </p:sp>
      <p:sp>
        <p:nvSpPr>
          <p:cNvPr id="14"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7" name="Rectangle 16"/>
          <p:cNvSpPr/>
          <p:nvPr/>
        </p:nvSpPr>
        <p:spPr>
          <a:xfrm>
            <a:off x="0" y="0"/>
            <a:ext cx="21336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902470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14</a:t>
            </a:fld>
            <a:endParaRPr lang="en-US"/>
          </a:p>
        </p:txBody>
      </p:sp>
      <p:sp>
        <p:nvSpPr>
          <p:cNvPr id="7" name="Title 1"/>
          <p:cNvSpPr txBox="1">
            <a:spLocks/>
          </p:cNvSpPr>
          <p:nvPr/>
        </p:nvSpPr>
        <p:spPr>
          <a:xfrm>
            <a:off x="381000" y="27432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4000" b="1" smtClean="0">
                <a:solidFill>
                  <a:srgbClr val="FF0000"/>
                </a:solidFill>
                <a:latin typeface="Times New Roman" pitchFamily="18" charset="0"/>
                <a:cs typeface="Times New Roman" pitchFamily="18" charset="0"/>
              </a:rPr>
              <a:t>2. Về cách mạng giải phóng dân tộc</a:t>
            </a:r>
            <a:endParaRPr lang="en-US" sz="4000" b="1" dirty="0">
              <a:solidFill>
                <a:srgbClr val="FF0000"/>
              </a:solidFill>
              <a:latin typeface="Times New Roman" pitchFamily="18" charset="0"/>
              <a:cs typeface="Times New Roman" pitchFamily="18" charset="0"/>
            </a:endParaRP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8" name="Rectangle 7"/>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7792770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15</a:t>
            </a:fld>
            <a:endParaRPr lang="en-US"/>
          </a:p>
        </p:txBody>
      </p:sp>
      <p:sp>
        <p:nvSpPr>
          <p:cNvPr id="9" name="Text Box 36"/>
          <p:cNvSpPr txBox="1">
            <a:spLocks noChangeArrowheads="1"/>
          </p:cNvSpPr>
          <p:nvPr/>
        </p:nvSpPr>
        <p:spPr bwMode="auto">
          <a:xfrm>
            <a:off x="1371600" y="1164848"/>
            <a:ext cx="7391400"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mtClean="0">
                <a:solidFill>
                  <a:srgbClr val="FF0000"/>
                </a:solidFill>
                <a:latin typeface="Times New Roman"/>
                <a:cs typeface="Times New Roman"/>
              </a:rPr>
              <a:t>a. Cách mạng giải phóng dân tộc muốn thắng lợi                   phải đi theo con đường cách mạng vô sản</a:t>
            </a:r>
            <a:endParaRPr lang="en-US" sz="2500" dirty="0">
              <a:solidFill>
                <a:srgbClr val="FF0000"/>
              </a:solidFill>
              <a:latin typeface="Times New Roman"/>
              <a:cs typeface="Times New Roman"/>
            </a:endParaRPr>
          </a:p>
        </p:txBody>
      </p:sp>
      <p:cxnSp>
        <p:nvCxnSpPr>
          <p:cNvPr id="11" name="Straight Connector 10"/>
          <p:cNvCxnSpPr/>
          <p:nvPr/>
        </p:nvCxnSpPr>
        <p:spPr>
          <a:xfrm>
            <a:off x="1066800" y="1144221"/>
            <a:ext cx="66500" cy="491307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1418303" y="2110026"/>
            <a:ext cx="7649497" cy="86177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pc="-150" smtClean="0">
                <a:solidFill>
                  <a:srgbClr val="002060"/>
                </a:solidFill>
                <a:latin typeface="Times New Roman"/>
                <a:cs typeface="Times New Roman"/>
              </a:rPr>
              <a:t>b. Cách mạng giải phóng dân tộc, trong điều kiện                                          của  Việt Nam, muốn thắng lợi phải do Đảng Cộng sản lãnh đạo</a:t>
            </a:r>
            <a:endParaRPr lang="en-US" sz="2500" spc="-150" dirty="0">
              <a:solidFill>
                <a:srgbClr val="002060"/>
              </a:solidFill>
              <a:latin typeface="Times New Roman"/>
              <a:cs typeface="Times New Roman"/>
            </a:endParaRPr>
          </a:p>
        </p:txBody>
      </p:sp>
      <p:sp>
        <p:nvSpPr>
          <p:cNvPr id="16" name="Text Box 36"/>
          <p:cNvSpPr txBox="1">
            <a:spLocks noChangeArrowheads="1"/>
          </p:cNvSpPr>
          <p:nvPr/>
        </p:nvSpPr>
        <p:spPr bwMode="auto">
          <a:xfrm>
            <a:off x="1418303" y="3176826"/>
            <a:ext cx="7573297" cy="86177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pc="-150" smtClean="0">
                <a:solidFill>
                  <a:srgbClr val="FF0000"/>
                </a:solidFill>
                <a:latin typeface="Times New Roman"/>
                <a:cs typeface="Times New Roman"/>
              </a:rPr>
              <a:t>c. Cách mạng giải phóng dân tộc phải dựa trên lực lượng đại đoàn kết toàn dân tộc, lấy liên minh công – nông làm nền tảng</a:t>
            </a:r>
          </a:p>
        </p:txBody>
      </p:sp>
      <p:sp>
        <p:nvSpPr>
          <p:cNvPr id="17" name="Text Box 36"/>
          <p:cNvSpPr txBox="1">
            <a:spLocks noChangeArrowheads="1"/>
          </p:cNvSpPr>
          <p:nvPr/>
        </p:nvSpPr>
        <p:spPr bwMode="auto">
          <a:xfrm>
            <a:off x="1456675" y="4319826"/>
            <a:ext cx="7611125" cy="86177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pc="-150" smtClean="0">
                <a:solidFill>
                  <a:srgbClr val="002060"/>
                </a:solidFill>
                <a:latin typeface="Times New Roman"/>
                <a:cs typeface="Times New Roman"/>
              </a:rPr>
              <a:t>d. Cách mạng giải phóng dân tộc cần chủ động, sáng tạo,                              có khả năng giành thắng lợi trước cách mạng vô sản ở chính quốc</a:t>
            </a:r>
          </a:p>
        </p:txBody>
      </p:sp>
      <p:sp>
        <p:nvSpPr>
          <p:cNvPr id="19" name="Text Box 36"/>
          <p:cNvSpPr txBox="1">
            <a:spLocks noChangeArrowheads="1"/>
          </p:cNvSpPr>
          <p:nvPr/>
        </p:nvSpPr>
        <p:spPr bwMode="auto">
          <a:xfrm>
            <a:off x="1524000" y="5334000"/>
            <a:ext cx="7467600"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mtClean="0">
                <a:solidFill>
                  <a:srgbClr val="FF0000"/>
                </a:solidFill>
                <a:latin typeface="Times New Roman"/>
                <a:cs typeface="Times New Roman"/>
              </a:rPr>
              <a:t>e. Cách mạng giải phóng dân tộc phải được tiến hành            bằng phương pháp bạo lực cách mạng</a:t>
            </a:r>
          </a:p>
        </p:txBody>
      </p:sp>
      <p:sp>
        <p:nvSpPr>
          <p:cNvPr id="1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2"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4" name="Rectangle 13"/>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887759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0" end="0"/>
                                            </p:txEl>
                                          </p:spTgt>
                                        </p:tgtEl>
                                        <p:attrNameLst>
                                          <p:attrName>style.visibility</p:attrName>
                                        </p:attrNameLst>
                                      </p:cBhvr>
                                      <p:to>
                                        <p:strVal val="visible"/>
                                      </p:to>
                                    </p:set>
                                    <p:animEffect transition="in" filter="fade">
                                      <p:cBhvr>
                                        <p:cTn id="14" dur="1000"/>
                                        <p:tgtEl>
                                          <p:spTgt spid="15">
                                            <p:txEl>
                                              <p:pRg st="0" end="0"/>
                                            </p:txEl>
                                          </p:spTgt>
                                        </p:tgtEl>
                                      </p:cBhvr>
                                    </p:animEffect>
                                    <p:anim calcmode="lin" valueType="num">
                                      <p:cBhvr>
                                        <p:cTn id="15"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1000"/>
                                        <p:tgtEl>
                                          <p:spTgt spid="17"/>
                                        </p:tgtEl>
                                      </p:cBhvr>
                                    </p:animEffect>
                                    <p:anim calcmode="lin" valueType="num">
                                      <p:cBhvr>
                                        <p:cTn id="29" dur="1000" fill="hold"/>
                                        <p:tgtEl>
                                          <p:spTgt spid="17"/>
                                        </p:tgtEl>
                                        <p:attrNameLst>
                                          <p:attrName>ppt_x</p:attrName>
                                        </p:attrNameLst>
                                      </p:cBhvr>
                                      <p:tavLst>
                                        <p:tav tm="0">
                                          <p:val>
                                            <p:strVal val="#ppt_x"/>
                                          </p:val>
                                        </p:tav>
                                        <p:tav tm="100000">
                                          <p:val>
                                            <p:strVal val="#ppt_x"/>
                                          </p:val>
                                        </p:tav>
                                      </p:tavLst>
                                    </p:anim>
                                    <p:anim calcmode="lin" valueType="num">
                                      <p:cBhvr>
                                        <p:cTn id="3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1000"/>
                                        <p:tgtEl>
                                          <p:spTgt spid="19"/>
                                        </p:tgtEl>
                                      </p:cBhvr>
                                    </p:animEffect>
                                    <p:anim calcmode="lin" valueType="num">
                                      <p:cBhvr>
                                        <p:cTn id="36" dur="1000" fill="hold"/>
                                        <p:tgtEl>
                                          <p:spTgt spid="19"/>
                                        </p:tgtEl>
                                        <p:attrNameLst>
                                          <p:attrName>ppt_x</p:attrName>
                                        </p:attrNameLst>
                                      </p:cBhvr>
                                      <p:tavLst>
                                        <p:tav tm="0">
                                          <p:val>
                                            <p:strVal val="#ppt_x"/>
                                          </p:val>
                                        </p:tav>
                                        <p:tav tm="100000">
                                          <p:val>
                                            <p:strVal val="#ppt_x"/>
                                          </p:val>
                                        </p:tav>
                                      </p:tavLst>
                                    </p:anim>
                                    <p:anim calcmode="lin" valueType="num">
                                      <p:cBhvr>
                                        <p:cTn id="37"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16</a:t>
            </a:fld>
            <a:endParaRPr lang="en-US"/>
          </a:p>
        </p:txBody>
      </p:sp>
      <p:sp>
        <p:nvSpPr>
          <p:cNvPr id="9" name="Text Box 36"/>
          <p:cNvSpPr txBox="1">
            <a:spLocks noChangeArrowheads="1"/>
          </p:cNvSpPr>
          <p:nvPr/>
        </p:nvSpPr>
        <p:spPr bwMode="auto">
          <a:xfrm>
            <a:off x="1371600" y="1164848"/>
            <a:ext cx="7391400"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mtClean="0">
                <a:solidFill>
                  <a:srgbClr val="FF0000"/>
                </a:solidFill>
                <a:latin typeface="Times New Roman"/>
                <a:cs typeface="Times New Roman"/>
              </a:rPr>
              <a:t>a. Cách mạng giải phóng dân tộc muốn thắng lợi                   phải đi theo con đường cách mạng vô sản</a:t>
            </a:r>
            <a:endParaRPr lang="en-US" sz="2500" dirty="0">
              <a:solidFill>
                <a:srgbClr val="FF0000"/>
              </a:solidFill>
              <a:latin typeface="Times New Roman"/>
              <a:cs typeface="Times New Roman"/>
            </a:endParaRP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5466735" y="2667000"/>
            <a:ext cx="3524865" cy="2400657"/>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3000" smtClean="0">
                <a:solidFill>
                  <a:srgbClr val="002060"/>
                </a:solidFill>
                <a:latin typeface="Times New Roman"/>
                <a:cs typeface="Times New Roman"/>
              </a:rPr>
              <a:t>“Muốn cứu nước và giải phóng dân tộc không có con đường nào khác con đường cách mạng vô sản”</a:t>
            </a:r>
            <a:endParaRPr lang="en-US" sz="3000" dirty="0">
              <a:solidFill>
                <a:srgbClr val="002060"/>
              </a:solidFill>
              <a:latin typeface="Times New Roman"/>
              <a:cs typeface="Times New Roman"/>
            </a:endParaRPr>
          </a:p>
        </p:txBody>
      </p:sp>
      <p:pic>
        <p:nvPicPr>
          <p:cNvPr id="4098" name="Picture 2" descr="https://hochiminh.vn/Uploads/2020/11/6/25/hcm-th%C4%83m-chi%E1%BA%BFn-h%E1%BA%A1m-r%E1%BA%A1ng-%C4%91%C3%B4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590800"/>
            <a:ext cx="4136790" cy="2482074"/>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0"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2" name="Rectangle 11"/>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0372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098"/>
                                        </p:tgtEl>
                                        <p:attrNameLst>
                                          <p:attrName>style.visibility</p:attrName>
                                        </p:attrNameLst>
                                      </p:cBhvr>
                                      <p:to>
                                        <p:strVal val="visible"/>
                                      </p:to>
                                    </p:set>
                                    <p:animEffect transition="in" filter="fade">
                                      <p:cBhvr>
                                        <p:cTn id="12" dur="1000"/>
                                        <p:tgtEl>
                                          <p:spTgt spid="4098"/>
                                        </p:tgtEl>
                                      </p:cBhvr>
                                    </p:animEffect>
                                    <p:anim calcmode="lin" valueType="num">
                                      <p:cBhvr>
                                        <p:cTn id="13" dur="1000" fill="hold"/>
                                        <p:tgtEl>
                                          <p:spTgt spid="4098"/>
                                        </p:tgtEl>
                                        <p:attrNameLst>
                                          <p:attrName>ppt_x</p:attrName>
                                        </p:attrNameLst>
                                      </p:cBhvr>
                                      <p:tavLst>
                                        <p:tav tm="0">
                                          <p:val>
                                            <p:strVal val="#ppt_x"/>
                                          </p:val>
                                        </p:tav>
                                        <p:tav tm="100000">
                                          <p:val>
                                            <p:strVal val="#ppt_x"/>
                                          </p:val>
                                        </p:tav>
                                      </p:tavLst>
                                    </p:anim>
                                    <p:anim calcmode="lin" valueType="num">
                                      <p:cBhvr>
                                        <p:cTn id="14" dur="1000" fill="hold"/>
                                        <p:tgtEl>
                                          <p:spTgt spid="40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17</a:t>
            </a:fld>
            <a:endParaRPr lang="en-US"/>
          </a:p>
        </p:txBody>
      </p:sp>
      <p:sp>
        <p:nvSpPr>
          <p:cNvPr id="9" name="Text Box 36"/>
          <p:cNvSpPr txBox="1">
            <a:spLocks noChangeArrowheads="1"/>
          </p:cNvSpPr>
          <p:nvPr/>
        </p:nvSpPr>
        <p:spPr bwMode="auto">
          <a:xfrm>
            <a:off x="1371600" y="1164848"/>
            <a:ext cx="7391400"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pc="-150" smtClean="0">
                <a:solidFill>
                  <a:srgbClr val="FF0000"/>
                </a:solidFill>
                <a:latin typeface="Times New Roman"/>
                <a:cs typeface="Times New Roman"/>
              </a:rPr>
              <a:t>b. Cách </a:t>
            </a:r>
            <a:r>
              <a:rPr lang="en-US" sz="2500" spc="-150">
                <a:solidFill>
                  <a:srgbClr val="FF0000"/>
                </a:solidFill>
                <a:latin typeface="Times New Roman"/>
                <a:cs typeface="Times New Roman"/>
              </a:rPr>
              <a:t>mạng giải phóng dân tộc, trong điều kiện                                          của  Việt Nam, muốn thắng lợi phải do Đảng Cộng sản lãnh đạo</a:t>
            </a:r>
            <a:endParaRPr lang="en-US" sz="2500" spc="-150" dirty="0">
              <a:solidFill>
                <a:srgbClr val="FF0000"/>
              </a:solidFill>
              <a:latin typeface="Times New Roman"/>
              <a:cs typeface="Times New Roman"/>
            </a:endParaRP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5000933" y="2286000"/>
            <a:ext cx="3914467" cy="37856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400" smtClean="0">
                <a:solidFill>
                  <a:srgbClr val="002060"/>
                </a:solidFill>
                <a:latin typeface="Times New Roman"/>
                <a:cs typeface="Times New Roman"/>
              </a:rPr>
              <a:t>“</a:t>
            </a:r>
            <a:r>
              <a:rPr lang="vi-VN" sz="2400" smtClean="0">
                <a:solidFill>
                  <a:srgbClr val="002060"/>
                </a:solidFill>
                <a:latin typeface="Times New Roman"/>
                <a:cs typeface="Times New Roman"/>
              </a:rPr>
              <a:t>Cách </a:t>
            </a:r>
            <a:r>
              <a:rPr lang="vi-VN" sz="2400">
                <a:solidFill>
                  <a:srgbClr val="002060"/>
                </a:solidFill>
                <a:latin typeface="Times New Roman"/>
                <a:cs typeface="Times New Roman"/>
              </a:rPr>
              <a:t>mệnh trước hết phải có cái gì? Trước hết phải có đảng cách mệnh, để trong thì vận động và tổ </a:t>
            </a:r>
            <a:r>
              <a:rPr lang="vi-VN" sz="2400" smtClean="0">
                <a:solidFill>
                  <a:srgbClr val="002060"/>
                </a:solidFill>
                <a:latin typeface="Times New Roman"/>
                <a:cs typeface="Times New Roman"/>
              </a:rPr>
              <a:t>chức </a:t>
            </a:r>
            <a:r>
              <a:rPr lang="vi-VN" sz="2400">
                <a:solidFill>
                  <a:srgbClr val="002060"/>
                </a:solidFill>
                <a:latin typeface="Times New Roman"/>
                <a:cs typeface="Times New Roman"/>
              </a:rPr>
              <a:t>dân chúng, ngoài thì liên lạc với dân tộc bị áp bức và vô sản giai cấp mọi nơi. Đảng có vững cách mệnh mới thành công, cũng như người cầm lái có vững thuyền mới </a:t>
            </a:r>
            <a:r>
              <a:rPr lang="vi-VN" sz="2400" smtClean="0">
                <a:solidFill>
                  <a:srgbClr val="002060"/>
                </a:solidFill>
                <a:latin typeface="Times New Roman"/>
                <a:cs typeface="Times New Roman"/>
              </a:rPr>
              <a:t>chạy</a:t>
            </a:r>
            <a:r>
              <a:rPr lang="en-US" sz="2400" smtClean="0">
                <a:solidFill>
                  <a:srgbClr val="002060"/>
                </a:solidFill>
                <a:latin typeface="Times New Roman"/>
                <a:cs typeface="Times New Roman"/>
              </a:rPr>
              <a:t>”</a:t>
            </a:r>
            <a:r>
              <a:rPr lang="vi-VN" sz="2400" smtClean="0">
                <a:solidFill>
                  <a:srgbClr val="002060"/>
                </a:solidFill>
                <a:latin typeface="Times New Roman"/>
                <a:cs typeface="Times New Roman"/>
              </a:rPr>
              <a:t>. </a:t>
            </a:r>
            <a:endParaRPr lang="en-US" sz="2400" dirty="0">
              <a:solidFill>
                <a:srgbClr val="002060"/>
              </a:solidFill>
              <a:latin typeface="Times New Roman"/>
              <a:cs typeface="Times New Roman"/>
            </a:endParaRPr>
          </a:p>
        </p:txBody>
      </p:sp>
      <p:pic>
        <p:nvPicPr>
          <p:cNvPr id="7170" name="Picture 2" descr="https://hochiminh.vn/Uploads/2021/2/6/8/Vai_tro_Nguyen_Ai_Quoc.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9165" y="2816747"/>
            <a:ext cx="3419035" cy="235482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0"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2" name="Rectangle 11"/>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340837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1000"/>
                                        <p:tgtEl>
                                          <p:spTgt spid="7170"/>
                                        </p:tgtEl>
                                      </p:cBhvr>
                                    </p:animEffect>
                                    <p:anim calcmode="lin" valueType="num">
                                      <p:cBhvr>
                                        <p:cTn id="8" dur="1000" fill="hold"/>
                                        <p:tgtEl>
                                          <p:spTgt spid="7170"/>
                                        </p:tgtEl>
                                        <p:attrNameLst>
                                          <p:attrName>ppt_x</p:attrName>
                                        </p:attrNameLst>
                                      </p:cBhvr>
                                      <p:tavLst>
                                        <p:tav tm="0">
                                          <p:val>
                                            <p:strVal val="#ppt_x"/>
                                          </p:val>
                                        </p:tav>
                                        <p:tav tm="100000">
                                          <p:val>
                                            <p:strVal val="#ppt_x"/>
                                          </p:val>
                                        </p:tav>
                                      </p:tavLst>
                                    </p:anim>
                                    <p:anim calcmode="lin" valueType="num">
                                      <p:cBhvr>
                                        <p:cTn id="9" dur="1000" fill="hold"/>
                                        <p:tgtEl>
                                          <p:spTgt spid="717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18</a:t>
            </a:fld>
            <a:endParaRPr lang="en-US"/>
          </a:p>
        </p:txBody>
      </p:sp>
      <p:sp>
        <p:nvSpPr>
          <p:cNvPr id="9" name="Text Box 36"/>
          <p:cNvSpPr txBox="1">
            <a:spLocks noChangeArrowheads="1"/>
          </p:cNvSpPr>
          <p:nvPr/>
        </p:nvSpPr>
        <p:spPr bwMode="auto">
          <a:xfrm>
            <a:off x="1371600" y="1164848"/>
            <a:ext cx="7391400"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pc="-150" smtClean="0">
                <a:solidFill>
                  <a:srgbClr val="FF0000"/>
                </a:solidFill>
                <a:latin typeface="Times New Roman"/>
                <a:cs typeface="Times New Roman"/>
              </a:rPr>
              <a:t>c. </a:t>
            </a:r>
            <a:r>
              <a:rPr lang="en-US" sz="2500" spc="-150">
                <a:solidFill>
                  <a:srgbClr val="FF0000"/>
                </a:solidFill>
                <a:latin typeface="Times New Roman"/>
                <a:cs typeface="Times New Roman"/>
              </a:rPr>
              <a:t>Cách mạng giải phóng dân tộc phải dựa trên lực lượng </a:t>
            </a:r>
            <a:r>
              <a:rPr lang="en-US" sz="2500" spc="-150" smtClean="0">
                <a:solidFill>
                  <a:srgbClr val="FF0000"/>
                </a:solidFill>
                <a:latin typeface="Times New Roman"/>
                <a:cs typeface="Times New Roman"/>
              </a:rPr>
              <a:t>                      đại </a:t>
            </a:r>
            <a:r>
              <a:rPr lang="en-US" sz="2500" spc="-150">
                <a:solidFill>
                  <a:srgbClr val="FF0000"/>
                </a:solidFill>
                <a:latin typeface="Times New Roman"/>
                <a:cs typeface="Times New Roman"/>
              </a:rPr>
              <a:t>đoàn kết toàn dân tộc, lấy liên minh công – nông làm nền tảng</a:t>
            </a: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4800601" y="2286000"/>
            <a:ext cx="4191000" cy="37856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400" smtClean="0">
                <a:solidFill>
                  <a:srgbClr val="002060"/>
                </a:solidFill>
                <a:latin typeface="Times New Roman"/>
                <a:cs typeface="Times New Roman"/>
              </a:rPr>
              <a:t>“cách mệnh là việc chung cả dân chúng chứ không phải việc một hai người”</a:t>
            </a:r>
          </a:p>
          <a:p>
            <a:pPr algn="just"/>
            <a:endParaRPr lang="en-US" sz="2400" smtClean="0">
              <a:solidFill>
                <a:srgbClr val="002060"/>
              </a:solidFill>
              <a:latin typeface="Times New Roman"/>
              <a:cs typeface="Times New Roman"/>
            </a:endParaRPr>
          </a:p>
          <a:p>
            <a:pPr algn="just"/>
            <a:r>
              <a:rPr lang="en-US" sz="2400" smtClean="0">
                <a:solidFill>
                  <a:srgbClr val="002060"/>
                </a:solidFill>
                <a:latin typeface="Times New Roman"/>
                <a:cs typeface="Times New Roman"/>
              </a:rPr>
              <a:t>“Bất kỳ đàn ông, đàn bà, bất kỳ người già, người trẻ, không chia tôn giáo, đảng phái, dân tộc. Hễ là người Việt Nam thì phải đứng lên đánh thực dân Pháp để cứu Tổ quốc”</a:t>
            </a:r>
            <a:endParaRPr lang="en-US" sz="2400" dirty="0">
              <a:solidFill>
                <a:srgbClr val="002060"/>
              </a:solidFill>
              <a:latin typeface="Times New Roman"/>
              <a:cs typeface="Times New Roman"/>
            </a:endParaRPr>
          </a:p>
        </p:txBody>
      </p:sp>
      <p:pic>
        <p:nvPicPr>
          <p:cNvPr id="8194" name="Picture 2" descr="https://baobinhduong.vn/image/fckeditor/upload/2020/20200116/images/t5x.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52599" y="2281084"/>
            <a:ext cx="2590801" cy="353158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0"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2" name="Rectangle 11"/>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430528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1000"/>
                                        <p:tgtEl>
                                          <p:spTgt spid="15">
                                            <p:txEl>
                                              <p:pRg st="0" end="0"/>
                                            </p:txEl>
                                          </p:spTgt>
                                        </p:tgtEl>
                                      </p:cBhvr>
                                    </p:animEffect>
                                    <p:anim calcmode="lin" valueType="num">
                                      <p:cBhvr>
                                        <p:cTn id="8"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2" end="2"/>
                                            </p:txEl>
                                          </p:spTgt>
                                        </p:tgtEl>
                                        <p:attrNameLst>
                                          <p:attrName>style.visibility</p:attrName>
                                        </p:attrNameLst>
                                      </p:cBhvr>
                                      <p:to>
                                        <p:strVal val="visible"/>
                                      </p:to>
                                    </p:set>
                                    <p:animEffect transition="in" filter="fade">
                                      <p:cBhvr>
                                        <p:cTn id="14" dur="1000"/>
                                        <p:tgtEl>
                                          <p:spTgt spid="15">
                                            <p:txEl>
                                              <p:pRg st="2" end="2"/>
                                            </p:txEl>
                                          </p:spTgt>
                                        </p:tgtEl>
                                      </p:cBhvr>
                                    </p:animEffect>
                                    <p:anim calcmode="lin" valueType="num">
                                      <p:cBhvr>
                                        <p:cTn id="15"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19</a:t>
            </a:fld>
            <a:endParaRPr lang="en-US"/>
          </a:p>
        </p:txBody>
      </p:sp>
      <p:sp>
        <p:nvSpPr>
          <p:cNvPr id="9" name="Text Box 36"/>
          <p:cNvSpPr txBox="1">
            <a:spLocks noChangeArrowheads="1"/>
          </p:cNvSpPr>
          <p:nvPr/>
        </p:nvSpPr>
        <p:spPr bwMode="auto">
          <a:xfrm>
            <a:off x="1371600" y="1164848"/>
            <a:ext cx="7391400"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pc="-150" smtClean="0">
                <a:solidFill>
                  <a:srgbClr val="FF0000"/>
                </a:solidFill>
                <a:latin typeface="Times New Roman"/>
                <a:cs typeface="Times New Roman"/>
              </a:rPr>
              <a:t>d. </a:t>
            </a:r>
            <a:r>
              <a:rPr lang="en-US" sz="2500" spc="-150">
                <a:solidFill>
                  <a:srgbClr val="FF0000"/>
                </a:solidFill>
                <a:latin typeface="Times New Roman"/>
                <a:cs typeface="Times New Roman"/>
              </a:rPr>
              <a:t>Cách mạng giải phóng dân tộc cần chủ động, sáng tạo,                              có khả năng giành thắng lợi trước cách mạng vô sản ở chính quốc</a:t>
            </a: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4800601" y="2057400"/>
            <a:ext cx="4191000" cy="4524315"/>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400" smtClean="0">
                <a:solidFill>
                  <a:srgbClr val="002060"/>
                </a:solidFill>
                <a:latin typeface="Times New Roman"/>
                <a:cs typeface="Times New Roman"/>
              </a:rPr>
              <a:t>“</a:t>
            </a:r>
            <a:r>
              <a:rPr lang="vi-VN" sz="2400" smtClean="0">
                <a:solidFill>
                  <a:srgbClr val="002060"/>
                </a:solidFill>
                <a:latin typeface="Times New Roman"/>
                <a:cs typeface="Times New Roman"/>
              </a:rPr>
              <a:t>Chủ </a:t>
            </a:r>
            <a:r>
              <a:rPr lang="vi-VN" sz="2400">
                <a:solidFill>
                  <a:srgbClr val="002060"/>
                </a:solidFill>
                <a:latin typeface="Times New Roman"/>
                <a:cs typeface="Times New Roman"/>
              </a:rPr>
              <a:t>nghĩa tư bản là một con đỉa có một cái vòi bám vào giai cấp vô sản ở chính quốc và một cái vòi khác bám vào giai cấp vô sản ở thuộc địa. Nếu muốn giết con vật ấy, người ta phải đồng thời cắt cả hai vòi. Nếu người ta chỉ cắt một vòi thôi, thì cái vòi còn lại kia vẫn tiếp tục hút máu của giai cấp vô sản, con vật vẫn tiếp tục sống và cái vòi bị cắt đứt lại sẽ mọc </a:t>
            </a:r>
            <a:r>
              <a:rPr lang="vi-VN" sz="2400" smtClean="0">
                <a:solidFill>
                  <a:srgbClr val="002060"/>
                </a:solidFill>
                <a:latin typeface="Times New Roman"/>
                <a:cs typeface="Times New Roman"/>
              </a:rPr>
              <a:t>ra</a:t>
            </a:r>
            <a:r>
              <a:rPr lang="en-US" sz="2400" smtClean="0">
                <a:solidFill>
                  <a:srgbClr val="002060"/>
                </a:solidFill>
                <a:latin typeface="Times New Roman"/>
                <a:cs typeface="Times New Roman"/>
              </a:rPr>
              <a:t>”</a:t>
            </a:r>
            <a:r>
              <a:rPr lang="vi-VN" sz="2400" smtClean="0">
                <a:solidFill>
                  <a:srgbClr val="002060"/>
                </a:solidFill>
                <a:latin typeface="Times New Roman"/>
                <a:cs typeface="Times New Roman"/>
              </a:rPr>
              <a:t>. </a:t>
            </a:r>
            <a:endParaRPr lang="en-US" sz="2400" dirty="0">
              <a:solidFill>
                <a:srgbClr val="002060"/>
              </a:solidFill>
              <a:latin typeface="Times New Roman"/>
              <a:cs typeface="Times New Roman"/>
            </a:endParaRPr>
          </a:p>
        </p:txBody>
      </p:sp>
      <p:pic>
        <p:nvPicPr>
          <p:cNvPr id="9220" name="Picture 4" descr="Chủ tịch Hồ Chí Minh trên đài quan sát mặt trận Đông Khê, chiến dịch Biên Giới, ngày 16/9/1950. Ảnh: Vũ Năng An - nhiếp ảnh riêng của Bộ Tổng Tư lệ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7318" y="2764769"/>
            <a:ext cx="3437082" cy="226443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825640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20</a:t>
            </a:fld>
            <a:endParaRPr lang="en-US"/>
          </a:p>
        </p:txBody>
      </p:sp>
      <p:sp>
        <p:nvSpPr>
          <p:cNvPr id="9" name="Text Box 36"/>
          <p:cNvSpPr txBox="1">
            <a:spLocks noChangeArrowheads="1"/>
          </p:cNvSpPr>
          <p:nvPr/>
        </p:nvSpPr>
        <p:spPr bwMode="auto">
          <a:xfrm>
            <a:off x="1371600" y="1164848"/>
            <a:ext cx="7391400"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mtClean="0">
                <a:solidFill>
                  <a:srgbClr val="FF0000"/>
                </a:solidFill>
                <a:latin typeface="Times New Roman"/>
                <a:cs typeface="Times New Roman"/>
              </a:rPr>
              <a:t>e. </a:t>
            </a:r>
            <a:r>
              <a:rPr lang="en-US" sz="2500">
                <a:solidFill>
                  <a:srgbClr val="FF0000"/>
                </a:solidFill>
                <a:latin typeface="Times New Roman"/>
                <a:cs typeface="Times New Roman"/>
              </a:rPr>
              <a:t>Cách mạng giải phóng dân tộc phải được tiến hành            bằng phương pháp bạo lực cách mạng</a:t>
            </a: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4800601" y="2339876"/>
            <a:ext cx="4191000" cy="3349956"/>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lnSpc>
                <a:spcPct val="150000"/>
              </a:lnSpc>
            </a:pPr>
            <a:r>
              <a:rPr lang="en-US" sz="2400" smtClean="0">
                <a:solidFill>
                  <a:srgbClr val="002060"/>
                </a:solidFill>
                <a:latin typeface="Times New Roman"/>
                <a:cs typeface="Times New Roman"/>
              </a:rPr>
              <a:t>“</a:t>
            </a:r>
            <a:r>
              <a:rPr lang="vi-VN" sz="2400" smtClean="0">
                <a:solidFill>
                  <a:srgbClr val="002060"/>
                </a:solidFill>
                <a:latin typeface="Times New Roman"/>
                <a:cs typeface="Times New Roman"/>
              </a:rPr>
              <a:t>Trong </a:t>
            </a:r>
            <a:r>
              <a:rPr lang="vi-VN" sz="2400">
                <a:solidFill>
                  <a:srgbClr val="002060"/>
                </a:solidFill>
                <a:latin typeface="Times New Roman"/>
                <a:cs typeface="Times New Roman"/>
              </a:rPr>
              <a:t>cuộc đấu tranh gian khổ chống kẻ thù của giai cấp và của dân tộc, cần dùng bạo lực cách mạng chống lại bạo lực phản cách mạng, giành lấy chính quyền và bảo vệ chính </a:t>
            </a:r>
            <a:r>
              <a:rPr lang="vi-VN" sz="2400" smtClean="0">
                <a:solidFill>
                  <a:srgbClr val="002060"/>
                </a:solidFill>
                <a:latin typeface="Times New Roman"/>
                <a:cs typeface="Times New Roman"/>
              </a:rPr>
              <a:t>quyền</a:t>
            </a:r>
            <a:r>
              <a:rPr lang="en-US" sz="2400" smtClean="0">
                <a:solidFill>
                  <a:srgbClr val="002060"/>
                </a:solidFill>
                <a:latin typeface="Times New Roman"/>
                <a:cs typeface="Times New Roman"/>
              </a:rPr>
              <a:t>”.</a:t>
            </a:r>
            <a:endParaRPr lang="en-US" sz="2400" dirty="0">
              <a:solidFill>
                <a:srgbClr val="002060"/>
              </a:solidFill>
              <a:latin typeface="Times New Roman"/>
              <a:cs typeface="Times New Roman"/>
            </a:endParaRPr>
          </a:p>
        </p:txBody>
      </p:sp>
      <p:pic>
        <p:nvPicPr>
          <p:cNvPr id="8" name="Picture 4" descr="Chủ tịch Hồ Chí Minh trên đài quan sát mặt trận Đông Khê, chiến dịch Biên Giới, ngày 16/9/1950. Ảnh: Vũ Năng An - nhiếp ảnh riêng của Bộ Tổng Tư lệ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7318" y="3131005"/>
            <a:ext cx="3437082" cy="226443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2"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4" name="Rectangle 13"/>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8"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a:solidFill>
                  <a:srgbClr val="CC0099"/>
                </a:solidFill>
                <a:latin typeface="Times New Roman" pitchFamily="18" charset="0"/>
                <a:cs typeface="Times New Roman" pitchFamily="18" charset="0"/>
              </a:rPr>
              <a:t>Chương</a:t>
            </a:r>
            <a:r>
              <a:rPr lang="en-US" sz="3000" b="1" dirty="0">
                <a:solidFill>
                  <a:srgbClr val="CC0099"/>
                </a:solidFill>
                <a:latin typeface="Times New Roman" pitchFamily="18" charset="0"/>
                <a:cs typeface="Times New Roman" pitchFamily="18" charset="0"/>
              </a:rPr>
              <a:t> </a:t>
            </a:r>
            <a:r>
              <a:rPr lang="en-US" sz="3000" b="1" dirty="0" smtClean="0">
                <a:solidFill>
                  <a:srgbClr val="CC0099"/>
                </a:solidFill>
                <a:latin typeface="Times New Roman" pitchFamily="18" charset="0"/>
                <a:cs typeface="Times New Roman" pitchFamily="18" charset="0"/>
              </a:rPr>
              <a:t>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61385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21</a:t>
            </a:fld>
            <a:endParaRPr lang="en-US"/>
          </a:p>
        </p:txBody>
      </p:sp>
      <p:sp>
        <p:nvSpPr>
          <p:cNvPr id="7" name="Title 1"/>
          <p:cNvSpPr txBox="1">
            <a:spLocks/>
          </p:cNvSpPr>
          <p:nvPr/>
        </p:nvSpPr>
        <p:spPr>
          <a:xfrm>
            <a:off x="381000" y="30099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smtClean="0">
                <a:solidFill>
                  <a:srgbClr val="FF0000"/>
                </a:solidFill>
                <a:latin typeface="Times New Roman" pitchFamily="18" charset="0"/>
                <a:cs typeface="Times New Roman" pitchFamily="18" charset="0"/>
              </a:rPr>
              <a:t>II. TƯ TƯỞNG HỒ CHÍ MINH</a:t>
            </a:r>
          </a:p>
          <a:p>
            <a:pPr>
              <a:lnSpc>
                <a:spcPct val="150000"/>
              </a:lnSpc>
            </a:pPr>
            <a:r>
              <a:rPr lang="en-US" sz="3000" b="1" smtClean="0">
                <a:solidFill>
                  <a:srgbClr val="FF0000"/>
                </a:solidFill>
                <a:latin typeface="Times New Roman" pitchFamily="18" charset="0"/>
                <a:cs typeface="Times New Roman" pitchFamily="18" charset="0"/>
              </a:rPr>
              <a:t>VỀ CHỦ NGHĨA XÃ HỘI VÀ XÂY DỰNG </a:t>
            </a:r>
          </a:p>
          <a:p>
            <a:pPr>
              <a:lnSpc>
                <a:spcPct val="150000"/>
              </a:lnSpc>
            </a:pPr>
            <a:r>
              <a:rPr lang="en-US" sz="3000" b="1" smtClean="0">
                <a:solidFill>
                  <a:srgbClr val="FF0000"/>
                </a:solidFill>
                <a:latin typeface="Times New Roman" pitchFamily="18" charset="0"/>
                <a:cs typeface="Times New Roman" pitchFamily="18" charset="0"/>
              </a:rPr>
              <a:t>CHỦ NGHĨA XÃ HỘI Ở VIỆT NAM</a:t>
            </a:r>
            <a:endParaRPr lang="en-US" sz="3000" b="1" dirty="0">
              <a:solidFill>
                <a:srgbClr val="FF0000"/>
              </a:solidFill>
              <a:latin typeface="Times New Roman" pitchFamily="18" charset="0"/>
              <a:cs typeface="Times New Roman" pitchFamily="18" charset="0"/>
            </a:endParaRP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8" name="Rectangle 7"/>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6535727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9/12/2025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22</a:t>
            </a:fld>
            <a:endParaRPr lang="en-US"/>
          </a:p>
        </p:txBody>
      </p:sp>
      <p:sp>
        <p:nvSpPr>
          <p:cNvPr id="10" name="Text Box 36"/>
          <p:cNvSpPr txBox="1">
            <a:spLocks noChangeArrowheads="1"/>
          </p:cNvSpPr>
          <p:nvPr/>
        </p:nvSpPr>
        <p:spPr bwMode="auto">
          <a:xfrm>
            <a:off x="152400" y="2830908"/>
            <a:ext cx="1928980" cy="120032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600" b="1" dirty="0" err="1" smtClean="0">
                <a:solidFill>
                  <a:srgbClr val="FF0000"/>
                </a:solidFill>
                <a:latin typeface="Times New Roman"/>
                <a:cs typeface="Times New Roman"/>
              </a:rPr>
              <a:t>Nội</a:t>
            </a:r>
            <a:r>
              <a:rPr lang="en-US" sz="3600" b="1" dirty="0" smtClean="0">
                <a:solidFill>
                  <a:srgbClr val="FF0000"/>
                </a:solidFill>
                <a:latin typeface="Times New Roman"/>
                <a:cs typeface="Times New Roman"/>
              </a:rPr>
              <a:t> dung</a:t>
            </a:r>
            <a:endParaRPr lang="en-US" sz="3600" b="1" dirty="0">
              <a:solidFill>
                <a:srgbClr val="FF0000"/>
              </a:solidFill>
              <a:latin typeface="Times New Roman"/>
              <a:cs typeface="Times New Roman"/>
            </a:endParaRPr>
          </a:p>
        </p:txBody>
      </p:sp>
      <p:sp>
        <p:nvSpPr>
          <p:cNvPr id="11" name="Text Box 36"/>
          <p:cNvSpPr txBox="1">
            <a:spLocks noChangeArrowheads="1"/>
          </p:cNvSpPr>
          <p:nvPr/>
        </p:nvSpPr>
        <p:spPr bwMode="auto">
          <a:xfrm>
            <a:off x="2980235" y="1524000"/>
            <a:ext cx="4030165"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1. Tư tưởng Hồ Chí Minh </a:t>
            </a:r>
          </a:p>
          <a:p>
            <a:pPr algn="ctr"/>
            <a:r>
              <a:rPr lang="en-US" sz="2600" smtClean="0">
                <a:solidFill>
                  <a:srgbClr val="FF0000"/>
                </a:solidFill>
                <a:latin typeface="Times New Roman"/>
                <a:cs typeface="Times New Roman"/>
              </a:rPr>
              <a:t>về chủ nghĩa xã hội</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245312" y="4829681"/>
            <a:ext cx="5441488"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smtClean="0">
                <a:solidFill>
                  <a:srgbClr val="FF0000"/>
                </a:solidFill>
                <a:latin typeface="Times New Roman"/>
                <a:cs typeface="Times New Roman"/>
              </a:rPr>
              <a:t>2. </a:t>
            </a: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Hồ</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Chí</a:t>
            </a:r>
            <a:r>
              <a:rPr lang="en-US" sz="2600" dirty="0" smtClean="0">
                <a:solidFill>
                  <a:srgbClr val="FF0000"/>
                </a:solidFill>
                <a:latin typeface="Times New Roman"/>
                <a:cs typeface="Times New Roman"/>
              </a:rPr>
              <a:t> Minh </a:t>
            </a:r>
            <a:r>
              <a:rPr lang="en-US" sz="2600" dirty="0" err="1" smtClean="0">
                <a:solidFill>
                  <a:srgbClr val="FF0000"/>
                </a:solidFill>
                <a:latin typeface="Times New Roman"/>
                <a:cs typeface="Times New Roman"/>
              </a:rPr>
              <a:t>về</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xây</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dựng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chủ</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nghĩa</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xã</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hội</a:t>
            </a:r>
            <a:r>
              <a:rPr lang="en-US" sz="2600" dirty="0" smtClean="0">
                <a:solidFill>
                  <a:srgbClr val="FF0000"/>
                </a:solidFill>
                <a:latin typeface="Times New Roman"/>
                <a:cs typeface="Times New Roman"/>
              </a:rPr>
              <a:t> ở </a:t>
            </a:r>
            <a:r>
              <a:rPr lang="en-US" sz="2600" dirty="0" err="1" smtClean="0">
                <a:solidFill>
                  <a:srgbClr val="FF0000"/>
                </a:solidFill>
                <a:latin typeface="Times New Roman"/>
                <a:cs typeface="Times New Roman"/>
              </a:rPr>
              <a:t>Việt</a:t>
            </a:r>
            <a:r>
              <a:rPr lang="en-US" sz="2600" dirty="0" smtClean="0">
                <a:solidFill>
                  <a:srgbClr val="FF0000"/>
                </a:solidFill>
                <a:latin typeface="Times New Roman"/>
                <a:cs typeface="Times New Roman"/>
              </a:rPr>
              <a:t> Nam</a:t>
            </a:r>
            <a:endParaRPr lang="en-US" sz="2600" dirty="0">
              <a:solidFill>
                <a:srgbClr val="FF0000"/>
              </a:solidFill>
              <a:latin typeface="Times New Roman"/>
              <a:cs typeface="Times New Roman"/>
            </a:endParaRPr>
          </a:p>
        </p:txBody>
      </p:sp>
      <p:cxnSp>
        <p:nvCxnSpPr>
          <p:cNvPr id="14" name="Straight Connector 13"/>
          <p:cNvCxnSpPr/>
          <p:nvPr/>
        </p:nvCxnSpPr>
        <p:spPr>
          <a:xfrm>
            <a:off x="1714544" y="3505200"/>
            <a:ext cx="46805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174308" y="1905000"/>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143838" y="1882074"/>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143837" y="5075903"/>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20" name="Rectangle 19"/>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93292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1000"/>
                                        <p:tgtEl>
                                          <p:spTgt spid="19"/>
                                        </p:tgtEl>
                                      </p:cBhvr>
                                    </p:animEffect>
                                    <p:anim calcmode="lin" valueType="num">
                                      <p:cBhvr>
                                        <p:cTn id="30" dur="1000" fill="hold"/>
                                        <p:tgtEl>
                                          <p:spTgt spid="19"/>
                                        </p:tgtEl>
                                        <p:attrNameLst>
                                          <p:attrName>ppt_x</p:attrName>
                                        </p:attrNameLst>
                                      </p:cBhvr>
                                      <p:tavLst>
                                        <p:tav tm="0">
                                          <p:val>
                                            <p:strVal val="#ppt_x"/>
                                          </p:val>
                                        </p:tav>
                                        <p:tav tm="100000">
                                          <p:val>
                                            <p:strVal val="#ppt_x"/>
                                          </p:val>
                                        </p:tav>
                                      </p:tavLst>
                                    </p:anim>
                                    <p:anim calcmode="lin" valueType="num">
                                      <p:cBhvr>
                                        <p:cTn id="31" dur="1000" fill="hold"/>
                                        <p:tgtEl>
                                          <p:spTgt spid="19"/>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23</a:t>
            </a:fld>
            <a:endParaRPr lang="en-US"/>
          </a:p>
        </p:txBody>
      </p:sp>
      <p:sp>
        <p:nvSpPr>
          <p:cNvPr id="7" name="Title 1"/>
          <p:cNvSpPr txBox="1">
            <a:spLocks/>
          </p:cNvSpPr>
          <p:nvPr/>
        </p:nvSpPr>
        <p:spPr>
          <a:xfrm>
            <a:off x="381000" y="30099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4400" b="1" smtClean="0">
                <a:solidFill>
                  <a:srgbClr val="FF0000"/>
                </a:solidFill>
                <a:latin typeface="Times New Roman"/>
                <a:cs typeface="Times New Roman"/>
              </a:rPr>
              <a:t>1. Tư </a:t>
            </a:r>
            <a:r>
              <a:rPr lang="en-US" sz="4400" b="1">
                <a:solidFill>
                  <a:srgbClr val="FF0000"/>
                </a:solidFill>
                <a:latin typeface="Times New Roman"/>
                <a:cs typeface="Times New Roman"/>
              </a:rPr>
              <a:t>tưởng Hồ Chí Minh </a:t>
            </a:r>
            <a:endParaRPr lang="en-US" sz="4400" b="1" smtClean="0">
              <a:solidFill>
                <a:srgbClr val="FF0000"/>
              </a:solidFill>
              <a:latin typeface="Times New Roman"/>
              <a:cs typeface="Times New Roman"/>
            </a:endParaRPr>
          </a:p>
          <a:p>
            <a:pPr>
              <a:lnSpc>
                <a:spcPct val="150000"/>
              </a:lnSpc>
            </a:pPr>
            <a:r>
              <a:rPr lang="en-US" sz="4400" b="1" smtClean="0">
                <a:solidFill>
                  <a:srgbClr val="FF0000"/>
                </a:solidFill>
                <a:latin typeface="Times New Roman"/>
                <a:cs typeface="Times New Roman"/>
              </a:rPr>
              <a:t>về </a:t>
            </a:r>
            <a:r>
              <a:rPr lang="en-US" sz="4400" b="1">
                <a:solidFill>
                  <a:srgbClr val="FF0000"/>
                </a:solidFill>
                <a:latin typeface="Times New Roman"/>
                <a:cs typeface="Times New Roman"/>
              </a:rPr>
              <a:t>chủ nghĩa xã hội</a:t>
            </a:r>
            <a:endParaRPr lang="en-US" sz="4400" b="1" dirty="0">
              <a:solidFill>
                <a:srgbClr val="FF0000"/>
              </a:solidFill>
              <a:latin typeface="Times New Roman"/>
              <a:cs typeface="Times New Roman"/>
            </a:endParaRP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8" name="Rectangle 7"/>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59989080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24</a:t>
            </a:fld>
            <a:endParaRPr lang="en-US"/>
          </a:p>
        </p:txBody>
      </p:sp>
      <p:sp>
        <p:nvSpPr>
          <p:cNvPr id="9" name="Text Box 36"/>
          <p:cNvSpPr txBox="1">
            <a:spLocks noChangeArrowheads="1"/>
          </p:cNvSpPr>
          <p:nvPr/>
        </p:nvSpPr>
        <p:spPr bwMode="auto">
          <a:xfrm>
            <a:off x="1371600" y="1164848"/>
            <a:ext cx="7391400" cy="47705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mtClean="0">
                <a:solidFill>
                  <a:srgbClr val="FF0000"/>
                </a:solidFill>
                <a:latin typeface="Times New Roman"/>
                <a:cs typeface="Times New Roman"/>
              </a:rPr>
              <a:t>a. Quan niệm của Hồ Chí Minh về chủ nghĩa xã hội</a:t>
            </a:r>
            <a:endParaRPr lang="en-US" sz="2500">
              <a:solidFill>
                <a:srgbClr val="FF0000"/>
              </a:solidFill>
              <a:latin typeface="Times New Roman"/>
              <a:cs typeface="Times New Roman"/>
            </a:endParaRP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4800601" y="1828800"/>
            <a:ext cx="4191000" cy="390395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lnSpc>
                <a:spcPct val="150000"/>
              </a:lnSpc>
            </a:pPr>
            <a:r>
              <a:rPr lang="en-US" sz="2400" smtClean="0">
                <a:solidFill>
                  <a:srgbClr val="002060"/>
                </a:solidFill>
                <a:latin typeface="Times New Roman"/>
                <a:cs typeface="Times New Roman"/>
              </a:rPr>
              <a:t>“</a:t>
            </a:r>
            <a:r>
              <a:rPr lang="vi-VN" sz="2400" smtClean="0">
                <a:solidFill>
                  <a:srgbClr val="002060"/>
                </a:solidFill>
                <a:latin typeface="Times New Roman"/>
                <a:cs typeface="Times New Roman"/>
              </a:rPr>
              <a:t>Nói </a:t>
            </a:r>
            <a:r>
              <a:rPr lang="vi-VN" sz="2400">
                <a:solidFill>
                  <a:srgbClr val="002060"/>
                </a:solidFill>
                <a:latin typeface="Times New Roman"/>
                <a:cs typeface="Times New Roman"/>
              </a:rPr>
              <a:t>một cách tóm tắt, mộc mạc, chủ nghĩa xã hội trước hết nhằm làm cho nhân dân lao động thoát nạn bần cùng, làm cho mọi người có công ăn việc làm, được ấm no và sống một đời hạnh </a:t>
            </a:r>
            <a:r>
              <a:rPr lang="vi-VN" sz="2400" smtClean="0">
                <a:solidFill>
                  <a:srgbClr val="002060"/>
                </a:solidFill>
                <a:latin typeface="Times New Roman"/>
                <a:cs typeface="Times New Roman"/>
              </a:rPr>
              <a:t>phúc</a:t>
            </a:r>
            <a:r>
              <a:rPr lang="en-US" sz="2400" smtClean="0">
                <a:solidFill>
                  <a:srgbClr val="002060"/>
                </a:solidFill>
                <a:latin typeface="Times New Roman"/>
                <a:cs typeface="Times New Roman"/>
              </a:rPr>
              <a:t>”.</a:t>
            </a:r>
            <a:endParaRPr lang="en-US" sz="2400" dirty="0">
              <a:solidFill>
                <a:srgbClr val="002060"/>
              </a:solidFill>
              <a:latin typeface="Times New Roman"/>
              <a:cs typeface="Times New Roman"/>
            </a:endParaRPr>
          </a:p>
        </p:txBody>
      </p:sp>
      <p:sp>
        <p:nvSpPr>
          <p:cNvPr id="2" name="AutoShape 2" descr="bac ho va quyen con nguo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bac ho va quyen con nguo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bac ho va quyen con nguo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Ho Chi Minh voi viec khang dinh nhung gia tri cot lo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Ho Chi Minh voi viec khang dinh  nhung gia tri cot loi 2"/>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2" descr="https://tuyenquang.gov.vn/noidung/tintuc/PublishingImages/OldImages/images/Diep/TTHCM/bac-ho-y-thuc-dan-chu.jp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54" name="Picture 14" descr="https://cdn.nbtv.vn/upload/news/12_2019/6_1031372612201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1536" y="2833029"/>
            <a:ext cx="3376664" cy="2043771"/>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7" name="Rectangle 16"/>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4113575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25</a:t>
            </a:fld>
            <a:endParaRPr lang="en-US"/>
          </a:p>
        </p:txBody>
      </p:sp>
      <p:sp>
        <p:nvSpPr>
          <p:cNvPr id="9" name="Text Box 36"/>
          <p:cNvSpPr txBox="1">
            <a:spLocks noChangeArrowheads="1"/>
          </p:cNvSpPr>
          <p:nvPr/>
        </p:nvSpPr>
        <p:spPr bwMode="auto">
          <a:xfrm>
            <a:off x="1371600" y="1164848"/>
            <a:ext cx="7391400" cy="47705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mtClean="0">
                <a:solidFill>
                  <a:srgbClr val="FF0000"/>
                </a:solidFill>
                <a:latin typeface="Times New Roman"/>
                <a:cs typeface="Times New Roman"/>
              </a:rPr>
              <a:t>b. Tiến lên chủ nghĩa xã hội là một tất yếu khách quan</a:t>
            </a:r>
            <a:endParaRPr lang="en-US" sz="2500">
              <a:solidFill>
                <a:srgbClr val="FF0000"/>
              </a:solidFill>
              <a:latin typeface="Times New Roman"/>
              <a:cs typeface="Times New Roman"/>
            </a:endParaRP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1447800" y="2081748"/>
            <a:ext cx="7391401" cy="37856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400" smtClean="0">
                <a:solidFill>
                  <a:srgbClr val="002060"/>
                </a:solidFill>
                <a:latin typeface="Times New Roman"/>
                <a:cs typeface="Times New Roman"/>
              </a:rPr>
              <a:t>“</a:t>
            </a:r>
            <a:r>
              <a:rPr lang="vi-VN" sz="2400" smtClean="0">
                <a:solidFill>
                  <a:srgbClr val="002060"/>
                </a:solidFill>
                <a:latin typeface="Times New Roman"/>
                <a:cs typeface="Times New Roman"/>
              </a:rPr>
              <a:t>Cách </a:t>
            </a:r>
            <a:r>
              <a:rPr lang="vi-VN" sz="2400">
                <a:solidFill>
                  <a:srgbClr val="002060"/>
                </a:solidFill>
                <a:latin typeface="Times New Roman"/>
                <a:cs typeface="Times New Roman"/>
              </a:rPr>
              <a:t>sản xuất và sức sản xuất phát triển và biến đổi mãi, do đó mà tư tưởng của người, chế độ xã hội, v.v., cũng phát triển và biến đổi. Chúng ta đều biết từ đời xưa đến đời nay, cách sản xuất từ chỗ dùng cành cây, búa đá phát triển dần đến máy móc, sức điện, sức nguyên tử. Chế độ xã hội cũng phát triển từ cộng sản nguyên thủy đến chế độ nô lệ, đến chế độ phong kiến, đến chế độ tư bản chủ nghĩa và ngày nay gần một nửa loài người đang tiến lên chế độ xã hội chủ nghĩa và chế độ cộng sản chủ nghĩa. </a:t>
            </a:r>
            <a:endParaRPr lang="en-US" sz="2400" smtClean="0">
              <a:solidFill>
                <a:srgbClr val="002060"/>
              </a:solidFill>
              <a:latin typeface="Times New Roman"/>
              <a:cs typeface="Times New Roman"/>
            </a:endParaRPr>
          </a:p>
          <a:p>
            <a:pPr algn="just"/>
            <a:r>
              <a:rPr lang="vi-VN" sz="2400">
                <a:solidFill>
                  <a:srgbClr val="002060"/>
                </a:solidFill>
                <a:latin typeface="Times New Roman"/>
                <a:cs typeface="Times New Roman"/>
              </a:rPr>
              <a:t>Sự phát triển và tiến bộ đó không ai ngăn cản </a:t>
            </a:r>
            <a:r>
              <a:rPr lang="vi-VN" sz="2400" smtClean="0">
                <a:solidFill>
                  <a:srgbClr val="002060"/>
                </a:solidFill>
                <a:latin typeface="Times New Roman"/>
                <a:cs typeface="Times New Roman"/>
              </a:rPr>
              <a:t>được</a:t>
            </a:r>
            <a:r>
              <a:rPr lang="en-US" sz="2400" smtClean="0">
                <a:solidFill>
                  <a:srgbClr val="002060"/>
                </a:solidFill>
                <a:latin typeface="Times New Roman"/>
                <a:cs typeface="Times New Roman"/>
              </a:rPr>
              <a:t>”</a:t>
            </a:r>
            <a:r>
              <a:rPr lang="vi-VN" sz="2400" smtClean="0">
                <a:solidFill>
                  <a:srgbClr val="002060"/>
                </a:solidFill>
                <a:latin typeface="Times New Roman"/>
                <a:cs typeface="Times New Roman"/>
              </a:rPr>
              <a:t>. </a:t>
            </a:r>
            <a:endParaRPr lang="en-US" sz="2400" dirty="0">
              <a:solidFill>
                <a:srgbClr val="002060"/>
              </a:solidFill>
              <a:latin typeface="Times New Roman"/>
              <a:cs typeface="Times New Roman"/>
            </a:endParaRPr>
          </a:p>
        </p:txBody>
      </p:sp>
      <p:sp>
        <p:nvSpPr>
          <p:cNvPr id="2" name="AutoShape 2" descr="bac ho va quyen con nguo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bac ho va quyen con nguo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bac ho va quyen con nguo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Ho Chi Minh voi viec khang dinh nhung gia tri cot lo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Ho Chi Minh voi viec khang dinh  nhung gia tri cot loi 2"/>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2" descr="https://tuyenquang.gov.vn/noidung/tintuc/PublishingImages/OldImages/images/Diep/TTHCM/bac-ho-y-thuc-dan-chu.jp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7" name="Rectangle 16"/>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398900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26</a:t>
            </a:fld>
            <a:endParaRPr lang="en-US"/>
          </a:p>
        </p:txBody>
      </p:sp>
      <p:sp>
        <p:nvSpPr>
          <p:cNvPr id="9" name="Text Box 36"/>
          <p:cNvSpPr txBox="1">
            <a:spLocks noChangeArrowheads="1"/>
          </p:cNvSpPr>
          <p:nvPr/>
        </p:nvSpPr>
        <p:spPr bwMode="auto">
          <a:xfrm>
            <a:off x="1371600" y="1164848"/>
            <a:ext cx="7391400" cy="47705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mtClean="0">
                <a:solidFill>
                  <a:srgbClr val="FF0000"/>
                </a:solidFill>
                <a:latin typeface="Times New Roman"/>
                <a:cs typeface="Times New Roman"/>
              </a:rPr>
              <a:t>c. Một số đặc trưng cơ bản của chủ nghĩa xã hội</a:t>
            </a:r>
            <a:endParaRPr lang="en-US" sz="2500">
              <a:solidFill>
                <a:srgbClr val="FF0000"/>
              </a:solidFill>
              <a:latin typeface="Times New Roman"/>
              <a:cs typeface="Times New Roman"/>
            </a:endParaRP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1371600" y="1638048"/>
            <a:ext cx="7391401" cy="44579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lnSpc>
                <a:spcPct val="150000"/>
              </a:lnSpc>
            </a:pPr>
            <a:r>
              <a:rPr lang="en-US" sz="2400" smtClean="0">
                <a:solidFill>
                  <a:srgbClr val="002060"/>
                </a:solidFill>
                <a:latin typeface="Times New Roman"/>
                <a:cs typeface="Times New Roman"/>
              </a:rPr>
              <a:t>- Chính trị: Chế độ dân chủ.</a:t>
            </a:r>
          </a:p>
          <a:p>
            <a:pPr algn="just">
              <a:lnSpc>
                <a:spcPct val="150000"/>
              </a:lnSpc>
            </a:pPr>
            <a:r>
              <a:rPr lang="en-US" sz="2400" smtClean="0">
                <a:solidFill>
                  <a:srgbClr val="002060"/>
                </a:solidFill>
                <a:latin typeface="Times New Roman"/>
                <a:cs typeface="Times New Roman"/>
              </a:rPr>
              <a:t>- Kinh tế: Phát triển cao, lực lượng sản xuất hiện đại, chế độ công hữu.</a:t>
            </a:r>
          </a:p>
          <a:p>
            <a:pPr algn="just">
              <a:lnSpc>
                <a:spcPct val="150000"/>
              </a:lnSpc>
            </a:pPr>
            <a:r>
              <a:rPr lang="en-US" sz="2400" smtClean="0">
                <a:solidFill>
                  <a:srgbClr val="002060"/>
                </a:solidFill>
                <a:latin typeface="Times New Roman"/>
                <a:cs typeface="Times New Roman"/>
              </a:rPr>
              <a:t>- Văn hóa, đạo đức, quan hệ xã hội: Phát triển cao về văn hóa, đạo đức; đảm bảo công bằng, hợp lý trong các quan hệ xã hội.</a:t>
            </a:r>
          </a:p>
          <a:p>
            <a:pPr algn="just">
              <a:lnSpc>
                <a:spcPct val="150000"/>
              </a:lnSpc>
            </a:pPr>
            <a:r>
              <a:rPr lang="en-US" sz="2400" smtClean="0">
                <a:solidFill>
                  <a:srgbClr val="002060"/>
                </a:solidFill>
                <a:latin typeface="Times New Roman"/>
                <a:cs typeface="Times New Roman"/>
              </a:rPr>
              <a:t>- Chủ thể: Công trình tập thể của nhân dân dưới sự lãnh đạo của Đảng Cộng sản.</a:t>
            </a:r>
          </a:p>
        </p:txBody>
      </p:sp>
      <p:sp>
        <p:nvSpPr>
          <p:cNvPr id="2" name="AutoShape 2" descr="bac ho va quyen con nguo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bac ho va quyen con nguo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bac ho va quyen con nguo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Ho Chi Minh voi viec khang dinh nhung gia tri cot lo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Ho Chi Minh voi viec khang dinh  nhung gia tri cot loi 2"/>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2" descr="https://tuyenquang.gov.vn/noidung/tintuc/PublishingImages/OldImages/images/Diep/TTHCM/bac-ho-y-thuc-dan-chu.jp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7" name="Rectangle 16"/>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565747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1000"/>
                                        <p:tgtEl>
                                          <p:spTgt spid="15">
                                            <p:txEl>
                                              <p:pRg st="0" end="0"/>
                                            </p:txEl>
                                          </p:spTgt>
                                        </p:tgtEl>
                                      </p:cBhvr>
                                    </p:animEffect>
                                    <p:anim calcmode="lin" valueType="num">
                                      <p:cBhvr>
                                        <p:cTn id="8"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1" end="1"/>
                                            </p:txEl>
                                          </p:spTgt>
                                        </p:tgtEl>
                                        <p:attrNameLst>
                                          <p:attrName>style.visibility</p:attrName>
                                        </p:attrNameLst>
                                      </p:cBhvr>
                                      <p:to>
                                        <p:strVal val="visible"/>
                                      </p:to>
                                    </p:set>
                                    <p:animEffect transition="in" filter="fade">
                                      <p:cBhvr>
                                        <p:cTn id="14" dur="1000"/>
                                        <p:tgtEl>
                                          <p:spTgt spid="15">
                                            <p:txEl>
                                              <p:pRg st="1" end="1"/>
                                            </p:txEl>
                                          </p:spTgt>
                                        </p:tgtEl>
                                      </p:cBhvr>
                                    </p:animEffect>
                                    <p:anim calcmode="lin" valueType="num">
                                      <p:cBhvr>
                                        <p:cTn id="15"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2" end="2"/>
                                            </p:txEl>
                                          </p:spTgt>
                                        </p:tgtEl>
                                        <p:attrNameLst>
                                          <p:attrName>style.visibility</p:attrName>
                                        </p:attrNameLst>
                                      </p:cBhvr>
                                      <p:to>
                                        <p:strVal val="visible"/>
                                      </p:to>
                                    </p:set>
                                    <p:animEffect transition="in" filter="fade">
                                      <p:cBhvr>
                                        <p:cTn id="21" dur="1000"/>
                                        <p:tgtEl>
                                          <p:spTgt spid="15">
                                            <p:txEl>
                                              <p:pRg st="2" end="2"/>
                                            </p:txEl>
                                          </p:spTgt>
                                        </p:tgtEl>
                                      </p:cBhvr>
                                    </p:animEffect>
                                    <p:anim calcmode="lin" valueType="num">
                                      <p:cBhvr>
                                        <p:cTn id="22"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5">
                                            <p:txEl>
                                              <p:pRg st="3" end="3"/>
                                            </p:txEl>
                                          </p:spTgt>
                                        </p:tgtEl>
                                        <p:attrNameLst>
                                          <p:attrName>style.visibility</p:attrName>
                                        </p:attrNameLst>
                                      </p:cBhvr>
                                      <p:to>
                                        <p:strVal val="visible"/>
                                      </p:to>
                                    </p:set>
                                    <p:animEffect transition="in" filter="fade">
                                      <p:cBhvr>
                                        <p:cTn id="28" dur="1000"/>
                                        <p:tgtEl>
                                          <p:spTgt spid="15">
                                            <p:txEl>
                                              <p:pRg st="3" end="3"/>
                                            </p:txEl>
                                          </p:spTgt>
                                        </p:tgtEl>
                                      </p:cBhvr>
                                    </p:animEffect>
                                    <p:anim calcmode="lin" valueType="num">
                                      <p:cBhvr>
                                        <p:cTn id="29"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27</a:t>
            </a:fld>
            <a:endParaRPr lang="en-US"/>
          </a:p>
        </p:txBody>
      </p:sp>
      <p:sp>
        <p:nvSpPr>
          <p:cNvPr id="7" name="Title 1"/>
          <p:cNvSpPr txBox="1">
            <a:spLocks/>
          </p:cNvSpPr>
          <p:nvPr/>
        </p:nvSpPr>
        <p:spPr>
          <a:xfrm>
            <a:off x="381000" y="30099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600" b="1" smtClean="0">
                <a:solidFill>
                  <a:srgbClr val="FF0000"/>
                </a:solidFill>
                <a:latin typeface="Times New Roman"/>
                <a:cs typeface="Times New Roman"/>
              </a:rPr>
              <a:t>2. Tư </a:t>
            </a:r>
            <a:r>
              <a:rPr lang="en-US" sz="3600" b="1">
                <a:solidFill>
                  <a:srgbClr val="FF0000"/>
                </a:solidFill>
                <a:latin typeface="Times New Roman"/>
                <a:cs typeface="Times New Roman"/>
              </a:rPr>
              <a:t>tưởng Hồ Chí Minh </a:t>
            </a:r>
            <a:r>
              <a:rPr lang="en-US" sz="3600" b="1" smtClean="0">
                <a:solidFill>
                  <a:srgbClr val="FF0000"/>
                </a:solidFill>
                <a:latin typeface="Times New Roman"/>
                <a:cs typeface="Times New Roman"/>
              </a:rPr>
              <a:t>về xây dựng chủ </a:t>
            </a:r>
            <a:r>
              <a:rPr lang="en-US" sz="3600" b="1">
                <a:solidFill>
                  <a:srgbClr val="FF0000"/>
                </a:solidFill>
                <a:latin typeface="Times New Roman"/>
                <a:cs typeface="Times New Roman"/>
              </a:rPr>
              <a:t>nghĩa xã </a:t>
            </a:r>
            <a:r>
              <a:rPr lang="en-US" sz="3600" b="1" smtClean="0">
                <a:solidFill>
                  <a:srgbClr val="FF0000"/>
                </a:solidFill>
                <a:latin typeface="Times New Roman"/>
                <a:cs typeface="Times New Roman"/>
              </a:rPr>
              <a:t>hội ở Việt Nam</a:t>
            </a:r>
            <a:endParaRPr lang="en-US" sz="3600" b="1" dirty="0">
              <a:solidFill>
                <a:srgbClr val="FF0000"/>
              </a:solidFill>
              <a:latin typeface="Times New Roman"/>
              <a:cs typeface="Times New Roman"/>
            </a:endParaRP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8" name="Rectangle 7"/>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8801234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28</a:t>
            </a:fld>
            <a:endParaRPr lang="en-US"/>
          </a:p>
        </p:txBody>
      </p:sp>
      <p:sp>
        <p:nvSpPr>
          <p:cNvPr id="9" name="Text Box 36"/>
          <p:cNvSpPr txBox="1">
            <a:spLocks noChangeArrowheads="1"/>
          </p:cNvSpPr>
          <p:nvPr/>
        </p:nvSpPr>
        <p:spPr bwMode="auto">
          <a:xfrm>
            <a:off x="1371600" y="1164848"/>
            <a:ext cx="7391400" cy="47705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mtClean="0">
                <a:solidFill>
                  <a:srgbClr val="FF0000"/>
                </a:solidFill>
                <a:latin typeface="Times New Roman"/>
                <a:cs typeface="Times New Roman"/>
              </a:rPr>
              <a:t>a. Mục tiêu chủ nghĩa xã hội ở Việt Nam</a:t>
            </a:r>
            <a:endParaRPr lang="en-US" sz="2500">
              <a:solidFill>
                <a:srgbClr val="FF0000"/>
              </a:solidFill>
              <a:latin typeface="Times New Roman"/>
              <a:cs typeface="Times New Roman"/>
            </a:endParaRP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1371600" y="1638048"/>
            <a:ext cx="7239000" cy="3970318"/>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lnSpc>
                <a:spcPct val="150000"/>
              </a:lnSpc>
            </a:pPr>
            <a:r>
              <a:rPr lang="en-US" sz="2400" smtClean="0">
                <a:solidFill>
                  <a:srgbClr val="002060"/>
                </a:solidFill>
                <a:latin typeface="Times New Roman"/>
                <a:cs typeface="Times New Roman"/>
              </a:rPr>
              <a:t>- Chính trị: Phải xây dựng được chế độ dân chủ.</a:t>
            </a:r>
          </a:p>
          <a:p>
            <a:pPr algn="just">
              <a:lnSpc>
                <a:spcPct val="150000"/>
              </a:lnSpc>
            </a:pPr>
            <a:r>
              <a:rPr lang="en-US" sz="2400" smtClean="0">
                <a:solidFill>
                  <a:srgbClr val="002060"/>
                </a:solidFill>
                <a:latin typeface="Times New Roman"/>
                <a:cs typeface="Times New Roman"/>
              </a:rPr>
              <a:t>- Kinh tế: Phải xây dựng được nền kinh tế phát triển cao gắn bó mật thiết với mục tiêu về chính trị.</a:t>
            </a:r>
          </a:p>
          <a:p>
            <a:pPr algn="just">
              <a:lnSpc>
                <a:spcPct val="150000"/>
              </a:lnSpc>
            </a:pPr>
            <a:r>
              <a:rPr lang="en-US" sz="2400" smtClean="0">
                <a:solidFill>
                  <a:srgbClr val="002060"/>
                </a:solidFill>
                <a:latin typeface="Times New Roman"/>
                <a:cs typeface="Times New Roman"/>
              </a:rPr>
              <a:t>- Văn hóa: Phải xây dựng được nền văn hóa mang tính dân tộc, khoa học, đại chúng và tiếp thu tinh hoa văn hóa nhân loại.</a:t>
            </a:r>
          </a:p>
          <a:p>
            <a:pPr algn="just">
              <a:lnSpc>
                <a:spcPct val="150000"/>
              </a:lnSpc>
            </a:pPr>
            <a:r>
              <a:rPr lang="en-US" sz="2400" smtClean="0">
                <a:solidFill>
                  <a:srgbClr val="002060"/>
                </a:solidFill>
                <a:latin typeface="Times New Roman"/>
                <a:cs typeface="Times New Roman"/>
              </a:rPr>
              <a:t>- Quan hệ xã hội: Dân chủ, công bằng, văn minh.</a:t>
            </a:r>
          </a:p>
        </p:txBody>
      </p:sp>
      <p:sp>
        <p:nvSpPr>
          <p:cNvPr id="2" name="AutoShape 2" descr="bac ho va quyen con nguo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bac ho va quyen con nguo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bac ho va quyen con nguo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Ho Chi Minh voi viec khang dinh nhung gia tri cot lo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Ho Chi Minh voi viec khang dinh  nhung gia tri cot loi 2"/>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2" descr="https://tuyenquang.gov.vn/noidung/tintuc/PublishingImages/OldImages/images/Diep/TTHCM/bac-ho-y-thuc-dan-chu.jp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7" name="Rectangle 16"/>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266783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1000"/>
                                        <p:tgtEl>
                                          <p:spTgt spid="15">
                                            <p:txEl>
                                              <p:pRg st="0" end="0"/>
                                            </p:txEl>
                                          </p:spTgt>
                                        </p:tgtEl>
                                      </p:cBhvr>
                                    </p:animEffect>
                                    <p:anim calcmode="lin" valueType="num">
                                      <p:cBhvr>
                                        <p:cTn id="8"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1" end="1"/>
                                            </p:txEl>
                                          </p:spTgt>
                                        </p:tgtEl>
                                        <p:attrNameLst>
                                          <p:attrName>style.visibility</p:attrName>
                                        </p:attrNameLst>
                                      </p:cBhvr>
                                      <p:to>
                                        <p:strVal val="visible"/>
                                      </p:to>
                                    </p:set>
                                    <p:animEffect transition="in" filter="fade">
                                      <p:cBhvr>
                                        <p:cTn id="14" dur="1000"/>
                                        <p:tgtEl>
                                          <p:spTgt spid="15">
                                            <p:txEl>
                                              <p:pRg st="1" end="1"/>
                                            </p:txEl>
                                          </p:spTgt>
                                        </p:tgtEl>
                                      </p:cBhvr>
                                    </p:animEffect>
                                    <p:anim calcmode="lin" valueType="num">
                                      <p:cBhvr>
                                        <p:cTn id="15"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2" end="2"/>
                                            </p:txEl>
                                          </p:spTgt>
                                        </p:tgtEl>
                                        <p:attrNameLst>
                                          <p:attrName>style.visibility</p:attrName>
                                        </p:attrNameLst>
                                      </p:cBhvr>
                                      <p:to>
                                        <p:strVal val="visible"/>
                                      </p:to>
                                    </p:set>
                                    <p:animEffect transition="in" filter="fade">
                                      <p:cBhvr>
                                        <p:cTn id="21" dur="1000"/>
                                        <p:tgtEl>
                                          <p:spTgt spid="15">
                                            <p:txEl>
                                              <p:pRg st="2" end="2"/>
                                            </p:txEl>
                                          </p:spTgt>
                                        </p:tgtEl>
                                      </p:cBhvr>
                                    </p:animEffect>
                                    <p:anim calcmode="lin" valueType="num">
                                      <p:cBhvr>
                                        <p:cTn id="22"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5">
                                            <p:txEl>
                                              <p:pRg st="3" end="3"/>
                                            </p:txEl>
                                          </p:spTgt>
                                        </p:tgtEl>
                                        <p:attrNameLst>
                                          <p:attrName>style.visibility</p:attrName>
                                        </p:attrNameLst>
                                      </p:cBhvr>
                                      <p:to>
                                        <p:strVal val="visible"/>
                                      </p:to>
                                    </p:set>
                                    <p:animEffect transition="in" filter="fade">
                                      <p:cBhvr>
                                        <p:cTn id="28" dur="1000"/>
                                        <p:tgtEl>
                                          <p:spTgt spid="15">
                                            <p:txEl>
                                              <p:pRg st="3" end="3"/>
                                            </p:txEl>
                                          </p:spTgt>
                                        </p:tgtEl>
                                      </p:cBhvr>
                                    </p:animEffect>
                                    <p:anim calcmode="lin" valueType="num">
                                      <p:cBhvr>
                                        <p:cTn id="29"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29</a:t>
            </a:fld>
            <a:endParaRPr lang="en-US"/>
          </a:p>
        </p:txBody>
      </p:sp>
      <p:sp>
        <p:nvSpPr>
          <p:cNvPr id="9" name="Text Box 36"/>
          <p:cNvSpPr txBox="1">
            <a:spLocks noChangeArrowheads="1"/>
          </p:cNvSpPr>
          <p:nvPr/>
        </p:nvSpPr>
        <p:spPr bwMode="auto">
          <a:xfrm>
            <a:off x="1371600" y="1164848"/>
            <a:ext cx="7391400" cy="47705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mtClean="0">
                <a:solidFill>
                  <a:srgbClr val="FF0000"/>
                </a:solidFill>
                <a:latin typeface="Times New Roman"/>
                <a:cs typeface="Times New Roman"/>
              </a:rPr>
              <a:t>b. Động lực của chủ nghĩa xã hội ở Việt Nam</a:t>
            </a:r>
            <a:endParaRPr lang="en-US" sz="2500">
              <a:solidFill>
                <a:srgbClr val="FF0000"/>
              </a:solidFill>
              <a:latin typeface="Times New Roman"/>
              <a:cs typeface="Times New Roman"/>
            </a:endParaRP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4724400" y="2131819"/>
            <a:ext cx="4191001" cy="295850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lnSpc>
                <a:spcPct val="150000"/>
              </a:lnSpc>
            </a:pPr>
            <a:r>
              <a:rPr lang="en-US" sz="3200" smtClean="0">
                <a:solidFill>
                  <a:srgbClr val="002060"/>
                </a:solidFill>
                <a:latin typeface="Times New Roman"/>
                <a:cs typeface="Times New Roman"/>
              </a:rPr>
              <a:t>“Muốn xây dựng chủ nghĩa xã hội, trước hết cần có những con người xã hội chủ nghĩa”</a:t>
            </a:r>
          </a:p>
        </p:txBody>
      </p:sp>
      <p:sp>
        <p:nvSpPr>
          <p:cNvPr id="2" name="AutoShape 2" descr="bac ho va quyen con nguo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bac ho va quyen con nguo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bac ho va quyen con nguo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Ho Chi Minh voi viec khang dinh nhung gia tri cot lo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Ho Chi Minh voi viec khang dinh  nhung gia tri cot loi 2"/>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2" descr="https://tuyenquang.gov.vn/noidung/tintuc/PublishingImages/OldImages/images/Diep/TTHCM/bac-ho-y-thuc-dan-chu.jp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6" name="Picture 2" descr="http://www.xaydungdang.org.vn/Stories/Origin.axd?ID=989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8743" y="2370170"/>
            <a:ext cx="3283257" cy="258283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7" name="Rectangle 16"/>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2112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30</a:t>
            </a:fld>
            <a:endParaRPr lang="en-US"/>
          </a:p>
        </p:txBody>
      </p:sp>
      <p:sp>
        <p:nvSpPr>
          <p:cNvPr id="7" name="Title 1"/>
          <p:cNvSpPr txBox="1">
            <a:spLocks/>
          </p:cNvSpPr>
          <p:nvPr/>
        </p:nvSpPr>
        <p:spPr>
          <a:xfrm>
            <a:off x="381000" y="33147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600" b="1" smtClean="0">
                <a:solidFill>
                  <a:srgbClr val="FF0000"/>
                </a:solidFill>
                <a:latin typeface="Times New Roman"/>
                <a:cs typeface="Times New Roman"/>
              </a:rPr>
              <a:t>3. Tư </a:t>
            </a:r>
            <a:r>
              <a:rPr lang="en-US" sz="3600" b="1">
                <a:solidFill>
                  <a:srgbClr val="FF0000"/>
                </a:solidFill>
                <a:latin typeface="Times New Roman"/>
                <a:cs typeface="Times New Roman"/>
              </a:rPr>
              <a:t>tưởng Hồ Chí Minh </a:t>
            </a:r>
            <a:endParaRPr lang="en-US" sz="3600" b="1" smtClean="0">
              <a:solidFill>
                <a:srgbClr val="FF0000"/>
              </a:solidFill>
              <a:latin typeface="Times New Roman"/>
              <a:cs typeface="Times New Roman"/>
            </a:endParaRPr>
          </a:p>
          <a:p>
            <a:pPr>
              <a:lnSpc>
                <a:spcPct val="150000"/>
              </a:lnSpc>
            </a:pPr>
            <a:r>
              <a:rPr lang="en-US" sz="3600" b="1" smtClean="0">
                <a:solidFill>
                  <a:srgbClr val="FF0000"/>
                </a:solidFill>
                <a:latin typeface="Times New Roman"/>
                <a:cs typeface="Times New Roman"/>
              </a:rPr>
              <a:t>về thời kỳ quá độ lên chủ </a:t>
            </a:r>
            <a:r>
              <a:rPr lang="en-US" sz="3600" b="1">
                <a:solidFill>
                  <a:srgbClr val="FF0000"/>
                </a:solidFill>
                <a:latin typeface="Times New Roman"/>
                <a:cs typeface="Times New Roman"/>
              </a:rPr>
              <a:t>nghĩa xã </a:t>
            </a:r>
            <a:r>
              <a:rPr lang="en-US" sz="3600" b="1" smtClean="0">
                <a:solidFill>
                  <a:srgbClr val="FF0000"/>
                </a:solidFill>
                <a:latin typeface="Times New Roman"/>
                <a:cs typeface="Times New Roman"/>
              </a:rPr>
              <a:t>hội </a:t>
            </a:r>
          </a:p>
          <a:p>
            <a:pPr>
              <a:lnSpc>
                <a:spcPct val="150000"/>
              </a:lnSpc>
            </a:pPr>
            <a:r>
              <a:rPr lang="en-US" sz="3600" b="1" smtClean="0">
                <a:solidFill>
                  <a:srgbClr val="FF0000"/>
                </a:solidFill>
                <a:latin typeface="Times New Roman"/>
                <a:cs typeface="Times New Roman"/>
              </a:rPr>
              <a:t>ở Việt Nam</a:t>
            </a:r>
            <a:endParaRPr lang="en-US" sz="3600" b="1" dirty="0">
              <a:solidFill>
                <a:srgbClr val="FF0000"/>
              </a:solidFill>
              <a:latin typeface="Times New Roman"/>
              <a:cs typeface="Times New Roman"/>
            </a:endParaRPr>
          </a:p>
        </p:txBody>
      </p:sp>
      <p:sp>
        <p:nvSpPr>
          <p:cNvPr id="8"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9"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0" name="Rectangle 9"/>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90693328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31</a:t>
            </a:fld>
            <a:endParaRPr lang="en-US"/>
          </a:p>
        </p:txBody>
      </p:sp>
      <p:sp>
        <p:nvSpPr>
          <p:cNvPr id="9" name="Text Box 36"/>
          <p:cNvSpPr txBox="1">
            <a:spLocks noChangeArrowheads="1"/>
          </p:cNvSpPr>
          <p:nvPr/>
        </p:nvSpPr>
        <p:spPr bwMode="auto">
          <a:xfrm>
            <a:off x="1371600" y="1164848"/>
            <a:ext cx="7391400" cy="47705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mtClean="0">
                <a:solidFill>
                  <a:srgbClr val="FF0000"/>
                </a:solidFill>
                <a:latin typeface="Times New Roman"/>
                <a:cs typeface="Times New Roman"/>
              </a:rPr>
              <a:t>a. Tính chất, đặc điểm và nhiệm vụ của thời kỳ quá độ</a:t>
            </a:r>
            <a:endParaRPr lang="en-US" sz="2500">
              <a:solidFill>
                <a:srgbClr val="FF0000"/>
              </a:solidFill>
              <a:latin typeface="Times New Roman"/>
              <a:cs typeface="Times New Roman"/>
            </a:endParaRP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1752600" y="1981200"/>
            <a:ext cx="7162801" cy="3970318"/>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800" smtClean="0">
                <a:solidFill>
                  <a:srgbClr val="FF0000"/>
                </a:solidFill>
                <a:latin typeface="Times New Roman"/>
                <a:cs typeface="Times New Roman"/>
              </a:rPr>
              <a:t>- Tính chất: </a:t>
            </a:r>
            <a:r>
              <a:rPr lang="en-US" sz="2800" smtClean="0">
                <a:solidFill>
                  <a:srgbClr val="002060"/>
                </a:solidFill>
                <a:latin typeface="Times New Roman"/>
                <a:cs typeface="Times New Roman"/>
              </a:rPr>
              <a:t>Thời kỳ cải biến sâu sắc nhất; phức tạp, lâu dài, khó khăn, gian khổ.</a:t>
            </a:r>
          </a:p>
          <a:p>
            <a:pPr algn="just"/>
            <a:r>
              <a:rPr lang="en-US" sz="2800" smtClean="0">
                <a:solidFill>
                  <a:srgbClr val="FF0000"/>
                </a:solidFill>
                <a:latin typeface="Times New Roman"/>
                <a:cs typeface="Times New Roman"/>
              </a:rPr>
              <a:t>- Đặc điểm: </a:t>
            </a:r>
            <a:r>
              <a:rPr lang="en-US" sz="2800" smtClean="0">
                <a:solidFill>
                  <a:srgbClr val="002060"/>
                </a:solidFill>
                <a:latin typeface="Times New Roman"/>
                <a:cs typeface="Times New Roman"/>
              </a:rPr>
              <a:t>Từ một nước nông nghiệp lạc hậu tiến thẳng lên chủ nghĩa xã hội, không trải qua giai đoạn phát triển tư bản chủ nghĩa. </a:t>
            </a:r>
          </a:p>
          <a:p>
            <a:pPr algn="just"/>
            <a:r>
              <a:rPr lang="en-US" sz="2800" smtClean="0">
                <a:solidFill>
                  <a:srgbClr val="FF0000"/>
                </a:solidFill>
                <a:latin typeface="Times New Roman"/>
                <a:cs typeface="Times New Roman"/>
              </a:rPr>
              <a:t>- Nhiệm vụ: </a:t>
            </a:r>
            <a:r>
              <a:rPr lang="en-US" sz="2800" smtClean="0">
                <a:solidFill>
                  <a:srgbClr val="002060"/>
                </a:solidFill>
                <a:latin typeface="Times New Roman"/>
                <a:cs typeface="Times New Roman"/>
              </a:rPr>
              <a:t>Đấu tranh cải tạo, xóa bỏ tàn tích của chế độ xã hội cũ, xây dựng các yếu tố mới phù hợp với quy luật tiến lên chủ nghĩa xã hội trên tất cả các lĩnh vực của đời sống.</a:t>
            </a:r>
          </a:p>
        </p:txBody>
      </p:sp>
      <p:sp>
        <p:nvSpPr>
          <p:cNvPr id="2" name="AutoShape 2" descr="bac ho va quyen con nguo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bac ho va quyen con nguo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bac ho va quyen con nguo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Ho Chi Minh voi viec khang dinh nhung gia tri cot lo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Ho Chi Minh voi viec khang dinh  nhung gia tri cot loi 2"/>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2" descr="https://tuyenquang.gov.vn/noidung/tintuc/PublishingImages/OldImages/images/Diep/TTHCM/bac-ho-y-thuc-dan-chu.jp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7" name="Rectangle 16"/>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703842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1000"/>
                                        <p:tgtEl>
                                          <p:spTgt spid="15">
                                            <p:txEl>
                                              <p:pRg st="0" end="0"/>
                                            </p:txEl>
                                          </p:spTgt>
                                        </p:tgtEl>
                                      </p:cBhvr>
                                    </p:animEffect>
                                    <p:anim calcmode="lin" valueType="num">
                                      <p:cBhvr>
                                        <p:cTn id="8"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1" end="1"/>
                                            </p:txEl>
                                          </p:spTgt>
                                        </p:tgtEl>
                                        <p:attrNameLst>
                                          <p:attrName>style.visibility</p:attrName>
                                        </p:attrNameLst>
                                      </p:cBhvr>
                                      <p:to>
                                        <p:strVal val="visible"/>
                                      </p:to>
                                    </p:set>
                                    <p:animEffect transition="in" filter="fade">
                                      <p:cBhvr>
                                        <p:cTn id="14" dur="1000"/>
                                        <p:tgtEl>
                                          <p:spTgt spid="15">
                                            <p:txEl>
                                              <p:pRg st="1" end="1"/>
                                            </p:txEl>
                                          </p:spTgt>
                                        </p:tgtEl>
                                      </p:cBhvr>
                                    </p:animEffect>
                                    <p:anim calcmode="lin" valueType="num">
                                      <p:cBhvr>
                                        <p:cTn id="15"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2" end="2"/>
                                            </p:txEl>
                                          </p:spTgt>
                                        </p:tgtEl>
                                        <p:attrNameLst>
                                          <p:attrName>style.visibility</p:attrName>
                                        </p:attrNameLst>
                                      </p:cBhvr>
                                      <p:to>
                                        <p:strVal val="visible"/>
                                      </p:to>
                                    </p:set>
                                    <p:animEffect transition="in" filter="fade">
                                      <p:cBhvr>
                                        <p:cTn id="21" dur="1000"/>
                                        <p:tgtEl>
                                          <p:spTgt spid="15">
                                            <p:txEl>
                                              <p:pRg st="2" end="2"/>
                                            </p:txEl>
                                          </p:spTgt>
                                        </p:tgtEl>
                                      </p:cBhvr>
                                    </p:animEffect>
                                    <p:anim calcmode="lin" valueType="num">
                                      <p:cBhvr>
                                        <p:cTn id="22"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6" name="Slide Number Placeholder 5"/>
          <p:cNvSpPr>
            <a:spLocks noGrp="1"/>
          </p:cNvSpPr>
          <p:nvPr>
            <p:ph type="sldNum" sz="quarter" idx="12"/>
          </p:nvPr>
        </p:nvSpPr>
        <p:spPr/>
        <p:txBody>
          <a:bodyPr/>
          <a:lstStyle/>
          <a:p>
            <a:fld id="{A58A153D-734D-405D-8FB4-686C2D8CE407}" type="slidenum">
              <a:rPr lang="en-US" smtClean="0"/>
              <a:pPr/>
              <a:t>32</a:t>
            </a:fld>
            <a:endParaRPr lang="en-US"/>
          </a:p>
        </p:txBody>
      </p:sp>
      <p:sp>
        <p:nvSpPr>
          <p:cNvPr id="9" name="Text Box 36"/>
          <p:cNvSpPr txBox="1">
            <a:spLocks noChangeArrowheads="1"/>
          </p:cNvSpPr>
          <p:nvPr/>
        </p:nvSpPr>
        <p:spPr bwMode="auto">
          <a:xfrm>
            <a:off x="1371600" y="1164848"/>
            <a:ext cx="7391400" cy="86177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mtClean="0">
                <a:solidFill>
                  <a:srgbClr val="FF0000"/>
                </a:solidFill>
                <a:latin typeface="Times New Roman"/>
                <a:cs typeface="Times New Roman"/>
              </a:rPr>
              <a:t>b. Một số nguyên tắc xây dựng chủ nghĩa xã hội                     trong thời kỳ quá độ</a:t>
            </a:r>
            <a:endParaRPr lang="en-US" sz="2500">
              <a:solidFill>
                <a:srgbClr val="FF0000"/>
              </a:solidFill>
              <a:latin typeface="Times New Roman"/>
              <a:cs typeface="Times New Roman"/>
            </a:endParaRP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1600200" y="2225457"/>
            <a:ext cx="7162801" cy="3970318"/>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lnSpc>
                <a:spcPct val="150000"/>
              </a:lnSpc>
            </a:pPr>
            <a:r>
              <a:rPr lang="en-US" sz="2800" smtClean="0">
                <a:solidFill>
                  <a:srgbClr val="002060"/>
                </a:solidFill>
                <a:latin typeface="Times New Roman"/>
                <a:cs typeface="Times New Roman"/>
              </a:rPr>
              <a:t>- Mọi tư tưởng, hành động phải được thực hiện trên nền tảng chủ nghĩa Mác – Lênin.</a:t>
            </a:r>
          </a:p>
          <a:p>
            <a:pPr algn="just">
              <a:lnSpc>
                <a:spcPct val="150000"/>
              </a:lnSpc>
            </a:pPr>
            <a:r>
              <a:rPr lang="en-US" sz="2800" smtClean="0">
                <a:solidFill>
                  <a:srgbClr val="002060"/>
                </a:solidFill>
                <a:latin typeface="Times New Roman"/>
                <a:cs typeface="Times New Roman"/>
              </a:rPr>
              <a:t>- Phải giữ vững độc lập dân tộc.</a:t>
            </a:r>
          </a:p>
          <a:p>
            <a:pPr algn="just">
              <a:lnSpc>
                <a:spcPct val="150000"/>
              </a:lnSpc>
            </a:pPr>
            <a:r>
              <a:rPr lang="en-US" sz="2800" smtClean="0">
                <a:solidFill>
                  <a:srgbClr val="002060"/>
                </a:solidFill>
                <a:latin typeface="Times New Roman"/>
                <a:cs typeface="Times New Roman"/>
              </a:rPr>
              <a:t>- Phải đoàn kết, học tập kinh nghiệm của các nước anh em.</a:t>
            </a:r>
          </a:p>
          <a:p>
            <a:pPr algn="just">
              <a:lnSpc>
                <a:spcPct val="150000"/>
              </a:lnSpc>
            </a:pPr>
            <a:r>
              <a:rPr lang="en-US" sz="2800" smtClean="0">
                <a:solidFill>
                  <a:srgbClr val="002060"/>
                </a:solidFill>
                <a:latin typeface="Times New Roman"/>
                <a:cs typeface="Times New Roman"/>
              </a:rPr>
              <a:t>- Xây phải đi đôi với chống.</a:t>
            </a:r>
          </a:p>
        </p:txBody>
      </p:sp>
      <p:sp>
        <p:nvSpPr>
          <p:cNvPr id="2" name="AutoShape 2" descr="bac ho va quyen con nguo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bac ho va quyen con nguo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bac ho va quyen con nguo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Ho Chi Minh voi viec khang dinh nhung gia tri cot lo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Ho Chi Minh voi viec khang dinh  nhung gia tri cot loi 2"/>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2" descr="https://tuyenquang.gov.vn/noidung/tintuc/PublishingImages/OldImages/images/Diep/TTHCM/bac-ho-y-thuc-dan-chu.jp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7" name="Rectangle 16"/>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80171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1000"/>
                                        <p:tgtEl>
                                          <p:spTgt spid="15">
                                            <p:txEl>
                                              <p:pRg st="0" end="0"/>
                                            </p:txEl>
                                          </p:spTgt>
                                        </p:tgtEl>
                                      </p:cBhvr>
                                    </p:animEffect>
                                    <p:anim calcmode="lin" valueType="num">
                                      <p:cBhvr>
                                        <p:cTn id="8"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1" end="1"/>
                                            </p:txEl>
                                          </p:spTgt>
                                        </p:tgtEl>
                                        <p:attrNameLst>
                                          <p:attrName>style.visibility</p:attrName>
                                        </p:attrNameLst>
                                      </p:cBhvr>
                                      <p:to>
                                        <p:strVal val="visible"/>
                                      </p:to>
                                    </p:set>
                                    <p:animEffect transition="in" filter="fade">
                                      <p:cBhvr>
                                        <p:cTn id="14" dur="1000"/>
                                        <p:tgtEl>
                                          <p:spTgt spid="15">
                                            <p:txEl>
                                              <p:pRg st="1" end="1"/>
                                            </p:txEl>
                                          </p:spTgt>
                                        </p:tgtEl>
                                      </p:cBhvr>
                                    </p:animEffect>
                                    <p:anim calcmode="lin" valueType="num">
                                      <p:cBhvr>
                                        <p:cTn id="15"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2" end="2"/>
                                            </p:txEl>
                                          </p:spTgt>
                                        </p:tgtEl>
                                        <p:attrNameLst>
                                          <p:attrName>style.visibility</p:attrName>
                                        </p:attrNameLst>
                                      </p:cBhvr>
                                      <p:to>
                                        <p:strVal val="visible"/>
                                      </p:to>
                                    </p:set>
                                    <p:animEffect transition="in" filter="fade">
                                      <p:cBhvr>
                                        <p:cTn id="21" dur="1000"/>
                                        <p:tgtEl>
                                          <p:spTgt spid="15">
                                            <p:txEl>
                                              <p:pRg st="2" end="2"/>
                                            </p:txEl>
                                          </p:spTgt>
                                        </p:tgtEl>
                                      </p:cBhvr>
                                    </p:animEffect>
                                    <p:anim calcmode="lin" valueType="num">
                                      <p:cBhvr>
                                        <p:cTn id="22"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5">
                                            <p:txEl>
                                              <p:pRg st="3" end="3"/>
                                            </p:txEl>
                                          </p:spTgt>
                                        </p:tgtEl>
                                        <p:attrNameLst>
                                          <p:attrName>style.visibility</p:attrName>
                                        </p:attrNameLst>
                                      </p:cBhvr>
                                      <p:to>
                                        <p:strVal val="visible"/>
                                      </p:to>
                                    </p:set>
                                    <p:animEffect transition="in" filter="fade">
                                      <p:cBhvr>
                                        <p:cTn id="28" dur="1000"/>
                                        <p:tgtEl>
                                          <p:spTgt spid="15">
                                            <p:txEl>
                                              <p:pRg st="3" end="3"/>
                                            </p:txEl>
                                          </p:spTgt>
                                        </p:tgtEl>
                                      </p:cBhvr>
                                    </p:animEffect>
                                    <p:anim calcmode="lin" valueType="num">
                                      <p:cBhvr>
                                        <p:cTn id="29"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33</a:t>
            </a:fld>
            <a:endParaRPr lang="en-US"/>
          </a:p>
        </p:txBody>
      </p:sp>
      <p:sp>
        <p:nvSpPr>
          <p:cNvPr id="7" name="Title 1"/>
          <p:cNvSpPr txBox="1">
            <a:spLocks/>
          </p:cNvSpPr>
          <p:nvPr/>
        </p:nvSpPr>
        <p:spPr>
          <a:xfrm>
            <a:off x="381000" y="30099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smtClean="0">
                <a:solidFill>
                  <a:srgbClr val="FF0000"/>
                </a:solidFill>
                <a:latin typeface="Times New Roman" pitchFamily="18" charset="0"/>
                <a:cs typeface="Times New Roman" pitchFamily="18" charset="0"/>
              </a:rPr>
              <a:t>III. TƯ TƯỞNG HỒ CHÍ MINH</a:t>
            </a:r>
          </a:p>
          <a:p>
            <a:pPr>
              <a:lnSpc>
                <a:spcPct val="150000"/>
              </a:lnSpc>
            </a:pPr>
            <a:r>
              <a:rPr lang="en-US" sz="3000" b="1" smtClean="0">
                <a:solidFill>
                  <a:srgbClr val="FF0000"/>
                </a:solidFill>
                <a:latin typeface="Times New Roman" pitchFamily="18" charset="0"/>
                <a:cs typeface="Times New Roman" pitchFamily="18" charset="0"/>
              </a:rPr>
              <a:t>VỀ MỐI QUAN HỆ GIỮA ĐỘC LẬP DÂN TỘC VÀ CHỦ NGHĨA XÃ HỘI</a:t>
            </a:r>
            <a:endParaRPr lang="en-US" sz="3000" b="1" dirty="0">
              <a:solidFill>
                <a:srgbClr val="FF0000"/>
              </a:solidFill>
              <a:latin typeface="Times New Roman" pitchFamily="18" charset="0"/>
              <a:cs typeface="Times New Roman" pitchFamily="18" charset="0"/>
            </a:endParaRPr>
          </a:p>
        </p:txBody>
      </p:sp>
      <p:sp>
        <p:nvSpPr>
          <p:cNvPr id="8"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0"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9" name="Rectangle 8"/>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67629678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34</a:t>
            </a:fld>
            <a:endParaRPr lang="en-US"/>
          </a:p>
        </p:txBody>
      </p:sp>
      <p:sp>
        <p:nvSpPr>
          <p:cNvPr id="9" name="Text Box 36"/>
          <p:cNvSpPr txBox="1">
            <a:spLocks noChangeArrowheads="1"/>
          </p:cNvSpPr>
          <p:nvPr/>
        </p:nvSpPr>
        <p:spPr bwMode="auto">
          <a:xfrm>
            <a:off x="1371600" y="1164848"/>
            <a:ext cx="7391400" cy="47705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pc="-150" smtClean="0">
                <a:solidFill>
                  <a:srgbClr val="FF0000"/>
                </a:solidFill>
                <a:latin typeface="Times New Roman"/>
                <a:cs typeface="Times New Roman"/>
              </a:rPr>
              <a:t>1. Độc lập dân tộc là cơ sở, tiền đề để tiến lên chủ nghĩa xã hội</a:t>
            </a:r>
            <a:endParaRPr lang="en-US" sz="2500" spc="-150">
              <a:solidFill>
                <a:srgbClr val="FF0000"/>
              </a:solidFill>
              <a:latin typeface="Times New Roman"/>
              <a:cs typeface="Times New Roman"/>
            </a:endParaRP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4724400" y="2131819"/>
            <a:ext cx="4191001" cy="3046988"/>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lnSpc>
                <a:spcPct val="150000"/>
              </a:lnSpc>
            </a:pPr>
            <a:r>
              <a:rPr lang="en-US" sz="3200" smtClean="0">
                <a:solidFill>
                  <a:srgbClr val="002060"/>
                </a:solidFill>
                <a:latin typeface="Times New Roman"/>
                <a:cs typeface="Times New Roman"/>
              </a:rPr>
              <a:t>“làm tư sản dân quyền cách mạng và thổ địa cách mạng để đi tới xã hội cộng sản”</a:t>
            </a:r>
          </a:p>
        </p:txBody>
      </p:sp>
      <p:sp>
        <p:nvSpPr>
          <p:cNvPr id="2" name="AutoShape 2" descr="bac ho va quyen con nguo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bac ho va quyen con nguo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bac ho va quyen con nguo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Ho Chi Minh voi viec khang dinh nhung gia tri cot lo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Ho Chi Minh voi viec khang dinh  nhung gia tri cot loi 2"/>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2" descr="https://tuyenquang.gov.vn/noidung/tintuc/PublishingImages/OldImages/images/Diep/TTHCM/bac-ho-y-thuc-dan-chu.jp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Lúc sinh thời, Chủ tịch Hồ Chí Minh luôn quan tâm đến công tác giáo dục, rèn luyện đạo đức cách mạng cho đoàn viên thanh niên. Ảnh minh họ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4939" y="2506371"/>
            <a:ext cx="3297061" cy="2446629"/>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7"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8" name="Rectangle 17"/>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357716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35</a:t>
            </a:fld>
            <a:endParaRPr lang="en-US"/>
          </a:p>
        </p:txBody>
      </p:sp>
      <p:sp>
        <p:nvSpPr>
          <p:cNvPr id="9" name="Text Box 36"/>
          <p:cNvSpPr txBox="1">
            <a:spLocks noChangeArrowheads="1"/>
          </p:cNvSpPr>
          <p:nvPr/>
        </p:nvSpPr>
        <p:spPr bwMode="auto">
          <a:xfrm>
            <a:off x="1371600" y="1164848"/>
            <a:ext cx="7391400" cy="86177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pc="-150" smtClean="0">
                <a:solidFill>
                  <a:srgbClr val="FF0000"/>
                </a:solidFill>
                <a:latin typeface="Times New Roman"/>
                <a:cs typeface="Times New Roman"/>
              </a:rPr>
              <a:t>2. Chủ nghĩa xã hội là điều kiện để đảm bảo nền độc lập dân tộc vững chắc</a:t>
            </a:r>
            <a:endParaRPr lang="en-US" sz="2500" spc="-150">
              <a:solidFill>
                <a:srgbClr val="FF0000"/>
              </a:solidFill>
              <a:latin typeface="Times New Roman"/>
              <a:cs typeface="Times New Roman"/>
            </a:endParaRP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4724400" y="1828800"/>
            <a:ext cx="4191001" cy="37856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lnSpc>
                <a:spcPct val="150000"/>
              </a:lnSpc>
            </a:pPr>
            <a:r>
              <a:rPr lang="en-US" sz="3200" smtClean="0">
                <a:solidFill>
                  <a:srgbClr val="002060"/>
                </a:solidFill>
                <a:latin typeface="Times New Roman"/>
                <a:cs typeface="Times New Roman"/>
              </a:rPr>
              <a:t>Chủ nghĩa xã hội làm cho đất nước phát triển mạnh mẽ, tạo nền tảng vững chắc để bảo vệ độc lập dân tộc.</a:t>
            </a:r>
          </a:p>
        </p:txBody>
      </p:sp>
      <p:sp>
        <p:nvSpPr>
          <p:cNvPr id="2" name="AutoShape 2" descr="bac ho va quyen con nguo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bac ho va quyen con nguo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bac ho va quyen con nguo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Ho Chi Minh voi viec khang dinh nhung gia tri cot lo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Ho Chi Minh voi viec khang dinh  nhung gia tri cot loi 2"/>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2" descr="https://tuyenquang.gov.vn/noidung/tintuc/PublishingImages/OldImages/images/Diep/TTHCM/bac-ho-y-thuc-dan-chu.jp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Lúc sinh thời, Chủ tịch Hồ Chí Minh luôn quan tâm đến công tác giáo dục, rèn luyện đạo đức cách mạng cho đoàn viên thanh niên. Ảnh minh họ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4939" y="2506371"/>
            <a:ext cx="3297061" cy="244662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7" name="Rectangle 16"/>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062042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36</a:t>
            </a:fld>
            <a:endParaRPr lang="en-US"/>
          </a:p>
        </p:txBody>
      </p:sp>
      <p:sp>
        <p:nvSpPr>
          <p:cNvPr id="9" name="Text Box 36"/>
          <p:cNvSpPr txBox="1">
            <a:spLocks noChangeArrowheads="1"/>
          </p:cNvSpPr>
          <p:nvPr/>
        </p:nvSpPr>
        <p:spPr bwMode="auto">
          <a:xfrm>
            <a:off x="1371600" y="1164848"/>
            <a:ext cx="7620000" cy="861774"/>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500" spc="-150" smtClean="0">
                <a:solidFill>
                  <a:srgbClr val="FF0000"/>
                </a:solidFill>
                <a:latin typeface="Times New Roman"/>
                <a:cs typeface="Times New Roman"/>
              </a:rPr>
              <a:t>3. Điều kiện để đảm bảo độc lập dân tộc gắn liền với chủ nghĩa xã hội</a:t>
            </a:r>
            <a:endParaRPr lang="en-US" sz="2500" spc="-150">
              <a:solidFill>
                <a:srgbClr val="FF0000"/>
              </a:solidFill>
              <a:latin typeface="Times New Roman"/>
              <a:cs typeface="Times New Roman"/>
            </a:endParaRPr>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4800599" y="1828800"/>
            <a:ext cx="4191001" cy="3892861"/>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lnSpc>
                <a:spcPct val="150000"/>
              </a:lnSpc>
            </a:pPr>
            <a:r>
              <a:rPr lang="en-US" sz="2800" smtClean="0">
                <a:solidFill>
                  <a:srgbClr val="002060"/>
                </a:solidFill>
                <a:latin typeface="Times New Roman"/>
                <a:cs typeface="Times New Roman"/>
              </a:rPr>
              <a:t>- Vai trò lãnh đạo của Đảng Cộng sản.</a:t>
            </a:r>
          </a:p>
          <a:p>
            <a:pPr algn="just">
              <a:lnSpc>
                <a:spcPct val="150000"/>
              </a:lnSpc>
            </a:pPr>
            <a:r>
              <a:rPr lang="en-US" sz="2800" smtClean="0">
                <a:solidFill>
                  <a:srgbClr val="002060"/>
                </a:solidFill>
                <a:latin typeface="Times New Roman"/>
                <a:cs typeface="Times New Roman"/>
              </a:rPr>
              <a:t>- Củng cố và tăng cường khối đại đoàn kết dân tộc.</a:t>
            </a:r>
          </a:p>
          <a:p>
            <a:pPr algn="just">
              <a:lnSpc>
                <a:spcPct val="150000"/>
              </a:lnSpc>
            </a:pPr>
            <a:r>
              <a:rPr lang="en-US" sz="2800" smtClean="0">
                <a:solidFill>
                  <a:srgbClr val="002060"/>
                </a:solidFill>
                <a:latin typeface="Times New Roman"/>
                <a:cs typeface="Times New Roman"/>
              </a:rPr>
              <a:t>- Đoàn kết, gắn bó chặt chẽ với cách mạng thế giới.</a:t>
            </a:r>
          </a:p>
        </p:txBody>
      </p:sp>
      <p:sp>
        <p:nvSpPr>
          <p:cNvPr id="2" name="AutoShape 2" descr="bac ho va quyen con nguo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bac ho va quyen con nguo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bac ho va quyen con nguo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Ho Chi Minh voi viec khang dinh nhung gia tri cot lo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Ho Chi Minh voi viec khang dinh  nhung gia tri cot loi 2"/>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2" descr="https://tuyenquang.gov.vn/noidung/tintuc/PublishingImages/OldImages/images/Diep/TTHCM/bac-ho-y-thuc-dan-chu.jp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Lúc sinh thời, Chủ tịch Hồ Chí Minh luôn quan tâm đến công tác giáo dục, rèn luyện đạo đức cách mạng cho đoàn viên thanh niên. Ảnh minh họ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4939" y="2506371"/>
            <a:ext cx="3297061" cy="244662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7" name="Rectangle 16"/>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802475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1000"/>
                                        <p:tgtEl>
                                          <p:spTgt spid="15">
                                            <p:txEl>
                                              <p:pRg st="0" end="0"/>
                                            </p:txEl>
                                          </p:spTgt>
                                        </p:tgtEl>
                                      </p:cBhvr>
                                    </p:animEffect>
                                    <p:anim calcmode="lin" valueType="num">
                                      <p:cBhvr>
                                        <p:cTn id="8"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1" end="1"/>
                                            </p:txEl>
                                          </p:spTgt>
                                        </p:tgtEl>
                                        <p:attrNameLst>
                                          <p:attrName>style.visibility</p:attrName>
                                        </p:attrNameLst>
                                      </p:cBhvr>
                                      <p:to>
                                        <p:strVal val="visible"/>
                                      </p:to>
                                    </p:set>
                                    <p:animEffect transition="in" filter="fade">
                                      <p:cBhvr>
                                        <p:cTn id="14" dur="1000"/>
                                        <p:tgtEl>
                                          <p:spTgt spid="15">
                                            <p:txEl>
                                              <p:pRg st="1" end="1"/>
                                            </p:txEl>
                                          </p:spTgt>
                                        </p:tgtEl>
                                      </p:cBhvr>
                                    </p:animEffect>
                                    <p:anim calcmode="lin" valueType="num">
                                      <p:cBhvr>
                                        <p:cTn id="15"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2" end="2"/>
                                            </p:txEl>
                                          </p:spTgt>
                                        </p:tgtEl>
                                        <p:attrNameLst>
                                          <p:attrName>style.visibility</p:attrName>
                                        </p:attrNameLst>
                                      </p:cBhvr>
                                      <p:to>
                                        <p:strVal val="visible"/>
                                      </p:to>
                                    </p:set>
                                    <p:animEffect transition="in" filter="fade">
                                      <p:cBhvr>
                                        <p:cTn id="21" dur="1000"/>
                                        <p:tgtEl>
                                          <p:spTgt spid="15">
                                            <p:txEl>
                                              <p:pRg st="2" end="2"/>
                                            </p:txEl>
                                          </p:spTgt>
                                        </p:tgtEl>
                                      </p:cBhvr>
                                    </p:animEffect>
                                    <p:anim calcmode="lin" valueType="num">
                                      <p:cBhvr>
                                        <p:cTn id="22"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9/12/2025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37</a:t>
            </a:fld>
            <a:endParaRPr lang="en-US"/>
          </a:p>
        </p:txBody>
      </p:sp>
      <p:sp>
        <p:nvSpPr>
          <p:cNvPr id="7" name="Title 1"/>
          <p:cNvSpPr txBox="1">
            <a:spLocks/>
          </p:cNvSpPr>
          <p:nvPr/>
        </p:nvSpPr>
        <p:spPr>
          <a:xfrm>
            <a:off x="381000" y="34671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2800" b="1" smtClean="0">
                <a:solidFill>
                  <a:srgbClr val="FF0000"/>
                </a:solidFill>
                <a:latin typeface="Times New Roman" pitchFamily="18" charset="0"/>
                <a:cs typeface="Times New Roman" pitchFamily="18" charset="0"/>
              </a:rPr>
              <a:t>IV. VẬN DỤNG TƯ TƯỞNG HỒ CHÍ MINH                       VỀ ĐỘC LẬP DÂN TỘC GẮN LIỀN VỚI                      CHỦ NGHĨA XÃ HỘI TRONG SỰ NGHIỆP               CÁCH MẠNG VIỆT NAM GIAI ĐOẠN HIỆN NAY</a:t>
            </a:r>
            <a:endParaRPr lang="en-US" sz="2800" b="1" dirty="0">
              <a:solidFill>
                <a:srgbClr val="FF0000"/>
              </a:solidFill>
              <a:latin typeface="Times New Roman" pitchFamily="18" charset="0"/>
              <a:cs typeface="Times New Roman" pitchFamily="18" charset="0"/>
            </a:endParaRP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8" name="Rectangle 7"/>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64485460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58A153D-734D-405D-8FB4-686C2D8CE407}" type="slidenum">
              <a:rPr lang="en-US" smtClean="0"/>
              <a:pPr/>
              <a:t>38</a:t>
            </a:fld>
            <a:endParaRPr lang="en-US"/>
          </a:p>
        </p:txBody>
      </p:sp>
      <p:cxnSp>
        <p:nvCxnSpPr>
          <p:cNvPr id="11" name="Straight Connector 10"/>
          <p:cNvCxnSpPr/>
          <p:nvPr/>
        </p:nvCxnSpPr>
        <p:spPr>
          <a:xfrm>
            <a:off x="1133300" y="1164848"/>
            <a:ext cx="0" cy="489244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76201" y="2392341"/>
            <a:ext cx="990600" cy="147732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smtClean="0">
                <a:solidFill>
                  <a:srgbClr val="FF0000"/>
                </a:solidFill>
                <a:latin typeface="Times New Roman"/>
                <a:cs typeface="Times New Roman"/>
              </a:rPr>
              <a:t>Nội dung</a:t>
            </a:r>
            <a:endParaRPr lang="en-US" sz="3000" dirty="0">
              <a:solidFill>
                <a:srgbClr val="FF0000"/>
              </a:solidFill>
              <a:latin typeface="Times New Roman"/>
              <a:cs typeface="Times New Roman"/>
            </a:endParaRPr>
          </a:p>
        </p:txBody>
      </p:sp>
      <p:sp>
        <p:nvSpPr>
          <p:cNvPr id="15" name="Text Box 36"/>
          <p:cNvSpPr txBox="1">
            <a:spLocks noChangeArrowheads="1"/>
          </p:cNvSpPr>
          <p:nvPr/>
        </p:nvSpPr>
        <p:spPr bwMode="auto">
          <a:xfrm>
            <a:off x="1524000" y="1139078"/>
            <a:ext cx="7391401" cy="5262979"/>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lnSpc>
                <a:spcPct val="150000"/>
              </a:lnSpc>
            </a:pPr>
            <a:r>
              <a:rPr lang="en-US" sz="2800" smtClean="0">
                <a:solidFill>
                  <a:srgbClr val="002060"/>
                </a:solidFill>
                <a:latin typeface="Times New Roman"/>
                <a:cs typeface="Times New Roman"/>
              </a:rPr>
              <a:t>1. Kiên định mục tiêu và con đường cách mạng mà Hồ Chí Minh đã xác định.</a:t>
            </a:r>
          </a:p>
          <a:p>
            <a:pPr algn="just">
              <a:lnSpc>
                <a:spcPct val="150000"/>
              </a:lnSpc>
            </a:pPr>
            <a:r>
              <a:rPr lang="en-US" sz="2800" smtClean="0">
                <a:solidFill>
                  <a:srgbClr val="002060"/>
                </a:solidFill>
                <a:latin typeface="Times New Roman"/>
                <a:cs typeface="Times New Roman"/>
              </a:rPr>
              <a:t>2. Phát huy sức mạnh dân chủ xã hội chủ nghĩa.</a:t>
            </a:r>
          </a:p>
          <a:p>
            <a:pPr algn="just">
              <a:lnSpc>
                <a:spcPct val="150000"/>
              </a:lnSpc>
            </a:pPr>
            <a:r>
              <a:rPr lang="en-US" sz="2800" smtClean="0">
                <a:solidFill>
                  <a:srgbClr val="002060"/>
                </a:solidFill>
                <a:latin typeface="Times New Roman"/>
                <a:cs typeface="Times New Roman"/>
              </a:rPr>
              <a:t>3. Củng cố, kiện toàn, phát huy sức mạnh và hiệu quả hoạt động của toàn bộ hệ thống chính trị.</a:t>
            </a:r>
          </a:p>
          <a:p>
            <a:pPr algn="just">
              <a:lnSpc>
                <a:spcPct val="150000"/>
              </a:lnSpc>
            </a:pPr>
            <a:r>
              <a:rPr lang="en-US" sz="2800" smtClean="0">
                <a:solidFill>
                  <a:srgbClr val="002060"/>
                </a:solidFill>
                <a:latin typeface="Times New Roman"/>
                <a:cs typeface="Times New Roman"/>
              </a:rPr>
              <a:t>4. Đấu tranh chống những biểu hiện suy thoái về tư tưởng chính trị, đạo đức, lối sống và “tự diễn biến”, “tự chuyển hóa” trong nội bộ.</a:t>
            </a:r>
          </a:p>
        </p:txBody>
      </p:sp>
      <p:sp>
        <p:nvSpPr>
          <p:cNvPr id="2" name="AutoShape 2" descr="bac ho va quyen con nguo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bac ho va quyen con nguo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bac ho va quyen con nguo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Ho Chi Minh voi viec khang dinh nhung gia tri cot loi"/>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0" descr="Ho Chi Minh voi viec khang dinh  nhung gia tri cot loi 2"/>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2" descr="https://tuyenquang.gov.vn/noidung/tintuc/PublishingImages/OldImages/images/Diep/TTHCM/bac-ho-y-thuc-dan-chu.jp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độc lập dân tộc và chủ nghĩa xã hội</a:t>
            </a:r>
            <a:endParaRPr lang="en-US" sz="2000" b="1" i="1" dirty="0">
              <a:solidFill>
                <a:srgbClr val="FFFF00"/>
              </a:solidFill>
              <a:latin typeface="Times New Roman"/>
              <a:cs typeface="Times New Roman"/>
            </a:endParaRPr>
          </a:p>
        </p:txBody>
      </p:sp>
      <p:sp>
        <p:nvSpPr>
          <p:cNvPr id="17" name="Rectangle 16"/>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0"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726926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1000"/>
                                        <p:tgtEl>
                                          <p:spTgt spid="15">
                                            <p:txEl>
                                              <p:pRg st="0" end="0"/>
                                            </p:txEl>
                                          </p:spTgt>
                                        </p:tgtEl>
                                      </p:cBhvr>
                                    </p:animEffect>
                                    <p:anim calcmode="lin" valueType="num">
                                      <p:cBhvr>
                                        <p:cTn id="8"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1" end="1"/>
                                            </p:txEl>
                                          </p:spTgt>
                                        </p:tgtEl>
                                        <p:attrNameLst>
                                          <p:attrName>style.visibility</p:attrName>
                                        </p:attrNameLst>
                                      </p:cBhvr>
                                      <p:to>
                                        <p:strVal val="visible"/>
                                      </p:to>
                                    </p:set>
                                    <p:animEffect transition="in" filter="fade">
                                      <p:cBhvr>
                                        <p:cTn id="14" dur="1000"/>
                                        <p:tgtEl>
                                          <p:spTgt spid="15">
                                            <p:txEl>
                                              <p:pRg st="1" end="1"/>
                                            </p:txEl>
                                          </p:spTgt>
                                        </p:tgtEl>
                                      </p:cBhvr>
                                    </p:animEffect>
                                    <p:anim calcmode="lin" valueType="num">
                                      <p:cBhvr>
                                        <p:cTn id="15"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2" end="2"/>
                                            </p:txEl>
                                          </p:spTgt>
                                        </p:tgtEl>
                                        <p:attrNameLst>
                                          <p:attrName>style.visibility</p:attrName>
                                        </p:attrNameLst>
                                      </p:cBhvr>
                                      <p:to>
                                        <p:strVal val="visible"/>
                                      </p:to>
                                    </p:set>
                                    <p:animEffect transition="in" filter="fade">
                                      <p:cBhvr>
                                        <p:cTn id="21" dur="1000"/>
                                        <p:tgtEl>
                                          <p:spTgt spid="15">
                                            <p:txEl>
                                              <p:pRg st="2" end="2"/>
                                            </p:txEl>
                                          </p:spTgt>
                                        </p:tgtEl>
                                      </p:cBhvr>
                                    </p:animEffect>
                                    <p:anim calcmode="lin" valueType="num">
                                      <p:cBhvr>
                                        <p:cTn id="22"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5">
                                            <p:txEl>
                                              <p:pRg st="3" end="3"/>
                                            </p:txEl>
                                          </p:spTgt>
                                        </p:tgtEl>
                                        <p:attrNameLst>
                                          <p:attrName>style.visibility</p:attrName>
                                        </p:attrNameLst>
                                      </p:cBhvr>
                                      <p:to>
                                        <p:strVal val="visible"/>
                                      </p:to>
                                    </p:set>
                                    <p:animEffect transition="in" filter="fade">
                                      <p:cBhvr>
                                        <p:cTn id="28" dur="1000"/>
                                        <p:tgtEl>
                                          <p:spTgt spid="15">
                                            <p:txEl>
                                              <p:pRg st="3" end="3"/>
                                            </p:txEl>
                                          </p:spTgt>
                                        </p:tgtEl>
                                      </p:cBhvr>
                                    </p:animEffect>
                                    <p:anim calcmode="lin" valueType="num">
                                      <p:cBhvr>
                                        <p:cTn id="29"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2913643"/>
            <a:ext cx="7467600" cy="667757"/>
          </a:xfrm>
        </p:spPr>
        <p:txBody>
          <a:bodyPr>
            <a:noAutofit/>
          </a:bodyPr>
          <a:lstStyle/>
          <a:p>
            <a:pPr marL="0" indent="0" algn="ctr">
              <a:lnSpc>
                <a:spcPct val="100000"/>
              </a:lnSpc>
              <a:spcBef>
                <a:spcPts val="0"/>
              </a:spcBef>
              <a:buNone/>
            </a:pPr>
            <a:r>
              <a:rPr lang="en-US" sz="4000" b="1" dirty="0" err="1" smtClean="0">
                <a:solidFill>
                  <a:srgbClr val="FF0000"/>
                </a:solidFill>
                <a:latin typeface="Times New Roman" pitchFamily="18" charset="0"/>
                <a:cs typeface="Times New Roman" pitchFamily="18" charset="0"/>
              </a:rPr>
              <a:t>Chúc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các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em</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vui</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khỏe</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và</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học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tốt</a:t>
            </a:r>
            <a:r>
              <a:rPr lang="en-US" sz="4000" b="1" dirty="0" smtClean="0">
                <a:solidFill>
                  <a:srgbClr val="FF0000"/>
                </a:solidFill>
                <a:latin typeface="Times New Roman" pitchFamily="18" charset="0"/>
                <a:cs typeface="Times New Roman" pitchFamily="18" charset="0"/>
              </a:rPr>
              <a:t>!</a:t>
            </a: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39</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3</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2194649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1772</TotalTime>
  <Words>3282</Words>
  <Application>Microsoft Office PowerPoint</Application>
  <PresentationFormat>On-screen Show (4:3)</PresentationFormat>
  <Paragraphs>293</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F87</dc:creator>
  <cp:lastModifiedBy>PANASONIC</cp:lastModifiedBy>
  <cp:revision>386</cp:revision>
  <dcterms:created xsi:type="dcterms:W3CDTF">2014-12-31T03:01:48Z</dcterms:created>
  <dcterms:modified xsi:type="dcterms:W3CDTF">2025-09-12T08:38:16Z</dcterms:modified>
</cp:coreProperties>
</file>