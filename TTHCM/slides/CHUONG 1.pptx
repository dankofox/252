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sldIdLst>
    <p:sldId id="257" r:id="rId2"/>
    <p:sldId id="258" r:id="rId3"/>
    <p:sldId id="339" r:id="rId4"/>
    <p:sldId id="321" r:id="rId5"/>
    <p:sldId id="259" r:id="rId6"/>
    <p:sldId id="338" r:id="rId7"/>
    <p:sldId id="340" r:id="rId8"/>
    <p:sldId id="260" r:id="rId9"/>
    <p:sldId id="335" r:id="rId10"/>
    <p:sldId id="329" r:id="rId11"/>
    <p:sldId id="336" r:id="rId12"/>
    <p:sldId id="331" r:id="rId13"/>
    <p:sldId id="330" r:id="rId14"/>
    <p:sldId id="337" r:id="rId15"/>
    <p:sldId id="341" r:id="rId16"/>
    <p:sldId id="323" r:id="rId17"/>
    <p:sldId id="332" r:id="rId18"/>
    <p:sldId id="333" r:id="rId19"/>
    <p:sldId id="334" r:id="rId20"/>
    <p:sldId id="34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61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12/20/2024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12/20/2024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12/20/2024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12/20/2024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12/20/2024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12/20/2024</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12/20/2024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12/20/2024</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12/20/2024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12/20/2024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12/20/2024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12/20/2024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12/20/2024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914400"/>
            <a:ext cx="8458200" cy="3886200"/>
          </a:xfrm>
        </p:spPr>
        <p:txBody>
          <a:bodyPr>
            <a:noAutofit/>
          </a:bodyPr>
          <a:lstStyle/>
          <a:p>
            <a:pPr>
              <a:lnSpc>
                <a:spcPct val="150000"/>
              </a:lnSpc>
              <a:spcBef>
                <a:spcPts val="0"/>
              </a:spcBef>
            </a:pP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r>
              <a:rPr lang="en-US" sz="3200" b="1" smtClean="0">
                <a:solidFill>
                  <a:srgbClr val="FF0000"/>
                </a:solidFill>
                <a:latin typeface="Times New Roman" pitchFamily="18" charset="0"/>
                <a:cs typeface="Times New Roman" pitchFamily="18" charset="0"/>
              </a:rPr>
              <a:t>KHÁI NIỆM, ĐỐI TƯỢNG, PHƯƠNG PHÁP NGHIÊN CỨU VÀ Ý NGHĨA HỌC TẬP </a:t>
            </a:r>
          </a:p>
          <a:p>
            <a:pPr>
              <a:lnSpc>
                <a:spcPct val="150000"/>
              </a:lnSpc>
              <a:spcBef>
                <a:spcPts val="0"/>
              </a:spcBef>
            </a:pPr>
            <a:r>
              <a:rPr lang="en-US" sz="3200" b="1" smtClean="0">
                <a:solidFill>
                  <a:srgbClr val="FF0000"/>
                </a:solidFill>
                <a:latin typeface="Times New Roman" pitchFamily="18" charset="0"/>
                <a:cs typeface="Times New Roman" pitchFamily="18" charset="0"/>
              </a:rPr>
              <a:t>MÔN TƯ TƯỞNG HỒ CHÍ MINH</a:t>
            </a: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200" b="1" dirty="0">
              <a:solidFill>
                <a:srgbClr val="FF000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5" name="Rectangle 4"/>
          <p:cNvSpPr/>
          <p:nvPr/>
        </p:nvSpPr>
        <p:spPr>
          <a:xfrm>
            <a:off x="0" y="0"/>
            <a:ext cx="9144000" cy="1143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Góp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phần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trang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bị</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kiến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một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số</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vấn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chung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môn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590800"/>
            <a:ext cx="5735637" cy="169277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Có</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được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duy</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kỹ</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năng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đúng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đắn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phù</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hợp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tích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cả</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mặt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lý</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luận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thực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tiễn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vấn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đặt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ra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cuộc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sống</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2971800" y="4327029"/>
            <a:ext cx="6040437" cy="169277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Thấy</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rõ</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vai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trò</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Chủ</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tịch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a:t>
            </a:r>
          </a:p>
          <a:p>
            <a:pPr algn="just"/>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cố</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niềm</a:t>
            </a:r>
            <a:r>
              <a:rPr lang="en-US" sz="2600" dirty="0" smtClean="0">
                <a:solidFill>
                  <a:srgbClr val="002060"/>
                </a:solidFill>
                <a:latin typeface="Times New Roman" panose="02020603050405020304" pitchFamily="18" charset="0"/>
                <a:cs typeface="Times New Roman" panose="02020603050405020304" pitchFamily="18" charset="0"/>
              </a:rPr>
              <a:t> tin </a:t>
            </a:r>
            <a:r>
              <a:rPr lang="en-US" sz="2600" dirty="0" err="1" smtClean="0">
                <a:solidFill>
                  <a:srgbClr val="002060"/>
                </a:solidFill>
                <a:latin typeface="Times New Roman" panose="02020603050405020304" pitchFamily="18" charset="0"/>
                <a:cs typeface="Times New Roman" panose="02020603050405020304" pitchFamily="18" charset="0"/>
              </a:rPr>
              <a:t>vào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Đảng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chế</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độ</a:t>
            </a:r>
            <a:r>
              <a:rPr lang="en-US" sz="2600" dirty="0" smtClean="0">
                <a:solidFill>
                  <a:srgbClr val="002060"/>
                </a:solidFill>
                <a:latin typeface="Times New Roman" panose="02020603050405020304" pitchFamily="18" charset="0"/>
                <a:cs typeface="Times New Roman" panose="02020603050405020304" pitchFamily="18" charset="0"/>
              </a:rPr>
              <a:t>.</a:t>
            </a:r>
          </a:p>
          <a:p>
            <a:pPr algn="just"/>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Tiếp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thêm</a:t>
            </a:r>
            <a:r>
              <a:rPr lang="en-US" sz="2600" dirty="0" smtClean="0">
                <a:solidFill>
                  <a:srgbClr val="002060"/>
                </a:solidFill>
                <a:latin typeface="Times New Roman" panose="02020603050405020304" pitchFamily="18" charset="0"/>
                <a:cs typeface="Times New Roman" panose="02020603050405020304" pitchFamily="18" charset="0"/>
              </a:rPr>
              <a:t> ý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mạnh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thực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hiện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mục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tiêu</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cách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mạng</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789644" y="1371600"/>
            <a:ext cx="6163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I. </a:t>
            </a:r>
            <a:r>
              <a:rPr lang="en-US" sz="2600" dirty="0" err="1" smtClean="0">
                <a:solidFill>
                  <a:srgbClr val="FF0000"/>
                </a:solidFill>
                <a:latin typeface="Times New Roman"/>
                <a:cs typeface="Times New Roman"/>
              </a:rPr>
              <a:t>Khái</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niệm</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3268144" y="2384048"/>
            <a:ext cx="49232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II. </a:t>
            </a:r>
            <a:r>
              <a:rPr lang="en-US" sz="2600" dirty="0" err="1" smtClean="0">
                <a:solidFill>
                  <a:srgbClr val="FF0000"/>
                </a:solidFill>
                <a:latin typeface="Times New Roman"/>
                <a:cs typeface="Times New Roman"/>
              </a:rPr>
              <a:t>Đối</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tượng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nghiên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cứu</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của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môn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học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443277" y="5127248"/>
            <a:ext cx="4024323"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IV. Ý </a:t>
            </a:r>
            <a:r>
              <a:rPr lang="en-US" sz="2600" dirty="0" err="1" smtClean="0">
                <a:solidFill>
                  <a:srgbClr val="FF0000"/>
                </a:solidFill>
                <a:latin typeface="Times New Roman"/>
                <a:cs typeface="Times New Roman"/>
              </a:rPr>
              <a:t>nghĩa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của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việc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học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tập</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môn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653474"/>
            <a:ext cx="36030" cy="3923853"/>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6534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5575078"/>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3230135" y="3810000"/>
            <a:ext cx="40850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III. </a:t>
            </a:r>
            <a:r>
              <a:rPr lang="en-US" sz="2600" dirty="0" err="1" smtClean="0">
                <a:solidFill>
                  <a:srgbClr val="FF0000"/>
                </a:solidFill>
                <a:latin typeface="Times New Roman"/>
                <a:cs typeface="Times New Roman"/>
              </a:rPr>
              <a:t>Phương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pháp</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nghiên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cứu</a:t>
            </a:r>
            <a:endParaRPr lang="en-US" sz="2600" dirty="0">
              <a:solidFill>
                <a:srgbClr val="FF0000"/>
              </a:solidFill>
              <a:latin typeface="Times New Roman"/>
              <a:cs typeface="Times New Roman"/>
            </a:endParaRPr>
          </a:p>
        </p:txBody>
      </p:sp>
      <p:cxnSp>
        <p:nvCxnSpPr>
          <p:cNvPr id="19" name="Straight Arrow Connector 18"/>
          <p:cNvCxnSpPr/>
          <p:nvPr/>
        </p:nvCxnSpPr>
        <p:spPr>
          <a:xfrm>
            <a:off x="2171609" y="4114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177087" y="282107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02714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anim calcmode="lin" valueType="num">
                                      <p:cBhvr>
                                        <p:cTn id="59" dur="1000" fill="hold"/>
                                        <p:tgtEl>
                                          <p:spTgt spid="13"/>
                                        </p:tgtEl>
                                        <p:attrNameLst>
                                          <p:attrName>ppt_x</p:attrName>
                                        </p:attrNameLst>
                                      </p:cBhvr>
                                      <p:tavLst>
                                        <p:tav tm="0">
                                          <p:val>
                                            <p:strVal val="#ppt_x"/>
                                          </p:val>
                                        </p:tav>
                                        <p:tav tm="100000">
                                          <p:val>
                                            <p:strVal val="#ppt_x"/>
                                          </p:val>
                                        </p:tav>
                                      </p:tavLst>
                                    </p:anim>
                                    <p:anim calcmode="lin" valueType="num">
                                      <p:cBhvr>
                                        <p:cTn id="6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381000" y="289560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smtClean="0">
                <a:solidFill>
                  <a:srgbClr val="FF0000"/>
                </a:solidFill>
                <a:latin typeface="Times New Roman" pitchFamily="18" charset="0"/>
                <a:cs typeface="Times New Roman" pitchFamily="18" charset="0"/>
              </a:rPr>
              <a:t>I. KHÁI NIỆM TƯ TƯỞNG HỒ CHÍ MINH</a:t>
            </a:r>
            <a:endParaRPr lang="en-US" sz="3000" b="1" dirty="0">
              <a:solidFill>
                <a:srgbClr val="FF0000"/>
              </a:solidFill>
              <a:latin typeface="Times New Roman" pitchFamily="18" charset="0"/>
              <a:cs typeface="Times New Roman" pitchFamily="18" charset="0"/>
            </a:endParaRPr>
          </a:p>
        </p:txBody>
      </p:sp>
      <p:sp>
        <p:nvSpPr>
          <p:cNvPr id="10" name="Rectangle 9"/>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8" name="Text Box 3"/>
          <p:cNvSpPr txBox="1">
            <a:spLocks noChangeArrowheads="1"/>
          </p:cNvSpPr>
          <p:nvPr/>
        </p:nvSpPr>
        <p:spPr bwMode="auto">
          <a:xfrm>
            <a:off x="3314299" y="1354753"/>
            <a:ext cx="582970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a:r>
              <a:rPr lang="de-DE" sz="2600" i="1" dirty="0" smtClean="0">
                <a:solidFill>
                  <a:srgbClr val="000099"/>
                </a:solidFill>
                <a:latin typeface="Times New Roman" pitchFamily="18" charset="0"/>
                <a:cs typeface="Times New Roman" pitchFamily="18" charset="0"/>
              </a:rPr>
              <a:t>“</a:t>
            </a:r>
            <a:r>
              <a:rPr lang="de-DE" sz="2600" i="1" dirty="0">
                <a:solidFill>
                  <a:srgbClr val="000099"/>
                </a:solidFill>
                <a:latin typeface="Times New Roman" pitchFamily="18" charset="0"/>
                <a:cs typeface="Times New Roman" pitchFamily="18" charset="0"/>
              </a:rPr>
              <a:t>Tư tưởng Hồ Chí Minh là một hệ thống quan điểm toàn diện và sâu sắc về những vấn đề cơ bản của cách mạng Việt Nam, kết quả của sự vận dụng và phát triển sáng tạo chủ nghĩa Mác - Lênin vào điều kiện cụ thể của nước ta, kế thừa và phát triển các giá trị truyền thống tốt đẹp của dân tộc, tiếp thu tinh hoa văn hóa nhân loại; là tài sản tinh thần vô cùng to lớn và quý giá của Đảng và dân tộc ta, mãi mãi soi đường cho sự nghiệp cách mạng của nhân dân ta giành thắng lợi”. </a:t>
            </a:r>
            <a:endParaRPr lang="en-US" sz="2600" dirty="0">
              <a:solidFill>
                <a:srgbClr val="000099"/>
              </a:solidFill>
              <a:latin typeface="Times New Roman" pitchFamily="18" charset="0"/>
              <a:cs typeface="Times New Roman" pitchFamily="18" charset="0"/>
            </a:endParaRPr>
          </a:p>
        </p:txBody>
      </p:sp>
      <p:sp>
        <p:nvSpPr>
          <p:cNvPr id="9" name="AutoShape 2" descr="https://nhandan.com.vn/imgold/media/k2/items/src/4307/cc75d666c3dbbaccb63eb351e23e8e3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https://nhandan.com.vn/imgold/media/k2/items/src/4307/cc75d666c3dbbaccb63eb351e23e8e3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baochinhphu.vn/Uploaded_VGP/nguyenductuan/20110112/Default%20Doan%20D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39169"/>
            <a:ext cx="3238099" cy="216143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6</a:t>
            </a:fld>
            <a:endParaRPr lang="en-US"/>
          </a:p>
        </p:txBody>
      </p:sp>
      <p:sp>
        <p:nvSpPr>
          <p:cNvPr id="10" name="Text Box 36"/>
          <p:cNvSpPr txBox="1">
            <a:spLocks noChangeArrowheads="1"/>
          </p:cNvSpPr>
          <p:nvPr/>
        </p:nvSpPr>
        <p:spPr bwMode="auto">
          <a:xfrm>
            <a:off x="377763" y="2438400"/>
            <a:ext cx="1298637" cy="230832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Phân</a:t>
            </a:r>
            <a:r>
              <a:rPr lang="en-US" sz="3600" b="1" dirty="0" smtClean="0">
                <a:solidFill>
                  <a:srgbClr val="FF0000"/>
                </a:solidFill>
                <a:latin typeface="Times New Roman"/>
                <a:cs typeface="Times New Roman"/>
              </a:rPr>
              <a:t> </a:t>
            </a:r>
            <a:r>
              <a:rPr lang="en-US" sz="3600" b="1" dirty="0" err="1" smtClean="0">
                <a:solidFill>
                  <a:srgbClr val="FF0000"/>
                </a:solidFill>
                <a:latin typeface="Times New Roman"/>
                <a:cs typeface="Times New Roman"/>
              </a:rPr>
              <a:t>tích</a:t>
            </a:r>
            <a:r>
              <a:rPr lang="en-US" sz="3600" b="1" dirty="0" smtClean="0">
                <a:solidFill>
                  <a:srgbClr val="FF0000"/>
                </a:solidFill>
                <a:latin typeface="Times New Roman"/>
                <a:cs typeface="Times New Roman"/>
              </a:rPr>
              <a:t> </a:t>
            </a:r>
            <a:r>
              <a:rPr lang="en-US" sz="3600" b="1" dirty="0" err="1" smtClean="0">
                <a:solidFill>
                  <a:srgbClr val="FF0000"/>
                </a:solidFill>
                <a:latin typeface="Times New Roman"/>
                <a:cs typeface="Times New Roman"/>
              </a:rPr>
              <a:t>khái</a:t>
            </a:r>
            <a:r>
              <a:rPr lang="en-US" sz="3600" b="1" dirty="0" smtClean="0">
                <a:solidFill>
                  <a:srgbClr val="FF0000"/>
                </a:solidFill>
                <a:latin typeface="Times New Roman"/>
                <a:cs typeface="Times New Roman"/>
              </a:rPr>
              <a:t> </a:t>
            </a:r>
            <a:r>
              <a:rPr lang="en-US" sz="3600" b="1" dirty="0" err="1" smtClean="0">
                <a:solidFill>
                  <a:srgbClr val="FF0000"/>
                </a:solidFill>
                <a:latin typeface="Times New Roman"/>
                <a:cs typeface="Times New Roman"/>
              </a:rPr>
              <a:t>niệm</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3094444" y="1371600"/>
            <a:ext cx="5592356"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Bản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chất</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khoa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học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cách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mạng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và</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nội</a:t>
            </a:r>
            <a:r>
              <a:rPr lang="en-US" sz="2600" dirty="0" smtClean="0">
                <a:solidFill>
                  <a:srgbClr val="FF0000"/>
                </a:solidFill>
                <a:latin typeface="Times New Roman"/>
                <a:cs typeface="Times New Roman"/>
              </a:rPr>
              <a:t> dung </a:t>
            </a:r>
            <a:r>
              <a:rPr lang="en-US" sz="2600" dirty="0" err="1" smtClean="0">
                <a:solidFill>
                  <a:srgbClr val="FF0000"/>
                </a:solidFill>
                <a:latin typeface="Times New Roman"/>
                <a:cs typeface="Times New Roman"/>
              </a:rPr>
              <a:t>cơ</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bản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của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352800" y="5298757"/>
            <a:ext cx="54864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 Ý </a:t>
            </a:r>
            <a:r>
              <a:rPr lang="en-US" sz="2600" dirty="0" err="1" smtClean="0">
                <a:solidFill>
                  <a:srgbClr val="FF0000"/>
                </a:solidFill>
                <a:latin typeface="Times New Roman"/>
                <a:cs typeface="Times New Roman"/>
              </a:rPr>
              <a:t>nghĩa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của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cxnSp>
        <p:nvCxnSpPr>
          <p:cNvPr id="15" name="Straight Connector 14"/>
          <p:cNvCxnSpPr/>
          <p:nvPr/>
        </p:nvCxnSpPr>
        <p:spPr>
          <a:xfrm>
            <a:off x="2174308" y="1653474"/>
            <a:ext cx="36030" cy="3923853"/>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6534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3200400" y="3352800"/>
            <a:ext cx="57912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Cơ</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sở</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hình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thành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cxnSp>
        <p:nvCxnSpPr>
          <p:cNvPr id="25" name="Straight Arrow Connector 24"/>
          <p:cNvCxnSpPr/>
          <p:nvPr/>
        </p:nvCxnSpPr>
        <p:spPr>
          <a:xfrm>
            <a:off x="2209800" y="3657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209800" y="5562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64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1000" fill="hold"/>
                                        <p:tgtEl>
                                          <p:spTgt spid="2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7</a:t>
            </a:fld>
            <a:endParaRPr lang="en-US"/>
          </a:p>
        </p:txBody>
      </p:sp>
      <p:sp>
        <p:nvSpPr>
          <p:cNvPr id="10" name="Text Box 36"/>
          <p:cNvSpPr txBox="1">
            <a:spLocks noChangeArrowheads="1"/>
          </p:cNvSpPr>
          <p:nvPr/>
        </p:nvSpPr>
        <p:spPr bwMode="auto">
          <a:xfrm>
            <a:off x="7540563" y="3055039"/>
            <a:ext cx="1298637"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a:solidFill>
                  <a:srgbClr val="FF0000"/>
                </a:solidFill>
                <a:latin typeface="Times New Roman"/>
                <a:cs typeface="Times New Roman"/>
              </a:rPr>
              <a:t>K</a:t>
            </a:r>
            <a:r>
              <a:rPr lang="en-US" sz="3600" b="1" dirty="0" err="1" smtClean="0">
                <a:solidFill>
                  <a:srgbClr val="FF0000"/>
                </a:solidFill>
                <a:latin typeface="Times New Roman"/>
                <a:cs typeface="Times New Roman"/>
              </a:rPr>
              <a:t>hái</a:t>
            </a:r>
            <a:r>
              <a:rPr lang="en-US" sz="3600" b="1" dirty="0" smtClean="0">
                <a:solidFill>
                  <a:srgbClr val="FF0000"/>
                </a:solidFill>
                <a:latin typeface="Times New Roman"/>
                <a:cs typeface="Times New Roman"/>
              </a:rPr>
              <a:t> </a:t>
            </a:r>
            <a:r>
              <a:rPr lang="en-US" sz="3600" b="1" dirty="0" err="1" smtClean="0">
                <a:solidFill>
                  <a:srgbClr val="FF0000"/>
                </a:solidFill>
                <a:latin typeface="Times New Roman"/>
                <a:cs typeface="Times New Roman"/>
              </a:rPr>
              <a:t>niệm</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162339" y="1164139"/>
            <a:ext cx="441960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err="1" smtClean="0">
                <a:solidFill>
                  <a:srgbClr val="C00000"/>
                </a:solidFill>
                <a:latin typeface="Times New Roman"/>
                <a:cs typeface="Times New Roman"/>
              </a:rPr>
              <a:t>Quá</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trình</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nhận</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thức</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về</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tư</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tưởng</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Hồ</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Chí</a:t>
            </a:r>
            <a:r>
              <a:rPr lang="en-US" sz="2600" dirty="0" smtClean="0">
                <a:solidFill>
                  <a:srgbClr val="C00000"/>
                </a:solidFill>
                <a:latin typeface="Times New Roman"/>
                <a:cs typeface="Times New Roman"/>
              </a:rPr>
              <a:t> Minh                   </a:t>
            </a:r>
            <a:r>
              <a:rPr lang="en-US" sz="2600" dirty="0" err="1" smtClean="0">
                <a:solidFill>
                  <a:srgbClr val="C00000"/>
                </a:solidFill>
                <a:latin typeface="Times New Roman"/>
                <a:cs typeface="Times New Roman"/>
              </a:rPr>
              <a:t>của</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Đảng</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Cộng</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sản</a:t>
            </a:r>
            <a:r>
              <a:rPr lang="en-US" sz="2600" dirty="0" smtClean="0">
                <a:solidFill>
                  <a:srgbClr val="C00000"/>
                </a:solidFill>
                <a:latin typeface="Times New Roman"/>
                <a:cs typeface="Times New Roman"/>
              </a:rPr>
              <a:t> </a:t>
            </a:r>
            <a:r>
              <a:rPr lang="en-US" sz="2600" dirty="0" err="1" smtClean="0">
                <a:solidFill>
                  <a:srgbClr val="C00000"/>
                </a:solidFill>
                <a:latin typeface="Times New Roman"/>
                <a:cs typeface="Times New Roman"/>
              </a:rPr>
              <a:t>Việt</a:t>
            </a:r>
            <a:r>
              <a:rPr lang="en-US" sz="2600" dirty="0" smtClean="0">
                <a:solidFill>
                  <a:srgbClr val="C00000"/>
                </a:solidFill>
                <a:latin typeface="Times New Roman"/>
                <a:cs typeface="Times New Roman"/>
              </a:rPr>
              <a:t> Nam</a:t>
            </a:r>
            <a:endParaRPr lang="en-US" sz="2600" dirty="0">
              <a:solidFill>
                <a:srgbClr val="C0000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
        <p:nvSpPr>
          <p:cNvPr id="2" name="Right Arrow 1"/>
          <p:cNvSpPr/>
          <p:nvPr/>
        </p:nvSpPr>
        <p:spPr>
          <a:xfrm>
            <a:off x="6372225" y="3312304"/>
            <a:ext cx="1019175" cy="685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36"/>
          <p:cNvSpPr txBox="1">
            <a:spLocks noChangeArrowheads="1"/>
          </p:cNvSpPr>
          <p:nvPr/>
        </p:nvSpPr>
        <p:spPr bwMode="auto">
          <a:xfrm>
            <a:off x="513522" y="2841010"/>
            <a:ext cx="4744278" cy="2492990"/>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Cương</a:t>
            </a:r>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lĩnh</a:t>
            </a:r>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chính</a:t>
            </a:r>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trị</a:t>
            </a:r>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đầu</a:t>
            </a:r>
            <a:r>
              <a:rPr lang="en-US" sz="2600" spc="-150" dirty="0" smtClean="0">
                <a:solidFill>
                  <a:srgbClr val="002060"/>
                </a:solidFill>
                <a:latin typeface="Times New Roman"/>
                <a:cs typeface="Times New Roman"/>
              </a:rPr>
              <a:t> </a:t>
            </a:r>
            <a:r>
              <a:rPr lang="en-US" sz="2600" spc="-150" dirty="0" err="1" smtClean="0">
                <a:solidFill>
                  <a:srgbClr val="002060"/>
                </a:solidFill>
                <a:latin typeface="Times New Roman"/>
                <a:cs typeface="Times New Roman"/>
              </a:rPr>
              <a:t>tiên</a:t>
            </a:r>
            <a:r>
              <a:rPr lang="en-US" sz="2600" spc="-150" dirty="0" smtClean="0">
                <a:solidFill>
                  <a:srgbClr val="002060"/>
                </a:solidFill>
                <a:latin typeface="Times New Roman"/>
                <a:cs typeface="Times New Roman"/>
              </a:rPr>
              <a:t> (1930).</a:t>
            </a:r>
          </a:p>
          <a:p>
            <a:pPr algn="just"/>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Đại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II (1951).</a:t>
            </a:r>
          </a:p>
          <a:p>
            <a:pPr algn="just"/>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Đại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VI (1986).</a:t>
            </a:r>
          </a:p>
          <a:p>
            <a:pPr algn="just"/>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Đại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VII (1991).</a:t>
            </a:r>
          </a:p>
          <a:p>
            <a:pPr algn="just"/>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Đại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IX (2001).</a:t>
            </a:r>
          </a:p>
          <a:p>
            <a:pPr algn="just"/>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Đại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XI (2011).</a:t>
            </a:r>
            <a:endParaRPr lang="en-US" sz="2600" dirty="0">
              <a:solidFill>
                <a:srgbClr val="002060"/>
              </a:solidFill>
              <a:latin typeface="Times New Roman"/>
              <a:cs typeface="Times New Roman"/>
            </a:endParaRPr>
          </a:p>
        </p:txBody>
      </p:sp>
      <p:sp>
        <p:nvSpPr>
          <p:cNvPr id="3" name="Right Brace 2"/>
          <p:cNvSpPr/>
          <p:nvPr/>
        </p:nvSpPr>
        <p:spPr>
          <a:xfrm>
            <a:off x="5486400" y="1443009"/>
            <a:ext cx="381000" cy="4424391"/>
          </a:xfrm>
          <a:prstGeom prst="rightBrace">
            <a:avLst>
              <a:gd name="adj1" fmla="val 37029"/>
              <a:gd name="adj2" fmla="val 50899"/>
            </a:avLst>
          </a:prstGeom>
          <a:noFill/>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299032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8600" y="1982428"/>
            <a:ext cx="4692035" cy="3580172"/>
          </a:xfrm>
        </p:spPr>
        <p:txBody>
          <a:bodyPr>
            <a:noAutofit/>
          </a:bodyPr>
          <a:lstStyle/>
          <a:p>
            <a:pPr algn="just" fontAlgn="base">
              <a:lnSpc>
                <a:spcPct val="130000"/>
              </a:lnSpc>
              <a:spcBef>
                <a:spcPts val="0"/>
              </a:spcBef>
            </a:pPr>
            <a:r>
              <a:rPr lang="vi-VN" sz="2400" smtClean="0">
                <a:solidFill>
                  <a:srgbClr val="002060"/>
                </a:solidFill>
                <a:latin typeface="Times New Roman" pitchFamily="18" charset="0"/>
                <a:cs typeface="Times New Roman" pitchFamily="18" charset="0"/>
              </a:rPr>
              <a:t>Ðại </a:t>
            </a:r>
            <a:r>
              <a:rPr lang="vi-VN" sz="2400">
                <a:solidFill>
                  <a:srgbClr val="002060"/>
                </a:solidFill>
                <a:latin typeface="Times New Roman" pitchFamily="18" charset="0"/>
                <a:cs typeface="Times New Roman" pitchFamily="18" charset="0"/>
              </a:rPr>
              <a:t>hội đồng,</a:t>
            </a:r>
          </a:p>
          <a:p>
            <a:pPr algn="just" fontAlgn="base">
              <a:lnSpc>
                <a:spcPct val="130000"/>
              </a:lnSpc>
              <a:spcBef>
                <a:spcPts val="0"/>
              </a:spcBef>
            </a:pPr>
            <a:r>
              <a:rPr lang="vi-VN" sz="2400" u="sng">
                <a:solidFill>
                  <a:srgbClr val="002060"/>
                </a:solidFill>
                <a:latin typeface="Times New Roman" pitchFamily="18" charset="0"/>
                <a:cs typeface="Times New Roman" pitchFamily="18" charset="0"/>
              </a:rPr>
              <a:t>Nhận thấy</a:t>
            </a:r>
            <a:r>
              <a:rPr lang="vi-VN" sz="2400">
                <a:solidFill>
                  <a:srgbClr val="002060"/>
                </a:solidFill>
                <a:latin typeface="Times New Roman" pitchFamily="18" charset="0"/>
                <a:cs typeface="Times New Roman" pitchFamily="18" charset="0"/>
              </a:rPr>
              <a:t> việc tổ chức kỷ niệm ngày sinh các nhân vật trí thức lỗi lạc và các danh nhân văn hóa trên phạm vi quốc tế góp phần thực hiện các mục tiêu của UNESCO và đóng góp vào sự hiểu biết trên thế giới</a:t>
            </a:r>
            <a:r>
              <a:rPr lang="vi-VN" sz="2400" smtClean="0">
                <a:solidFill>
                  <a:srgbClr val="002060"/>
                </a:solidFill>
                <a:latin typeface="Times New Roman" pitchFamily="18" charset="0"/>
                <a:cs typeface="Times New Roman" pitchFamily="18" charset="0"/>
              </a:rPr>
              <a:t>,</a:t>
            </a:r>
            <a:endParaRPr lang="vi-VN" sz="2400">
              <a:solidFill>
                <a:srgbClr val="002060"/>
              </a:solidFill>
              <a:latin typeface="Times New Roman" pitchFamily="18" charset="0"/>
              <a:cs typeface="Times New Roman" pitchFamily="18" charset="0"/>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8</a:t>
            </a:fld>
            <a:endParaRPr lang="en-US"/>
          </a:p>
        </p:txBody>
      </p:sp>
      <p:pic>
        <p:nvPicPr>
          <p:cNvPr id="2050"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2703871"/>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3335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8600" y="1905000"/>
            <a:ext cx="4952999" cy="3962400"/>
          </a:xfrm>
        </p:spPr>
        <p:txBody>
          <a:bodyPr>
            <a:noAutofit/>
          </a:bodyPr>
          <a:lstStyle/>
          <a:p>
            <a:pPr algn="just" fontAlgn="base">
              <a:lnSpc>
                <a:spcPct val="150000"/>
              </a:lnSpc>
            </a:pPr>
            <a:r>
              <a:rPr lang="vi-VN" sz="2400" u="sng" smtClean="0">
                <a:solidFill>
                  <a:srgbClr val="002060"/>
                </a:solidFill>
                <a:latin typeface="Times New Roman" pitchFamily="18" charset="0"/>
                <a:cs typeface="Times New Roman" pitchFamily="18" charset="0"/>
              </a:rPr>
              <a:t>Nhắc </a:t>
            </a:r>
            <a:r>
              <a:rPr lang="vi-VN" sz="2400" u="sng">
                <a:solidFill>
                  <a:srgbClr val="002060"/>
                </a:solidFill>
                <a:latin typeface="Times New Roman" pitchFamily="18" charset="0"/>
                <a:cs typeface="Times New Roman" pitchFamily="18" charset="0"/>
              </a:rPr>
              <a:t>lại</a:t>
            </a:r>
            <a:r>
              <a:rPr lang="vi-VN" sz="2400">
                <a:solidFill>
                  <a:srgbClr val="002060"/>
                </a:solidFill>
                <a:latin typeface="Times New Roman" pitchFamily="18" charset="0"/>
                <a:cs typeface="Times New Roman" pitchFamily="18" charset="0"/>
              </a:rPr>
              <a:t> Nghị quyết số 18 C/4.351 thông qua tại Khóa 18 Ðại Hội đồng UNESCO về việc tổ chức kỷ niệm ngày sinh của các danh nhân và việc kỷ niệm các sự kiện lịch sử quan trọng đã để lại dấu ấn trong quá trình phát triển của nhân loại,</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9</a:t>
            </a:fld>
            <a:endParaRPr lang="en-US"/>
          </a:p>
        </p:txBody>
      </p:sp>
      <p:pic>
        <p:nvPicPr>
          <p:cNvPr id="2050"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3335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516023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0" y="2057400"/>
            <a:ext cx="4800600" cy="4648200"/>
          </a:xfrm>
        </p:spPr>
        <p:txBody>
          <a:bodyPr>
            <a:noAutofit/>
          </a:bodyPr>
          <a:lstStyle/>
          <a:p>
            <a:pPr algn="just" fontAlgn="base">
              <a:lnSpc>
                <a:spcPct val="150000"/>
              </a:lnSpc>
              <a:spcBef>
                <a:spcPts val="0"/>
              </a:spcBef>
            </a:pPr>
            <a:r>
              <a:rPr lang="vi-VN" u="sng">
                <a:solidFill>
                  <a:srgbClr val="002060"/>
                </a:solidFill>
                <a:latin typeface="+mj-lt"/>
              </a:rPr>
              <a:t>Ghi nhận</a:t>
            </a:r>
            <a:r>
              <a:rPr lang="vi-VN">
                <a:solidFill>
                  <a:srgbClr val="002060"/>
                </a:solidFill>
                <a:latin typeface="+mj-lt"/>
              </a:rPr>
              <a:t> năm 1990 sẽ đánh dấu 100 năm Kỷ niệm Ngày sinh của Chủ tịch Hồ Chí Minh, </a:t>
            </a:r>
            <a:r>
              <a:rPr lang="vi-VN" b="1" i="1">
                <a:solidFill>
                  <a:srgbClr val="002060"/>
                </a:solidFill>
                <a:latin typeface="+mj-lt"/>
              </a:rPr>
              <a:t>Anh hùng giải phóng dân tộc và Nhà văn hóa kiệt xuất của Việt Nam</a:t>
            </a:r>
            <a:r>
              <a:rPr lang="vi-VN" b="1" i="1" smtClean="0">
                <a:solidFill>
                  <a:srgbClr val="002060"/>
                </a:solidFill>
                <a:latin typeface="+mj-lt"/>
              </a:rPr>
              <a:t>.</a:t>
            </a:r>
            <a:endParaRPr lang="vi-VN">
              <a:solidFill>
                <a:srgbClr val="002060"/>
              </a:solidFill>
              <a:latin typeface="+mj-lt"/>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10</a:t>
            </a:fld>
            <a:endParaRPr lang="en-US"/>
          </a:p>
        </p:txBody>
      </p:sp>
      <p:pic>
        <p:nvPicPr>
          <p:cNvPr id="7"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3335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0319757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3800" y="2027903"/>
            <a:ext cx="5257800" cy="3839497"/>
          </a:xfrm>
        </p:spPr>
        <p:txBody>
          <a:bodyPr>
            <a:noAutofit/>
          </a:bodyPr>
          <a:lstStyle/>
          <a:p>
            <a:pPr algn="just" fontAlgn="base">
              <a:lnSpc>
                <a:spcPct val="130000"/>
              </a:lnSpc>
              <a:spcBef>
                <a:spcPts val="0"/>
              </a:spcBef>
            </a:pPr>
            <a:r>
              <a:rPr lang="vi-VN" sz="2600" spc="-150" smtClean="0">
                <a:solidFill>
                  <a:srgbClr val="002060"/>
                </a:solidFill>
                <a:latin typeface="+mj-lt"/>
              </a:rPr>
              <a:t>Nhận </a:t>
            </a:r>
            <a:r>
              <a:rPr lang="vi-VN" sz="2600" spc="-150">
                <a:solidFill>
                  <a:srgbClr val="002060"/>
                </a:solidFill>
                <a:latin typeface="+mj-lt"/>
              </a:rPr>
              <a:t>thấy Chủ tịch Hồ Chí Minh, một biểu tượng xuất sắc về sự tự khẳng định dân tộc, đã cống hiến trọn đời mình cho sự nghiệp giải phóng dân tộc của nhân dân Việt Nam, góp phần vào cuộc đấu tranh chung của các dân tộc vì hòa bình, độc lập dân tộc, dân chủ và tiến bộ xã hội</a:t>
            </a:r>
            <a:r>
              <a:rPr lang="vi-VN" sz="2600" spc="-150" smtClean="0">
                <a:solidFill>
                  <a:srgbClr val="002060"/>
                </a:solidFill>
                <a:latin typeface="+mj-lt"/>
              </a:rPr>
              <a:t>.</a:t>
            </a:r>
            <a:endParaRPr lang="vi-VN" sz="2600" spc="-150">
              <a:solidFill>
                <a:srgbClr val="002060"/>
              </a:solidFill>
              <a:latin typeface="+mj-lt"/>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11</a:t>
            </a:fld>
            <a:endParaRPr lang="en-US"/>
          </a:p>
        </p:txBody>
      </p:sp>
      <p:pic>
        <p:nvPicPr>
          <p:cNvPr id="7"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3335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2232780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0" y="1609192"/>
            <a:ext cx="4876800" cy="4211116"/>
          </a:xfrm>
          <a:ln>
            <a:noFill/>
          </a:ln>
        </p:spPr>
        <p:txBody>
          <a:bodyPr>
            <a:noAutofit/>
          </a:bodyPr>
          <a:lstStyle/>
          <a:p>
            <a:pPr algn="just" fontAlgn="base">
              <a:lnSpc>
                <a:spcPct val="100000"/>
              </a:lnSpc>
              <a:spcBef>
                <a:spcPts val="0"/>
              </a:spcBef>
            </a:pPr>
            <a:r>
              <a:rPr lang="vi-VN" sz="2400" u="sng" dirty="0" smtClean="0">
                <a:solidFill>
                  <a:srgbClr val="002060"/>
                </a:solidFill>
                <a:latin typeface="+mj-lt"/>
              </a:rPr>
              <a:t>Nhận </a:t>
            </a:r>
            <a:r>
              <a:rPr lang="vi-VN" sz="2400" u="sng" dirty="0">
                <a:solidFill>
                  <a:srgbClr val="002060"/>
                </a:solidFill>
                <a:latin typeface="+mj-lt"/>
              </a:rPr>
              <a:t>thấy</a:t>
            </a:r>
            <a:r>
              <a:rPr lang="vi-VN" sz="2400" dirty="0">
                <a:solidFill>
                  <a:srgbClr val="002060"/>
                </a:solidFill>
                <a:latin typeface="+mj-lt"/>
              </a:rPr>
              <a:t> những đóng góp quan trọng và nhiều mặt của Chủ tịch Hồ Chí Minh trên các lĩnh vực văn hóa, giáo dục và nghệ thuật chính là sự kết tinh của truyền thống văn hóa hàng ngàn năm của dân tộc Việt Nam, </a:t>
            </a:r>
            <a:r>
              <a:rPr lang="vi-VN" sz="2400" b="1" u="sng" dirty="0">
                <a:solidFill>
                  <a:srgbClr val="C00000"/>
                </a:solidFill>
                <a:latin typeface="+mj-lt"/>
              </a:rPr>
              <a:t>và những tư tưởng của Người</a:t>
            </a:r>
            <a:r>
              <a:rPr lang="vi-VN" sz="2400" b="1" dirty="0">
                <a:solidFill>
                  <a:srgbClr val="C00000"/>
                </a:solidFill>
                <a:latin typeface="+mj-lt"/>
              </a:rPr>
              <a:t> </a:t>
            </a:r>
            <a:r>
              <a:rPr lang="vi-VN" sz="2400" dirty="0">
                <a:solidFill>
                  <a:srgbClr val="002060"/>
                </a:solidFill>
                <a:latin typeface="+mj-lt"/>
              </a:rPr>
              <a:t>là hiện thân của những khát vọng của các dân tộc mong muốn được khẳng định bản sắc văn hóa của mình và mong muốn tăng cường sự hiểu biết lẫn nhau giữa các dân tộc.</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12</a:t>
            </a:fld>
            <a:endParaRPr lang="en-US"/>
          </a:p>
        </p:txBody>
      </p:sp>
      <p:pic>
        <p:nvPicPr>
          <p:cNvPr id="7"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2192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303743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6200" y="1961084"/>
            <a:ext cx="5105400" cy="3144316"/>
          </a:xfrm>
        </p:spPr>
        <p:txBody>
          <a:bodyPr>
            <a:noAutofit/>
          </a:bodyPr>
          <a:lstStyle/>
          <a:p>
            <a:pPr algn="just" fontAlgn="base">
              <a:lnSpc>
                <a:spcPct val="130000"/>
              </a:lnSpc>
              <a:spcBef>
                <a:spcPts val="0"/>
              </a:spcBef>
            </a:pPr>
            <a:r>
              <a:rPr lang="vi-VN" sz="2400">
                <a:solidFill>
                  <a:srgbClr val="002060"/>
                </a:solidFill>
                <a:latin typeface="+mj-lt"/>
              </a:rPr>
              <a:t>1- </a:t>
            </a:r>
            <a:r>
              <a:rPr lang="vi-VN" sz="2400" u="sng">
                <a:solidFill>
                  <a:srgbClr val="002060"/>
                </a:solidFill>
                <a:latin typeface="+mj-lt"/>
              </a:rPr>
              <a:t>Khuyến nghị</a:t>
            </a:r>
            <a:r>
              <a:rPr lang="vi-VN" sz="2400">
                <a:solidFill>
                  <a:srgbClr val="002060"/>
                </a:solidFill>
                <a:latin typeface="+mj-lt"/>
              </a:rPr>
              <a:t> các quốc gia thành viên cùng tham gia Kỷ niệm 100 năm Ngày sinh của Chủ tịch Hồ Chí Minh, bằng việc tổ chức các hoạt động cụ thể để tưởng niệm Người, qua đó làm cho mọi người hiểu rõ tầm vóc vĩ đại của những tư tưởng và những cống hiến cho sự nghiệp giải phóng dân tộc của Người</a:t>
            </a:r>
            <a:r>
              <a:rPr lang="vi-VN" sz="2400" smtClean="0">
                <a:solidFill>
                  <a:srgbClr val="002060"/>
                </a:solidFill>
                <a:latin typeface="+mj-lt"/>
              </a:rPr>
              <a:t>.</a:t>
            </a:r>
            <a:endParaRPr lang="vi-VN" sz="2400">
              <a:solidFill>
                <a:srgbClr val="002060"/>
              </a:solidFill>
              <a:latin typeface="+mj-lt"/>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13</a:t>
            </a:fld>
            <a:endParaRPr lang="en-US"/>
          </a:p>
        </p:txBody>
      </p:sp>
      <p:pic>
        <p:nvPicPr>
          <p:cNvPr id="7"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2192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5168560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7301" y="1884884"/>
            <a:ext cx="5270499" cy="2458516"/>
          </a:xfrm>
        </p:spPr>
        <p:txBody>
          <a:bodyPr>
            <a:noAutofit/>
          </a:bodyPr>
          <a:lstStyle/>
          <a:p>
            <a:pPr algn="just" fontAlgn="base">
              <a:lnSpc>
                <a:spcPct val="150000"/>
              </a:lnSpc>
              <a:spcBef>
                <a:spcPts val="0"/>
              </a:spcBef>
            </a:pPr>
            <a:r>
              <a:rPr lang="vi-VN" sz="2400" smtClean="0">
                <a:solidFill>
                  <a:srgbClr val="002060"/>
                </a:solidFill>
                <a:latin typeface="+mj-lt"/>
              </a:rPr>
              <a:t>2-</a:t>
            </a:r>
            <a:r>
              <a:rPr lang="vi-VN" sz="2400">
                <a:solidFill>
                  <a:srgbClr val="002060"/>
                </a:solidFill>
                <a:latin typeface="+mj-lt"/>
              </a:rPr>
              <a:t> </a:t>
            </a:r>
            <a:r>
              <a:rPr lang="vi-VN" sz="2400" u="sng">
                <a:solidFill>
                  <a:srgbClr val="002060"/>
                </a:solidFill>
                <a:latin typeface="+mj-lt"/>
              </a:rPr>
              <a:t>Ðề nghị </a:t>
            </a:r>
            <a:r>
              <a:rPr lang="vi-VN" sz="2400">
                <a:solidFill>
                  <a:srgbClr val="002060"/>
                </a:solidFill>
                <a:latin typeface="+mj-lt"/>
              </a:rPr>
              <a:t>Tổng Giám đốc UNESCO triển khai các biện pháp thích hợp để Kỷ niệm 100 năm Ngày sinh của Chủ tịch Hồ Chí Minh và hỗ trợ các hoạt động kỷ niệm được tổ chức nhân dịp này, đặc biệt là những hoạt động sẽ diễn ra ở Việt Nam". </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14</a:t>
            </a:fld>
            <a:endParaRPr lang="en-US"/>
          </a:p>
        </p:txBody>
      </p:sp>
      <p:pic>
        <p:nvPicPr>
          <p:cNvPr id="7" name="Picture 2" descr="Trụ sở UNESCO tại Paris, Pháp. Ảnh: 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667000"/>
            <a:ext cx="3492501" cy="2095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0" y="1219200"/>
            <a:ext cx="89154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vi-VN" sz="2400" b="1" spc="-150" smtClean="0">
                <a:solidFill>
                  <a:srgbClr val="FF0000"/>
                </a:solidFill>
                <a:latin typeface="Times New Roman" pitchFamily="18" charset="0"/>
                <a:cs typeface="Times New Roman" pitchFamily="18" charset="0"/>
              </a:rPr>
              <a:t>"18.6.5 Kỷ niệm 100 năm Ngày sinh của Chủ tịch Hồ Chí Minh</a:t>
            </a:r>
            <a:endParaRPr lang="vi-VN" sz="2400" spc="-15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8648162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A58A153D-734D-405D-8FB4-686C2D8CE407}" type="slidenum">
              <a:rPr lang="en-US" smtClean="0"/>
              <a:pPr/>
              <a:t>15</a:t>
            </a:fld>
            <a:endParaRPr lang="en-US"/>
          </a:p>
        </p:txBody>
      </p:sp>
      <p:sp>
        <p:nvSpPr>
          <p:cNvPr id="8" name="Content Placeholder 2"/>
          <p:cNvSpPr txBox="1">
            <a:spLocks/>
          </p:cNvSpPr>
          <p:nvPr/>
        </p:nvSpPr>
        <p:spPr>
          <a:xfrm>
            <a:off x="-38100" y="3048000"/>
            <a:ext cx="2324100" cy="533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lnSpc>
                <a:spcPct val="150000"/>
              </a:lnSpc>
              <a:spcBef>
                <a:spcPts val="0"/>
              </a:spcBef>
              <a:buNone/>
            </a:pPr>
            <a:r>
              <a:rPr lang="en-US" sz="3000" b="1" dirty="0" smtClean="0">
                <a:solidFill>
                  <a:srgbClr val="FF0000"/>
                </a:solidFill>
                <a:latin typeface="Times New Roman" pitchFamily="18" charset="0"/>
                <a:cs typeface="Times New Roman" pitchFamily="18" charset="0"/>
              </a:rPr>
              <a:t>II. </a:t>
            </a:r>
            <a:r>
              <a:rPr lang="en-US" sz="3000" b="1" dirty="0" err="1" smtClean="0">
                <a:solidFill>
                  <a:srgbClr val="FF0000"/>
                </a:solidFill>
                <a:latin typeface="Times New Roman" pitchFamily="18" charset="0"/>
                <a:cs typeface="Times New Roman" pitchFamily="18" charset="0"/>
              </a:rPr>
              <a:t>Đối</a:t>
            </a:r>
            <a:r>
              <a:rPr lang="en-US" sz="3000" b="1" dirty="0" smtClean="0">
                <a:solidFill>
                  <a:srgbClr val="FF0000"/>
                </a:solidFill>
                <a:latin typeface="Times New Roman" pitchFamily="18" charset="0"/>
                <a:cs typeface="Times New Roman" pitchFamily="18" charset="0"/>
              </a:rPr>
              <a:t> </a:t>
            </a:r>
            <a:r>
              <a:rPr lang="en-US" sz="3000" b="1" dirty="0" err="1" smtClean="0">
                <a:solidFill>
                  <a:srgbClr val="FF0000"/>
                </a:solidFill>
                <a:latin typeface="Times New Roman" pitchFamily="18" charset="0"/>
                <a:cs typeface="Times New Roman" pitchFamily="18" charset="0"/>
              </a:rPr>
              <a:t>tượng</a:t>
            </a:r>
            <a:r>
              <a:rPr lang="en-US" sz="3000" b="1" dirty="0" smtClean="0">
                <a:solidFill>
                  <a:srgbClr val="FF0000"/>
                </a:solidFill>
                <a:latin typeface="Times New Roman" pitchFamily="18" charset="0"/>
                <a:cs typeface="Times New Roman" pitchFamily="18" charset="0"/>
              </a:rPr>
              <a:t> </a:t>
            </a:r>
            <a:r>
              <a:rPr lang="en-US" sz="3000" b="1" dirty="0" err="1" smtClean="0">
                <a:solidFill>
                  <a:srgbClr val="FF0000"/>
                </a:solidFill>
                <a:latin typeface="Times New Roman" pitchFamily="18" charset="0"/>
                <a:cs typeface="Times New Roman" pitchFamily="18" charset="0"/>
              </a:rPr>
              <a:t>nghiên</a:t>
            </a:r>
            <a:r>
              <a:rPr lang="en-US" sz="3000" b="1" dirty="0" smtClean="0">
                <a:solidFill>
                  <a:srgbClr val="FF0000"/>
                </a:solidFill>
                <a:latin typeface="Times New Roman" pitchFamily="18" charset="0"/>
                <a:cs typeface="Times New Roman" pitchFamily="18" charset="0"/>
              </a:rPr>
              <a:t> </a:t>
            </a:r>
            <a:r>
              <a:rPr lang="en-US" sz="3000" b="1" dirty="0" err="1" smtClean="0">
                <a:solidFill>
                  <a:srgbClr val="FF0000"/>
                </a:solidFill>
                <a:latin typeface="Times New Roman" pitchFamily="18" charset="0"/>
                <a:cs typeface="Times New Roman" pitchFamily="18" charset="0"/>
              </a:rPr>
              <a:t>cứu</a:t>
            </a:r>
            <a:endParaRPr lang="vi-VN" sz="3000" dirty="0" smtClean="0">
              <a:solidFill>
                <a:srgbClr val="FF0000"/>
              </a:solidFill>
              <a:latin typeface="Times New Roman" pitchFamily="18" charset="0"/>
              <a:cs typeface="Times New Roman" pitchFamily="18" charset="0"/>
            </a:endParaRPr>
          </a:p>
        </p:txBody>
      </p:sp>
      <p:sp>
        <p:nvSpPr>
          <p:cNvPr id="11" name="Rectangle 10"/>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
        <p:nvSpPr>
          <p:cNvPr id="15" name="Content Placeholder 2"/>
          <p:cNvSpPr txBox="1">
            <a:spLocks/>
          </p:cNvSpPr>
          <p:nvPr/>
        </p:nvSpPr>
        <p:spPr>
          <a:xfrm>
            <a:off x="4038600" y="1519502"/>
            <a:ext cx="38100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Font typeface="Arial" panose="020B0604020202020204" pitchFamily="34" charset="0"/>
              <a:buNone/>
            </a:pPr>
            <a:r>
              <a:rPr lang="en-US" spc="-70" dirty="0" err="1" smtClean="0">
                <a:solidFill>
                  <a:srgbClr val="002060"/>
                </a:solidFill>
                <a:latin typeface="Times New Roman" pitchFamily="18" charset="0"/>
                <a:cs typeface="Times New Roman" pitchFamily="18" charset="0"/>
              </a:rPr>
              <a:t>Toàn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bộ</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những</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quan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điểm</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thể</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hiện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trong</a:t>
            </a:r>
            <a:r>
              <a:rPr lang="en-US" spc="-70" dirty="0" smtClean="0">
                <a:solidFill>
                  <a:srgbClr val="002060"/>
                </a:solidFill>
                <a:latin typeface="Times New Roman" pitchFamily="18" charset="0"/>
                <a:cs typeface="Times New Roman" pitchFamily="18" charset="0"/>
              </a:rPr>
              <a:t> di </a:t>
            </a:r>
            <a:r>
              <a:rPr lang="en-US" spc="-70" dirty="0" err="1" smtClean="0">
                <a:solidFill>
                  <a:srgbClr val="002060"/>
                </a:solidFill>
                <a:latin typeface="Times New Roman" pitchFamily="18" charset="0"/>
                <a:cs typeface="Times New Roman" pitchFamily="18" charset="0"/>
              </a:rPr>
              <a:t>sản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của</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Hồ</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Chí</a:t>
            </a:r>
            <a:r>
              <a:rPr lang="en-US" spc="-70" dirty="0" smtClean="0">
                <a:solidFill>
                  <a:srgbClr val="002060"/>
                </a:solidFill>
                <a:latin typeface="Times New Roman" pitchFamily="18" charset="0"/>
                <a:cs typeface="Times New Roman" pitchFamily="18" charset="0"/>
              </a:rPr>
              <a:t> Minh.</a:t>
            </a:r>
          </a:p>
        </p:txBody>
      </p:sp>
      <p:sp>
        <p:nvSpPr>
          <p:cNvPr id="16" name="Content Placeholder 2"/>
          <p:cNvSpPr txBox="1">
            <a:spLocks/>
          </p:cNvSpPr>
          <p:nvPr/>
        </p:nvSpPr>
        <p:spPr>
          <a:xfrm>
            <a:off x="4114800" y="4343400"/>
            <a:ext cx="45720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Font typeface="Arial" panose="020B0604020202020204" pitchFamily="34" charset="0"/>
              <a:buNone/>
            </a:pPr>
            <a:r>
              <a:rPr lang="en-US" spc="-70" dirty="0" err="1" smtClean="0">
                <a:solidFill>
                  <a:srgbClr val="002060"/>
                </a:solidFill>
                <a:latin typeface="Times New Roman" pitchFamily="18" charset="0"/>
                <a:cs typeface="Times New Roman" pitchFamily="18" charset="0"/>
              </a:rPr>
              <a:t>Quá</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trình</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hệ</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thống</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quan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điểm</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của</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Hồ</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Chí</a:t>
            </a:r>
            <a:r>
              <a:rPr lang="en-US" spc="-70" dirty="0" smtClean="0">
                <a:solidFill>
                  <a:srgbClr val="002060"/>
                </a:solidFill>
                <a:latin typeface="Times New Roman" pitchFamily="18" charset="0"/>
                <a:cs typeface="Times New Roman" pitchFamily="18" charset="0"/>
              </a:rPr>
              <a:t> Minh </a:t>
            </a:r>
            <a:r>
              <a:rPr lang="en-US" spc="-70" dirty="0" err="1" smtClean="0">
                <a:solidFill>
                  <a:srgbClr val="002060"/>
                </a:solidFill>
                <a:latin typeface="Times New Roman" pitchFamily="18" charset="0"/>
                <a:cs typeface="Times New Roman" pitchFamily="18" charset="0"/>
              </a:rPr>
              <a:t>vận</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động</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trong</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thực</a:t>
            </a:r>
            <a:r>
              <a:rPr lang="en-US" spc="-70" dirty="0" smtClean="0">
                <a:solidFill>
                  <a:srgbClr val="002060"/>
                </a:solidFill>
                <a:latin typeface="Times New Roman" pitchFamily="18" charset="0"/>
                <a:cs typeface="Times New Roman" pitchFamily="18" charset="0"/>
              </a:rPr>
              <a:t> </a:t>
            </a:r>
            <a:r>
              <a:rPr lang="en-US" spc="-70" dirty="0" err="1" smtClean="0">
                <a:solidFill>
                  <a:srgbClr val="002060"/>
                </a:solidFill>
                <a:latin typeface="Times New Roman" pitchFamily="18" charset="0"/>
                <a:cs typeface="Times New Roman" pitchFamily="18" charset="0"/>
              </a:rPr>
              <a:t>tiễn</a:t>
            </a:r>
            <a:r>
              <a:rPr lang="en-US" spc="-70" dirty="0" smtClean="0">
                <a:solidFill>
                  <a:srgbClr val="002060"/>
                </a:solidFill>
                <a:latin typeface="Times New Roman" pitchFamily="18" charset="0"/>
                <a:cs typeface="Times New Roman" pitchFamily="18" charset="0"/>
              </a:rPr>
              <a:t>.</a:t>
            </a:r>
          </a:p>
        </p:txBody>
      </p:sp>
      <p:cxnSp>
        <p:nvCxnSpPr>
          <p:cNvPr id="17" name="Straight Connector 16"/>
          <p:cNvCxnSpPr/>
          <p:nvPr/>
        </p:nvCxnSpPr>
        <p:spPr>
          <a:xfrm>
            <a:off x="2601441" y="2590800"/>
            <a:ext cx="35492" cy="290459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570971" y="2590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601441" y="549539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18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2309" y="1287463"/>
            <a:ext cx="4596582" cy="667757"/>
          </a:xfrm>
        </p:spPr>
        <p:txBody>
          <a:bodyPr>
            <a:noAutofit/>
          </a:bodyPr>
          <a:lstStyle/>
          <a:p>
            <a:pPr marL="0" indent="0" algn="ctr">
              <a:lnSpc>
                <a:spcPct val="100000"/>
              </a:lnSpc>
              <a:spcBef>
                <a:spcPts val="0"/>
              </a:spcBef>
              <a:buNone/>
            </a:pPr>
            <a:r>
              <a:rPr lang="en-US" sz="2400" dirty="0" smtClean="0">
                <a:solidFill>
                  <a:srgbClr val="FF0000"/>
                </a:solidFill>
                <a:latin typeface="Times New Roman" pitchFamily="18" charset="0"/>
                <a:cs typeface="Times New Roman" pitchFamily="18" charset="0"/>
              </a:rPr>
              <a:t>III. </a:t>
            </a:r>
            <a:r>
              <a:rPr lang="en-US" sz="2400" dirty="0" err="1" smtClean="0">
                <a:solidFill>
                  <a:srgbClr val="FF0000"/>
                </a:solidFill>
                <a:latin typeface="Times New Roman" pitchFamily="18" charset="0"/>
                <a:cs typeface="Times New Roman" pitchFamily="18" charset="0"/>
              </a:rPr>
              <a:t>Phương</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pháp</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nghiên</a:t>
            </a:r>
            <a:r>
              <a:rPr lang="en-US" sz="2400" dirty="0" smtClean="0">
                <a:solidFill>
                  <a:srgbClr val="FF0000"/>
                </a:solidFill>
                <a:latin typeface="Times New Roman" pitchFamily="18" charset="0"/>
                <a:cs typeface="Times New Roman" pitchFamily="18" charset="0"/>
              </a:rPr>
              <a:t> </a:t>
            </a:r>
            <a:r>
              <a:rPr lang="en-US" sz="2400" dirty="0" err="1" smtClean="0">
                <a:solidFill>
                  <a:srgbClr val="FF0000"/>
                </a:solidFill>
                <a:latin typeface="Times New Roman" pitchFamily="18" charset="0"/>
                <a:cs typeface="Times New Roman" pitchFamily="18" charset="0"/>
              </a:rPr>
              <a:t>cứu</a:t>
            </a:r>
            <a:endParaRPr lang="en-US" sz="2400" dirty="0" smtClean="0">
              <a:solidFill>
                <a:srgbClr val="FF0000"/>
              </a:solidFill>
              <a:latin typeface="Times New Roman" pitchFamily="18" charset="0"/>
              <a:cs typeface="Times New Roman" pitchFamily="18" charset="0"/>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16</a:t>
            </a:fld>
            <a:endParaRPr lang="en-US"/>
          </a:p>
        </p:txBody>
      </p:sp>
      <p:sp>
        <p:nvSpPr>
          <p:cNvPr id="8" name="Content Placeholder 2"/>
          <p:cNvSpPr txBox="1">
            <a:spLocks/>
          </p:cNvSpPr>
          <p:nvPr/>
        </p:nvSpPr>
        <p:spPr>
          <a:xfrm>
            <a:off x="5029200" y="2048404"/>
            <a:ext cx="40386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Font typeface="Arial" panose="020B0604020202020204" pitchFamily="34" charset="0"/>
              <a:buNone/>
            </a:pPr>
            <a:r>
              <a:rPr lang="en-US" sz="3000" dirty="0" err="1" smtClean="0">
                <a:solidFill>
                  <a:srgbClr val="002060"/>
                </a:solidFill>
                <a:latin typeface="Times New Roman" pitchFamily="18" charset="0"/>
                <a:cs typeface="Times New Roman" pitchFamily="18" charset="0"/>
              </a:rPr>
              <a:t>Cơ</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sở</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phương</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pháp</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luận</a:t>
            </a:r>
            <a:endParaRPr lang="en-US" sz="3000" dirty="0" smtClean="0">
              <a:solidFill>
                <a:srgbClr val="002060"/>
              </a:solidFill>
              <a:latin typeface="Times New Roman" pitchFamily="18" charset="0"/>
              <a:cs typeface="Times New Roman" pitchFamily="18" charset="0"/>
            </a:endParaRPr>
          </a:p>
        </p:txBody>
      </p:sp>
      <p:sp>
        <p:nvSpPr>
          <p:cNvPr id="10" name="Content Placeholder 2"/>
          <p:cNvSpPr txBox="1">
            <a:spLocks/>
          </p:cNvSpPr>
          <p:nvPr/>
        </p:nvSpPr>
        <p:spPr>
          <a:xfrm>
            <a:off x="5181600" y="4267200"/>
            <a:ext cx="38862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Font typeface="Arial" panose="020B0604020202020204" pitchFamily="34" charset="0"/>
              <a:buNone/>
            </a:pPr>
            <a:r>
              <a:rPr lang="en-US" sz="3000" dirty="0" err="1" smtClean="0">
                <a:solidFill>
                  <a:srgbClr val="002060"/>
                </a:solidFill>
                <a:latin typeface="Times New Roman" pitchFamily="18" charset="0"/>
                <a:cs typeface="Times New Roman" pitchFamily="18" charset="0"/>
              </a:rPr>
              <a:t>Phương</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pháp</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cụ</a:t>
            </a:r>
            <a:r>
              <a:rPr lang="en-US" sz="3000" dirty="0" smtClean="0">
                <a:solidFill>
                  <a:srgbClr val="002060"/>
                </a:solidFill>
                <a:latin typeface="Times New Roman" pitchFamily="18" charset="0"/>
                <a:cs typeface="Times New Roman" pitchFamily="18" charset="0"/>
              </a:rPr>
              <a:t> </a:t>
            </a:r>
            <a:r>
              <a:rPr lang="en-US" sz="3000" dirty="0" err="1" smtClean="0">
                <a:solidFill>
                  <a:srgbClr val="002060"/>
                </a:solidFill>
                <a:latin typeface="Times New Roman" pitchFamily="18" charset="0"/>
                <a:cs typeface="Times New Roman" pitchFamily="18" charset="0"/>
              </a:rPr>
              <a:t>thể</a:t>
            </a:r>
            <a:endParaRPr lang="en-US" sz="3000" dirty="0" smtClean="0">
              <a:solidFill>
                <a:srgbClr val="002060"/>
              </a:solidFill>
              <a:latin typeface="Times New Roman" pitchFamily="18" charset="0"/>
              <a:cs typeface="Times New Roman" pitchFamily="18" charset="0"/>
            </a:endParaRPr>
          </a:p>
        </p:txBody>
      </p:sp>
      <p:cxnSp>
        <p:nvCxnSpPr>
          <p:cNvPr id="11" name="Straight Arrow Connector 10"/>
          <p:cNvCxnSpPr/>
          <p:nvPr/>
        </p:nvCxnSpPr>
        <p:spPr>
          <a:xfrm flipV="1">
            <a:off x="3352800" y="2548202"/>
            <a:ext cx="1752600" cy="1109398"/>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352800" y="3657600"/>
            <a:ext cx="1752600" cy="1057804"/>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Rectangle 15"/>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pic>
        <p:nvPicPr>
          <p:cNvPr id="22" name="Picture 21"/>
          <p:cNvPicPr>
            <a:picLocks noChangeAspect="1"/>
          </p:cNvPicPr>
          <p:nvPr/>
        </p:nvPicPr>
        <p:blipFill>
          <a:blip r:embed="rId4"/>
          <a:stretch>
            <a:fillRect/>
          </a:stretch>
        </p:blipFill>
        <p:spPr>
          <a:xfrm>
            <a:off x="762000" y="2059286"/>
            <a:ext cx="2257228" cy="3295650"/>
          </a:xfrm>
          <a:prstGeom prst="rect">
            <a:avLst/>
          </a:prstGeom>
        </p:spPr>
      </p:pic>
    </p:spTree>
    <p:extLst>
      <p:ext uri="{BB962C8B-B14F-4D97-AF65-F5344CB8AC3E}">
        <p14:creationId xmlns:p14="http://schemas.microsoft.com/office/powerpoint/2010/main" val="5729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389643"/>
            <a:ext cx="4596582" cy="667757"/>
          </a:xfrm>
        </p:spPr>
        <p:txBody>
          <a:bodyPr>
            <a:noAutofit/>
          </a:bodyPr>
          <a:lstStyle/>
          <a:p>
            <a:pPr marL="0" indent="0" algn="ctr">
              <a:lnSpc>
                <a:spcPct val="100000"/>
              </a:lnSpc>
              <a:spcBef>
                <a:spcPts val="0"/>
              </a:spcBef>
              <a:buNone/>
            </a:pPr>
            <a:r>
              <a:rPr lang="en-US" sz="2400" b="1" dirty="0" smtClean="0">
                <a:solidFill>
                  <a:srgbClr val="FF0000"/>
                </a:solidFill>
                <a:latin typeface="Times New Roman" pitchFamily="18" charset="0"/>
                <a:cs typeface="Times New Roman" pitchFamily="18" charset="0"/>
              </a:rPr>
              <a:t>III. </a:t>
            </a:r>
            <a:r>
              <a:rPr lang="en-US" sz="2400" b="1" dirty="0" err="1" smtClean="0">
                <a:solidFill>
                  <a:srgbClr val="FF0000"/>
                </a:solidFill>
                <a:latin typeface="Times New Roman" pitchFamily="18" charset="0"/>
                <a:cs typeface="Times New Roman" pitchFamily="18" charset="0"/>
              </a:rPr>
              <a:t>Phương</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pháp</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nghiên</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cứu</a:t>
            </a:r>
            <a:endParaRPr lang="en-US" sz="2400" b="1" dirty="0" smtClean="0">
              <a:solidFill>
                <a:srgbClr val="FF0000"/>
              </a:solidFill>
              <a:latin typeface="Times New Roman" pitchFamily="18" charset="0"/>
              <a:cs typeface="Times New Roman" pitchFamily="18" charset="0"/>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17</a:t>
            </a:fld>
            <a:endParaRPr lang="en-US"/>
          </a:p>
        </p:txBody>
      </p:sp>
      <p:sp>
        <p:nvSpPr>
          <p:cNvPr id="8" name="Content Placeholder 2"/>
          <p:cNvSpPr txBox="1">
            <a:spLocks/>
          </p:cNvSpPr>
          <p:nvPr/>
        </p:nvSpPr>
        <p:spPr>
          <a:xfrm>
            <a:off x="4274574" y="1972204"/>
            <a:ext cx="35052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Font typeface="Arial" panose="020B0604020202020204" pitchFamily="34" charset="0"/>
              <a:buNone/>
            </a:pPr>
            <a:r>
              <a:rPr lang="en-US" sz="3000" b="1" smtClean="0">
                <a:solidFill>
                  <a:srgbClr val="FF0000"/>
                </a:solidFill>
                <a:latin typeface="Times New Roman" pitchFamily="18" charset="0"/>
                <a:cs typeface="Times New Roman" pitchFamily="18" charset="0"/>
              </a:rPr>
              <a:t>Phương pháp luận</a:t>
            </a:r>
          </a:p>
        </p:txBody>
      </p:sp>
      <p:sp>
        <p:nvSpPr>
          <p:cNvPr id="10" name="Content Placeholder 2"/>
          <p:cNvSpPr txBox="1">
            <a:spLocks/>
          </p:cNvSpPr>
          <p:nvPr/>
        </p:nvSpPr>
        <p:spPr>
          <a:xfrm>
            <a:off x="3581400" y="3343804"/>
            <a:ext cx="56388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spcBef>
                <a:spcPts val="0"/>
              </a:spcBef>
              <a:buFont typeface="Arial" panose="020B0604020202020204" pitchFamily="34" charset="0"/>
              <a:buNone/>
            </a:pPr>
            <a:r>
              <a:rPr lang="en-US" spc="-150" smtClean="0">
                <a:solidFill>
                  <a:srgbClr val="002060"/>
                </a:solidFill>
                <a:latin typeface="Times New Roman" pitchFamily="18" charset="0"/>
                <a:cs typeface="Times New Roman" pitchFamily="18" charset="0"/>
              </a:rPr>
              <a:t>- Thống nhất tính đảng và tính khoa học</a:t>
            </a:r>
          </a:p>
          <a:p>
            <a:pPr marL="0" indent="0" algn="just">
              <a:lnSpc>
                <a:spcPct val="130000"/>
              </a:lnSpc>
              <a:spcBef>
                <a:spcPts val="0"/>
              </a:spcBef>
              <a:buFont typeface="Arial" panose="020B0604020202020204" pitchFamily="34" charset="0"/>
              <a:buNone/>
            </a:pPr>
            <a:r>
              <a:rPr lang="en-US" smtClean="0">
                <a:solidFill>
                  <a:srgbClr val="002060"/>
                </a:solidFill>
                <a:latin typeface="Times New Roman" pitchFamily="18" charset="0"/>
                <a:cs typeface="Times New Roman" pitchFamily="18" charset="0"/>
              </a:rPr>
              <a:t>- Thống nhất lý luận và thực tiễn</a:t>
            </a:r>
          </a:p>
          <a:p>
            <a:pPr marL="0" indent="0" algn="just">
              <a:lnSpc>
                <a:spcPct val="130000"/>
              </a:lnSpc>
              <a:spcBef>
                <a:spcPts val="0"/>
              </a:spcBef>
              <a:buFont typeface="Arial" panose="020B0604020202020204" pitchFamily="34" charset="0"/>
              <a:buNone/>
            </a:pPr>
            <a:r>
              <a:rPr lang="en-US" smtClean="0">
                <a:solidFill>
                  <a:srgbClr val="002060"/>
                </a:solidFill>
                <a:latin typeface="Times New Roman" pitchFamily="18" charset="0"/>
                <a:cs typeface="Times New Roman" pitchFamily="18" charset="0"/>
              </a:rPr>
              <a:t>- Quan điểm lịch sử - cụ thể</a:t>
            </a:r>
          </a:p>
          <a:p>
            <a:pPr marL="0" indent="0" algn="just">
              <a:lnSpc>
                <a:spcPct val="130000"/>
              </a:lnSpc>
              <a:spcBef>
                <a:spcPts val="0"/>
              </a:spcBef>
              <a:buFont typeface="Arial" panose="020B0604020202020204" pitchFamily="34" charset="0"/>
              <a:buNone/>
            </a:pPr>
            <a:r>
              <a:rPr lang="en-US" smtClean="0">
                <a:solidFill>
                  <a:srgbClr val="002060"/>
                </a:solidFill>
                <a:latin typeface="Times New Roman" pitchFamily="18" charset="0"/>
                <a:cs typeface="Times New Roman" pitchFamily="18" charset="0"/>
              </a:rPr>
              <a:t>- Quan điểm toàn diện và hệ thống</a:t>
            </a:r>
          </a:p>
          <a:p>
            <a:pPr marL="0" indent="0" algn="just">
              <a:lnSpc>
                <a:spcPct val="130000"/>
              </a:lnSpc>
              <a:spcBef>
                <a:spcPts val="0"/>
              </a:spcBef>
              <a:buFont typeface="Arial" panose="020B0604020202020204" pitchFamily="34" charset="0"/>
              <a:buNone/>
            </a:pPr>
            <a:r>
              <a:rPr lang="en-US" smtClean="0">
                <a:solidFill>
                  <a:srgbClr val="002060"/>
                </a:solidFill>
                <a:latin typeface="Times New Roman" pitchFamily="18" charset="0"/>
                <a:cs typeface="Times New Roman" pitchFamily="18" charset="0"/>
              </a:rPr>
              <a:t>- Quan điểm kế thừa và phát triển</a:t>
            </a:r>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Straight Connector 13"/>
          <p:cNvCxnSpPr/>
          <p:nvPr/>
        </p:nvCxnSpPr>
        <p:spPr>
          <a:xfrm>
            <a:off x="4343400" y="1600200"/>
            <a:ext cx="1905000" cy="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248400" y="1600200"/>
            <a:ext cx="0" cy="533400"/>
          </a:xfrm>
          <a:prstGeom prst="straightConnector1">
            <a:avLst/>
          </a:prstGeom>
          <a:ln w="762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Right Arrow 20"/>
          <p:cNvSpPr/>
          <p:nvPr/>
        </p:nvSpPr>
        <p:spPr>
          <a:xfrm rot="5400000">
            <a:off x="5676900" y="2781300"/>
            <a:ext cx="533400" cy="457200"/>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pic>
        <p:nvPicPr>
          <p:cNvPr id="22" name="Picture 21"/>
          <p:cNvPicPr>
            <a:picLocks noChangeAspect="1"/>
          </p:cNvPicPr>
          <p:nvPr/>
        </p:nvPicPr>
        <p:blipFill>
          <a:blip r:embed="rId4"/>
          <a:stretch>
            <a:fillRect/>
          </a:stretch>
        </p:blipFill>
        <p:spPr>
          <a:xfrm>
            <a:off x="741905" y="2438400"/>
            <a:ext cx="2257228" cy="3295650"/>
          </a:xfrm>
          <a:prstGeom prst="rect">
            <a:avLst/>
          </a:prstGeom>
        </p:spPr>
      </p:pic>
    </p:spTree>
    <p:extLst>
      <p:ext uri="{BB962C8B-B14F-4D97-AF65-F5344CB8AC3E}">
        <p14:creationId xmlns:p14="http://schemas.microsoft.com/office/powerpoint/2010/main" val="112926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wipe(down)">
                                      <p:cBhvr>
                                        <p:cTn id="31" dur="500"/>
                                        <p:tgtEl>
                                          <p:spTgt spid="1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0">
                                            <p:txEl>
                                              <p:pRg st="1" end="1"/>
                                            </p:txEl>
                                          </p:spTgt>
                                        </p:tgtEl>
                                        <p:attrNameLst>
                                          <p:attrName>style.visibility</p:attrName>
                                        </p:attrNameLst>
                                      </p:cBhvr>
                                      <p:to>
                                        <p:strVal val="visible"/>
                                      </p:to>
                                    </p:set>
                                    <p:animEffect transition="in" filter="barn(inVertical)">
                                      <p:cBhvr>
                                        <p:cTn id="36" dur="500"/>
                                        <p:tgtEl>
                                          <p:spTgt spid="10">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
                                            <p:txEl>
                                              <p:pRg st="2" end="2"/>
                                            </p:txEl>
                                          </p:spTgt>
                                        </p:tgtEl>
                                        <p:attrNameLst>
                                          <p:attrName>style.visibility</p:attrName>
                                        </p:attrNameLst>
                                      </p:cBhvr>
                                      <p:to>
                                        <p:strVal val="visible"/>
                                      </p:to>
                                    </p:set>
                                    <p:animEffect transition="in" filter="barn(inVertical)">
                                      <p:cBhvr>
                                        <p:cTn id="41" dur="500"/>
                                        <p:tgtEl>
                                          <p:spTgt spid="10">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0">
                                            <p:txEl>
                                              <p:pRg st="3" end="3"/>
                                            </p:txEl>
                                          </p:spTgt>
                                        </p:tgtEl>
                                        <p:attrNameLst>
                                          <p:attrName>style.visibility</p:attrName>
                                        </p:attrNameLst>
                                      </p:cBhvr>
                                      <p:to>
                                        <p:strVal val="visible"/>
                                      </p:to>
                                    </p:set>
                                    <p:animEffect transition="in" filter="fade">
                                      <p:cBhvr>
                                        <p:cTn id="46" dur="1000"/>
                                        <p:tgtEl>
                                          <p:spTgt spid="10">
                                            <p:txEl>
                                              <p:pRg st="3" end="3"/>
                                            </p:txEl>
                                          </p:spTgt>
                                        </p:tgtEl>
                                      </p:cBhvr>
                                    </p:animEffect>
                                    <p:anim calcmode="lin" valueType="num">
                                      <p:cBhvr>
                                        <p:cTn id="47"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10">
                                            <p:txEl>
                                              <p:pRg st="4" end="4"/>
                                            </p:txEl>
                                          </p:spTgt>
                                        </p:tgtEl>
                                        <p:attrNameLst>
                                          <p:attrName>style.visibility</p:attrName>
                                        </p:attrNameLst>
                                      </p:cBhvr>
                                      <p:to>
                                        <p:strVal val="visible"/>
                                      </p:to>
                                    </p:set>
                                    <p:animEffect transition="in" filter="barn(inVertical)">
                                      <p:cBhvr>
                                        <p:cTn id="5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9382" y="1295400"/>
            <a:ext cx="4596582" cy="667757"/>
          </a:xfrm>
        </p:spPr>
        <p:txBody>
          <a:bodyPr>
            <a:noAutofit/>
          </a:bodyPr>
          <a:lstStyle/>
          <a:p>
            <a:pPr marL="0" indent="0" algn="ctr">
              <a:lnSpc>
                <a:spcPct val="100000"/>
              </a:lnSpc>
              <a:spcBef>
                <a:spcPts val="0"/>
              </a:spcBef>
              <a:buNone/>
            </a:pPr>
            <a:r>
              <a:rPr lang="en-US" sz="2400" b="1" dirty="0" smtClean="0">
                <a:solidFill>
                  <a:srgbClr val="FF0000"/>
                </a:solidFill>
                <a:latin typeface="Times New Roman" pitchFamily="18" charset="0"/>
                <a:cs typeface="Times New Roman" pitchFamily="18" charset="0"/>
              </a:rPr>
              <a:t>III. </a:t>
            </a:r>
            <a:r>
              <a:rPr lang="en-US" sz="2400" b="1" dirty="0" err="1" smtClean="0">
                <a:solidFill>
                  <a:srgbClr val="FF0000"/>
                </a:solidFill>
                <a:latin typeface="Times New Roman" pitchFamily="18" charset="0"/>
                <a:cs typeface="Times New Roman" pitchFamily="18" charset="0"/>
              </a:rPr>
              <a:t>Phương</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pháp</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nghiên</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cứu</a:t>
            </a:r>
            <a:endParaRPr lang="en-US" sz="2400" b="1" dirty="0" smtClean="0">
              <a:solidFill>
                <a:srgbClr val="FF0000"/>
              </a:solidFill>
              <a:latin typeface="Times New Roman" pitchFamily="18" charset="0"/>
              <a:cs typeface="Times New Roman" pitchFamily="18" charset="0"/>
            </a:endParaRP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18</a:t>
            </a:fld>
            <a:endParaRPr lang="en-US"/>
          </a:p>
        </p:txBody>
      </p:sp>
      <p:sp>
        <p:nvSpPr>
          <p:cNvPr id="8" name="Content Placeholder 2"/>
          <p:cNvSpPr txBox="1">
            <a:spLocks/>
          </p:cNvSpPr>
          <p:nvPr/>
        </p:nvSpPr>
        <p:spPr>
          <a:xfrm>
            <a:off x="4274574" y="1972204"/>
            <a:ext cx="35052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Font typeface="Arial" panose="020B0604020202020204" pitchFamily="34" charset="0"/>
              <a:buNone/>
            </a:pPr>
            <a:r>
              <a:rPr lang="en-US" sz="3000" b="1" smtClean="0">
                <a:solidFill>
                  <a:srgbClr val="FF0000"/>
                </a:solidFill>
                <a:latin typeface="Times New Roman" pitchFamily="18" charset="0"/>
                <a:cs typeface="Times New Roman" pitchFamily="18" charset="0"/>
              </a:rPr>
              <a:t>Phương pháp cụ thể</a:t>
            </a:r>
          </a:p>
        </p:txBody>
      </p:sp>
      <p:sp>
        <p:nvSpPr>
          <p:cNvPr id="10" name="Content Placeholder 2"/>
          <p:cNvSpPr txBox="1">
            <a:spLocks/>
          </p:cNvSpPr>
          <p:nvPr/>
        </p:nvSpPr>
        <p:spPr>
          <a:xfrm>
            <a:off x="3124200" y="3343804"/>
            <a:ext cx="57912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spcBef>
                <a:spcPts val="0"/>
              </a:spcBef>
              <a:buFont typeface="Arial" panose="020B0604020202020204" pitchFamily="34" charset="0"/>
              <a:buNone/>
            </a:pP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Phương</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pháp</a:t>
            </a:r>
            <a:r>
              <a:rPr lang="en-US" spc="-150" dirty="0" smtClean="0">
                <a:solidFill>
                  <a:srgbClr val="002060"/>
                </a:solidFill>
                <a:latin typeface="Times New Roman" pitchFamily="18" charset="0"/>
                <a:cs typeface="Times New Roman" pitchFamily="18" charset="0"/>
              </a:rPr>
              <a:t> logic, </a:t>
            </a:r>
            <a:r>
              <a:rPr lang="en-US" spc="-150" dirty="0" err="1" smtClean="0">
                <a:solidFill>
                  <a:srgbClr val="002060"/>
                </a:solidFill>
                <a:latin typeface="Times New Roman" pitchFamily="18" charset="0"/>
                <a:cs typeface="Times New Roman" pitchFamily="18" charset="0"/>
              </a:rPr>
              <a:t>phương</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pháp</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lịch</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sử</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và</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sự</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kết</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hợp</a:t>
            </a:r>
            <a:r>
              <a:rPr lang="en-US" spc="-150" dirty="0" smtClean="0">
                <a:solidFill>
                  <a:srgbClr val="002060"/>
                </a:solidFill>
                <a:latin typeface="Times New Roman" pitchFamily="18" charset="0"/>
                <a:cs typeface="Times New Roman" pitchFamily="18" charset="0"/>
              </a:rPr>
              <a:t>.</a:t>
            </a:r>
          </a:p>
          <a:p>
            <a:pPr marL="0" indent="0" algn="just">
              <a:lnSpc>
                <a:spcPct val="130000"/>
              </a:lnSpc>
              <a:spcBef>
                <a:spcPts val="0"/>
              </a:spcBef>
              <a:buFont typeface="Arial" panose="020B0604020202020204" pitchFamily="34" charset="0"/>
              <a:buNone/>
            </a:pP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Phương</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pháp</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phân</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tích</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văn</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bản</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kết</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hợp</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với</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nghiên</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cứu</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hoạt</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động</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thực</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tiễn</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của</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Hồ</a:t>
            </a:r>
            <a:r>
              <a:rPr lang="en-US" dirty="0" smtClean="0">
                <a:solidFill>
                  <a:srgbClr val="002060"/>
                </a:solidFill>
                <a:latin typeface="Times New Roman" pitchFamily="18" charset="0"/>
                <a:cs typeface="Times New Roman" pitchFamily="18" charset="0"/>
              </a:rPr>
              <a:t> </a:t>
            </a:r>
            <a:r>
              <a:rPr lang="en-US" dirty="0" err="1" smtClean="0">
                <a:solidFill>
                  <a:srgbClr val="002060"/>
                </a:solidFill>
                <a:latin typeface="Times New Roman" pitchFamily="18" charset="0"/>
                <a:cs typeface="Times New Roman" pitchFamily="18" charset="0"/>
              </a:rPr>
              <a:t>Chí</a:t>
            </a:r>
            <a:r>
              <a:rPr lang="en-US" dirty="0" smtClean="0">
                <a:solidFill>
                  <a:srgbClr val="002060"/>
                </a:solidFill>
                <a:latin typeface="Times New Roman" pitchFamily="18" charset="0"/>
                <a:cs typeface="Times New Roman" pitchFamily="18" charset="0"/>
              </a:rPr>
              <a:t> Minh</a:t>
            </a:r>
          </a:p>
          <a:p>
            <a:pPr marL="0" indent="0" algn="just">
              <a:lnSpc>
                <a:spcPct val="130000"/>
              </a:lnSpc>
              <a:spcBef>
                <a:spcPts val="0"/>
              </a:spcBef>
              <a:buFont typeface="Arial" panose="020B0604020202020204" pitchFamily="34" charset="0"/>
              <a:buNone/>
            </a:pP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Phương</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pháp</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chuyên</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ngành</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liên</a:t>
            </a:r>
            <a:r>
              <a:rPr lang="en-US" spc="-150" dirty="0" smtClean="0">
                <a:solidFill>
                  <a:srgbClr val="002060"/>
                </a:solidFill>
                <a:latin typeface="Times New Roman" pitchFamily="18" charset="0"/>
                <a:cs typeface="Times New Roman" pitchFamily="18" charset="0"/>
              </a:rPr>
              <a:t> </a:t>
            </a:r>
            <a:r>
              <a:rPr lang="en-US" spc="-150" dirty="0" err="1" smtClean="0">
                <a:solidFill>
                  <a:srgbClr val="002060"/>
                </a:solidFill>
                <a:latin typeface="Times New Roman" pitchFamily="18" charset="0"/>
                <a:cs typeface="Times New Roman" pitchFamily="18" charset="0"/>
              </a:rPr>
              <a:t>ngành</a:t>
            </a:r>
            <a:endParaRPr lang="en-US" spc="-150" dirty="0" smtClean="0">
              <a:solidFill>
                <a:srgbClr val="002060"/>
              </a:solidFill>
              <a:latin typeface="Times New Roman" pitchFamily="18" charset="0"/>
              <a:cs typeface="Times New Roman" pitchFamily="18" charset="0"/>
            </a:endParaRPr>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Straight Connector 13"/>
          <p:cNvCxnSpPr/>
          <p:nvPr/>
        </p:nvCxnSpPr>
        <p:spPr>
          <a:xfrm>
            <a:off x="3962400" y="1600200"/>
            <a:ext cx="1905000" cy="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867400" y="1600200"/>
            <a:ext cx="0" cy="533400"/>
          </a:xfrm>
          <a:prstGeom prst="straightConnector1">
            <a:avLst/>
          </a:prstGeom>
          <a:ln w="762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Right Arrow 20"/>
          <p:cNvSpPr/>
          <p:nvPr/>
        </p:nvSpPr>
        <p:spPr>
          <a:xfrm rot="5400000">
            <a:off x="5676900" y="2781300"/>
            <a:ext cx="533400" cy="457200"/>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2"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pic>
        <p:nvPicPr>
          <p:cNvPr id="23" name="Picture 22"/>
          <p:cNvPicPr>
            <a:picLocks noChangeAspect="1"/>
          </p:cNvPicPr>
          <p:nvPr/>
        </p:nvPicPr>
        <p:blipFill>
          <a:blip r:embed="rId4"/>
          <a:stretch>
            <a:fillRect/>
          </a:stretch>
        </p:blipFill>
        <p:spPr>
          <a:xfrm>
            <a:off x="381000" y="2578019"/>
            <a:ext cx="2257228" cy="3295650"/>
          </a:xfrm>
          <a:prstGeom prst="rect">
            <a:avLst/>
          </a:prstGeom>
        </p:spPr>
      </p:pic>
    </p:spTree>
    <p:extLst>
      <p:ext uri="{BB962C8B-B14F-4D97-AF65-F5344CB8AC3E}">
        <p14:creationId xmlns:p14="http://schemas.microsoft.com/office/powerpoint/2010/main" val="271599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arn(inVertical)">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Effect transition="in" filter="fade">
                                      <p:cBhvr>
                                        <p:cTn id="29" dur="1000"/>
                                        <p:tgtEl>
                                          <p:spTgt spid="10">
                                            <p:txEl>
                                              <p:pRg st="0" end="0"/>
                                            </p:txEl>
                                          </p:spTgt>
                                        </p:tgtEl>
                                      </p:cBhvr>
                                    </p:animEffect>
                                    <p:anim calcmode="lin" valueType="num">
                                      <p:cBhvr>
                                        <p:cTn id="30"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
                                            <p:txEl>
                                              <p:pRg st="1" end="1"/>
                                            </p:txEl>
                                          </p:spTgt>
                                        </p:tgtEl>
                                        <p:attrNameLst>
                                          <p:attrName>style.visibility</p:attrName>
                                        </p:attrNameLst>
                                      </p:cBhvr>
                                      <p:to>
                                        <p:strVal val="visible"/>
                                      </p:to>
                                    </p:set>
                                    <p:animEffect transition="in" filter="fade">
                                      <p:cBhvr>
                                        <p:cTn id="36" dur="1000"/>
                                        <p:tgtEl>
                                          <p:spTgt spid="10">
                                            <p:txEl>
                                              <p:pRg st="1" end="1"/>
                                            </p:txEl>
                                          </p:spTgt>
                                        </p:tgtEl>
                                      </p:cBhvr>
                                    </p:animEffect>
                                    <p:anim calcmode="lin" valueType="num">
                                      <p:cBhvr>
                                        <p:cTn id="37"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0">
                                            <p:txEl>
                                              <p:pRg st="2" end="2"/>
                                            </p:txEl>
                                          </p:spTgt>
                                        </p:tgtEl>
                                        <p:attrNameLst>
                                          <p:attrName>style.visibility</p:attrName>
                                        </p:attrNameLst>
                                      </p:cBhvr>
                                      <p:to>
                                        <p:strVal val="visible"/>
                                      </p:to>
                                    </p:set>
                                    <p:animEffect transition="in" filter="barn(inVertical)">
                                      <p:cBhvr>
                                        <p:cTn id="43"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389643"/>
            <a:ext cx="4596582" cy="667757"/>
          </a:xfrm>
        </p:spPr>
        <p:txBody>
          <a:bodyPr>
            <a:noAutofit/>
          </a:bodyPr>
          <a:lstStyle/>
          <a:p>
            <a:pPr marL="0" indent="0" algn="ctr">
              <a:lnSpc>
                <a:spcPct val="100000"/>
              </a:lnSpc>
              <a:spcBef>
                <a:spcPts val="0"/>
              </a:spcBef>
              <a:buNone/>
            </a:pPr>
            <a:r>
              <a:rPr lang="en-US" sz="2400" b="1" dirty="0" smtClean="0">
                <a:solidFill>
                  <a:srgbClr val="FF0000"/>
                </a:solidFill>
                <a:latin typeface="Times New Roman" pitchFamily="18" charset="0"/>
                <a:cs typeface="Times New Roman" pitchFamily="18" charset="0"/>
              </a:rPr>
              <a:t>IV. Ý </a:t>
            </a:r>
            <a:r>
              <a:rPr lang="en-US" sz="2400" b="1" dirty="0" err="1" smtClean="0">
                <a:solidFill>
                  <a:srgbClr val="FF0000"/>
                </a:solidFill>
                <a:latin typeface="Times New Roman" pitchFamily="18" charset="0"/>
                <a:cs typeface="Times New Roman" pitchFamily="18" charset="0"/>
              </a:rPr>
              <a:t>nghĩa</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của</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việc</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học</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tập</a:t>
            </a:r>
            <a:r>
              <a:rPr lang="en-US" sz="2400" b="1" dirty="0" smtClean="0">
                <a:solidFill>
                  <a:srgbClr val="FF0000"/>
                </a:solidFill>
                <a:latin typeface="Times New Roman" pitchFamily="18" charset="0"/>
                <a:cs typeface="Times New Roman" pitchFamily="18" charset="0"/>
              </a:rPr>
              <a:t> </a:t>
            </a:r>
          </a:p>
          <a:p>
            <a:pPr marL="0" indent="0" algn="ctr">
              <a:lnSpc>
                <a:spcPct val="100000"/>
              </a:lnSpc>
              <a:spcBef>
                <a:spcPts val="0"/>
              </a:spcBef>
              <a:buNone/>
            </a:pPr>
            <a:r>
              <a:rPr lang="en-US" sz="2400" b="1" dirty="0" err="1" smtClean="0">
                <a:solidFill>
                  <a:srgbClr val="FF0000"/>
                </a:solidFill>
                <a:latin typeface="Times New Roman" pitchFamily="18" charset="0"/>
                <a:cs typeface="Times New Roman" pitchFamily="18" charset="0"/>
              </a:rPr>
              <a:t>môn</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học</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tư</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tưởng</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Hồ</a:t>
            </a:r>
            <a:r>
              <a:rPr lang="en-US" sz="2400" b="1" dirty="0" smtClean="0">
                <a:solidFill>
                  <a:srgbClr val="FF0000"/>
                </a:solidFill>
                <a:latin typeface="Times New Roman" pitchFamily="18" charset="0"/>
                <a:cs typeface="Times New Roman" pitchFamily="18" charset="0"/>
              </a:rPr>
              <a:t> </a:t>
            </a:r>
            <a:r>
              <a:rPr lang="en-US" sz="2400" b="1" dirty="0" err="1" smtClean="0">
                <a:solidFill>
                  <a:srgbClr val="FF0000"/>
                </a:solidFill>
                <a:latin typeface="Times New Roman" pitchFamily="18" charset="0"/>
                <a:cs typeface="Times New Roman" pitchFamily="18" charset="0"/>
              </a:rPr>
              <a:t>Chí</a:t>
            </a:r>
            <a:r>
              <a:rPr lang="en-US" sz="2400" b="1" dirty="0" smtClean="0">
                <a:solidFill>
                  <a:srgbClr val="FF0000"/>
                </a:solidFill>
                <a:latin typeface="Times New Roman" pitchFamily="18" charset="0"/>
                <a:cs typeface="Times New Roman" pitchFamily="18" charset="0"/>
              </a:rPr>
              <a:t> Minh</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19</a:t>
            </a:fld>
            <a:endParaRPr lang="en-US"/>
          </a:p>
        </p:txBody>
      </p:sp>
      <p:sp>
        <p:nvSpPr>
          <p:cNvPr id="10" name="Content Placeholder 2"/>
          <p:cNvSpPr txBox="1">
            <a:spLocks/>
          </p:cNvSpPr>
          <p:nvPr/>
        </p:nvSpPr>
        <p:spPr>
          <a:xfrm>
            <a:off x="3352800" y="2133600"/>
            <a:ext cx="5638800" cy="1151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spcBef>
                <a:spcPts val="0"/>
              </a:spcBef>
              <a:buFont typeface="Arial" panose="020B0604020202020204" pitchFamily="34" charset="0"/>
              <a:buNone/>
            </a:pPr>
            <a:r>
              <a:rPr lang="en-US" sz="2700" spc="-150" smtClean="0">
                <a:solidFill>
                  <a:srgbClr val="002060"/>
                </a:solidFill>
                <a:latin typeface="Times New Roman" pitchFamily="18" charset="0"/>
                <a:cs typeface="Times New Roman" pitchFamily="18" charset="0"/>
              </a:rPr>
              <a:t>- Góp phần nâng cao năng lực tư duy lý luận.</a:t>
            </a:r>
          </a:p>
          <a:p>
            <a:pPr marL="0" indent="0" algn="just">
              <a:lnSpc>
                <a:spcPct val="130000"/>
              </a:lnSpc>
              <a:spcBef>
                <a:spcPts val="0"/>
              </a:spcBef>
              <a:buFont typeface="Arial" panose="020B0604020202020204" pitchFamily="34" charset="0"/>
              <a:buNone/>
            </a:pPr>
            <a:r>
              <a:rPr lang="en-US" sz="2700" spc="-150" smtClean="0">
                <a:solidFill>
                  <a:srgbClr val="002060"/>
                </a:solidFill>
                <a:latin typeface="Times New Roman" pitchFamily="18" charset="0"/>
                <a:cs typeface="Times New Roman" pitchFamily="18" charset="0"/>
              </a:rPr>
              <a:t>- Giáo dục và định hướng thực hành đạo đức cách mạng, củng cố niềm tin khoa học gắn liền với trau dồi tình cảm cách mạng, bồi dưỡng lòng yêu nước.</a:t>
            </a:r>
          </a:p>
          <a:p>
            <a:pPr marL="0" indent="0" algn="just">
              <a:lnSpc>
                <a:spcPct val="130000"/>
              </a:lnSpc>
              <a:spcBef>
                <a:spcPts val="0"/>
              </a:spcBef>
              <a:buFont typeface="Arial" panose="020B0604020202020204" pitchFamily="34" charset="0"/>
              <a:buNone/>
            </a:pPr>
            <a:r>
              <a:rPr lang="en-US" sz="2700" spc="-150" smtClean="0">
                <a:solidFill>
                  <a:srgbClr val="002060"/>
                </a:solidFill>
                <a:latin typeface="Times New Roman" pitchFamily="18" charset="0"/>
                <a:cs typeface="Times New Roman" pitchFamily="18" charset="0"/>
              </a:rPr>
              <a:t>- Xây dựng và rèn luyện phương pháp và phong cách .</a:t>
            </a:r>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pic>
        <p:nvPicPr>
          <p:cNvPr id="18" name="Picture 17"/>
          <p:cNvPicPr>
            <a:picLocks noChangeAspect="1"/>
          </p:cNvPicPr>
          <p:nvPr/>
        </p:nvPicPr>
        <p:blipFill>
          <a:blip r:embed="rId4"/>
          <a:stretch>
            <a:fillRect/>
          </a:stretch>
        </p:blipFill>
        <p:spPr>
          <a:xfrm>
            <a:off x="520148" y="2558508"/>
            <a:ext cx="2257228" cy="3295650"/>
          </a:xfrm>
          <a:prstGeom prst="rect">
            <a:avLst/>
          </a:prstGeom>
        </p:spPr>
      </p:pic>
    </p:spTree>
    <p:extLst>
      <p:ext uri="{BB962C8B-B14F-4D97-AF65-F5344CB8AC3E}">
        <p14:creationId xmlns:p14="http://schemas.microsoft.com/office/powerpoint/2010/main" val="198882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20</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1</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7029373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876</TotalTime>
  <Words>884</Words>
  <Application>Microsoft Office PowerPoint</Application>
  <PresentationFormat>On-screen Show (4:3)</PresentationFormat>
  <Paragraphs>111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169</cp:revision>
  <dcterms:created xsi:type="dcterms:W3CDTF">2014-12-31T03:01:48Z</dcterms:created>
  <dcterms:modified xsi:type="dcterms:W3CDTF">2024-12-20T03:04:58Z</dcterms:modified>
</cp:coreProperties>
</file>