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2"/>
  </p:notesMasterIdLst>
  <p:sldIdLst>
    <p:sldId id="257" r:id="rId2"/>
    <p:sldId id="435" r:id="rId3"/>
    <p:sldId id="258" r:id="rId4"/>
    <p:sldId id="321" r:id="rId5"/>
    <p:sldId id="374" r:id="rId6"/>
    <p:sldId id="377" r:id="rId7"/>
    <p:sldId id="411" r:id="rId8"/>
    <p:sldId id="412" r:id="rId9"/>
    <p:sldId id="413" r:id="rId10"/>
    <p:sldId id="410" r:id="rId11"/>
    <p:sldId id="414" r:id="rId12"/>
    <p:sldId id="415" r:id="rId13"/>
    <p:sldId id="416" r:id="rId14"/>
    <p:sldId id="417" r:id="rId15"/>
    <p:sldId id="418" r:id="rId16"/>
    <p:sldId id="419" r:id="rId17"/>
    <p:sldId id="433" r:id="rId18"/>
    <p:sldId id="421" r:id="rId19"/>
    <p:sldId id="422" r:id="rId20"/>
    <p:sldId id="423" r:id="rId21"/>
    <p:sldId id="434" r:id="rId22"/>
    <p:sldId id="424" r:id="rId23"/>
    <p:sldId id="425" r:id="rId24"/>
    <p:sldId id="426" r:id="rId25"/>
    <p:sldId id="427" r:id="rId26"/>
    <p:sldId id="428" r:id="rId27"/>
    <p:sldId id="429" r:id="rId28"/>
    <p:sldId id="430" r:id="rId29"/>
    <p:sldId id="431" r:id="rId30"/>
    <p:sldId id="43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12/22/2024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12/22/2024</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12/22/2024</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12/22/2024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14400"/>
            <a:ext cx="9144000" cy="3886200"/>
          </a:xfrm>
        </p:spPr>
        <p:txBody>
          <a:bodyPr>
            <a:noAutofit/>
          </a:bodyPr>
          <a:lstStyle/>
          <a:p>
            <a:pPr>
              <a:lnSpc>
                <a:spcPct val="150000"/>
              </a:lnSpc>
              <a:spcBef>
                <a:spcPts val="0"/>
              </a:spcBef>
            </a:pP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err="1" smtClean="0">
                <a:solidFill>
                  <a:srgbClr val="FF0000"/>
                </a:solidFill>
                <a:latin typeface="Times New Roman" pitchFamily="18" charset="0"/>
                <a:cs typeface="Times New Roman" pitchFamily="18" charset="0"/>
              </a:rPr>
              <a:t>Chương</a:t>
            </a:r>
            <a:r>
              <a:rPr lang="en-US" sz="3100" b="1" dirty="0" smtClean="0">
                <a:solidFill>
                  <a:srgbClr val="FF0000"/>
                </a:solidFill>
                <a:latin typeface="Times New Roman" pitchFamily="18" charset="0"/>
                <a:cs typeface="Times New Roman" pitchFamily="18" charset="0"/>
              </a:rPr>
              <a:t> </a:t>
            </a:r>
            <a:r>
              <a:rPr lang="en-US" sz="3100" b="1" dirty="0">
                <a:solidFill>
                  <a:srgbClr val="FF0000"/>
                </a:solidFill>
                <a:latin typeface="Times New Roman" pitchFamily="18" charset="0"/>
                <a:cs typeface="Times New Roman" pitchFamily="18" charset="0"/>
              </a:rPr>
              <a:t>4</a:t>
            </a: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smtClean="0">
                <a:solidFill>
                  <a:srgbClr val="FF0000"/>
                </a:solidFill>
                <a:latin typeface="Times New Roman" pitchFamily="18" charset="0"/>
                <a:cs typeface="Times New Roman" pitchFamily="18" charset="0"/>
              </a:rPr>
              <a:t>TƯ TƯỞNG HỒ CHÍ MINH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VỀ ĐẢNG CỘNG SẢN VIỆT NAM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VÀ NHÀ NƯỚC CỦA DÂN, DO DÂN, VÌ DÂN</a:t>
            </a:r>
          </a:p>
          <a:p>
            <a:pPr>
              <a:lnSpc>
                <a:spcPct val="150000"/>
              </a:lnSpc>
              <a:spcBef>
                <a:spcPts val="0"/>
              </a:spcBef>
            </a:pP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100" b="1" dirty="0">
              <a:solidFill>
                <a:srgbClr val="FF0000"/>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ECB21DE-0B5A-4F32-BC26-DDDC94AB31B2}"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a:t>
            </a:r>
            <a:r>
              <a:rPr lang="en-US"/>
              <a:t>4</a:t>
            </a: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7" name="Rectangle 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169277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trang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bị</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kiến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Đảng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Cộng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Việt</a:t>
            </a:r>
            <a:r>
              <a:rPr lang="en-US" sz="2600" dirty="0" smtClean="0">
                <a:solidFill>
                  <a:srgbClr val="002060"/>
                </a:solidFill>
                <a:latin typeface="Times New Roman" panose="02020603050405020304" pitchFamily="18" charset="0"/>
                <a:cs typeface="Times New Roman" panose="02020603050405020304" pitchFamily="18" charset="0"/>
              </a:rPr>
              <a:t> Nam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nước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do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vì</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819400"/>
            <a:ext cx="57356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bồi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dưỡng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kỹ</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năng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tích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khoa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vấn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xây</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dựng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Đảng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nước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thời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kỳ</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đổi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mới</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3124200" y="4498538"/>
            <a:ext cx="60404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tin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lãnh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Đảng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lý</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nước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giai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đoạn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hiện</a:t>
            </a:r>
            <a:r>
              <a:rPr lang="en-US" sz="2600" dirty="0" smtClean="0">
                <a:solidFill>
                  <a:srgbClr val="002060"/>
                </a:solidFill>
                <a:latin typeface="Times New Roman" panose="02020603050405020304" pitchFamily="18" charset="0"/>
                <a:cs typeface="Times New Roman" panose="02020603050405020304" pitchFamily="18" charset="0"/>
              </a:rPr>
              <a:t> nay.</a:t>
            </a:r>
            <a:endParaRPr 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745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827835" y="1600200"/>
            <a:ext cx="61637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 Tư tưởng Hồ Chí Minh </a:t>
            </a:r>
          </a:p>
          <a:p>
            <a:pPr algn="ctr"/>
            <a:r>
              <a:rPr lang="en-US" sz="2600" smtClean="0">
                <a:solidFill>
                  <a:srgbClr val="FF0000"/>
                </a:solidFill>
                <a:latin typeface="Times New Roman"/>
                <a:cs typeface="Times New Roman"/>
              </a:rPr>
              <a:t>về Đảng Cộng sản Việt Nam</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52686" y="2898338"/>
            <a:ext cx="520551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 Tư tưởng Hồ Chí Minh </a:t>
            </a:r>
          </a:p>
          <a:p>
            <a:pPr algn="ctr"/>
            <a:r>
              <a:rPr lang="en-US" sz="2600" smtClean="0">
                <a:solidFill>
                  <a:srgbClr val="FF0000"/>
                </a:solidFill>
                <a:latin typeface="Times New Roman"/>
                <a:cs typeface="Times New Roman"/>
              </a:rPr>
              <a:t>về Nhà nước của dân, do dân, vì dân</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3505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8" name="Text Box 36"/>
          <p:cNvSpPr txBox="1">
            <a:spLocks noChangeArrowheads="1"/>
          </p:cNvSpPr>
          <p:nvPr/>
        </p:nvSpPr>
        <p:spPr bwMode="auto">
          <a:xfrm>
            <a:off x="3240704" y="4498538"/>
            <a:ext cx="544609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III. Vận dụng tư tưởng Hồ Chí Minh </a:t>
            </a:r>
          </a:p>
          <a:p>
            <a:pPr algn="ctr"/>
            <a:r>
              <a:rPr lang="en-US" sz="2600" smtClean="0">
                <a:solidFill>
                  <a:srgbClr val="FF0000"/>
                </a:solidFill>
                <a:latin typeface="Times New Roman"/>
                <a:cs typeface="Times New Roman"/>
              </a:rPr>
              <a:t>vào công tác xây dựng Đảng </a:t>
            </a:r>
          </a:p>
          <a:p>
            <a:pPr algn="ctr"/>
            <a:r>
              <a:rPr lang="en-US" sz="2600" smtClean="0">
                <a:solidFill>
                  <a:srgbClr val="FF0000"/>
                </a:solidFill>
                <a:latin typeface="Times New Roman"/>
                <a:cs typeface="Times New Roman"/>
              </a:rPr>
              <a:t>và xây dựng Nhà nước</a:t>
            </a:r>
            <a:endParaRPr lang="en-US" sz="2600" dirty="0">
              <a:solidFill>
                <a:srgbClr val="FF0000"/>
              </a:solidFill>
              <a:latin typeface="Times New Roman"/>
              <a:cs typeface="Times New Roman"/>
            </a:endParaRPr>
          </a:p>
        </p:txBody>
      </p: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2800" b="1" smtClean="0">
                <a:solidFill>
                  <a:srgbClr val="FF0000"/>
                </a:solidFill>
                <a:latin typeface="Times New Roman" pitchFamily="18" charset="0"/>
                <a:cs typeface="Times New Roman" pitchFamily="18" charset="0"/>
              </a:rPr>
              <a:t>I. TƯ </a:t>
            </a:r>
            <a:r>
              <a:rPr lang="en-US" sz="2800" b="1">
                <a:solidFill>
                  <a:srgbClr val="FF0000"/>
                </a:solidFill>
                <a:latin typeface="Times New Roman" pitchFamily="18" charset="0"/>
                <a:cs typeface="Times New Roman" pitchFamily="18" charset="0"/>
              </a:rPr>
              <a:t>TƯỞNG HỒ CHÍ MINH </a:t>
            </a:r>
          </a:p>
          <a:p>
            <a:pPr>
              <a:lnSpc>
                <a:spcPct val="150000"/>
              </a:lnSpc>
              <a:spcBef>
                <a:spcPts val="0"/>
              </a:spcBef>
            </a:pPr>
            <a:r>
              <a:rPr lang="en-US" sz="2800" b="1">
                <a:solidFill>
                  <a:srgbClr val="FF0000"/>
                </a:solidFill>
                <a:latin typeface="Times New Roman" pitchFamily="18" charset="0"/>
                <a:cs typeface="Times New Roman" pitchFamily="18" charset="0"/>
              </a:rPr>
              <a:t>VỀ ĐẢNG CỘNG SẢN VIỆT NAM</a:t>
            </a:r>
            <a:endParaRPr lang="en-US" sz="3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827835" y="1600200"/>
            <a:ext cx="5318191"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Tính tất yếu và vai trò lãnh đạo </a:t>
            </a:r>
          </a:p>
          <a:p>
            <a:pPr algn="ctr"/>
            <a:r>
              <a:rPr lang="en-US" sz="2600" smtClean="0">
                <a:solidFill>
                  <a:srgbClr val="FF0000"/>
                </a:solidFill>
                <a:latin typeface="Times New Roman"/>
                <a:cs typeface="Times New Roman"/>
              </a:rPr>
              <a:t>của Đảng Cộng sản Việt Nam</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45312" y="4829681"/>
            <a:ext cx="521288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mtClean="0">
                <a:solidFill>
                  <a:srgbClr val="FF0000"/>
                </a:solidFill>
                <a:latin typeface="Times New Roman"/>
                <a:cs typeface="Times New Roman"/>
              </a:rPr>
              <a:t>2. Đảng phải trong sạch, vững mạnh</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8" name="Rectangle 1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7459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strVal val="#ppt_x"/>
                                          </p:val>
                                        </p:tav>
                                        <p:tav tm="100000">
                                          <p:val>
                                            <p:strVal val="#ppt_x"/>
                                          </p:val>
                                        </p:tav>
                                      </p:tavLst>
                                    </p:anim>
                                    <p:anim calcmode="lin" valueType="num">
                                      <p:cBhvr>
                                        <p:cTn id="31" dur="1000" fill="hold"/>
                                        <p:tgtEl>
                                          <p:spTgt spid="1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6</a:t>
            </a:fld>
            <a:endParaRPr lang="en-US"/>
          </a:p>
        </p:txBody>
      </p:sp>
      <p:cxnSp>
        <p:nvCxnSpPr>
          <p:cNvPr id="11" name="Straight Connector 10"/>
          <p:cNvCxnSpPr/>
          <p:nvPr/>
        </p:nvCxnSpPr>
        <p:spPr>
          <a:xfrm>
            <a:off x="1674954"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2392341"/>
            <a:ext cx="1186851" cy="13943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800600" y="2251122"/>
            <a:ext cx="4267200" cy="4093428"/>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a:t>
            </a:r>
            <a:r>
              <a:rPr lang="vi-VN" sz="2600" i="1" smtClean="0">
                <a:solidFill>
                  <a:srgbClr val="002060"/>
                </a:solidFill>
                <a:latin typeface="Times New Roman" pitchFamily="18" charset="0"/>
                <a:cs typeface="Times New Roman" pitchFamily="18" charset="0"/>
              </a:rPr>
              <a:t>Cách </a:t>
            </a:r>
            <a:r>
              <a:rPr lang="vi-VN" sz="2600" i="1">
                <a:solidFill>
                  <a:srgbClr val="002060"/>
                </a:solidFill>
                <a:latin typeface="Times New Roman" pitchFamily="18" charset="0"/>
                <a:cs typeface="Times New Roman" pitchFamily="18" charset="0"/>
              </a:rPr>
              <a:t>mệnh trước hết phải có cái gì? Trước hết phải có đảng cách mệnh, để trong thì vận động và tổ </a:t>
            </a:r>
            <a:r>
              <a:rPr lang="vi-VN" sz="2600" i="1" smtClean="0">
                <a:solidFill>
                  <a:srgbClr val="002060"/>
                </a:solidFill>
                <a:latin typeface="Times New Roman" pitchFamily="18" charset="0"/>
                <a:cs typeface="Times New Roman" pitchFamily="18" charset="0"/>
              </a:rPr>
              <a:t>chức </a:t>
            </a:r>
            <a:r>
              <a:rPr lang="vi-VN" sz="2600" i="1">
                <a:solidFill>
                  <a:srgbClr val="002060"/>
                </a:solidFill>
                <a:latin typeface="Times New Roman" pitchFamily="18" charset="0"/>
                <a:cs typeface="Times New Roman" pitchFamily="18" charset="0"/>
              </a:rPr>
              <a:t>dân chúng, ngoài thì liên lạc với dân tộc bị áp bức và vô sản giai cấp mọi nơi. Đảng có vững cách mệnh mới thành công, cũng như người cầm lái có vững thuyền mới </a:t>
            </a:r>
            <a:r>
              <a:rPr lang="vi-VN" sz="2600" i="1" smtClean="0">
                <a:solidFill>
                  <a:srgbClr val="002060"/>
                </a:solidFill>
                <a:latin typeface="Times New Roman" pitchFamily="18" charset="0"/>
                <a:cs typeface="Times New Roman" pitchFamily="18" charset="0"/>
              </a:rPr>
              <a:t>chạy</a:t>
            </a:r>
            <a:r>
              <a:rPr lang="en-US" sz="2600" i="1" smtClean="0">
                <a:solidFill>
                  <a:srgbClr val="002060"/>
                </a:solidFill>
                <a:latin typeface="Times New Roman" pitchFamily="18" charset="0"/>
                <a:cs typeface="Times New Roman" pitchFamily="18" charset="0"/>
              </a:rPr>
              <a:t>”</a:t>
            </a:r>
            <a:r>
              <a:rPr lang="vi-VN" sz="2600" i="1" smtClean="0">
                <a:solidFill>
                  <a:srgbClr val="002060"/>
                </a:solidFill>
                <a:latin typeface="Times New Roman" pitchFamily="18" charset="0"/>
                <a:cs typeface="Times New Roman" pitchFamily="18" charset="0"/>
              </a:rPr>
              <a:t>. </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0440" y="3131023"/>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2403296" y="1219200"/>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1. </a:t>
            </a:r>
            <a:r>
              <a:rPr lang="en-US" sz="2800" dirty="0" err="1" smtClean="0">
                <a:solidFill>
                  <a:srgbClr val="FF0000"/>
                </a:solidFill>
                <a:latin typeface="Times New Roman"/>
                <a:cs typeface="Times New Roman"/>
              </a:rPr>
              <a:t>Tính</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yếu</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vai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trò</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lãnh</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đạo</a:t>
            </a:r>
            <a:r>
              <a:rPr lang="en-US" sz="2800" dirty="0" smtClean="0">
                <a:solidFill>
                  <a:srgbClr val="FF0000"/>
                </a:solidFill>
                <a:latin typeface="Times New Roman"/>
                <a:cs typeface="Times New Roman"/>
              </a:rPr>
              <a:t> </a:t>
            </a:r>
          </a:p>
          <a:p>
            <a:pPr algn="ct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Đảng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Cộng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sản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Việt</a:t>
            </a:r>
            <a:r>
              <a:rPr lang="en-US" sz="2800" dirty="0" smtClean="0">
                <a:solidFill>
                  <a:srgbClr val="FF0000"/>
                </a:solidFill>
                <a:latin typeface="Times New Roman"/>
                <a:cs typeface="Times New Roman"/>
              </a:rPr>
              <a:t> Nam</a:t>
            </a:r>
            <a:endParaRPr lang="en-US" sz="2800" dirty="0">
              <a:solidFill>
                <a:srgbClr val="FF0000"/>
              </a:solidFill>
              <a:latin typeface="Times New Roman"/>
              <a:cs typeface="Times New Roman"/>
            </a:endParaRPr>
          </a:p>
        </p:txBody>
      </p:sp>
      <p:pic>
        <p:nvPicPr>
          <p:cNvPr id="18" name="Picture 1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11907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7</a:t>
            </a:fld>
            <a:endParaRPr lang="en-US"/>
          </a:p>
        </p:txBody>
      </p:sp>
      <p:sp>
        <p:nvSpPr>
          <p:cNvPr id="9" name="Text Box 36"/>
          <p:cNvSpPr txBox="1">
            <a:spLocks noChangeArrowheads="1"/>
          </p:cNvSpPr>
          <p:nvPr/>
        </p:nvSpPr>
        <p:spPr bwMode="auto">
          <a:xfrm>
            <a:off x="2403296" y="190114"/>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2. Đảng phải trong sạch, vững mạnh</a:t>
            </a:r>
            <a:endParaRPr lang="en-US" sz="2800" dirty="0">
              <a:solidFill>
                <a:srgbClr val="FF0000"/>
              </a:solidFill>
              <a:latin typeface="Times New Roman"/>
              <a:cs typeface="Times New Roman"/>
            </a:endParaRPr>
          </a:p>
        </p:txBody>
      </p:sp>
      <p:cxnSp>
        <p:nvCxnSpPr>
          <p:cNvPr id="11" name="Straight Connector 10"/>
          <p:cNvCxnSpPr/>
          <p:nvPr/>
        </p:nvCxnSpPr>
        <p:spPr>
          <a:xfrm>
            <a:off x="1741454" y="2057400"/>
            <a:ext cx="0" cy="33902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0" y="1143000"/>
            <a:ext cx="1186851" cy="493981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smtClean="0">
                <a:solidFill>
                  <a:srgbClr val="FF0000"/>
                </a:solidFill>
                <a:latin typeface="Times New Roman"/>
                <a:cs typeface="Times New Roman"/>
              </a:rPr>
              <a:t>2. </a:t>
            </a:r>
            <a:r>
              <a:rPr lang="en-US" sz="3000" dirty="0" err="1" smtClean="0">
                <a:solidFill>
                  <a:srgbClr val="FF0000"/>
                </a:solidFill>
                <a:latin typeface="Times New Roman"/>
                <a:cs typeface="Times New Roman"/>
              </a:rPr>
              <a:t>Đảng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phải</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trong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sạch</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vững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mạnh</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209800" y="1546878"/>
            <a:ext cx="6705600" cy="4031873"/>
          </a:xfrm>
          <a:prstGeom prst="rect">
            <a:avLst/>
          </a:prstGeom>
        </p:spPr>
        <p:txBody>
          <a:bodyPr wrap="square">
            <a:spAutoFit/>
          </a:bodyPr>
          <a:lstStyle/>
          <a:p>
            <a:pPr algn="just">
              <a:lnSpc>
                <a:spcPct val="200000"/>
              </a:lnSpc>
            </a:pPr>
            <a:r>
              <a:rPr lang="en-US" sz="3200" i="1" dirty="0" smtClean="0">
                <a:solidFill>
                  <a:srgbClr val="002060"/>
                </a:solidFill>
                <a:latin typeface="Times New Roman" pitchFamily="18" charset="0"/>
                <a:cs typeface="Times New Roman" pitchFamily="18" charset="0"/>
              </a:rPr>
              <a:t>a. </a:t>
            </a:r>
            <a:r>
              <a:rPr lang="en-US" sz="3200" i="1" dirty="0" err="1" smtClean="0">
                <a:solidFill>
                  <a:srgbClr val="002060"/>
                </a:solidFill>
                <a:latin typeface="Times New Roman" pitchFamily="18" charset="0"/>
                <a:cs typeface="Times New Roman" pitchFamily="18" charset="0"/>
              </a:rPr>
              <a:t>Đảng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là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đạo</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đức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là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văn</a:t>
            </a:r>
            <a:r>
              <a:rPr lang="en-US" sz="3200" i="1" dirty="0" smtClean="0">
                <a:solidFill>
                  <a:srgbClr val="002060"/>
                </a:solidFill>
                <a:latin typeface="Times New Roman" pitchFamily="18" charset="0"/>
                <a:cs typeface="Times New Roman" pitchFamily="18" charset="0"/>
              </a:rPr>
              <a:t> </a:t>
            </a:r>
            <a:r>
              <a:rPr lang="en-US" sz="3200" i="1" dirty="0" smtClean="0">
                <a:solidFill>
                  <a:srgbClr val="002060"/>
                </a:solidFill>
                <a:latin typeface="Times New Roman" pitchFamily="18" charset="0"/>
                <a:cs typeface="Times New Roman" pitchFamily="18" charset="0"/>
              </a:rPr>
              <a:t>minh</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b. </a:t>
            </a:r>
            <a:r>
              <a:rPr lang="en-US" sz="3200" i="1" dirty="0" err="1" smtClean="0">
                <a:solidFill>
                  <a:srgbClr val="002060"/>
                </a:solidFill>
                <a:latin typeface="Times New Roman" pitchFamily="18" charset="0"/>
                <a:cs typeface="Times New Roman" pitchFamily="18" charset="0"/>
              </a:rPr>
              <a:t>Những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vấn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đề</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nguyên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tắc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trong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hoạt</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động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của</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Đảng</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Xây</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dựng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đội</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ngũ</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cán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bộ</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đảng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viên</a:t>
            </a:r>
            <a:endParaRPr lang="en-US" sz="3200" i="1" dirty="0" smtClean="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6591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Effect transition="in" filter="fade">
                                      <p:cBhvr>
                                        <p:cTn id="13" dur="1000"/>
                                        <p:tgtEl>
                                          <p:spTgt spid="17">
                                            <p:txEl>
                                              <p:pRg st="1" end="1"/>
                                            </p:txEl>
                                          </p:spTgt>
                                        </p:tgtEl>
                                      </p:cBhvr>
                                    </p:animEffect>
                                    <p:anim calcmode="lin" valueType="num">
                                      <p:cBhvr>
                                        <p:cTn id="14"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7">
                                            <p:txEl>
                                              <p:pRg st="2" end="2"/>
                                            </p:txEl>
                                          </p:spTgt>
                                        </p:tgtEl>
                                        <p:attrNameLst>
                                          <p:attrName>style.visibility</p:attrName>
                                        </p:attrNameLst>
                                      </p:cBhvr>
                                      <p:to>
                                        <p:strVal val="visible"/>
                                      </p:to>
                                    </p:set>
                                    <p:animEffect transition="in" filter="fade">
                                      <p:cBhvr>
                                        <p:cTn id="20" dur="1000"/>
                                        <p:tgtEl>
                                          <p:spTgt spid="17">
                                            <p:txEl>
                                              <p:pRg st="2" end="2"/>
                                            </p:txEl>
                                          </p:spTgt>
                                        </p:tgtEl>
                                      </p:cBhvr>
                                    </p:animEffect>
                                    <p:anim calcmode="lin" valueType="num">
                                      <p:cBhvr>
                                        <p:cTn id="21"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8</a:t>
            </a:fld>
            <a:endParaRPr lang="en-US"/>
          </a:p>
        </p:txBody>
      </p:sp>
      <p:sp>
        <p:nvSpPr>
          <p:cNvPr id="9" name="Text Box 36"/>
          <p:cNvSpPr txBox="1">
            <a:spLocks noChangeArrowheads="1"/>
          </p:cNvSpPr>
          <p:nvPr/>
        </p:nvSpPr>
        <p:spPr bwMode="auto">
          <a:xfrm>
            <a:off x="2403296" y="190114"/>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200000"/>
              </a:lnSpc>
            </a:pPr>
            <a:r>
              <a:rPr lang="en-US" sz="2800" i="1">
                <a:solidFill>
                  <a:srgbClr val="FF0000"/>
                </a:solidFill>
                <a:latin typeface="Times New Roman" pitchFamily="18" charset="0"/>
                <a:cs typeface="Times New Roman" pitchFamily="18" charset="0"/>
              </a:rPr>
              <a:t>a</a:t>
            </a:r>
            <a:r>
              <a:rPr lang="en-US" sz="2800" i="1" smtClean="0">
                <a:solidFill>
                  <a:srgbClr val="FF0000"/>
                </a:solidFill>
                <a:latin typeface="Times New Roman" pitchFamily="18" charset="0"/>
                <a:cs typeface="Times New Roman" pitchFamily="18" charset="0"/>
              </a:rPr>
              <a:t>. Đảng </a:t>
            </a:r>
            <a:r>
              <a:rPr lang="en-US" sz="2800" i="1">
                <a:solidFill>
                  <a:srgbClr val="FF0000"/>
                </a:solidFill>
                <a:latin typeface="Times New Roman" pitchFamily="18" charset="0"/>
                <a:cs typeface="Times New Roman" pitchFamily="18" charset="0"/>
              </a:rPr>
              <a:t>là đạo đức, là văn </a:t>
            </a:r>
            <a:r>
              <a:rPr lang="en-US" sz="2800" i="1" smtClean="0">
                <a:solidFill>
                  <a:srgbClr val="FF0000"/>
                </a:solidFill>
                <a:latin typeface="Times New Roman" pitchFamily="18" charset="0"/>
                <a:cs typeface="Times New Roman" pitchFamily="18" charset="0"/>
              </a:rPr>
              <a:t>minh</a:t>
            </a:r>
            <a:endParaRPr lang="en-US" sz="2800" i="1">
              <a:solidFill>
                <a:srgbClr val="FF0000"/>
              </a:solidFill>
              <a:latin typeface="Times New Roman" pitchFamily="18" charset="0"/>
              <a:cs typeface="Times New Roman" pitchFamily="18" charset="0"/>
            </a:endParaRPr>
          </a:p>
        </p:txBody>
      </p:sp>
      <p:cxnSp>
        <p:nvCxnSpPr>
          <p:cNvPr id="11" name="Straight Connector 10"/>
          <p:cNvCxnSpPr/>
          <p:nvPr/>
        </p:nvCxnSpPr>
        <p:spPr>
          <a:xfrm>
            <a:off x="1674954"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0" y="1295400"/>
            <a:ext cx="1186851" cy="493981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smtClean="0">
                <a:solidFill>
                  <a:srgbClr val="FF0000"/>
                </a:solidFill>
                <a:latin typeface="Times New Roman"/>
                <a:cs typeface="Times New Roman"/>
              </a:rPr>
              <a:t>a. </a:t>
            </a:r>
            <a:r>
              <a:rPr lang="en-US" sz="3000" dirty="0" err="1" smtClean="0">
                <a:solidFill>
                  <a:srgbClr val="FF0000"/>
                </a:solidFill>
                <a:latin typeface="Times New Roman"/>
                <a:cs typeface="Times New Roman"/>
              </a:rPr>
              <a:t>Đảng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đạo</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văn</a:t>
            </a:r>
            <a:r>
              <a:rPr lang="en-US" sz="3000" dirty="0" smtClean="0">
                <a:solidFill>
                  <a:srgbClr val="FF0000"/>
                </a:solidFill>
                <a:latin typeface="Times New Roman"/>
                <a:cs typeface="Times New Roman"/>
              </a:rPr>
              <a:t> minh</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981200" y="1573917"/>
            <a:ext cx="7086600" cy="3971536"/>
          </a:xfrm>
          <a:prstGeom prst="rect">
            <a:avLst/>
          </a:prstGeom>
        </p:spPr>
        <p:txBody>
          <a:bodyPr wrap="square">
            <a:spAutoFit/>
          </a:bodyPr>
          <a:lstStyle/>
          <a:p>
            <a:pPr algn="just">
              <a:lnSpc>
                <a:spcPct val="200000"/>
              </a:lnSpc>
            </a:pPr>
            <a:r>
              <a:rPr lang="en-US" sz="2600" i="1" dirty="0" err="1" smtClean="0">
                <a:solidFill>
                  <a:srgbClr val="FF0000"/>
                </a:solidFill>
                <a:latin typeface="Times New Roman" pitchFamily="18" charset="0"/>
                <a:cs typeface="Times New Roman" pitchFamily="18" charset="0"/>
              </a:rPr>
              <a:t>Đảng</a:t>
            </a:r>
            <a:r>
              <a:rPr lang="en-US" sz="2600" i="1" dirty="0" smtClean="0">
                <a:solidFill>
                  <a:srgbClr val="FF0000"/>
                </a:solidFill>
                <a:latin typeface="Times New Roman" pitchFamily="18" charset="0"/>
                <a:cs typeface="Times New Roman" pitchFamily="18" charset="0"/>
              </a:rPr>
              <a:t> </a:t>
            </a:r>
            <a:r>
              <a:rPr lang="en-US" sz="2600" i="1" dirty="0" err="1" smtClean="0">
                <a:solidFill>
                  <a:srgbClr val="FF0000"/>
                </a:solidFill>
                <a:latin typeface="Times New Roman" pitchFamily="18" charset="0"/>
                <a:cs typeface="Times New Roman" pitchFamily="18" charset="0"/>
              </a:rPr>
              <a:t>là</a:t>
            </a:r>
            <a:r>
              <a:rPr lang="en-US" sz="2600" i="1" dirty="0" smtClean="0">
                <a:solidFill>
                  <a:srgbClr val="FF0000"/>
                </a:solidFill>
                <a:latin typeface="Times New Roman" pitchFamily="18" charset="0"/>
                <a:cs typeface="Times New Roman" pitchFamily="18" charset="0"/>
              </a:rPr>
              <a:t> </a:t>
            </a:r>
            <a:r>
              <a:rPr lang="en-US" sz="2600" i="1" dirty="0" err="1" smtClean="0">
                <a:solidFill>
                  <a:srgbClr val="FF0000"/>
                </a:solidFill>
                <a:latin typeface="Times New Roman" pitchFamily="18" charset="0"/>
                <a:cs typeface="Times New Roman" pitchFamily="18" charset="0"/>
              </a:rPr>
              <a:t>đạo</a:t>
            </a:r>
            <a:r>
              <a:rPr lang="en-US" sz="2600" i="1" dirty="0" smtClean="0">
                <a:solidFill>
                  <a:srgbClr val="FF0000"/>
                </a:solidFill>
                <a:latin typeface="Times New Roman" pitchFamily="18" charset="0"/>
                <a:cs typeface="Times New Roman" pitchFamily="18" charset="0"/>
              </a:rPr>
              <a:t> </a:t>
            </a:r>
            <a:r>
              <a:rPr lang="en-US" sz="2600" i="1" dirty="0" err="1" smtClean="0">
                <a:solidFill>
                  <a:srgbClr val="FF0000"/>
                </a:solidFill>
                <a:latin typeface="Times New Roman" pitchFamily="18" charset="0"/>
                <a:cs typeface="Times New Roman" pitchFamily="18" charset="0"/>
              </a:rPr>
              <a:t>đức</a:t>
            </a:r>
            <a:r>
              <a:rPr lang="en-US" sz="2600" i="1" dirty="0" smtClean="0">
                <a:solidFill>
                  <a:srgbClr val="FF0000"/>
                </a:solidFill>
                <a:latin typeface="Times New Roman" pitchFamily="18" charset="0"/>
                <a:cs typeface="Times New Roman" pitchFamily="18" charset="0"/>
              </a:rPr>
              <a:t>:</a:t>
            </a:r>
          </a:p>
          <a:p>
            <a:pPr algn="just">
              <a:lnSpc>
                <a:spcPct val="20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Mục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đích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hoạt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phóng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phóng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giai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cấp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phóng</a:t>
            </a:r>
            <a:r>
              <a:rPr lang="en-US" sz="2600" i="1" dirty="0" smtClean="0">
                <a:solidFill>
                  <a:srgbClr val="002060"/>
                </a:solidFill>
                <a:latin typeface="Times New Roman" pitchFamily="18" charset="0"/>
                <a:cs typeface="Times New Roman" pitchFamily="18" charset="0"/>
              </a:rPr>
              <a:t> con </a:t>
            </a:r>
            <a:r>
              <a:rPr lang="en-US" sz="2600" i="1" dirty="0" err="1" smtClean="0">
                <a:solidFill>
                  <a:srgbClr val="002060"/>
                </a:solidFill>
                <a:latin typeface="Times New Roman" pitchFamily="18" charset="0"/>
                <a:cs typeface="Times New Roman" pitchFamily="18" charset="0"/>
              </a:rPr>
              <a:t>người</a:t>
            </a:r>
            <a:r>
              <a:rPr lang="en-US" sz="2600" i="1" dirty="0" smtClean="0">
                <a:solidFill>
                  <a:srgbClr val="002060"/>
                </a:solidFill>
                <a:latin typeface="Times New Roman" pitchFamily="18" charset="0"/>
                <a:cs typeface="Times New Roman" pitchFamily="18" charset="0"/>
              </a:rPr>
              <a:t>.</a:t>
            </a:r>
          </a:p>
          <a:p>
            <a:pPr algn="just">
              <a:lnSpc>
                <a:spcPct val="20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Phấn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đấu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vì</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ích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đất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p>
          <a:p>
            <a:pPr algn="just">
              <a:lnSpc>
                <a:spcPct val="20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viên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thấm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nhuần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đạo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đức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mạng</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02534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1000"/>
                                        <p:tgtEl>
                                          <p:spTgt spid="17">
                                            <p:txEl>
                                              <p:pRg st="0" end="0"/>
                                            </p:txEl>
                                          </p:spTgt>
                                        </p:tgtEl>
                                      </p:cBhvr>
                                    </p:animEffect>
                                    <p:anim calcmode="lin" valueType="num">
                                      <p:cBhvr>
                                        <p:cTn id="13"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
                                            <p:txEl>
                                              <p:pRg st="1" end="1"/>
                                            </p:txEl>
                                          </p:spTgt>
                                        </p:tgtEl>
                                        <p:attrNameLst>
                                          <p:attrName>style.visibility</p:attrName>
                                        </p:attrNameLst>
                                      </p:cBhvr>
                                      <p:to>
                                        <p:strVal val="visible"/>
                                      </p:to>
                                    </p:set>
                                    <p:animEffect transition="in" filter="fade">
                                      <p:cBhvr>
                                        <p:cTn id="19" dur="1000"/>
                                        <p:tgtEl>
                                          <p:spTgt spid="17">
                                            <p:txEl>
                                              <p:pRg st="1" end="1"/>
                                            </p:txEl>
                                          </p:spTgt>
                                        </p:tgtEl>
                                      </p:cBhvr>
                                    </p:animEffect>
                                    <p:anim calcmode="lin" valueType="num">
                                      <p:cBhvr>
                                        <p:cTn id="20"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7">
                                            <p:txEl>
                                              <p:pRg st="2" end="2"/>
                                            </p:txEl>
                                          </p:spTgt>
                                        </p:tgtEl>
                                        <p:attrNameLst>
                                          <p:attrName>style.visibility</p:attrName>
                                        </p:attrNameLst>
                                      </p:cBhvr>
                                      <p:to>
                                        <p:strVal val="visible"/>
                                      </p:to>
                                    </p:set>
                                    <p:animEffect transition="in" filter="fade">
                                      <p:cBhvr>
                                        <p:cTn id="26" dur="1000"/>
                                        <p:tgtEl>
                                          <p:spTgt spid="17">
                                            <p:txEl>
                                              <p:pRg st="2" end="2"/>
                                            </p:txEl>
                                          </p:spTgt>
                                        </p:tgtEl>
                                      </p:cBhvr>
                                    </p:animEffect>
                                    <p:anim calcmode="lin" valueType="num">
                                      <p:cBhvr>
                                        <p:cTn id="27"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7">
                                            <p:txEl>
                                              <p:pRg st="3" end="3"/>
                                            </p:txEl>
                                          </p:spTgt>
                                        </p:tgtEl>
                                        <p:attrNameLst>
                                          <p:attrName>style.visibility</p:attrName>
                                        </p:attrNameLst>
                                      </p:cBhvr>
                                      <p:to>
                                        <p:strVal val="visible"/>
                                      </p:to>
                                    </p:set>
                                    <p:animEffect transition="in" filter="fade">
                                      <p:cBhvr>
                                        <p:cTn id="33" dur="1000"/>
                                        <p:tgtEl>
                                          <p:spTgt spid="17">
                                            <p:txEl>
                                              <p:pRg st="3" end="3"/>
                                            </p:txEl>
                                          </p:spTgt>
                                        </p:tgtEl>
                                      </p:cBhvr>
                                    </p:animEffect>
                                    <p:anim calcmode="lin" valueType="num">
                                      <p:cBhvr>
                                        <p:cTn id="34"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9</a:t>
            </a:fld>
            <a:endParaRPr lang="en-US"/>
          </a:p>
        </p:txBody>
      </p:sp>
      <p:cxnSp>
        <p:nvCxnSpPr>
          <p:cNvPr id="11" name="Straight Connector 10"/>
          <p:cNvCxnSpPr/>
          <p:nvPr/>
        </p:nvCxnSpPr>
        <p:spPr>
          <a:xfrm>
            <a:off x="1674954"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978475" y="1554042"/>
            <a:ext cx="7086600" cy="4093428"/>
          </a:xfrm>
          <a:prstGeom prst="rect">
            <a:avLst/>
          </a:prstGeom>
        </p:spPr>
        <p:txBody>
          <a:bodyPr wrap="square">
            <a:spAutoFit/>
          </a:bodyPr>
          <a:lstStyle/>
          <a:p>
            <a:pPr algn="just"/>
            <a:r>
              <a:rPr lang="en-US" sz="2600" i="1" dirty="0" err="1" smtClean="0">
                <a:solidFill>
                  <a:srgbClr val="FF0000"/>
                </a:solidFill>
                <a:latin typeface="Times New Roman" pitchFamily="18" charset="0"/>
                <a:cs typeface="Times New Roman" pitchFamily="18" charset="0"/>
              </a:rPr>
              <a:t>Đảng</a:t>
            </a:r>
            <a:r>
              <a:rPr lang="en-US" sz="2600" i="1" dirty="0" smtClean="0">
                <a:solidFill>
                  <a:srgbClr val="FF0000"/>
                </a:solidFill>
                <a:latin typeface="Times New Roman" pitchFamily="18" charset="0"/>
                <a:cs typeface="Times New Roman" pitchFamily="18" charset="0"/>
              </a:rPr>
              <a:t> </a:t>
            </a:r>
            <a:r>
              <a:rPr lang="en-US" sz="2600" i="1" dirty="0" err="1" smtClean="0">
                <a:solidFill>
                  <a:srgbClr val="FF0000"/>
                </a:solidFill>
                <a:latin typeface="Times New Roman" pitchFamily="18" charset="0"/>
                <a:cs typeface="Times New Roman" pitchFamily="18" charset="0"/>
              </a:rPr>
              <a:t>là</a:t>
            </a:r>
            <a:r>
              <a:rPr lang="en-US" sz="2600" i="1" dirty="0" smtClean="0">
                <a:solidFill>
                  <a:srgbClr val="FF0000"/>
                </a:solidFill>
                <a:latin typeface="Times New Roman" pitchFamily="18" charset="0"/>
                <a:cs typeface="Times New Roman" pitchFamily="18" charset="0"/>
              </a:rPr>
              <a:t> </a:t>
            </a:r>
            <a:r>
              <a:rPr lang="en-US" sz="2600" i="1" dirty="0" err="1" smtClean="0">
                <a:solidFill>
                  <a:srgbClr val="FF0000"/>
                </a:solidFill>
                <a:latin typeface="Times New Roman" pitchFamily="18" charset="0"/>
                <a:cs typeface="Times New Roman" pitchFamily="18" charset="0"/>
              </a:rPr>
              <a:t>văn</a:t>
            </a:r>
            <a:r>
              <a:rPr lang="en-US" sz="2600" i="1" dirty="0" smtClean="0">
                <a:solidFill>
                  <a:srgbClr val="FF0000"/>
                </a:solidFill>
                <a:latin typeface="Times New Roman" pitchFamily="18" charset="0"/>
                <a:cs typeface="Times New Roman" pitchFamily="18" charset="0"/>
              </a:rPr>
              <a:t> minh:</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biểu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tâm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tuệ</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danh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Ra </a:t>
            </a:r>
            <a:r>
              <a:rPr lang="en-US" sz="2600" i="1" dirty="0" err="1" smtClean="0">
                <a:solidFill>
                  <a:srgbClr val="002060"/>
                </a:solidFill>
                <a:latin typeface="Times New Roman" pitchFamily="18" charset="0"/>
                <a:cs typeface="Times New Roman" pitchFamily="18" charset="0"/>
              </a:rPr>
              <a:t>đời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tồn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tại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phù</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hợp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luật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phát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triển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văn</a:t>
            </a:r>
            <a:r>
              <a:rPr lang="en-US" sz="2600" i="1" dirty="0" smtClean="0">
                <a:solidFill>
                  <a:srgbClr val="002060"/>
                </a:solidFill>
                <a:latin typeface="Times New Roman" pitchFamily="18" charset="0"/>
                <a:cs typeface="Times New Roman" pitchFamily="18" charset="0"/>
              </a:rPr>
              <a:t> minh </a:t>
            </a:r>
            <a:r>
              <a:rPr lang="en-US" sz="2600" i="1" dirty="0" err="1" smtClean="0">
                <a:solidFill>
                  <a:srgbClr val="002060"/>
                </a:solidFill>
                <a:latin typeface="Times New Roman" pitchFamily="18" charset="0"/>
                <a:cs typeface="Times New Roman" pitchFamily="18" charset="0"/>
              </a:rPr>
              <a:t>tiến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bộ</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loại</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trong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vững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mạnh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tròn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sứ</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mệnh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lịch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sử</a:t>
            </a:r>
            <a:r>
              <a:rPr lang="en-US" sz="2600" i="1" dirty="0" smtClean="0">
                <a:solidFill>
                  <a:srgbClr val="002060"/>
                </a:solidFill>
                <a:latin typeface="Times New Roman" pitchFamily="18" charset="0"/>
                <a:cs typeface="Times New Roman" pitchFamily="18" charset="0"/>
              </a:rPr>
              <a:t>.</a:t>
            </a:r>
          </a:p>
          <a:p>
            <a:pPr algn="just"/>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Hoạt</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động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trong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khuôn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khổ</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Hiến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pháp</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và</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pháp</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luật</a:t>
            </a:r>
            <a:r>
              <a:rPr lang="en-US" sz="2600" i="1" spc="-150" dirty="0" smtClean="0">
                <a:solidFill>
                  <a:srgbClr val="002060"/>
                </a:solidFill>
                <a:latin typeface="Times New Roman" pitchFamily="18" charset="0"/>
                <a:cs typeface="Times New Roman" pitchFamily="18" charset="0"/>
              </a:rPr>
              <a:t>.</a:t>
            </a:r>
          </a:p>
          <a:p>
            <a:pPr algn="just"/>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Đảng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viên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gương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mẫu</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trong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công</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tác</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và</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cuộc</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sống</a:t>
            </a:r>
            <a:r>
              <a:rPr lang="en-US" sz="2600" i="1" spc="-150"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Quan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hệ</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quốc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tế</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trong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tiến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bộ</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1" name="Text Box 36"/>
          <p:cNvSpPr txBox="1">
            <a:spLocks noChangeArrowheads="1"/>
          </p:cNvSpPr>
          <p:nvPr/>
        </p:nvSpPr>
        <p:spPr bwMode="auto">
          <a:xfrm>
            <a:off x="76200" y="1295400"/>
            <a:ext cx="1186851" cy="493981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smtClean="0">
                <a:solidFill>
                  <a:srgbClr val="FF0000"/>
                </a:solidFill>
                <a:latin typeface="Times New Roman"/>
                <a:cs typeface="Times New Roman"/>
              </a:rPr>
              <a:t>a. </a:t>
            </a:r>
            <a:r>
              <a:rPr lang="en-US" sz="3000" dirty="0" err="1" smtClean="0">
                <a:solidFill>
                  <a:srgbClr val="FF0000"/>
                </a:solidFill>
                <a:latin typeface="Times New Roman"/>
                <a:cs typeface="Times New Roman"/>
              </a:rPr>
              <a:t>Đảng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đạo</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văn</a:t>
            </a:r>
            <a:r>
              <a:rPr lang="en-US" sz="3000" dirty="0" smtClean="0">
                <a:solidFill>
                  <a:srgbClr val="FF0000"/>
                </a:solidFill>
                <a:latin typeface="Times New Roman"/>
                <a:cs typeface="Times New Roman"/>
              </a:rPr>
              <a:t> minh</a:t>
            </a:r>
            <a:endParaRPr lang="en-US" sz="3000" dirty="0">
              <a:solidFill>
                <a:srgbClr val="FF0000"/>
              </a:solidFill>
              <a:latin typeface="Times New Roman"/>
              <a:cs typeface="Times New Roman"/>
            </a:endParaRPr>
          </a:p>
        </p:txBody>
      </p:sp>
    </p:spTree>
    <p:extLst>
      <p:ext uri="{BB962C8B-B14F-4D97-AF65-F5344CB8AC3E}">
        <p14:creationId xmlns:p14="http://schemas.microsoft.com/office/powerpoint/2010/main" val="181314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1000"/>
                                        <p:tgtEl>
                                          <p:spTgt spid="17">
                                            <p:txEl>
                                              <p:pRg st="1" end="1"/>
                                            </p:txEl>
                                          </p:spTgt>
                                        </p:tgtEl>
                                      </p:cBhvr>
                                    </p:animEffect>
                                    <p:anim calcmode="lin" valueType="num">
                                      <p:cBhvr>
                                        <p:cTn id="8"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2" end="2"/>
                                            </p:txEl>
                                          </p:spTgt>
                                        </p:tgtEl>
                                        <p:attrNameLst>
                                          <p:attrName>style.visibility</p:attrName>
                                        </p:attrNameLst>
                                      </p:cBhvr>
                                      <p:to>
                                        <p:strVal val="visible"/>
                                      </p:to>
                                    </p:set>
                                    <p:animEffect transition="in" filter="fade">
                                      <p:cBhvr>
                                        <p:cTn id="14" dur="1000"/>
                                        <p:tgtEl>
                                          <p:spTgt spid="17">
                                            <p:txEl>
                                              <p:pRg st="2" end="2"/>
                                            </p:txEl>
                                          </p:spTgt>
                                        </p:tgtEl>
                                      </p:cBhvr>
                                    </p:animEffect>
                                    <p:anim calcmode="lin" valueType="num">
                                      <p:cBhvr>
                                        <p:cTn id="15"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1000"/>
                                        <p:tgtEl>
                                          <p:spTgt spid="17">
                                            <p:txEl>
                                              <p:pRg st="3" end="3"/>
                                            </p:txEl>
                                          </p:spTgt>
                                        </p:tgtEl>
                                      </p:cBhvr>
                                    </p:animEffect>
                                    <p:anim calcmode="lin" valueType="num">
                                      <p:cBhvr>
                                        <p:cTn id="22"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7">
                                            <p:txEl>
                                              <p:pRg st="4" end="4"/>
                                            </p:txEl>
                                          </p:spTgt>
                                        </p:tgtEl>
                                        <p:attrNameLst>
                                          <p:attrName>style.visibility</p:attrName>
                                        </p:attrNameLst>
                                      </p:cBhvr>
                                      <p:to>
                                        <p:strVal val="visible"/>
                                      </p:to>
                                    </p:set>
                                    <p:anim calcmode="lin" valueType="num">
                                      <p:cBhvr additive="base">
                                        <p:cTn id="28" dur="500" fill="hold"/>
                                        <p:tgtEl>
                                          <p:spTgt spid="1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7">
                                            <p:txEl>
                                              <p:pRg st="5" end="5"/>
                                            </p:txEl>
                                          </p:spTgt>
                                        </p:tgtEl>
                                        <p:attrNameLst>
                                          <p:attrName>style.visibility</p:attrName>
                                        </p:attrNameLst>
                                      </p:cBhvr>
                                      <p:to>
                                        <p:strVal val="visible"/>
                                      </p:to>
                                    </p:set>
                                    <p:animEffect transition="in" filter="barn(inVertical)">
                                      <p:cBhvr>
                                        <p:cTn id="34" dur="500"/>
                                        <p:tgtEl>
                                          <p:spTgt spid="17">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7">
                                            <p:txEl>
                                              <p:pRg st="6" end="6"/>
                                            </p:txEl>
                                          </p:spTgt>
                                        </p:tgtEl>
                                        <p:attrNameLst>
                                          <p:attrName>style.visibility</p:attrName>
                                        </p:attrNameLst>
                                      </p:cBhvr>
                                      <p:to>
                                        <p:strVal val="visible"/>
                                      </p:to>
                                    </p:set>
                                    <p:animEffect transition="in" filter="fade">
                                      <p:cBhvr>
                                        <p:cTn id="39" dur="1000"/>
                                        <p:tgtEl>
                                          <p:spTgt spid="17">
                                            <p:txEl>
                                              <p:pRg st="6" end="6"/>
                                            </p:txEl>
                                          </p:spTgt>
                                        </p:tgtEl>
                                      </p:cBhvr>
                                    </p:animEffect>
                                    <p:anim calcmode="lin" valueType="num">
                                      <p:cBhvr>
                                        <p:cTn id="40"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10</a:t>
            </a:fld>
            <a:endParaRPr lang="en-US"/>
          </a:p>
        </p:txBody>
      </p:sp>
      <p:cxnSp>
        <p:nvCxnSpPr>
          <p:cNvPr id="11" name="Straight Connector 10"/>
          <p:cNvCxnSpPr/>
          <p:nvPr/>
        </p:nvCxnSpPr>
        <p:spPr>
          <a:xfrm>
            <a:off x="1674954"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133600" y="1488281"/>
            <a:ext cx="6400800" cy="4371646"/>
          </a:xfrm>
          <a:prstGeom prst="rect">
            <a:avLst/>
          </a:prstGeom>
        </p:spPr>
        <p:txBody>
          <a:bodyPr wrap="square">
            <a:spAutoFit/>
          </a:bodyPr>
          <a:lstStyle/>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lấy</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nghĩa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Mác</a:t>
            </a:r>
            <a:r>
              <a:rPr lang="en-US" sz="2600" i="1" dirty="0" smtClean="0">
                <a:solidFill>
                  <a:srgbClr val="002060"/>
                </a:solidFill>
                <a:latin typeface="Times New Roman" pitchFamily="18" charset="0"/>
                <a:cs typeface="Times New Roman" pitchFamily="18" charset="0"/>
              </a:rPr>
              <a:t> – </a:t>
            </a:r>
            <a:r>
              <a:rPr lang="en-US" sz="2600" i="1" dirty="0" err="1" smtClean="0">
                <a:solidFill>
                  <a:srgbClr val="002060"/>
                </a:solidFill>
                <a:latin typeface="Times New Roman" pitchFamily="18" charset="0"/>
                <a:cs typeface="Times New Roman" pitchFamily="18" charset="0"/>
              </a:rPr>
              <a:t>Lênin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tưởng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chỉ</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nam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hành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Tập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phê</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bình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phê</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bình</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Kỷ</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luật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nghiêm</a:t>
            </a:r>
            <a:r>
              <a:rPr lang="en-US" sz="2600" i="1" dirty="0" smtClean="0">
                <a:solidFill>
                  <a:srgbClr val="002060"/>
                </a:solidFill>
                <a:latin typeface="Times New Roman" pitchFamily="18" charset="0"/>
                <a:cs typeface="Times New Roman" pitchFamily="18" charset="0"/>
              </a:rPr>
              <a:t> minh, </a:t>
            </a:r>
            <a:r>
              <a:rPr lang="en-US" sz="2600" i="1" dirty="0" err="1" smtClean="0">
                <a:solidFill>
                  <a:srgbClr val="002060"/>
                </a:solidFill>
                <a:latin typeface="Times New Roman" pitchFamily="18" charset="0"/>
                <a:cs typeface="Times New Roman" pitchFamily="18" charset="0"/>
              </a:rPr>
              <a:t>tự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giác</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thường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xuyên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chỉnh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đốn</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Đoàn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thống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nhất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trong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hệ</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mật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thiết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Đoàn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quốc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tế</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1371600"/>
            <a:ext cx="1371600" cy="440120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b. </a:t>
            </a:r>
            <a:r>
              <a:rPr lang="en-US" sz="2800" dirty="0" err="1" smtClean="0">
                <a:solidFill>
                  <a:srgbClr val="FF0000"/>
                </a:solidFill>
                <a:latin typeface="Times New Roman"/>
                <a:cs typeface="Times New Roman"/>
              </a:rPr>
              <a:t>Những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vấn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đề</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nguyên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tắc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trong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hoạt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động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Đảng</a:t>
            </a:r>
            <a:endParaRPr lang="en-US" sz="2800" dirty="0">
              <a:solidFill>
                <a:srgbClr val="FF0000"/>
              </a:solidFill>
              <a:latin typeface="Times New Roman"/>
              <a:cs typeface="Times New Roman"/>
            </a:endParaRPr>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2400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1000"/>
                                        <p:tgtEl>
                                          <p:spTgt spid="17">
                                            <p:txEl>
                                              <p:pRg st="4" end="4"/>
                                            </p:txEl>
                                          </p:spTgt>
                                        </p:tgtEl>
                                      </p:cBhvr>
                                    </p:animEffect>
                                    <p:anim calcmode="lin" valueType="num">
                                      <p:cBhvr>
                                        <p:cTn id="36"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
                                            <p:txEl>
                                              <p:pRg st="5" end="5"/>
                                            </p:txEl>
                                          </p:spTgt>
                                        </p:tgtEl>
                                        <p:attrNameLst>
                                          <p:attrName>style.visibility</p:attrName>
                                        </p:attrNameLst>
                                      </p:cBhvr>
                                      <p:to>
                                        <p:strVal val="visible"/>
                                      </p:to>
                                    </p:set>
                                    <p:animEffect transition="in" filter="fade">
                                      <p:cBhvr>
                                        <p:cTn id="42" dur="1000"/>
                                        <p:tgtEl>
                                          <p:spTgt spid="17">
                                            <p:txEl>
                                              <p:pRg st="5" end="5"/>
                                            </p:txEl>
                                          </p:spTgt>
                                        </p:tgtEl>
                                      </p:cBhvr>
                                    </p:animEffect>
                                    <p:anim calcmode="lin" valueType="num">
                                      <p:cBhvr>
                                        <p:cTn id="43" dur="1000" fill="hold"/>
                                        <p:tgtEl>
                                          <p:spTgt spid="1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7">
                                            <p:txEl>
                                              <p:pRg st="6" end="6"/>
                                            </p:txEl>
                                          </p:spTgt>
                                        </p:tgtEl>
                                        <p:attrNameLst>
                                          <p:attrName>style.visibility</p:attrName>
                                        </p:attrNameLst>
                                      </p:cBhvr>
                                      <p:to>
                                        <p:strVal val="visible"/>
                                      </p:to>
                                    </p:set>
                                    <p:animEffect transition="in" filter="fade">
                                      <p:cBhvr>
                                        <p:cTn id="49" dur="1000"/>
                                        <p:tgtEl>
                                          <p:spTgt spid="17">
                                            <p:txEl>
                                              <p:pRg st="6" end="6"/>
                                            </p:txEl>
                                          </p:spTgt>
                                        </p:tgtEl>
                                      </p:cBhvr>
                                    </p:animEffect>
                                    <p:anim calcmode="lin" valueType="num">
                                      <p:cBhvr>
                                        <p:cTn id="50"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7">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7">
                                            <p:txEl>
                                              <p:pRg st="7" end="7"/>
                                            </p:txEl>
                                          </p:spTgt>
                                        </p:tgtEl>
                                        <p:attrNameLst>
                                          <p:attrName>style.visibility</p:attrName>
                                        </p:attrNameLst>
                                      </p:cBhvr>
                                      <p:to>
                                        <p:strVal val="visible"/>
                                      </p:to>
                                    </p:set>
                                    <p:animEffect transition="in" filter="fade">
                                      <p:cBhvr>
                                        <p:cTn id="54" dur="1000"/>
                                        <p:tgtEl>
                                          <p:spTgt spid="17">
                                            <p:txEl>
                                              <p:pRg st="7" end="7"/>
                                            </p:txEl>
                                          </p:spTgt>
                                        </p:tgtEl>
                                      </p:cBhvr>
                                    </p:animEffect>
                                    <p:anim calcmode="lin" valueType="num">
                                      <p:cBhvr>
                                        <p:cTn id="55" dur="1000" fill="hold"/>
                                        <p:tgtEl>
                                          <p:spTgt spid="17">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1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11</a:t>
            </a:fld>
            <a:endParaRPr lang="en-US"/>
          </a:p>
        </p:txBody>
      </p:sp>
      <p:cxnSp>
        <p:nvCxnSpPr>
          <p:cNvPr id="11" name="Straight Connector 10"/>
          <p:cNvCxnSpPr/>
          <p:nvPr/>
        </p:nvCxnSpPr>
        <p:spPr>
          <a:xfrm>
            <a:off x="19909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23764"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50938" y="1905000"/>
            <a:ext cx="2032138" cy="260019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800" dirty="0" smtClean="0">
                <a:solidFill>
                  <a:srgbClr val="FF0000"/>
                </a:solidFill>
                <a:latin typeface="Times New Roman"/>
                <a:cs typeface="Times New Roman"/>
              </a:rPr>
              <a:t>c. </a:t>
            </a:r>
            <a:r>
              <a:rPr lang="en-US" sz="2800" dirty="0" err="1" smtClean="0">
                <a:solidFill>
                  <a:srgbClr val="FF0000"/>
                </a:solidFill>
                <a:latin typeface="Times New Roman"/>
                <a:cs typeface="Times New Roman"/>
              </a:rPr>
              <a:t>Xây</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dựng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đội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ngũ</a:t>
            </a:r>
            <a:r>
              <a:rPr lang="en-US" sz="2800" dirty="0" smtClean="0">
                <a:solidFill>
                  <a:srgbClr val="FF0000"/>
                </a:solidFill>
                <a:latin typeface="Times New Roman"/>
                <a:cs typeface="Times New Roman"/>
              </a:rPr>
              <a:t> </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cán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bộ</a:t>
            </a:r>
            <a:r>
              <a:rPr lang="en-US" sz="2800" dirty="0" smtClean="0">
                <a:solidFill>
                  <a:srgbClr val="FF0000"/>
                </a:solidFill>
                <a:latin typeface="Times New Roman"/>
                <a:cs typeface="Times New Roman"/>
              </a:rPr>
              <a:t>, </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đảng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viên</a:t>
            </a:r>
            <a:endParaRPr lang="en-US" sz="2800" dirty="0">
              <a:solidFill>
                <a:srgbClr val="FF0000"/>
              </a:solidFill>
              <a:latin typeface="Times New Roman"/>
              <a:cs typeface="Times New Roman"/>
            </a:endParaRPr>
          </a:p>
        </p:txBody>
      </p:sp>
      <p:sp>
        <p:nvSpPr>
          <p:cNvPr id="17" name="Rectangle 16"/>
          <p:cNvSpPr/>
          <p:nvPr/>
        </p:nvSpPr>
        <p:spPr>
          <a:xfrm>
            <a:off x="2133600" y="990600"/>
            <a:ext cx="6400800" cy="5293757"/>
          </a:xfrm>
          <a:prstGeom prst="rect">
            <a:avLst/>
          </a:prstGeom>
        </p:spPr>
        <p:txBody>
          <a:bodyPr wrap="square">
            <a:spAutoFit/>
          </a:bodyPr>
          <a:lstStyle/>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tuyệt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đối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thành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chỉnh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thực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hiện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lĩnh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đường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lối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quan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điểm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nghị</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nguyên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tắc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xây</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dựng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dưỡng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rèn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luyện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trau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dồi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đạo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đức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mạng</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học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tập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nâng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cao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trình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về</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mọi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mặt</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mối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hệ</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mật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thiết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chịu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năng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tạo</a:t>
            </a:r>
            <a:r>
              <a:rPr lang="en-US" sz="2600" i="1" dirty="0" smtClean="0">
                <a:solidFill>
                  <a:srgbClr val="002060"/>
                </a:solidFill>
                <a:latin typeface="Times New Roman" pitchFamily="18" charset="0"/>
                <a:cs typeface="Times New Roman" pitchFamily="18" charset="0"/>
              </a:rPr>
              <a:t>.</a:t>
            </a:r>
          </a:p>
          <a:p>
            <a:pPr algn="just"/>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những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người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luôn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phòng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chống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cực</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8" name="Rectangle 1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55386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1000"/>
                                        <p:tgtEl>
                                          <p:spTgt spid="17">
                                            <p:txEl>
                                              <p:pRg st="4" end="4"/>
                                            </p:txEl>
                                          </p:spTgt>
                                        </p:tgtEl>
                                      </p:cBhvr>
                                    </p:animEffect>
                                    <p:anim calcmode="lin" valueType="num">
                                      <p:cBhvr>
                                        <p:cTn id="36"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
                                            <p:txEl>
                                              <p:pRg st="5" end="5"/>
                                            </p:txEl>
                                          </p:spTgt>
                                        </p:tgtEl>
                                        <p:attrNameLst>
                                          <p:attrName>style.visibility</p:attrName>
                                        </p:attrNameLst>
                                      </p:cBhvr>
                                      <p:to>
                                        <p:strVal val="visible"/>
                                      </p:to>
                                    </p:set>
                                    <p:animEffect transition="in" filter="fade">
                                      <p:cBhvr>
                                        <p:cTn id="42" dur="1000"/>
                                        <p:tgtEl>
                                          <p:spTgt spid="17">
                                            <p:txEl>
                                              <p:pRg st="5" end="5"/>
                                            </p:txEl>
                                          </p:spTgt>
                                        </p:tgtEl>
                                      </p:cBhvr>
                                    </p:animEffect>
                                    <p:anim calcmode="lin" valueType="num">
                                      <p:cBhvr>
                                        <p:cTn id="43" dur="1000" fill="hold"/>
                                        <p:tgtEl>
                                          <p:spTgt spid="1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7">
                                            <p:txEl>
                                              <p:pRg st="6" end="6"/>
                                            </p:txEl>
                                          </p:spTgt>
                                        </p:tgtEl>
                                        <p:attrNameLst>
                                          <p:attrName>style.visibility</p:attrName>
                                        </p:attrNameLst>
                                      </p:cBhvr>
                                      <p:to>
                                        <p:strVal val="visible"/>
                                      </p:to>
                                    </p:set>
                                    <p:animEffect transition="in" filter="fade">
                                      <p:cBhvr>
                                        <p:cTn id="49" dur="1000"/>
                                        <p:tgtEl>
                                          <p:spTgt spid="17">
                                            <p:txEl>
                                              <p:pRg st="6" end="6"/>
                                            </p:txEl>
                                          </p:spTgt>
                                        </p:tgtEl>
                                      </p:cBhvr>
                                    </p:animEffect>
                                    <p:anim calcmode="lin" valueType="num">
                                      <p:cBhvr>
                                        <p:cTn id="50"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12</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2800" b="1" dirty="0" smtClean="0">
                <a:solidFill>
                  <a:srgbClr val="FF0000"/>
                </a:solidFill>
                <a:latin typeface="Times New Roman" pitchFamily="18" charset="0"/>
                <a:cs typeface="Times New Roman" pitchFamily="18" charset="0"/>
              </a:rPr>
              <a:t>II. TƯ </a:t>
            </a:r>
            <a:r>
              <a:rPr lang="en-US" sz="2800" b="1" dirty="0">
                <a:solidFill>
                  <a:srgbClr val="FF0000"/>
                </a:solidFill>
                <a:latin typeface="Times New Roman" pitchFamily="18" charset="0"/>
                <a:cs typeface="Times New Roman" pitchFamily="18" charset="0"/>
              </a:rPr>
              <a:t>TƯỞNG HỒ CHÍ MINH </a:t>
            </a:r>
          </a:p>
          <a:p>
            <a:pPr>
              <a:lnSpc>
                <a:spcPct val="150000"/>
              </a:lnSpc>
              <a:spcBef>
                <a:spcPts val="0"/>
              </a:spcBef>
            </a:pPr>
            <a:r>
              <a:rPr lang="en-US" sz="2800" b="1" dirty="0">
                <a:solidFill>
                  <a:srgbClr val="FF0000"/>
                </a:solidFill>
                <a:latin typeface="Times New Roman" pitchFamily="18" charset="0"/>
                <a:cs typeface="Times New Roman" pitchFamily="18" charset="0"/>
              </a:rPr>
              <a:t>VỀ </a:t>
            </a:r>
            <a:r>
              <a:rPr lang="en-US" sz="2800" b="1" dirty="0" smtClean="0">
                <a:solidFill>
                  <a:srgbClr val="FF0000"/>
                </a:solidFill>
                <a:latin typeface="Times New Roman" pitchFamily="18" charset="0"/>
                <a:cs typeface="Times New Roman" pitchFamily="18" charset="0"/>
              </a:rPr>
              <a:t>NHÀ NƯỚC CỦA NHÂN DÂN, </a:t>
            </a:r>
          </a:p>
          <a:p>
            <a:pPr>
              <a:lnSpc>
                <a:spcPct val="150000"/>
              </a:lnSpc>
              <a:spcBef>
                <a:spcPts val="0"/>
              </a:spcBef>
            </a:pPr>
            <a:r>
              <a:rPr lang="en-US" sz="2800" b="1" dirty="0" smtClean="0">
                <a:solidFill>
                  <a:srgbClr val="FF0000"/>
                </a:solidFill>
                <a:latin typeface="Times New Roman" pitchFamily="18" charset="0"/>
                <a:cs typeface="Times New Roman" pitchFamily="18" charset="0"/>
              </a:rPr>
              <a:t>DO NHÂN DÂN, VÌ NHÂN DÂN</a:t>
            </a:r>
            <a:endParaRPr lang="en-US" sz="3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888551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827835" y="1600200"/>
            <a:ext cx="36491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Nhà nước dân chủ</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45312" y="3184850"/>
            <a:ext cx="391748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mtClean="0">
                <a:solidFill>
                  <a:srgbClr val="FF0000"/>
                </a:solidFill>
                <a:latin typeface="Times New Roman"/>
                <a:cs typeface="Times New Roman"/>
              </a:rPr>
              <a:t>2. Nhà nước pháp quyền</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0" name="Text Box 36"/>
          <p:cNvSpPr txBox="1">
            <a:spLocks noChangeArrowheads="1"/>
          </p:cNvSpPr>
          <p:nvPr/>
        </p:nvSpPr>
        <p:spPr bwMode="auto">
          <a:xfrm>
            <a:off x="3212966" y="4829681"/>
            <a:ext cx="5321434"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mtClean="0">
                <a:solidFill>
                  <a:srgbClr val="FF0000"/>
                </a:solidFill>
                <a:latin typeface="Times New Roman"/>
                <a:cs typeface="Times New Roman"/>
              </a:rPr>
              <a:t>3. Nhà nước trong sạch, vững mạnh</a:t>
            </a:r>
            <a:endParaRPr lang="en-US" sz="2600" dirty="0">
              <a:solidFill>
                <a:srgbClr val="FF0000"/>
              </a:solidFill>
              <a:latin typeface="Times New Roman"/>
              <a:cs typeface="Times New Roman"/>
            </a:endParaRPr>
          </a:p>
        </p:txBody>
      </p:sp>
      <p:cxnSp>
        <p:nvCxnSpPr>
          <p:cNvPr id="21" name="Straight Arrow Connector 20"/>
          <p:cNvCxnSpPr/>
          <p:nvPr/>
        </p:nvCxnSpPr>
        <p:spPr>
          <a:xfrm>
            <a:off x="2182596" y="3505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8" name="Rectangle 1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27916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14</a:t>
            </a:fld>
            <a:endParaRPr lang="en-US"/>
          </a:p>
        </p:txBody>
      </p:sp>
      <p:cxnSp>
        <p:nvCxnSpPr>
          <p:cNvPr id="11" name="Straight Connector 10"/>
          <p:cNvCxnSpPr/>
          <p:nvPr/>
        </p:nvCxnSpPr>
        <p:spPr>
          <a:xfrm>
            <a:off x="2286000" y="1828800"/>
            <a:ext cx="65054" cy="35426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743200" y="1524000"/>
            <a:ext cx="6400800" cy="4031873"/>
          </a:xfrm>
          <a:prstGeom prst="rect">
            <a:avLst/>
          </a:prstGeom>
        </p:spPr>
        <p:txBody>
          <a:bodyPr wrap="square">
            <a:spAutoFit/>
          </a:bodyPr>
          <a:lstStyle/>
          <a:p>
            <a:pPr algn="just">
              <a:lnSpc>
                <a:spcPct val="200000"/>
              </a:lnSpc>
            </a:pPr>
            <a:r>
              <a:rPr lang="en-US" sz="3200" i="1" dirty="0" smtClean="0">
                <a:solidFill>
                  <a:srgbClr val="002060"/>
                </a:solidFill>
                <a:latin typeface="Times New Roman" pitchFamily="18" charset="0"/>
                <a:cs typeface="Times New Roman" pitchFamily="18" charset="0"/>
              </a:rPr>
              <a:t>a. </a:t>
            </a:r>
            <a:r>
              <a:rPr lang="en-US" sz="3200" i="1" dirty="0" err="1" smtClean="0">
                <a:solidFill>
                  <a:srgbClr val="002060"/>
                </a:solidFill>
                <a:latin typeface="Times New Roman" pitchFamily="18" charset="0"/>
                <a:cs typeface="Times New Roman" pitchFamily="18" charset="0"/>
              </a:rPr>
              <a:t>Bản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chất</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giai</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cấp</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của</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b.</a:t>
            </a:r>
            <a:r>
              <a:rPr lang="en-US" sz="3200" i="1" dirty="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của</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nhân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dân</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c.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 do </a:t>
            </a:r>
            <a:r>
              <a:rPr lang="en-US" sz="3200" i="1" dirty="0" err="1" smtClean="0">
                <a:solidFill>
                  <a:srgbClr val="002060"/>
                </a:solidFill>
                <a:latin typeface="Times New Roman" pitchFamily="18" charset="0"/>
                <a:cs typeface="Times New Roman" pitchFamily="18" charset="0"/>
              </a:rPr>
              <a:t>nhân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dân</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d.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vì</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nhân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dân</a:t>
            </a:r>
            <a:endParaRPr lang="en-US" sz="32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667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59692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15</a:t>
            </a:fld>
            <a:endParaRPr lang="en-US"/>
          </a:p>
        </p:txBody>
      </p:sp>
      <p:sp>
        <p:nvSpPr>
          <p:cNvPr id="9" name="Text Box 36"/>
          <p:cNvSpPr txBox="1">
            <a:spLocks noChangeArrowheads="1"/>
          </p:cNvSpPr>
          <p:nvPr/>
        </p:nvSpPr>
        <p:spPr bwMode="auto">
          <a:xfrm>
            <a:off x="2438400" y="1447800"/>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a. </a:t>
            </a:r>
            <a:r>
              <a:rPr lang="en-US" sz="2800" dirty="0" err="1" smtClean="0">
                <a:solidFill>
                  <a:srgbClr val="FF0000"/>
                </a:solidFill>
                <a:latin typeface="Times New Roman"/>
                <a:cs typeface="Times New Roman"/>
              </a:rPr>
              <a:t>Bản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chất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giai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cấp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nhà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nước</a:t>
            </a:r>
            <a:endParaRPr lang="en-US" sz="2800" dirty="0">
              <a:solidFill>
                <a:srgbClr val="FF0000"/>
              </a:solidFill>
              <a:latin typeface="Times New Roman"/>
              <a:cs typeface="Times New Roman"/>
            </a:endParaRPr>
          </a:p>
        </p:txBody>
      </p:sp>
      <p:cxnSp>
        <p:nvCxnSpPr>
          <p:cNvPr id="11" name="Straight Connector 10"/>
          <p:cNvCxnSpPr/>
          <p:nvPr/>
        </p:nvCxnSpPr>
        <p:spPr>
          <a:xfrm>
            <a:off x="21433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438400" y="2209800"/>
            <a:ext cx="6400800" cy="3693319"/>
          </a:xfrm>
          <a:prstGeom prst="rect">
            <a:avLst/>
          </a:prstGeom>
        </p:spPr>
        <p:txBody>
          <a:bodyPr wrap="square">
            <a:spAutoFit/>
          </a:bodyPr>
          <a:lstStyle/>
          <a:p>
            <a:pPr algn="ctr">
              <a:lnSpc>
                <a:spcPct val="150000"/>
              </a:lnSpc>
            </a:pPr>
            <a:r>
              <a:rPr lang="en-US" sz="2600" dirty="0" err="1" smtClean="0">
                <a:solidFill>
                  <a:srgbClr val="FF0000"/>
                </a:solidFill>
                <a:latin typeface="Times New Roman" pitchFamily="18" charset="0"/>
                <a:cs typeface="Times New Roman" pitchFamily="18" charset="0"/>
              </a:rPr>
              <a:t>Nhà</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nước</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mang</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bản</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chất</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giai</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cấp</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công</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nhân</a:t>
            </a:r>
            <a:endParaRPr lang="en-US" sz="2600" dirty="0" smtClean="0">
              <a:solidFill>
                <a:srgbClr val="FF0000"/>
              </a:solidFill>
              <a:latin typeface="Times New Roman" pitchFamily="18" charset="0"/>
              <a:cs typeface="Times New Roman" pitchFamily="18" charset="0"/>
            </a:endParaRPr>
          </a:p>
          <a:p>
            <a:pPr algn="just">
              <a:lnSpc>
                <a:spcPct val="15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do </a:t>
            </a:r>
            <a:r>
              <a:rPr lang="en-US" sz="2600" i="1" dirty="0" err="1" smtClean="0">
                <a:solidFill>
                  <a:srgbClr val="002060"/>
                </a:solidFill>
                <a:latin typeface="Times New Roman" pitchFamily="18" charset="0"/>
                <a:cs typeface="Times New Roman" pitchFamily="18" charset="0"/>
              </a:rPr>
              <a:t>Đảng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sản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lãnh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đạo</a:t>
            </a:r>
            <a:r>
              <a:rPr lang="en-US" sz="2600" i="1" dirty="0" smtClean="0">
                <a:solidFill>
                  <a:srgbClr val="002060"/>
                </a:solidFill>
                <a:latin typeface="Times New Roman" pitchFamily="18" charset="0"/>
                <a:cs typeface="Times New Roman" pitchFamily="18" charset="0"/>
              </a:rPr>
              <a:t>.</a:t>
            </a:r>
          </a:p>
          <a:p>
            <a:pPr algn="just">
              <a:lnSpc>
                <a:spcPct val="15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Định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hướng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xã</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hội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nghĩa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trong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quá</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trình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phát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triển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đất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a:t>
            </a:r>
          </a:p>
          <a:p>
            <a:pPr algn="just">
              <a:lnSpc>
                <a:spcPct val="15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Tập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nguyên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tắc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tổ</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chức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hoạt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cơ</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bản</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667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1"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78786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16</a:t>
            </a:fld>
            <a:endParaRPr lang="en-US"/>
          </a:p>
        </p:txBody>
      </p:sp>
      <p:sp>
        <p:nvSpPr>
          <p:cNvPr id="9" name="Text Box 36"/>
          <p:cNvSpPr txBox="1">
            <a:spLocks noChangeArrowheads="1"/>
          </p:cNvSpPr>
          <p:nvPr/>
        </p:nvSpPr>
        <p:spPr bwMode="auto">
          <a:xfrm>
            <a:off x="2855394" y="1295400"/>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a. </a:t>
            </a:r>
            <a:r>
              <a:rPr lang="en-US" sz="2800" dirty="0" err="1" smtClean="0">
                <a:solidFill>
                  <a:srgbClr val="FF0000"/>
                </a:solidFill>
                <a:latin typeface="Times New Roman"/>
                <a:cs typeface="Times New Roman"/>
              </a:rPr>
              <a:t>Bản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chất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giai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cấp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nhà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nước</a:t>
            </a:r>
            <a:endParaRPr lang="en-US" sz="2800" dirty="0">
              <a:solidFill>
                <a:srgbClr val="FF0000"/>
              </a:solidFill>
              <a:latin typeface="Times New Roman"/>
              <a:cs typeface="Times New Roman"/>
            </a:endParaRPr>
          </a:p>
        </p:txBody>
      </p:sp>
      <p:cxnSp>
        <p:nvCxnSpPr>
          <p:cNvPr id="11" name="Straight Connector 10"/>
          <p:cNvCxnSpPr/>
          <p:nvPr/>
        </p:nvCxnSpPr>
        <p:spPr>
          <a:xfrm>
            <a:off x="22195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514600" y="1889505"/>
            <a:ext cx="6400800" cy="3891515"/>
          </a:xfrm>
          <a:prstGeom prst="rect">
            <a:avLst/>
          </a:prstGeom>
        </p:spPr>
        <p:txBody>
          <a:bodyPr wrap="square">
            <a:spAutoFit/>
          </a:bodyPr>
          <a:lstStyle/>
          <a:p>
            <a:pPr algn="ctr">
              <a:lnSpc>
                <a:spcPct val="120000"/>
              </a:lnSpc>
            </a:pPr>
            <a:r>
              <a:rPr lang="en-US" sz="2600" dirty="0" err="1" smtClean="0">
                <a:solidFill>
                  <a:srgbClr val="FF0000"/>
                </a:solidFill>
                <a:latin typeface="Times New Roman" pitchFamily="18" charset="0"/>
                <a:cs typeface="Times New Roman" pitchFamily="18" charset="0"/>
              </a:rPr>
              <a:t>Nhà</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nước</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mang</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tính</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nhân</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dân</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và</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tính</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dân</a:t>
            </a:r>
            <a:r>
              <a:rPr lang="en-US" sz="2600" dirty="0" smtClean="0">
                <a:solidFill>
                  <a:srgbClr val="FF0000"/>
                </a:solidFill>
                <a:latin typeface="Times New Roman" pitchFamily="18" charset="0"/>
                <a:cs typeface="Times New Roman" pitchFamily="18" charset="0"/>
              </a:rPr>
              <a:t> </a:t>
            </a:r>
            <a:r>
              <a:rPr lang="en-US" sz="2600" dirty="0" err="1" smtClean="0">
                <a:solidFill>
                  <a:srgbClr val="FF0000"/>
                </a:solidFill>
                <a:latin typeface="Times New Roman" pitchFamily="18" charset="0"/>
                <a:cs typeface="Times New Roman" pitchFamily="18" charset="0"/>
              </a:rPr>
              <a:t>tộc</a:t>
            </a:r>
            <a:endParaRPr lang="en-US" sz="2600" dirty="0" smtClean="0">
              <a:solidFill>
                <a:srgbClr val="FF0000"/>
              </a:solidFill>
              <a:latin typeface="Times New Roman" pitchFamily="18" charset="0"/>
              <a:cs typeface="Times New Roman" pitchFamily="18" charset="0"/>
            </a:endParaRP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ra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đời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quả</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cuộc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đấu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tranh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lâu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dài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gian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khổ</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toàn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thể</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nhất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quán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mục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vì</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lấy</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tảng</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đảm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vụ</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toàn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thể</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giao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phó</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667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1"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253653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17</a:t>
            </a:fld>
            <a:endParaRPr lang="en-US"/>
          </a:p>
        </p:txBody>
      </p:sp>
      <p:sp>
        <p:nvSpPr>
          <p:cNvPr id="9" name="Text Box 36"/>
          <p:cNvSpPr txBox="1">
            <a:spLocks noChangeArrowheads="1"/>
          </p:cNvSpPr>
          <p:nvPr/>
        </p:nvSpPr>
        <p:spPr bwMode="auto">
          <a:xfrm>
            <a:off x="2936696" y="1371600"/>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b. </a:t>
            </a:r>
            <a:r>
              <a:rPr lang="en-US" sz="2800" dirty="0" err="1" smtClean="0">
                <a:solidFill>
                  <a:srgbClr val="FF0000"/>
                </a:solidFill>
                <a:latin typeface="Times New Roman"/>
                <a:cs typeface="Times New Roman"/>
              </a:rPr>
              <a:t>Nhà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nước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nhân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endParaRPr lang="en-US" sz="2800" dirty="0">
              <a:solidFill>
                <a:srgbClr val="FF0000"/>
              </a:solidFill>
              <a:latin typeface="Times New Roman"/>
              <a:cs typeface="Times New Roman"/>
            </a:endParaRPr>
          </a:p>
        </p:txBody>
      </p:sp>
      <p:cxnSp>
        <p:nvCxnSpPr>
          <p:cNvPr id="11" name="Straight Connector 10"/>
          <p:cNvCxnSpPr/>
          <p:nvPr/>
        </p:nvCxnSpPr>
        <p:spPr>
          <a:xfrm>
            <a:off x="2371900" y="1259129"/>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667000" y="1876754"/>
            <a:ext cx="6400800" cy="4371646"/>
          </a:xfrm>
          <a:prstGeom prst="rect">
            <a:avLst/>
          </a:prstGeom>
        </p:spPr>
        <p:txBody>
          <a:bodyPr wrap="square">
            <a:spAutoFit/>
          </a:bodyPr>
          <a:lstStyle/>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Tất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cả</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mọi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đều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thuộc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về</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thừa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ủy</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kiểm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soát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phê</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bình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miễn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những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đại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biểu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họ</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đã</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chọn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bầu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ra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giải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tán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những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thiết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chế</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họ</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đã</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lập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nên</a:t>
            </a:r>
            <a:r>
              <a:rPr lang="en-US" sz="2600" i="1"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Luật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pháp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chủ</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cụ</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quyền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5908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1"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329503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18</a:t>
            </a:fld>
            <a:endParaRPr lang="en-US"/>
          </a:p>
        </p:txBody>
      </p:sp>
      <p:sp>
        <p:nvSpPr>
          <p:cNvPr id="9" name="Text Box 36"/>
          <p:cNvSpPr txBox="1">
            <a:spLocks noChangeArrowheads="1"/>
          </p:cNvSpPr>
          <p:nvPr/>
        </p:nvSpPr>
        <p:spPr bwMode="auto">
          <a:xfrm>
            <a:off x="2403296" y="1371600"/>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c. </a:t>
            </a:r>
            <a:r>
              <a:rPr lang="en-US" sz="2800" dirty="0" err="1" smtClean="0">
                <a:solidFill>
                  <a:srgbClr val="FF0000"/>
                </a:solidFill>
                <a:latin typeface="Times New Roman"/>
                <a:cs typeface="Times New Roman"/>
              </a:rPr>
              <a:t>Nhà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nước</a:t>
            </a:r>
            <a:r>
              <a:rPr lang="en-US" sz="2800" dirty="0" smtClean="0">
                <a:solidFill>
                  <a:srgbClr val="FF0000"/>
                </a:solidFill>
                <a:latin typeface="Times New Roman"/>
                <a:cs typeface="Times New Roman"/>
              </a:rPr>
              <a:t> do </a:t>
            </a:r>
            <a:r>
              <a:rPr lang="en-US" sz="2800" dirty="0" err="1" smtClean="0">
                <a:solidFill>
                  <a:srgbClr val="FF0000"/>
                </a:solidFill>
                <a:latin typeface="Times New Roman"/>
                <a:cs typeface="Times New Roman"/>
              </a:rPr>
              <a:t>nhân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endParaRPr lang="en-US" sz="2800" dirty="0">
              <a:solidFill>
                <a:srgbClr val="FF0000"/>
              </a:solidFill>
              <a:latin typeface="Times New Roman"/>
              <a:cs typeface="Times New Roman"/>
            </a:endParaRPr>
          </a:p>
        </p:txBody>
      </p:sp>
      <p:cxnSp>
        <p:nvCxnSpPr>
          <p:cNvPr id="11" name="Straight Connector 10"/>
          <p:cNvCxnSpPr/>
          <p:nvPr/>
        </p:nvCxnSpPr>
        <p:spPr>
          <a:xfrm>
            <a:off x="2286000" y="1524000"/>
            <a:ext cx="0" cy="37712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590800" y="2438400"/>
            <a:ext cx="3657600" cy="2973122"/>
          </a:xfrm>
          <a:prstGeom prst="rect">
            <a:avLst/>
          </a:prstGeom>
        </p:spPr>
        <p:txBody>
          <a:bodyPr wrap="square">
            <a:spAutoFit/>
          </a:bodyPr>
          <a:lstStyle/>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do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tổ</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chức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ra.</a:t>
            </a:r>
            <a:endParaRPr lang="en-US" sz="2600" i="1" dirty="0" smtClean="0">
              <a:solidFill>
                <a:srgbClr val="002060"/>
              </a:solidFill>
              <a:latin typeface="Times New Roman" pitchFamily="18" charset="0"/>
              <a:cs typeface="Times New Roman" pitchFamily="18" charset="0"/>
            </a:endParaRPr>
          </a:p>
          <a:p>
            <a:pPr algn="just">
              <a:lnSpc>
                <a:spcPct val="120000"/>
              </a:lnSpc>
            </a:pP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Nhà</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nước</a:t>
            </a:r>
            <a:r>
              <a:rPr lang="en-US" sz="2600" i="1" spc="-150" dirty="0" smtClean="0">
                <a:solidFill>
                  <a:srgbClr val="002060"/>
                </a:solidFill>
                <a:latin typeface="Times New Roman" pitchFamily="18" charset="0"/>
                <a:cs typeface="Times New Roman" pitchFamily="18" charset="0"/>
              </a:rPr>
              <a:t> do </a:t>
            </a:r>
            <a:r>
              <a:rPr lang="en-US" sz="2600" i="1" spc="-150" dirty="0" err="1" smtClean="0">
                <a:solidFill>
                  <a:srgbClr val="002060"/>
                </a:solidFill>
                <a:latin typeface="Times New Roman" pitchFamily="18" charset="0"/>
                <a:cs typeface="Times New Roman" pitchFamily="18" charset="0"/>
              </a:rPr>
              <a:t>nhân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dân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chăm</a:t>
            </a:r>
            <a:r>
              <a:rPr lang="en-US" sz="2600" i="1" spc="-150" dirty="0" smtClean="0">
                <a:solidFill>
                  <a:srgbClr val="002060"/>
                </a:solidFill>
                <a:latin typeface="Times New Roman" pitchFamily="18" charset="0"/>
                <a:cs typeface="Times New Roman" pitchFamily="18" charset="0"/>
              </a:rPr>
              <a:t> lo”, “</a:t>
            </a:r>
            <a:r>
              <a:rPr lang="en-US" sz="2600" i="1" spc="-150" dirty="0" err="1" smtClean="0">
                <a:solidFill>
                  <a:srgbClr val="002060"/>
                </a:solidFill>
                <a:latin typeface="Times New Roman" pitchFamily="18" charset="0"/>
                <a:cs typeface="Times New Roman" pitchFamily="18" charset="0"/>
              </a:rPr>
              <a:t>nuôi</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dưỡng</a:t>
            </a:r>
            <a:r>
              <a:rPr lang="en-US" sz="2600" i="1" spc="-150" dirty="0" smtClean="0">
                <a:solidFill>
                  <a:srgbClr val="002060"/>
                </a:solidFill>
                <a:latin typeface="Times New Roman" pitchFamily="18" charset="0"/>
                <a:cs typeface="Times New Roman" pitchFamily="18" charset="0"/>
              </a:rPr>
              <a:t>”.</a:t>
            </a:r>
          </a:p>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do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bảo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vệ</a:t>
            </a:r>
            <a:r>
              <a:rPr lang="en-US" sz="2600" i="1"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7127696" y="3362980"/>
            <a:ext cx="2016304"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Dân làm chủ</a:t>
            </a:r>
            <a:endParaRPr lang="en-US" sz="2800" dirty="0">
              <a:solidFill>
                <a:srgbClr val="FF0000"/>
              </a:solidFill>
              <a:latin typeface="Times New Roman"/>
              <a:cs typeface="Times New Roman"/>
            </a:endParaRPr>
          </a:p>
        </p:txBody>
      </p:sp>
      <p:sp>
        <p:nvSpPr>
          <p:cNvPr id="3" name="Right Arrow 2"/>
          <p:cNvSpPr/>
          <p:nvPr/>
        </p:nvSpPr>
        <p:spPr>
          <a:xfrm>
            <a:off x="6365696" y="3473861"/>
            <a:ext cx="533400" cy="382111"/>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7432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2"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171463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arn(inVertical)">
                                      <p:cBhvr>
                                        <p:cTn id="25" dur="500"/>
                                        <p:tgtEl>
                                          <p:spTgt spid="3"/>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19</a:t>
            </a:fld>
            <a:endParaRPr lang="en-US"/>
          </a:p>
        </p:txBody>
      </p:sp>
      <p:sp>
        <p:nvSpPr>
          <p:cNvPr id="9" name="Text Box 36"/>
          <p:cNvSpPr txBox="1">
            <a:spLocks noChangeArrowheads="1"/>
          </p:cNvSpPr>
          <p:nvPr/>
        </p:nvSpPr>
        <p:spPr bwMode="auto">
          <a:xfrm>
            <a:off x="2403296" y="190114"/>
            <a:ext cx="5957487"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d. Nhà nước vì nhân dân</a:t>
            </a:r>
            <a:endParaRPr lang="en-US" sz="2800" dirty="0">
              <a:solidFill>
                <a:srgbClr val="FF0000"/>
              </a:solidFill>
              <a:latin typeface="Times New Roman"/>
              <a:cs typeface="Times New Roman"/>
            </a:endParaRPr>
          </a:p>
        </p:txBody>
      </p:sp>
      <p:cxnSp>
        <p:nvCxnSpPr>
          <p:cNvPr id="11" name="Straight Connector 10"/>
          <p:cNvCxnSpPr/>
          <p:nvPr/>
        </p:nvCxnSpPr>
        <p:spPr>
          <a:xfrm>
            <a:off x="2220946" y="1828800"/>
            <a:ext cx="65054" cy="40760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6934200" y="1495753"/>
            <a:ext cx="2029239" cy="1052596"/>
          </a:xfrm>
          <a:prstGeom prst="rect">
            <a:avLst/>
          </a:prstGeom>
        </p:spPr>
        <p:txBody>
          <a:bodyPr wrap="square">
            <a:spAutoFit/>
          </a:bodyPr>
          <a:lstStyle/>
          <a:p>
            <a:pPr algn="ctr">
              <a:lnSpc>
                <a:spcPct val="120000"/>
              </a:lnSpc>
            </a:pPr>
            <a:r>
              <a:rPr lang="en-US" sz="2600" i="1" smtClean="0">
                <a:solidFill>
                  <a:srgbClr val="002060"/>
                </a:solidFill>
                <a:latin typeface="Times New Roman" pitchFamily="18" charset="0"/>
                <a:cs typeface="Times New Roman" pitchFamily="18" charset="0"/>
              </a:rPr>
              <a:t>Đầy tớ </a:t>
            </a:r>
          </a:p>
          <a:p>
            <a:pPr algn="ctr">
              <a:lnSpc>
                <a:spcPct val="120000"/>
              </a:lnSpc>
            </a:pPr>
            <a:r>
              <a:rPr lang="en-US" sz="2600" i="1" smtClean="0">
                <a:solidFill>
                  <a:srgbClr val="002060"/>
                </a:solidFill>
                <a:latin typeface="Times New Roman" pitchFamily="18" charset="0"/>
                <a:cs typeface="Times New Roman" pitchFamily="18" charset="0"/>
              </a:rPr>
              <a:t>của nhân dân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Rectangle 15"/>
          <p:cNvSpPr/>
          <p:nvPr/>
        </p:nvSpPr>
        <p:spPr>
          <a:xfrm>
            <a:off x="2695161" y="1295400"/>
            <a:ext cx="3248439" cy="1532727"/>
          </a:xfrm>
          <a:prstGeom prst="rect">
            <a:avLst/>
          </a:prstGeom>
        </p:spPr>
        <p:txBody>
          <a:bodyPr wrap="square">
            <a:spAutoFit/>
          </a:bodyPr>
          <a:lstStyle/>
          <a:p>
            <a:pPr algn="just">
              <a:lnSpc>
                <a:spcPct val="120000"/>
              </a:lnSpc>
            </a:pP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phục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vụ</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lợi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ích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nguyện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vọng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nhân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endParaRPr lang="en-US" sz="2600" i="1" dirty="0">
              <a:solidFill>
                <a:srgbClr val="002060"/>
              </a:solidFill>
              <a:latin typeface="Times New Roman" pitchFamily="18" charset="0"/>
              <a:cs typeface="Times New Roman" pitchFamily="18" charset="0"/>
            </a:endParaRPr>
          </a:p>
        </p:txBody>
      </p:sp>
      <p:sp>
        <p:nvSpPr>
          <p:cNvPr id="3" name="Right Arrow 2"/>
          <p:cNvSpPr/>
          <p:nvPr/>
        </p:nvSpPr>
        <p:spPr>
          <a:xfrm>
            <a:off x="6115050" y="1828800"/>
            <a:ext cx="666750" cy="563541"/>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403295" y="3124200"/>
            <a:ext cx="6560143" cy="2973122"/>
          </a:xfrm>
          <a:prstGeom prst="rect">
            <a:avLst/>
          </a:prstGeom>
        </p:spPr>
        <p:txBody>
          <a:bodyPr wrap="square">
            <a:spAutoFit/>
          </a:bodyPr>
          <a:lstStyle/>
          <a:p>
            <a:pPr algn="just">
              <a:lnSpc>
                <a:spcPct val="120000"/>
              </a:lnSpc>
            </a:pPr>
            <a:r>
              <a:rPr lang="en-US" sz="2600" i="1" dirty="0" smtClean="0">
                <a:solidFill>
                  <a:srgbClr val="C00000"/>
                </a:solidFill>
                <a:latin typeface="Times New Roman" pitchFamily="18" charset="0"/>
                <a:cs typeface="Times New Roman" pitchFamily="18" charset="0"/>
              </a:rPr>
              <a:t>“</a:t>
            </a:r>
            <a:r>
              <a:rPr lang="en-US" sz="2600" i="1" dirty="0" err="1" smtClean="0">
                <a:solidFill>
                  <a:srgbClr val="C00000"/>
                </a:solidFill>
                <a:latin typeface="Times New Roman" pitchFamily="18" charset="0"/>
                <a:cs typeface="Times New Roman" pitchFamily="18" charset="0"/>
              </a:rPr>
              <a:t>Các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công</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việc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của</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Chính</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phủ</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làm</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phải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nhằm</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vào</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một</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mục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đích</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duy</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nhất</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là</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mưu</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tự</a:t>
            </a:r>
            <a:r>
              <a:rPr lang="en-US" sz="2600" i="1" dirty="0" smtClean="0">
                <a:solidFill>
                  <a:srgbClr val="C00000"/>
                </a:solidFill>
                <a:latin typeface="Times New Roman" pitchFamily="18" charset="0"/>
                <a:cs typeface="Times New Roman" pitchFamily="18" charset="0"/>
              </a:rPr>
              <a:t> do </a:t>
            </a:r>
            <a:r>
              <a:rPr lang="en-US" sz="2600" i="1" dirty="0" err="1" smtClean="0">
                <a:solidFill>
                  <a:srgbClr val="C00000"/>
                </a:solidFill>
                <a:latin typeface="Times New Roman" pitchFamily="18" charset="0"/>
                <a:cs typeface="Times New Roman" pitchFamily="18" charset="0"/>
              </a:rPr>
              <a:t>hạnh</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phúc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cho</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mọi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người</a:t>
            </a:r>
            <a:r>
              <a:rPr lang="en-US" sz="2600" i="1" dirty="0" smtClean="0">
                <a:solidFill>
                  <a:srgbClr val="C00000"/>
                </a:solidFill>
                <a:latin typeface="Times New Roman" pitchFamily="18" charset="0"/>
                <a:cs typeface="Times New Roman" pitchFamily="18" charset="0"/>
              </a:rPr>
              <a:t>. Cho </a:t>
            </a:r>
            <a:r>
              <a:rPr lang="en-US" sz="2600" i="1" dirty="0" err="1" smtClean="0">
                <a:solidFill>
                  <a:srgbClr val="C00000"/>
                </a:solidFill>
                <a:latin typeface="Times New Roman" pitchFamily="18" charset="0"/>
                <a:cs typeface="Times New Roman" pitchFamily="18" charset="0"/>
              </a:rPr>
              <a:t>nên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Chính</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phủ</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nhân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dân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bao</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giờ</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cũng</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phải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đặt</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quyền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lợi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dân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lên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trên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hết</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thảy</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Việc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gì</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có</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lợi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cho</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dân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thì</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làm</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Việc</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gì</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có</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hại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cho</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dân</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thì</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phải</a:t>
            </a:r>
            <a:r>
              <a:rPr lang="en-US" sz="2600" i="1" dirty="0" smtClean="0">
                <a:solidFill>
                  <a:srgbClr val="C00000"/>
                </a:solidFill>
                <a:latin typeface="Times New Roman" pitchFamily="18" charset="0"/>
                <a:cs typeface="Times New Roman" pitchFamily="18" charset="0"/>
              </a:rPr>
              <a:t> </a:t>
            </a:r>
            <a:r>
              <a:rPr lang="en-US" sz="2600" i="1" dirty="0" err="1" smtClean="0">
                <a:solidFill>
                  <a:srgbClr val="C00000"/>
                </a:solidFill>
                <a:latin typeface="Times New Roman" pitchFamily="18" charset="0"/>
                <a:cs typeface="Times New Roman" pitchFamily="18" charset="0"/>
              </a:rPr>
              <a:t>tránh</a:t>
            </a:r>
            <a:r>
              <a:rPr lang="en-US" sz="2600" i="1" dirty="0" smtClean="0">
                <a:solidFill>
                  <a:srgbClr val="C00000"/>
                </a:solidFill>
                <a:latin typeface="Times New Roman" pitchFamily="18" charset="0"/>
                <a:cs typeface="Times New Roman" pitchFamily="18" charset="0"/>
              </a:rPr>
              <a:t>”.</a:t>
            </a:r>
            <a:endParaRPr lang="en-US" sz="2600" i="1" dirty="0">
              <a:solidFill>
                <a:srgbClr val="C00000"/>
              </a:solidFill>
              <a:latin typeface="Times New Roman" pitchFamily="18" charset="0"/>
              <a:cs typeface="Times New Roman" pitchFamily="18" charset="0"/>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7432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0" y="2514600"/>
            <a:ext cx="22098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1.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dân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chủ</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223363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6" grpId="0"/>
      <p:bldP spid="3" grpId="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20</a:t>
            </a:fld>
            <a:endParaRPr lang="en-US"/>
          </a:p>
        </p:txBody>
      </p:sp>
      <p:cxnSp>
        <p:nvCxnSpPr>
          <p:cNvPr id="11" name="Straight Connector 10"/>
          <p:cNvCxnSpPr/>
          <p:nvPr/>
        </p:nvCxnSpPr>
        <p:spPr>
          <a:xfrm>
            <a:off x="2590800" y="2362200"/>
            <a:ext cx="0" cy="2672389"/>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026492" y="1981200"/>
            <a:ext cx="6400800" cy="3046988"/>
          </a:xfrm>
          <a:prstGeom prst="rect">
            <a:avLst/>
          </a:prstGeom>
        </p:spPr>
        <p:txBody>
          <a:bodyPr wrap="square">
            <a:spAutoFit/>
          </a:bodyPr>
          <a:lstStyle/>
          <a:p>
            <a:pPr algn="just">
              <a:lnSpc>
                <a:spcPct val="200000"/>
              </a:lnSpc>
            </a:pPr>
            <a:r>
              <a:rPr lang="en-US" sz="3200" i="1" dirty="0" smtClean="0">
                <a:solidFill>
                  <a:srgbClr val="002060"/>
                </a:solidFill>
                <a:latin typeface="Times New Roman" pitchFamily="18" charset="0"/>
                <a:cs typeface="Times New Roman" pitchFamily="18" charset="0"/>
              </a:rPr>
              <a:t>a.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hợp</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hiến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hợp</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pháp</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b.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thượng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tôn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pháp</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luật</a:t>
            </a:r>
            <a:endParaRPr lang="en-US" sz="3200" i="1" dirty="0" smtClean="0">
              <a:solidFill>
                <a:srgbClr val="002060"/>
              </a:solidFill>
              <a:latin typeface="Times New Roman" pitchFamily="18" charset="0"/>
              <a:cs typeface="Times New Roman" pitchFamily="18" charset="0"/>
            </a:endParaRPr>
          </a:p>
          <a:p>
            <a:pPr algn="just">
              <a:lnSpc>
                <a:spcPct val="200000"/>
              </a:lnSpc>
            </a:pPr>
            <a:r>
              <a:rPr lang="en-US" sz="3200" i="1" dirty="0" smtClean="0">
                <a:solidFill>
                  <a:srgbClr val="002060"/>
                </a:solidFill>
                <a:latin typeface="Times New Roman" pitchFamily="18" charset="0"/>
                <a:cs typeface="Times New Roman" pitchFamily="18" charset="0"/>
              </a:rPr>
              <a:t>c. </a:t>
            </a:r>
            <a:r>
              <a:rPr lang="en-US" sz="3200" i="1" dirty="0" err="1" smtClean="0">
                <a:solidFill>
                  <a:srgbClr val="002060"/>
                </a:solidFill>
                <a:latin typeface="Times New Roman" pitchFamily="18" charset="0"/>
                <a:cs typeface="Times New Roman" pitchFamily="18" charset="0"/>
              </a:rPr>
              <a:t>Pháp</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quyền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nhân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nghĩa</a:t>
            </a:r>
            <a:endParaRPr lang="en-US" sz="32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152400" y="2851503"/>
            <a:ext cx="2286000" cy="14811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2.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pháp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quyền</a:t>
            </a:r>
            <a:endParaRPr lang="en-US" sz="3200" dirty="0">
              <a:solidFill>
                <a:srgbClr val="FF0000"/>
              </a:solidFill>
              <a:latin typeface="Times New Roman"/>
              <a:cs typeface="Times New Roman"/>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4384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07792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21</a:t>
            </a:fld>
            <a:endParaRPr lang="en-US"/>
          </a:p>
        </p:txBody>
      </p:sp>
      <p:cxnSp>
        <p:nvCxnSpPr>
          <p:cNvPr id="11" name="Straight Connector 10"/>
          <p:cNvCxnSpPr/>
          <p:nvPr/>
        </p:nvCxnSpPr>
        <p:spPr>
          <a:xfrm>
            <a:off x="1752600" y="1144221"/>
            <a:ext cx="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3276600" y="1513106"/>
            <a:ext cx="5562600" cy="5847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dirty="0" smtClean="0">
                <a:solidFill>
                  <a:srgbClr val="FF0000"/>
                </a:solidFill>
                <a:latin typeface="Times New Roman"/>
                <a:cs typeface="Times New Roman"/>
              </a:rPr>
              <a:t>a.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hợp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hiến</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hợp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pháp</a:t>
            </a:r>
            <a:endParaRPr lang="en-US" sz="3200" dirty="0">
              <a:solidFill>
                <a:srgbClr val="FF0000"/>
              </a:solidFill>
              <a:latin typeface="Times New Roman"/>
              <a:cs typeface="Times New Roman"/>
            </a:endParaRPr>
          </a:p>
        </p:txBody>
      </p:sp>
      <p:sp>
        <p:nvSpPr>
          <p:cNvPr id="18" name="Rectangle 17"/>
          <p:cNvSpPr/>
          <p:nvPr/>
        </p:nvSpPr>
        <p:spPr>
          <a:xfrm>
            <a:off x="5257800" y="2631281"/>
            <a:ext cx="3733800" cy="3693319"/>
          </a:xfrm>
          <a:prstGeom prst="rect">
            <a:avLst/>
          </a:prstGeom>
        </p:spPr>
        <p:txBody>
          <a:bodyPr wrap="square">
            <a:spAutoFit/>
          </a:bodyPr>
          <a:lstStyle/>
          <a:p>
            <a:pPr algn="just">
              <a:lnSpc>
                <a:spcPct val="150000"/>
              </a:lnSpc>
            </a:pPr>
            <a:r>
              <a:rPr lang="en-US" sz="2600" smtClean="0">
                <a:solidFill>
                  <a:srgbClr val="002060"/>
                </a:solidFill>
                <a:latin typeface="Times New Roman" pitchFamily="18" charset="0"/>
                <a:cs typeface="Times New Roman" pitchFamily="18" charset="0"/>
              </a:rPr>
              <a:t>“Chúng ta phải có một hiến pháp dân chủ. Tôi đề nghị Chính phủ tổ chức càng sớm càng hay cuộc Tổng tuyển cử với chế độ phổ thông đầu phiếu”</a:t>
            </a:r>
          </a:p>
        </p:txBody>
      </p:sp>
      <p:sp>
        <p:nvSpPr>
          <p:cNvPr id="3" name="AutoShape 4" descr="https://moha.gov.vn/DATA/IMAGES/2016/05/Bachoooooo4405040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5" name="AutoShape 2" descr="https://ajc.hcma.vn/Uploaded/images/mainghiem/2020_12_21/75-nam-ve-vang-cua-quoc-hoi-viet-nam-co-quan-quyen-luc-nha-nuoc-cao-nhat.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https://baohaiquanvietnam.vn/storage/users/user_5/N%C4%83m%202021/Thang%201/5/T%E1%BB%95ng%20tuy%E1%BB%83n%20c%E1%BB%AD/2.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Nhân dân Hà Nội bỏ phiếu bầu đại biểu quốc hội khóa I, ngày 6-1-1946. (ảnh trên I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951" y="3164681"/>
            <a:ext cx="3297835" cy="25146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0" y="0"/>
            <a:ext cx="27432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2"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3" name="Text Box 36"/>
          <p:cNvSpPr txBox="1">
            <a:spLocks noChangeArrowheads="1"/>
          </p:cNvSpPr>
          <p:nvPr/>
        </p:nvSpPr>
        <p:spPr bwMode="auto">
          <a:xfrm>
            <a:off x="-76200" y="1676400"/>
            <a:ext cx="1697806" cy="304698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2.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pháp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quyền</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252121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1000"/>
                                        <p:tgtEl>
                                          <p:spTgt spid="18">
                                            <p:txEl>
                                              <p:pRg st="0" end="0"/>
                                            </p:txEl>
                                          </p:spTgt>
                                        </p:tgtEl>
                                      </p:cBhvr>
                                    </p:animEffect>
                                    <p:anim calcmode="lin" valueType="num">
                                      <p:cBhvr>
                                        <p:cTn id="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22</a:t>
            </a:fld>
            <a:endParaRPr lang="en-US"/>
          </a:p>
        </p:txBody>
      </p:sp>
      <p:cxnSp>
        <p:nvCxnSpPr>
          <p:cNvPr id="11" name="Straight Connector 10"/>
          <p:cNvCxnSpPr/>
          <p:nvPr/>
        </p:nvCxnSpPr>
        <p:spPr>
          <a:xfrm>
            <a:off x="1674954"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133600" y="685800"/>
            <a:ext cx="6400800" cy="927177"/>
          </a:xfrm>
          <a:prstGeom prst="rect">
            <a:avLst/>
          </a:prstGeom>
        </p:spPr>
        <p:txBody>
          <a:bodyPr wrap="square">
            <a:spAutoFit/>
          </a:bodyPr>
          <a:lstStyle/>
          <a:p>
            <a:pPr algn="ctr">
              <a:lnSpc>
                <a:spcPct val="200000"/>
              </a:lnSpc>
            </a:pPr>
            <a:r>
              <a:rPr lang="en-US" sz="3200" dirty="0" smtClean="0">
                <a:solidFill>
                  <a:srgbClr val="C00000"/>
                </a:solidFill>
                <a:latin typeface="Times New Roman" pitchFamily="18" charset="0"/>
                <a:cs typeface="Times New Roman" pitchFamily="18" charset="0"/>
              </a:rPr>
              <a:t>b. </a:t>
            </a:r>
            <a:r>
              <a:rPr lang="en-US" sz="3200" dirty="0" err="1" smtClean="0">
                <a:solidFill>
                  <a:srgbClr val="C00000"/>
                </a:solidFill>
                <a:latin typeface="Times New Roman" pitchFamily="18" charset="0"/>
                <a:cs typeface="Times New Roman" pitchFamily="18" charset="0"/>
              </a:rPr>
              <a:t>Nhà</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nước</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thượng</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tôn</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pháp</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luật</a:t>
            </a:r>
            <a:endParaRPr lang="en-US" sz="3200" dirty="0" smtClean="0">
              <a:solidFill>
                <a:srgbClr val="C0000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2590800" y="2133600"/>
            <a:ext cx="5943600" cy="3693319"/>
          </a:xfrm>
          <a:prstGeom prst="rect">
            <a:avLst/>
          </a:prstGeom>
        </p:spPr>
        <p:txBody>
          <a:bodyPr wrap="square">
            <a:spAutoFit/>
          </a:bodyPr>
          <a:lstStyle/>
          <a:p>
            <a:pPr algn="just">
              <a:lnSpc>
                <a:spcPct val="150000"/>
              </a:lnSpc>
            </a:pPr>
            <a:r>
              <a:rPr lang="en-US" sz="2600" smtClean="0">
                <a:solidFill>
                  <a:srgbClr val="002060"/>
                </a:solidFill>
                <a:latin typeface="Times New Roman" pitchFamily="18" charset="0"/>
                <a:cs typeface="Times New Roman" pitchFamily="18" charset="0"/>
              </a:rPr>
              <a:t>- Nhà nước quản lý bằng Hiến pháp và pháp luật:</a:t>
            </a:r>
          </a:p>
          <a:p>
            <a:pPr indent="457200" algn="just">
              <a:lnSpc>
                <a:spcPct val="150000"/>
              </a:lnSpc>
            </a:pPr>
            <a:r>
              <a:rPr lang="en-US" sz="2600" smtClean="0">
                <a:solidFill>
                  <a:srgbClr val="002060"/>
                </a:solidFill>
                <a:latin typeface="Times New Roman" pitchFamily="18" charset="0"/>
                <a:cs typeface="Times New Roman" pitchFamily="18" charset="0"/>
              </a:rPr>
              <a:t>+ Xây dựng pháp luật.</a:t>
            </a:r>
          </a:p>
          <a:p>
            <a:pPr indent="457200" algn="just">
              <a:lnSpc>
                <a:spcPct val="150000"/>
              </a:lnSpc>
            </a:pPr>
            <a:r>
              <a:rPr lang="en-US" sz="2600" smtClean="0">
                <a:solidFill>
                  <a:srgbClr val="002060"/>
                </a:solidFill>
                <a:latin typeface="Times New Roman" pitchFamily="18" charset="0"/>
                <a:cs typeface="Times New Roman" pitchFamily="18" charset="0"/>
              </a:rPr>
              <a:t>+ Nghiêm chỉnh thực thi pháp luật.</a:t>
            </a:r>
          </a:p>
          <a:p>
            <a:pPr indent="457200" algn="just">
              <a:lnSpc>
                <a:spcPct val="150000"/>
              </a:lnSpc>
            </a:pPr>
            <a:r>
              <a:rPr lang="en-US" sz="2600" smtClean="0">
                <a:solidFill>
                  <a:srgbClr val="002060"/>
                </a:solidFill>
                <a:latin typeface="Times New Roman" pitchFamily="18" charset="0"/>
                <a:cs typeface="Times New Roman" pitchFamily="18" charset="0"/>
              </a:rPr>
              <a:t>+ Cán bộ gương mẫu và Nhân dân tự giác chấp hành pháp luật.</a:t>
            </a:r>
          </a:p>
        </p:txBody>
      </p:sp>
      <p:sp>
        <p:nvSpPr>
          <p:cNvPr id="3" name="AutoShape 4" descr="https://moha.gov.vn/DATA/IMAGES/2016/05/Bachoooooo4405040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2" name="Text Box 36"/>
          <p:cNvSpPr txBox="1">
            <a:spLocks noChangeArrowheads="1"/>
          </p:cNvSpPr>
          <p:nvPr/>
        </p:nvSpPr>
        <p:spPr bwMode="auto">
          <a:xfrm>
            <a:off x="0" y="1601212"/>
            <a:ext cx="1589054" cy="304698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2.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pháp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quyền</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323355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xEl>
                                              <p:pRg st="0" end="0"/>
                                            </p:txEl>
                                          </p:spTgt>
                                        </p:tgtEl>
                                        <p:attrNameLst>
                                          <p:attrName>style.visibility</p:attrName>
                                        </p:attrNameLst>
                                      </p:cBhvr>
                                      <p:to>
                                        <p:strVal val="visible"/>
                                      </p:to>
                                    </p:set>
                                    <p:animEffect transition="in" filter="fade">
                                      <p:cBhvr>
                                        <p:cTn id="14" dur="1000"/>
                                        <p:tgtEl>
                                          <p:spTgt spid="18">
                                            <p:txEl>
                                              <p:pRg st="0" end="0"/>
                                            </p:txEl>
                                          </p:spTgt>
                                        </p:tgtEl>
                                      </p:cBhvr>
                                    </p:animEffect>
                                    <p:anim calcmode="lin" valueType="num">
                                      <p:cBhvr>
                                        <p:cTn id="15"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xEl>
                                              <p:pRg st="1" end="1"/>
                                            </p:txEl>
                                          </p:spTgt>
                                        </p:tgtEl>
                                        <p:attrNameLst>
                                          <p:attrName>style.visibility</p:attrName>
                                        </p:attrNameLst>
                                      </p:cBhvr>
                                      <p:to>
                                        <p:strVal val="visible"/>
                                      </p:to>
                                    </p:set>
                                    <p:animEffect transition="in" filter="fade">
                                      <p:cBhvr>
                                        <p:cTn id="21" dur="1000"/>
                                        <p:tgtEl>
                                          <p:spTgt spid="18">
                                            <p:txEl>
                                              <p:pRg st="1" end="1"/>
                                            </p:txEl>
                                          </p:spTgt>
                                        </p:tgtEl>
                                      </p:cBhvr>
                                    </p:animEffect>
                                    <p:anim calcmode="lin" valueType="num">
                                      <p:cBhvr>
                                        <p:cTn id="22"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
                                            <p:txEl>
                                              <p:pRg st="2" end="2"/>
                                            </p:txEl>
                                          </p:spTgt>
                                        </p:tgtEl>
                                        <p:attrNameLst>
                                          <p:attrName>style.visibility</p:attrName>
                                        </p:attrNameLst>
                                      </p:cBhvr>
                                      <p:to>
                                        <p:strVal val="visible"/>
                                      </p:to>
                                    </p:set>
                                    <p:animEffect transition="in" filter="fade">
                                      <p:cBhvr>
                                        <p:cTn id="28" dur="1000"/>
                                        <p:tgtEl>
                                          <p:spTgt spid="18">
                                            <p:txEl>
                                              <p:pRg st="2" end="2"/>
                                            </p:txEl>
                                          </p:spTgt>
                                        </p:tgtEl>
                                      </p:cBhvr>
                                    </p:animEffect>
                                    <p:anim calcmode="lin" valueType="num">
                                      <p:cBhvr>
                                        <p:cTn id="29"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
                                            <p:txEl>
                                              <p:pRg st="3" end="3"/>
                                            </p:txEl>
                                          </p:spTgt>
                                        </p:tgtEl>
                                        <p:attrNameLst>
                                          <p:attrName>style.visibility</p:attrName>
                                        </p:attrNameLst>
                                      </p:cBhvr>
                                      <p:to>
                                        <p:strVal val="visible"/>
                                      </p:to>
                                    </p:set>
                                    <p:animEffect transition="in" filter="fade">
                                      <p:cBhvr>
                                        <p:cTn id="35" dur="1000"/>
                                        <p:tgtEl>
                                          <p:spTgt spid="18">
                                            <p:txEl>
                                              <p:pRg st="3" end="3"/>
                                            </p:txEl>
                                          </p:spTgt>
                                        </p:tgtEl>
                                      </p:cBhvr>
                                    </p:animEffect>
                                    <p:anim calcmode="lin" valueType="num">
                                      <p:cBhvr>
                                        <p:cTn id="36"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23</a:t>
            </a:fld>
            <a:endParaRPr lang="en-US"/>
          </a:p>
        </p:txBody>
      </p:sp>
      <p:cxnSp>
        <p:nvCxnSpPr>
          <p:cNvPr id="11" name="Straight Connector 10"/>
          <p:cNvCxnSpPr/>
          <p:nvPr/>
        </p:nvCxnSpPr>
        <p:spPr>
          <a:xfrm>
            <a:off x="1981200" y="1600200"/>
            <a:ext cx="0" cy="351709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138516" y="1045663"/>
            <a:ext cx="6400800" cy="1077218"/>
          </a:xfrm>
          <a:prstGeom prst="rect">
            <a:avLst/>
          </a:prstGeom>
        </p:spPr>
        <p:txBody>
          <a:bodyPr wrap="square">
            <a:spAutoFit/>
          </a:bodyPr>
          <a:lstStyle/>
          <a:p>
            <a:pPr algn="ctr">
              <a:lnSpc>
                <a:spcPct val="200000"/>
              </a:lnSpc>
            </a:pPr>
            <a:r>
              <a:rPr lang="en-US" sz="3200" dirty="0" smtClean="0">
                <a:solidFill>
                  <a:srgbClr val="C00000"/>
                </a:solidFill>
                <a:latin typeface="Times New Roman" pitchFamily="18" charset="0"/>
                <a:cs typeface="Times New Roman" pitchFamily="18" charset="0"/>
              </a:rPr>
              <a:t>c. </a:t>
            </a:r>
            <a:r>
              <a:rPr lang="en-US" sz="3200" dirty="0" err="1" smtClean="0">
                <a:solidFill>
                  <a:srgbClr val="C00000"/>
                </a:solidFill>
                <a:latin typeface="Times New Roman" pitchFamily="18" charset="0"/>
                <a:cs typeface="Times New Roman" pitchFamily="18" charset="0"/>
              </a:rPr>
              <a:t>Pháp</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quyền</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nhân</a:t>
            </a:r>
            <a:r>
              <a:rPr lang="en-US" sz="3200" dirty="0" smtClean="0">
                <a:solidFill>
                  <a:srgbClr val="C00000"/>
                </a:solidFill>
                <a:latin typeface="Times New Roman" pitchFamily="18" charset="0"/>
                <a:cs typeface="Times New Roman" pitchFamily="18" charset="0"/>
              </a:rPr>
              <a:t> </a:t>
            </a:r>
            <a:r>
              <a:rPr lang="en-US" sz="3200" dirty="0" err="1" smtClean="0">
                <a:solidFill>
                  <a:srgbClr val="C00000"/>
                </a:solidFill>
                <a:latin typeface="Times New Roman" pitchFamily="18" charset="0"/>
                <a:cs typeface="Times New Roman" pitchFamily="18" charset="0"/>
              </a:rPr>
              <a:t>nghĩa</a:t>
            </a:r>
            <a:endParaRPr lang="en-US" sz="3200" dirty="0" smtClean="0">
              <a:solidFill>
                <a:srgbClr val="C0000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2595716" y="2540202"/>
            <a:ext cx="5943600" cy="2492990"/>
          </a:xfrm>
          <a:prstGeom prst="rect">
            <a:avLst/>
          </a:prstGeom>
        </p:spPr>
        <p:txBody>
          <a:bodyPr wrap="square">
            <a:spAutoFit/>
          </a:bodyPr>
          <a:lstStyle/>
          <a:p>
            <a:pPr algn="just">
              <a:lnSpc>
                <a:spcPct val="150000"/>
              </a:lnSpc>
            </a:pPr>
            <a:r>
              <a:rPr lang="en-US" sz="2600" smtClean="0">
                <a:solidFill>
                  <a:srgbClr val="002060"/>
                </a:solidFill>
                <a:latin typeface="Times New Roman" pitchFamily="18" charset="0"/>
                <a:cs typeface="Times New Roman" pitchFamily="18" charset="0"/>
              </a:rPr>
              <a:t>- Nhà nước tôn trọng, đảm bảo thực hiện đầy đủ các quyền con người, chăm lo lợi ích của mọi người.</a:t>
            </a:r>
          </a:p>
          <a:p>
            <a:pPr algn="just">
              <a:lnSpc>
                <a:spcPct val="150000"/>
              </a:lnSpc>
            </a:pPr>
            <a:r>
              <a:rPr lang="en-US" sz="2600" smtClean="0">
                <a:solidFill>
                  <a:srgbClr val="002060"/>
                </a:solidFill>
                <a:latin typeface="Times New Roman" pitchFamily="18" charset="0"/>
                <a:cs typeface="Times New Roman" pitchFamily="18" charset="0"/>
              </a:rPr>
              <a:t>- Pháp luật có tính nhân văn, khuyến thiện.</a:t>
            </a:r>
          </a:p>
        </p:txBody>
      </p:sp>
      <p:sp>
        <p:nvSpPr>
          <p:cNvPr id="3" name="AutoShape 4" descr="https://moha.gov.vn/DATA/IMAGES/2016/05/Bachoooooo4405040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2" name="Text Box 36"/>
          <p:cNvSpPr txBox="1">
            <a:spLocks noChangeArrowheads="1"/>
          </p:cNvSpPr>
          <p:nvPr/>
        </p:nvSpPr>
        <p:spPr bwMode="auto">
          <a:xfrm>
            <a:off x="152400" y="1828800"/>
            <a:ext cx="1295400" cy="304698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smtClean="0">
                <a:solidFill>
                  <a:srgbClr val="FF0000"/>
                </a:solidFill>
                <a:latin typeface="Times New Roman"/>
                <a:cs typeface="Times New Roman"/>
              </a:rPr>
              <a:t>2.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pháp</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quyền</a:t>
            </a:r>
            <a:endParaRPr lang="en-US" sz="3200" dirty="0">
              <a:solidFill>
                <a:srgbClr val="FF0000"/>
              </a:solidFill>
              <a:latin typeface="Times New Roman"/>
              <a:cs typeface="Times New Roman"/>
            </a:endParaRPr>
          </a:p>
        </p:txBody>
      </p:sp>
    </p:spTree>
    <p:extLst>
      <p:ext uri="{BB962C8B-B14F-4D97-AF65-F5344CB8AC3E}">
        <p14:creationId xmlns:p14="http://schemas.microsoft.com/office/powerpoint/2010/main" val="43907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xEl>
                                              <p:pRg st="0" end="0"/>
                                            </p:txEl>
                                          </p:spTgt>
                                        </p:tgtEl>
                                        <p:attrNameLst>
                                          <p:attrName>style.visibility</p:attrName>
                                        </p:attrNameLst>
                                      </p:cBhvr>
                                      <p:to>
                                        <p:strVal val="visible"/>
                                      </p:to>
                                    </p:set>
                                    <p:animEffect transition="in" filter="fade">
                                      <p:cBhvr>
                                        <p:cTn id="14" dur="1000"/>
                                        <p:tgtEl>
                                          <p:spTgt spid="18">
                                            <p:txEl>
                                              <p:pRg st="0" end="0"/>
                                            </p:txEl>
                                          </p:spTgt>
                                        </p:tgtEl>
                                      </p:cBhvr>
                                    </p:animEffect>
                                    <p:anim calcmode="lin" valueType="num">
                                      <p:cBhvr>
                                        <p:cTn id="15"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xEl>
                                              <p:pRg st="1" end="1"/>
                                            </p:txEl>
                                          </p:spTgt>
                                        </p:tgtEl>
                                        <p:attrNameLst>
                                          <p:attrName>style.visibility</p:attrName>
                                        </p:attrNameLst>
                                      </p:cBhvr>
                                      <p:to>
                                        <p:strVal val="visible"/>
                                      </p:to>
                                    </p:set>
                                    <p:animEffect transition="in" filter="fade">
                                      <p:cBhvr>
                                        <p:cTn id="21" dur="1000"/>
                                        <p:tgtEl>
                                          <p:spTgt spid="18">
                                            <p:txEl>
                                              <p:pRg st="1" end="1"/>
                                            </p:txEl>
                                          </p:spTgt>
                                        </p:tgtEl>
                                      </p:cBhvr>
                                    </p:animEffect>
                                    <p:anim calcmode="lin" valueType="num">
                                      <p:cBhvr>
                                        <p:cTn id="22"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24</a:t>
            </a:fld>
            <a:endParaRPr lang="en-US"/>
          </a:p>
        </p:txBody>
      </p:sp>
      <p:cxnSp>
        <p:nvCxnSpPr>
          <p:cNvPr id="11" name="Straight Connector 10"/>
          <p:cNvCxnSpPr/>
          <p:nvPr/>
        </p:nvCxnSpPr>
        <p:spPr>
          <a:xfrm>
            <a:off x="2362200" y="1981200"/>
            <a:ext cx="66500" cy="33902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514600" y="2286000"/>
            <a:ext cx="6781800" cy="2062103"/>
          </a:xfrm>
          <a:prstGeom prst="rect">
            <a:avLst/>
          </a:prstGeom>
        </p:spPr>
        <p:txBody>
          <a:bodyPr wrap="square">
            <a:spAutoFit/>
          </a:bodyPr>
          <a:lstStyle/>
          <a:p>
            <a:pPr algn="just">
              <a:lnSpc>
                <a:spcPct val="200000"/>
              </a:lnSpc>
            </a:pP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Kiểm</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soát</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quyền</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lực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a:t>
            </a:r>
          </a:p>
          <a:p>
            <a:pPr algn="just">
              <a:lnSpc>
                <a:spcPct val="200000"/>
              </a:lnSpc>
            </a:pP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Phòng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chống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tiêu</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cực</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trong</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nhà</a:t>
            </a:r>
            <a:r>
              <a:rPr lang="en-US" sz="3200" i="1" dirty="0" smtClean="0">
                <a:solidFill>
                  <a:srgbClr val="002060"/>
                </a:solidFill>
                <a:latin typeface="Times New Roman" pitchFamily="18" charset="0"/>
                <a:cs typeface="Times New Roman" pitchFamily="18" charset="0"/>
              </a:rPr>
              <a:t> </a:t>
            </a:r>
            <a:r>
              <a:rPr lang="en-US" sz="3200" i="1" dirty="0" err="1" smtClean="0">
                <a:solidFill>
                  <a:srgbClr val="002060"/>
                </a:solidFill>
                <a:latin typeface="Times New Roman" pitchFamily="18" charset="0"/>
                <a:cs typeface="Times New Roman" pitchFamily="18" charset="0"/>
              </a:rPr>
              <a:t>nước</a:t>
            </a:r>
            <a:r>
              <a:rPr lang="en-US" sz="3200" i="1" dirty="0" smtClean="0">
                <a:solidFill>
                  <a:srgbClr val="002060"/>
                </a:solidFill>
                <a:latin typeface="Times New Roman" pitchFamily="18" charset="0"/>
                <a:cs typeface="Times New Roman" pitchFamily="18" charset="0"/>
              </a:rPr>
              <a:t>.</a:t>
            </a: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9832" y="2286000"/>
            <a:ext cx="2196548" cy="221983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dirty="0">
                <a:solidFill>
                  <a:srgbClr val="FF0000"/>
                </a:solidFill>
                <a:latin typeface="Times New Roman"/>
                <a:cs typeface="Times New Roman"/>
              </a:rPr>
              <a:t>3</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Nhà</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nước</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trong</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sạch</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vững</a:t>
            </a:r>
            <a:r>
              <a:rPr lang="en-US" sz="3200" dirty="0" smtClean="0">
                <a:solidFill>
                  <a:srgbClr val="FF0000"/>
                </a:solidFill>
                <a:latin typeface="Times New Roman"/>
                <a:cs typeface="Times New Roman"/>
              </a:rPr>
              <a:t> </a:t>
            </a:r>
            <a:r>
              <a:rPr lang="en-US" sz="3200" dirty="0" err="1" smtClean="0">
                <a:solidFill>
                  <a:srgbClr val="FF0000"/>
                </a:solidFill>
                <a:latin typeface="Times New Roman"/>
                <a:cs typeface="Times New Roman"/>
              </a:rPr>
              <a:t>mạnh</a:t>
            </a:r>
            <a:endParaRPr lang="en-US" sz="3200" dirty="0">
              <a:solidFill>
                <a:srgbClr val="FF0000"/>
              </a:solidFill>
              <a:latin typeface="Times New Roman"/>
              <a:cs typeface="Times New Roman"/>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3622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2680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25</a:t>
            </a:fld>
            <a:endParaRPr lang="en-US"/>
          </a:p>
        </p:txBody>
      </p:sp>
      <p:cxnSp>
        <p:nvCxnSpPr>
          <p:cNvPr id="11" name="Straight Connector 10"/>
          <p:cNvCxnSpPr/>
          <p:nvPr/>
        </p:nvCxnSpPr>
        <p:spPr>
          <a:xfrm>
            <a:off x="20671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286000" y="1439882"/>
            <a:ext cx="6781800" cy="3970318"/>
          </a:xfrm>
          <a:prstGeom prst="rect">
            <a:avLst/>
          </a:prstGeom>
        </p:spPr>
        <p:txBody>
          <a:bodyPr wrap="square">
            <a:spAutoFit/>
          </a:bodyPr>
          <a:lstStyle/>
          <a:p>
            <a:pPr algn="ctr">
              <a:lnSpc>
                <a:spcPct val="150000"/>
              </a:lnSpc>
            </a:pPr>
            <a:r>
              <a:rPr lang="en-US" sz="2800" dirty="0" smtClean="0">
                <a:solidFill>
                  <a:srgbClr val="C00000"/>
                </a:solidFill>
                <a:latin typeface="Times New Roman" pitchFamily="18" charset="0"/>
                <a:cs typeface="Times New Roman" pitchFamily="18" charset="0"/>
              </a:rPr>
              <a:t>a. </a:t>
            </a:r>
            <a:r>
              <a:rPr lang="en-US" sz="2800" dirty="0" err="1" smtClean="0">
                <a:solidFill>
                  <a:srgbClr val="C00000"/>
                </a:solidFill>
                <a:latin typeface="Times New Roman" pitchFamily="18" charset="0"/>
                <a:cs typeface="Times New Roman" pitchFamily="18" charset="0"/>
              </a:rPr>
              <a:t>Kiểm</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soát</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quyền</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lực</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nhà</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nước</a:t>
            </a:r>
            <a:endParaRPr lang="en-US" sz="2800" dirty="0" smtClean="0">
              <a:solidFill>
                <a:srgbClr val="C00000"/>
              </a:solidFill>
              <a:latin typeface="Times New Roman" pitchFamily="18" charset="0"/>
              <a:cs typeface="Times New Roman" pitchFamily="18" charset="0"/>
            </a:endParaRPr>
          </a:p>
          <a:p>
            <a:pPr algn="just">
              <a:lnSpc>
                <a:spcPct val="150000"/>
              </a:lnSpc>
            </a:pP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Kiểm</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soát</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quyền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lực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nhà</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nước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là</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tất</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yếu</a:t>
            </a:r>
            <a:r>
              <a:rPr lang="en-US" sz="2800" i="1" dirty="0" smtClean="0">
                <a:solidFill>
                  <a:srgbClr val="002060"/>
                </a:solidFill>
                <a:latin typeface="Times New Roman" pitchFamily="18" charset="0"/>
                <a:cs typeface="Times New Roman" pitchFamily="18" charset="0"/>
              </a:rPr>
              <a:t>.</a:t>
            </a:r>
          </a:p>
          <a:p>
            <a:pPr algn="just">
              <a:lnSpc>
                <a:spcPct val="150000"/>
              </a:lnSpc>
            </a:pP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Phát</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huy</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vai</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trò</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của</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Đảng</a:t>
            </a:r>
            <a:r>
              <a:rPr lang="en-US" sz="2800" i="1" dirty="0" smtClean="0">
                <a:solidFill>
                  <a:srgbClr val="002060"/>
                </a:solidFill>
                <a:latin typeface="Times New Roman" pitchFamily="18" charset="0"/>
                <a:cs typeface="Times New Roman" pitchFamily="18" charset="0"/>
              </a:rPr>
              <a:t>.</a:t>
            </a:r>
          </a:p>
          <a:p>
            <a:pPr algn="just">
              <a:lnSpc>
                <a:spcPct val="150000"/>
              </a:lnSpc>
            </a:pP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Sắp</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xếp</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tổ</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chức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bộ</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máy</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và</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phân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cấp</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phân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quyền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hợp</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lý</a:t>
            </a:r>
            <a:r>
              <a:rPr lang="en-US" sz="2800" i="1" dirty="0" smtClean="0">
                <a:solidFill>
                  <a:srgbClr val="002060"/>
                </a:solidFill>
                <a:latin typeface="Times New Roman" pitchFamily="18" charset="0"/>
                <a:cs typeface="Times New Roman" pitchFamily="18" charset="0"/>
              </a:rPr>
              <a:t>.</a:t>
            </a:r>
          </a:p>
          <a:p>
            <a:pPr algn="just">
              <a:lnSpc>
                <a:spcPct val="150000"/>
              </a:lnSpc>
            </a:pP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Nhân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dân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kiểm</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soát</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quyền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lực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nhà</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nước</a:t>
            </a:r>
            <a:r>
              <a:rPr lang="en-US" sz="2800" i="1" dirty="0" smtClean="0">
                <a:solidFill>
                  <a:srgbClr val="002060"/>
                </a:solidFill>
                <a:latin typeface="Times New Roman" pitchFamily="18" charset="0"/>
                <a:cs typeface="Times New Roman" pitchFamily="18" charset="0"/>
              </a:rPr>
              <a:t>.</a:t>
            </a: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3622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2" name="Text Box 36"/>
          <p:cNvSpPr txBox="1">
            <a:spLocks noChangeArrowheads="1"/>
          </p:cNvSpPr>
          <p:nvPr/>
        </p:nvSpPr>
        <p:spPr bwMode="auto">
          <a:xfrm>
            <a:off x="9832" y="2286000"/>
            <a:ext cx="2196548" cy="230832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spc="-300" dirty="0">
                <a:solidFill>
                  <a:srgbClr val="FF0000"/>
                </a:solidFill>
                <a:latin typeface="Times New Roman"/>
                <a:cs typeface="Times New Roman"/>
              </a:rPr>
              <a:t>3</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Nhà</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nước</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trong</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sạch</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vững</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mạnh</a:t>
            </a:r>
            <a:endParaRPr lang="en-US" sz="3200" spc="-300" dirty="0">
              <a:solidFill>
                <a:srgbClr val="FF0000"/>
              </a:solidFill>
              <a:latin typeface="Times New Roman"/>
              <a:cs typeface="Times New Roman"/>
            </a:endParaRPr>
          </a:p>
        </p:txBody>
      </p:sp>
    </p:spTree>
    <p:extLst>
      <p:ext uri="{BB962C8B-B14F-4D97-AF65-F5344CB8AC3E}">
        <p14:creationId xmlns:p14="http://schemas.microsoft.com/office/powerpoint/2010/main" val="262415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1000"/>
                                        <p:tgtEl>
                                          <p:spTgt spid="17">
                                            <p:txEl>
                                              <p:pRg st="4" end="4"/>
                                            </p:txEl>
                                          </p:spTgt>
                                        </p:tgtEl>
                                      </p:cBhvr>
                                    </p:animEffect>
                                    <p:anim calcmode="lin" valueType="num">
                                      <p:cBhvr>
                                        <p:cTn id="36"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26</a:t>
            </a:fld>
            <a:endParaRPr lang="en-US"/>
          </a:p>
        </p:txBody>
      </p:sp>
      <p:cxnSp>
        <p:nvCxnSpPr>
          <p:cNvPr id="11" name="Straight Connector 10"/>
          <p:cNvCxnSpPr/>
          <p:nvPr/>
        </p:nvCxnSpPr>
        <p:spPr>
          <a:xfrm>
            <a:off x="19147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133600" y="1371600"/>
            <a:ext cx="6781800" cy="4401205"/>
          </a:xfrm>
          <a:prstGeom prst="rect">
            <a:avLst/>
          </a:prstGeom>
        </p:spPr>
        <p:txBody>
          <a:bodyPr wrap="square">
            <a:spAutoFit/>
          </a:bodyPr>
          <a:lstStyle/>
          <a:p>
            <a:pPr algn="ctr"/>
            <a:r>
              <a:rPr lang="en-US" sz="2800" dirty="0" smtClean="0">
                <a:solidFill>
                  <a:srgbClr val="C00000"/>
                </a:solidFill>
                <a:latin typeface="Times New Roman" pitchFamily="18" charset="0"/>
                <a:cs typeface="Times New Roman" pitchFamily="18" charset="0"/>
              </a:rPr>
              <a:t>b. </a:t>
            </a:r>
            <a:r>
              <a:rPr lang="en-US" sz="2800" dirty="0" err="1" smtClean="0">
                <a:solidFill>
                  <a:srgbClr val="C00000"/>
                </a:solidFill>
                <a:latin typeface="Times New Roman" pitchFamily="18" charset="0"/>
                <a:cs typeface="Times New Roman" pitchFamily="18" charset="0"/>
              </a:rPr>
              <a:t>Phòng</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chống</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tiêu</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cực</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trong</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Nhà</a:t>
            </a:r>
            <a:r>
              <a:rPr lang="en-US" sz="2800" dirty="0" smtClean="0">
                <a:solidFill>
                  <a:srgbClr val="C00000"/>
                </a:solidFill>
                <a:latin typeface="Times New Roman" pitchFamily="18" charset="0"/>
                <a:cs typeface="Times New Roman" pitchFamily="18" charset="0"/>
              </a:rPr>
              <a:t> </a:t>
            </a:r>
            <a:r>
              <a:rPr lang="en-US" sz="2800" dirty="0" err="1" smtClean="0">
                <a:solidFill>
                  <a:srgbClr val="C00000"/>
                </a:solidFill>
                <a:latin typeface="Times New Roman" pitchFamily="18" charset="0"/>
                <a:cs typeface="Times New Roman" pitchFamily="18" charset="0"/>
              </a:rPr>
              <a:t>nước</a:t>
            </a:r>
            <a:endParaRPr lang="en-US" sz="2800" dirty="0" smtClean="0">
              <a:solidFill>
                <a:srgbClr val="C00000"/>
              </a:solidFill>
              <a:latin typeface="Times New Roman" pitchFamily="18" charset="0"/>
              <a:cs typeface="Times New Roman" pitchFamily="18" charset="0"/>
            </a:endParaRPr>
          </a:p>
          <a:p>
            <a:pPr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Phòng</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chống</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các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bệnh</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Đặc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quyền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đặc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lợi</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tham</a:t>
            </a:r>
            <a:r>
              <a:rPr lang="en-US" sz="2800" i="1" dirty="0" smtClean="0">
                <a:solidFill>
                  <a:srgbClr val="002060"/>
                </a:solidFill>
                <a:latin typeface="Times New Roman" pitchFamily="18" charset="0"/>
                <a:cs typeface="Times New Roman" pitchFamily="18" charset="0"/>
              </a:rPr>
              <a:t> ô, </a:t>
            </a:r>
            <a:r>
              <a:rPr lang="en-US" sz="2800" i="1" dirty="0" err="1" smtClean="0">
                <a:solidFill>
                  <a:srgbClr val="002060"/>
                </a:solidFill>
                <a:latin typeface="Times New Roman" pitchFamily="18" charset="0"/>
                <a:cs typeface="Times New Roman" pitchFamily="18" charset="0"/>
              </a:rPr>
              <a:t>lãng</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phí</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quan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liêu</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tư</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túng</a:t>
            </a:r>
            <a:r>
              <a:rPr lang="en-US" sz="2800" i="1" dirty="0" smtClean="0">
                <a:solidFill>
                  <a:srgbClr val="002060"/>
                </a:solidFill>
                <a:latin typeface="Times New Roman" pitchFamily="18" charset="0"/>
                <a:cs typeface="Times New Roman" pitchFamily="18" charset="0"/>
              </a:rPr>
              <a:t>, chia </a:t>
            </a:r>
            <a:r>
              <a:rPr lang="en-US" sz="2800" i="1" dirty="0" err="1" smtClean="0">
                <a:solidFill>
                  <a:srgbClr val="002060"/>
                </a:solidFill>
                <a:latin typeface="Times New Roman" pitchFamily="18" charset="0"/>
                <a:cs typeface="Times New Roman" pitchFamily="18" charset="0"/>
              </a:rPr>
              <a:t>rẽ</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kiêu</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ngạo</a:t>
            </a:r>
            <a:r>
              <a:rPr lang="en-US" sz="2800" i="1" dirty="0" smtClean="0">
                <a:solidFill>
                  <a:srgbClr val="002060"/>
                </a:solidFill>
                <a:latin typeface="Times New Roman" pitchFamily="18" charset="0"/>
                <a:cs typeface="Times New Roman" pitchFamily="18" charset="0"/>
              </a:rPr>
              <a:t>;…</a:t>
            </a:r>
          </a:p>
          <a:p>
            <a:pPr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Biện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pháp</a:t>
            </a:r>
            <a:r>
              <a:rPr lang="en-US" sz="2800" i="1" dirty="0" smtClean="0">
                <a:solidFill>
                  <a:srgbClr val="002060"/>
                </a:solidFill>
                <a:latin typeface="Times New Roman" pitchFamily="18" charset="0"/>
                <a:cs typeface="Times New Roman" pitchFamily="18" charset="0"/>
              </a:rPr>
              <a:t>:</a:t>
            </a:r>
          </a:p>
          <a:p>
            <a:pPr indent="457200"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Thực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hành</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dân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chủ</a:t>
            </a:r>
            <a:r>
              <a:rPr lang="en-US" sz="2800" i="1" dirty="0" smtClean="0">
                <a:solidFill>
                  <a:srgbClr val="002060"/>
                </a:solidFill>
                <a:latin typeface="Times New Roman" pitchFamily="18" charset="0"/>
                <a:cs typeface="Times New Roman" pitchFamily="18" charset="0"/>
              </a:rPr>
              <a:t>.</a:t>
            </a:r>
          </a:p>
          <a:p>
            <a:pPr indent="457200" algn="just"/>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Pháp</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luật</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kỷ</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luật</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chặt</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chẽ</a:t>
            </a:r>
            <a:r>
              <a:rPr lang="en-US" sz="2800" i="1" spc="-150" dirty="0" smtClean="0">
                <a:solidFill>
                  <a:srgbClr val="002060"/>
                </a:solidFill>
                <a:latin typeface="Times New Roman" pitchFamily="18" charset="0"/>
                <a:cs typeface="Times New Roman" pitchFamily="18" charset="0"/>
              </a:rPr>
              <a:t>, </a:t>
            </a:r>
            <a:r>
              <a:rPr lang="en-US" sz="2800" i="1" spc="-150" dirty="0" err="1" smtClean="0">
                <a:solidFill>
                  <a:srgbClr val="002060"/>
                </a:solidFill>
                <a:latin typeface="Times New Roman" pitchFamily="18" charset="0"/>
                <a:cs typeface="Times New Roman" pitchFamily="18" charset="0"/>
              </a:rPr>
              <a:t>nghiêm</a:t>
            </a:r>
            <a:r>
              <a:rPr lang="en-US" sz="2800" i="1" spc="-150" dirty="0" smtClean="0">
                <a:solidFill>
                  <a:srgbClr val="002060"/>
                </a:solidFill>
                <a:latin typeface="Times New Roman" pitchFamily="18" charset="0"/>
                <a:cs typeface="Times New Roman" pitchFamily="18" charset="0"/>
              </a:rPr>
              <a:t> minh.</a:t>
            </a:r>
          </a:p>
          <a:p>
            <a:pPr indent="457200"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Kết</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hợp</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giáo</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dục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và</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xử</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phạt</a:t>
            </a:r>
            <a:r>
              <a:rPr lang="en-US" sz="2800" i="1" dirty="0" smtClean="0">
                <a:solidFill>
                  <a:srgbClr val="002060"/>
                </a:solidFill>
                <a:latin typeface="Times New Roman" pitchFamily="18" charset="0"/>
                <a:cs typeface="Times New Roman" pitchFamily="18" charset="0"/>
              </a:rPr>
              <a:t>.</a:t>
            </a:r>
          </a:p>
          <a:p>
            <a:pPr indent="457200"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Cán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bộ</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phải</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nêu</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gương</a:t>
            </a:r>
            <a:r>
              <a:rPr lang="en-US" sz="2800" i="1" dirty="0" smtClean="0">
                <a:solidFill>
                  <a:srgbClr val="002060"/>
                </a:solidFill>
                <a:latin typeface="Times New Roman" pitchFamily="18" charset="0"/>
                <a:cs typeface="Times New Roman" pitchFamily="18" charset="0"/>
              </a:rPr>
              <a:t>.</a:t>
            </a:r>
          </a:p>
          <a:p>
            <a:pPr indent="457200" algn="just"/>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Huy</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động</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sức</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mạnh</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giá</a:t>
            </a:r>
            <a:r>
              <a:rPr lang="en-US" sz="2800" i="1" dirty="0" smtClean="0">
                <a:solidFill>
                  <a:srgbClr val="002060"/>
                </a:solidFill>
                <a:latin typeface="Times New Roman" pitchFamily="18" charset="0"/>
                <a:cs typeface="Times New Roman" pitchFamily="18" charset="0"/>
              </a:rPr>
              <a:t> tri </a:t>
            </a:r>
            <a:r>
              <a:rPr lang="en-US" sz="2800" i="1" dirty="0" err="1" smtClean="0">
                <a:solidFill>
                  <a:srgbClr val="002060"/>
                </a:solidFill>
                <a:latin typeface="Times New Roman" pitchFamily="18" charset="0"/>
                <a:cs typeface="Times New Roman" pitchFamily="18" charset="0"/>
              </a:rPr>
              <a:t>truyền</a:t>
            </a:r>
            <a:r>
              <a:rPr lang="en-US" sz="2800" i="1" dirty="0" smtClean="0">
                <a:solidFill>
                  <a:srgbClr val="002060"/>
                </a:solidFill>
                <a:latin typeface="Times New Roman" pitchFamily="18" charset="0"/>
                <a:cs typeface="Times New Roman" pitchFamily="18" charset="0"/>
              </a:rPr>
              <a:t> </a:t>
            </a:r>
            <a:r>
              <a:rPr lang="en-US" sz="2800" i="1" dirty="0" err="1" smtClean="0">
                <a:solidFill>
                  <a:srgbClr val="002060"/>
                </a:solidFill>
                <a:latin typeface="Times New Roman" pitchFamily="18" charset="0"/>
                <a:cs typeface="Times New Roman" pitchFamily="18" charset="0"/>
              </a:rPr>
              <a:t>thống</a:t>
            </a:r>
            <a:r>
              <a:rPr lang="en-US" sz="2800" i="1" dirty="0" smtClean="0">
                <a:solidFill>
                  <a:srgbClr val="002060"/>
                </a:solidFill>
                <a:latin typeface="Times New Roman" pitchFamily="18" charset="0"/>
                <a:cs typeface="Times New Roman" pitchFamily="18" charset="0"/>
              </a:rPr>
              <a:t>.</a:t>
            </a: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5" name="Rectangle 14"/>
          <p:cNvSpPr/>
          <p:nvPr/>
        </p:nvSpPr>
        <p:spPr>
          <a:xfrm>
            <a:off x="0" y="0"/>
            <a:ext cx="25146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
        <p:nvSpPr>
          <p:cNvPr id="22" name="Text Box 36"/>
          <p:cNvSpPr txBox="1">
            <a:spLocks noChangeArrowheads="1"/>
          </p:cNvSpPr>
          <p:nvPr/>
        </p:nvSpPr>
        <p:spPr bwMode="auto">
          <a:xfrm>
            <a:off x="-152400" y="2286000"/>
            <a:ext cx="2196548" cy="221983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spc="-300" dirty="0">
                <a:solidFill>
                  <a:srgbClr val="FF0000"/>
                </a:solidFill>
                <a:latin typeface="Times New Roman"/>
                <a:cs typeface="Times New Roman"/>
              </a:rPr>
              <a:t>3</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Nhà</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nước</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trong</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sạch</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vững</a:t>
            </a:r>
            <a:r>
              <a:rPr lang="en-US" sz="3200" spc="-300" dirty="0" smtClean="0">
                <a:solidFill>
                  <a:srgbClr val="FF0000"/>
                </a:solidFill>
                <a:latin typeface="Times New Roman"/>
                <a:cs typeface="Times New Roman"/>
              </a:rPr>
              <a:t> </a:t>
            </a:r>
            <a:r>
              <a:rPr lang="en-US" sz="3200" spc="-300" dirty="0" err="1" smtClean="0">
                <a:solidFill>
                  <a:srgbClr val="FF0000"/>
                </a:solidFill>
                <a:latin typeface="Times New Roman"/>
                <a:cs typeface="Times New Roman"/>
              </a:rPr>
              <a:t>mạnh</a:t>
            </a:r>
            <a:endParaRPr lang="en-US" sz="3200" spc="-300" dirty="0">
              <a:solidFill>
                <a:srgbClr val="FF0000"/>
              </a:solidFill>
              <a:latin typeface="Times New Roman"/>
              <a:cs typeface="Times New Roman"/>
            </a:endParaRPr>
          </a:p>
        </p:txBody>
      </p:sp>
    </p:spTree>
    <p:extLst>
      <p:ext uri="{BB962C8B-B14F-4D97-AF65-F5344CB8AC3E}">
        <p14:creationId xmlns:p14="http://schemas.microsoft.com/office/powerpoint/2010/main" val="383718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 calcmode="lin" valueType="num">
                                      <p:cBhvr additive="base">
                                        <p:cTn id="21"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7">
                                            <p:txEl>
                                              <p:pRg st="3" end="3"/>
                                            </p:txEl>
                                          </p:spTgt>
                                        </p:tgtEl>
                                        <p:attrNameLst>
                                          <p:attrName>style.visibility</p:attrName>
                                        </p:attrNameLst>
                                      </p:cBhvr>
                                      <p:to>
                                        <p:strVal val="visible"/>
                                      </p:to>
                                    </p:set>
                                    <p:animEffect transition="in" filter="fade">
                                      <p:cBhvr>
                                        <p:cTn id="27" dur="1000"/>
                                        <p:tgtEl>
                                          <p:spTgt spid="17">
                                            <p:txEl>
                                              <p:pRg st="3" end="3"/>
                                            </p:txEl>
                                          </p:spTgt>
                                        </p:tgtEl>
                                      </p:cBhvr>
                                    </p:animEffect>
                                    <p:anim calcmode="lin" valueType="num">
                                      <p:cBhvr>
                                        <p:cTn id="28"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7">
                                            <p:txEl>
                                              <p:pRg st="4" end="4"/>
                                            </p:txEl>
                                          </p:spTgt>
                                        </p:tgtEl>
                                        <p:attrNameLst>
                                          <p:attrName>style.visibility</p:attrName>
                                        </p:attrNameLst>
                                      </p:cBhvr>
                                      <p:to>
                                        <p:strVal val="visible"/>
                                      </p:to>
                                    </p:set>
                                    <p:animEffect transition="in" filter="fade">
                                      <p:cBhvr>
                                        <p:cTn id="34" dur="1000"/>
                                        <p:tgtEl>
                                          <p:spTgt spid="17">
                                            <p:txEl>
                                              <p:pRg st="4" end="4"/>
                                            </p:txEl>
                                          </p:spTgt>
                                        </p:tgtEl>
                                      </p:cBhvr>
                                    </p:animEffect>
                                    <p:anim calcmode="lin" valueType="num">
                                      <p:cBhvr>
                                        <p:cTn id="35"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7">
                                            <p:txEl>
                                              <p:pRg st="5" end="5"/>
                                            </p:txEl>
                                          </p:spTgt>
                                        </p:tgtEl>
                                        <p:attrNameLst>
                                          <p:attrName>style.visibility</p:attrName>
                                        </p:attrNameLst>
                                      </p:cBhvr>
                                      <p:to>
                                        <p:strVal val="visible"/>
                                      </p:to>
                                    </p:set>
                                    <p:animEffect transition="in" filter="fade">
                                      <p:cBhvr>
                                        <p:cTn id="41" dur="1000"/>
                                        <p:tgtEl>
                                          <p:spTgt spid="17">
                                            <p:txEl>
                                              <p:pRg st="5" end="5"/>
                                            </p:txEl>
                                          </p:spTgt>
                                        </p:tgtEl>
                                      </p:cBhvr>
                                    </p:animEffect>
                                    <p:anim calcmode="lin" valueType="num">
                                      <p:cBhvr>
                                        <p:cTn id="42" dur="1000" fill="hold"/>
                                        <p:tgtEl>
                                          <p:spTgt spid="17">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1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7">
                                            <p:txEl>
                                              <p:pRg st="6" end="6"/>
                                            </p:txEl>
                                          </p:spTgt>
                                        </p:tgtEl>
                                        <p:attrNameLst>
                                          <p:attrName>style.visibility</p:attrName>
                                        </p:attrNameLst>
                                      </p:cBhvr>
                                      <p:to>
                                        <p:strVal val="visible"/>
                                      </p:to>
                                    </p:set>
                                    <p:animEffect transition="in" filter="fade">
                                      <p:cBhvr>
                                        <p:cTn id="48" dur="1000"/>
                                        <p:tgtEl>
                                          <p:spTgt spid="17">
                                            <p:txEl>
                                              <p:pRg st="6" end="6"/>
                                            </p:txEl>
                                          </p:spTgt>
                                        </p:tgtEl>
                                      </p:cBhvr>
                                    </p:animEffect>
                                    <p:anim calcmode="lin" valueType="num">
                                      <p:cBhvr>
                                        <p:cTn id="49"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1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7">
                                            <p:txEl>
                                              <p:pRg st="7" end="7"/>
                                            </p:txEl>
                                          </p:spTgt>
                                        </p:tgtEl>
                                        <p:attrNameLst>
                                          <p:attrName>style.visibility</p:attrName>
                                        </p:attrNameLst>
                                      </p:cBhvr>
                                      <p:to>
                                        <p:strVal val="visible"/>
                                      </p:to>
                                    </p:set>
                                    <p:animEffect transition="in" filter="fade">
                                      <p:cBhvr>
                                        <p:cTn id="55" dur="1000"/>
                                        <p:tgtEl>
                                          <p:spTgt spid="17">
                                            <p:txEl>
                                              <p:pRg st="7" end="7"/>
                                            </p:txEl>
                                          </p:spTgt>
                                        </p:tgtEl>
                                      </p:cBhvr>
                                    </p:animEffect>
                                    <p:anim calcmode="lin" valueType="num">
                                      <p:cBhvr>
                                        <p:cTn id="56" dur="1000" fill="hold"/>
                                        <p:tgtEl>
                                          <p:spTgt spid="1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1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27</a:t>
            </a:fld>
            <a:endParaRPr lang="en-US"/>
          </a:p>
        </p:txBody>
      </p:sp>
      <p:sp>
        <p:nvSpPr>
          <p:cNvPr id="7" name="Title 1"/>
          <p:cNvSpPr txBox="1">
            <a:spLocks/>
          </p:cNvSpPr>
          <p:nvPr/>
        </p:nvSpPr>
        <p:spPr>
          <a:xfrm>
            <a:off x="381000" y="34671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2800" b="1" smtClean="0">
                <a:solidFill>
                  <a:srgbClr val="FF0000"/>
                </a:solidFill>
                <a:latin typeface="Times New Roman" pitchFamily="18" charset="0"/>
                <a:cs typeface="Times New Roman" pitchFamily="18" charset="0"/>
              </a:rPr>
              <a:t>III. VẬN DỤNG TƯ TƯỞNG HỒ CHÍ MINH                       VÀO CÔNG TÁC XÂY DỰNG ĐẢNG </a:t>
            </a:r>
          </a:p>
          <a:p>
            <a:pPr>
              <a:lnSpc>
                <a:spcPct val="150000"/>
              </a:lnSpc>
            </a:pPr>
            <a:r>
              <a:rPr lang="en-US" sz="2800" b="1" smtClean="0">
                <a:solidFill>
                  <a:srgbClr val="FF0000"/>
                </a:solidFill>
                <a:latin typeface="Times New Roman" pitchFamily="18" charset="0"/>
                <a:cs typeface="Times New Roman" pitchFamily="18" charset="0"/>
              </a:rPr>
              <a:t>VÀ XÂY DỰNG NHÀ NƯỚC</a:t>
            </a:r>
            <a:endParaRPr lang="en-US" sz="28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2744460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28</a:t>
            </a:fld>
            <a:endParaRPr lang="en-US"/>
          </a:p>
        </p:txBody>
      </p:sp>
      <p:cxnSp>
        <p:nvCxnSpPr>
          <p:cNvPr id="11" name="Straight Connector 10"/>
          <p:cNvCxnSpPr/>
          <p:nvPr/>
        </p:nvCxnSpPr>
        <p:spPr>
          <a:xfrm>
            <a:off x="15240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228600" y="2209800"/>
            <a:ext cx="990600" cy="216982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smtClean="0">
                <a:solidFill>
                  <a:srgbClr val="FF0000"/>
                </a:solidFill>
                <a:latin typeface="Times New Roman"/>
                <a:cs typeface="Times New Roman"/>
              </a:rPr>
              <a:t>III. </a:t>
            </a:r>
            <a:r>
              <a:rPr lang="en-US" sz="3000" dirty="0" err="1" smtClean="0">
                <a:solidFill>
                  <a:srgbClr val="FF0000"/>
                </a:solidFill>
                <a:latin typeface="Times New Roman"/>
                <a:cs typeface="Times New Roman"/>
              </a:rPr>
              <a:t>Vận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dụng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2209799" y="1600200"/>
            <a:ext cx="7162801" cy="73866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800" spc="-150" dirty="0" smtClean="0">
                <a:solidFill>
                  <a:srgbClr val="C00000"/>
                </a:solidFill>
                <a:latin typeface="Times New Roman"/>
                <a:cs typeface="Times New Roman"/>
              </a:rPr>
              <a:t>1. </a:t>
            </a:r>
            <a:r>
              <a:rPr lang="en-US" sz="2800" spc="-150" dirty="0" err="1" smtClean="0">
                <a:solidFill>
                  <a:srgbClr val="C00000"/>
                </a:solidFill>
                <a:latin typeface="Times New Roman"/>
                <a:cs typeface="Times New Roman"/>
              </a:rPr>
              <a:t>Xây</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dựng</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Đảng</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thật</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sự</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trong</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sạch</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vững</a:t>
            </a:r>
            <a:r>
              <a:rPr lang="en-US" sz="2800" spc="-150" dirty="0" smtClean="0">
                <a:solidFill>
                  <a:srgbClr val="C00000"/>
                </a:solidFill>
                <a:latin typeface="Times New Roman"/>
                <a:cs typeface="Times New Roman"/>
              </a:rPr>
              <a:t> </a:t>
            </a:r>
            <a:r>
              <a:rPr lang="en-US" sz="2800" spc="-150" dirty="0" err="1" smtClean="0">
                <a:solidFill>
                  <a:srgbClr val="C00000"/>
                </a:solidFill>
                <a:latin typeface="Times New Roman"/>
                <a:cs typeface="Times New Roman"/>
              </a:rPr>
              <a:t>mạnh</a:t>
            </a:r>
            <a:endParaRPr lang="en-US" sz="2800" spc="-150" dirty="0" smtClean="0">
              <a:solidFill>
                <a:srgbClr val="C00000"/>
              </a:solidFill>
              <a:latin typeface="Times New Roman"/>
              <a:cs typeface="Times New Roman"/>
            </a:endParaRP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7" name="Text Box 36"/>
          <p:cNvSpPr txBox="1">
            <a:spLocks noChangeArrowheads="1"/>
          </p:cNvSpPr>
          <p:nvPr/>
        </p:nvSpPr>
        <p:spPr bwMode="auto">
          <a:xfrm>
            <a:off x="1828800" y="2743200"/>
            <a:ext cx="7162801" cy="2546338"/>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200000"/>
              </a:lnSpc>
            </a:pP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Phải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đề</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ra</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đường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lối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chủ</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trương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đúng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đắn</a:t>
            </a:r>
            <a:r>
              <a:rPr lang="en-US" sz="2800" dirty="0" smtClean="0">
                <a:solidFill>
                  <a:srgbClr val="002060"/>
                </a:solidFill>
                <a:latin typeface="Times New Roman"/>
                <a:cs typeface="Times New Roman"/>
              </a:rPr>
              <a:t>.</a:t>
            </a:r>
          </a:p>
          <a:p>
            <a:pPr algn="just">
              <a:lnSpc>
                <a:spcPct val="200000"/>
              </a:lnSpc>
            </a:pP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Phải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tổ</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chức</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thực</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hiện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thật</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tốt</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đường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lối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chủ</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trương</a:t>
            </a:r>
            <a:r>
              <a:rPr lang="en-US" sz="2800" spc="-150" dirty="0" smtClean="0">
                <a:solidFill>
                  <a:srgbClr val="002060"/>
                </a:solidFill>
                <a:latin typeface="Times New Roman"/>
                <a:cs typeface="Times New Roman"/>
              </a:rPr>
              <a:t>.</a:t>
            </a:r>
          </a:p>
          <a:p>
            <a:pPr algn="just">
              <a:lnSpc>
                <a:spcPct val="200000"/>
              </a:lnSpc>
            </a:pP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Phải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chú</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trọng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hơn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nữa</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công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tác</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chỉnh</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đốn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Đảng</a:t>
            </a:r>
            <a:r>
              <a:rPr lang="en-US" sz="2800" spc="-150" dirty="0" smtClean="0">
                <a:solidFill>
                  <a:srgbClr val="002060"/>
                </a:solidFill>
                <a:latin typeface="Times New Roman"/>
                <a:cs typeface="Times New Roman"/>
              </a:rPr>
              <a:t>.</a:t>
            </a: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6" name="Rectangle 15"/>
          <p:cNvSpPr/>
          <p:nvPr/>
        </p:nvSpPr>
        <p:spPr>
          <a:xfrm>
            <a:off x="0" y="0"/>
            <a:ext cx="2209799"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51758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29</a:t>
            </a:fld>
            <a:endParaRPr lang="en-US"/>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216982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smtClean="0">
                <a:solidFill>
                  <a:srgbClr val="FF0000"/>
                </a:solidFill>
                <a:latin typeface="Times New Roman"/>
                <a:cs typeface="Times New Roman"/>
              </a:rPr>
              <a:t>III. </a:t>
            </a:r>
            <a:r>
              <a:rPr lang="en-US" sz="3000" dirty="0" err="1" smtClean="0">
                <a:solidFill>
                  <a:srgbClr val="FF0000"/>
                </a:solidFill>
                <a:latin typeface="Times New Roman"/>
                <a:cs typeface="Times New Roman"/>
              </a:rPr>
              <a:t>Vận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dụng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394376" y="1464475"/>
            <a:ext cx="7162801" cy="73866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800" dirty="0" smtClean="0">
                <a:solidFill>
                  <a:srgbClr val="C00000"/>
                </a:solidFill>
                <a:latin typeface="Times New Roman"/>
                <a:cs typeface="Times New Roman"/>
              </a:rPr>
              <a:t>2. </a:t>
            </a:r>
            <a:r>
              <a:rPr lang="en-US" sz="2800" dirty="0" err="1" smtClean="0">
                <a:solidFill>
                  <a:srgbClr val="C00000"/>
                </a:solidFill>
                <a:latin typeface="Times New Roman"/>
                <a:cs typeface="Times New Roman"/>
              </a:rPr>
              <a:t>Xây</a:t>
            </a:r>
            <a:r>
              <a:rPr lang="en-US" sz="2800" dirty="0" smtClean="0">
                <a:solidFill>
                  <a:srgbClr val="C00000"/>
                </a:solidFill>
                <a:latin typeface="Times New Roman"/>
                <a:cs typeface="Times New Roman"/>
              </a:rPr>
              <a:t> </a:t>
            </a:r>
            <a:r>
              <a:rPr lang="en-US" sz="2800" dirty="0" err="1" smtClean="0">
                <a:solidFill>
                  <a:srgbClr val="C00000"/>
                </a:solidFill>
                <a:latin typeface="Times New Roman"/>
                <a:cs typeface="Times New Roman"/>
              </a:rPr>
              <a:t>dựng</a:t>
            </a:r>
            <a:r>
              <a:rPr lang="en-US" sz="2800" dirty="0" smtClean="0">
                <a:solidFill>
                  <a:srgbClr val="C00000"/>
                </a:solidFill>
                <a:latin typeface="Times New Roman"/>
                <a:cs typeface="Times New Roman"/>
              </a:rPr>
              <a:t> </a:t>
            </a:r>
            <a:r>
              <a:rPr lang="en-US" sz="2800" dirty="0" err="1" smtClean="0">
                <a:solidFill>
                  <a:srgbClr val="C00000"/>
                </a:solidFill>
                <a:latin typeface="Times New Roman"/>
                <a:cs typeface="Times New Roman"/>
              </a:rPr>
              <a:t>Nhà</a:t>
            </a:r>
            <a:r>
              <a:rPr lang="en-US" sz="2800" dirty="0" smtClean="0">
                <a:solidFill>
                  <a:srgbClr val="C00000"/>
                </a:solidFill>
                <a:latin typeface="Times New Roman"/>
                <a:cs typeface="Times New Roman"/>
              </a:rPr>
              <a:t> </a:t>
            </a:r>
            <a:r>
              <a:rPr lang="en-US" sz="2800" dirty="0" err="1" smtClean="0">
                <a:solidFill>
                  <a:srgbClr val="C00000"/>
                </a:solidFill>
                <a:latin typeface="Times New Roman"/>
                <a:cs typeface="Times New Roman"/>
              </a:rPr>
              <a:t>nước</a:t>
            </a:r>
            <a:endParaRPr lang="en-US" sz="2800" dirty="0" smtClean="0">
              <a:solidFill>
                <a:srgbClr val="C00000"/>
              </a:solidFill>
              <a:latin typeface="Times New Roman"/>
              <a:cs typeface="Times New Roman"/>
            </a:endParaRP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7" name="Text Box 36"/>
          <p:cNvSpPr txBox="1">
            <a:spLocks noChangeArrowheads="1"/>
          </p:cNvSpPr>
          <p:nvPr/>
        </p:nvSpPr>
        <p:spPr bwMode="auto">
          <a:xfrm>
            <a:off x="1600200" y="2584139"/>
            <a:ext cx="7162801" cy="3323987"/>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Hoàn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thiện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pháp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luật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gắn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với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tổ</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chức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thi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hành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tốt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pháp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luật</a:t>
            </a:r>
            <a:r>
              <a:rPr lang="en-US" sz="2800" dirty="0" smtClean="0">
                <a:solidFill>
                  <a:srgbClr val="002060"/>
                </a:solidFill>
                <a:latin typeface="Times New Roman"/>
                <a:cs typeface="Times New Roman"/>
              </a:rPr>
              <a:t>.</a:t>
            </a:r>
          </a:p>
          <a:p>
            <a:pPr algn="just">
              <a:lnSpc>
                <a:spcPct val="150000"/>
              </a:lnSpc>
            </a:pP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Ngày</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càng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hoàn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thiện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thể</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chế</a:t>
            </a:r>
            <a:r>
              <a:rPr lang="en-US" sz="2800" spc="-150" dirty="0" smtClean="0">
                <a:solidFill>
                  <a:srgbClr val="002060"/>
                </a:solidFill>
                <a:latin typeface="Times New Roman"/>
                <a:cs typeface="Times New Roman"/>
              </a:rPr>
              <a:t>.</a:t>
            </a:r>
          </a:p>
          <a:p>
            <a:pPr algn="just">
              <a:lnSpc>
                <a:spcPct val="150000"/>
              </a:lnSpc>
            </a:pP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Chú</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trọng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xây</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dựng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đội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ngũ</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cán</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bộ</a:t>
            </a:r>
            <a:r>
              <a:rPr lang="en-US" sz="2800" spc="-150" dirty="0" smtClean="0">
                <a:solidFill>
                  <a:srgbClr val="002060"/>
                </a:solidFill>
                <a:latin typeface="Times New Roman"/>
                <a:cs typeface="Times New Roman"/>
              </a:rPr>
              <a:t>.</a:t>
            </a:r>
          </a:p>
          <a:p>
            <a:pPr algn="just">
              <a:lnSpc>
                <a:spcPct val="150000"/>
              </a:lnSpc>
            </a:pP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Tăng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cường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sự</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lãnh</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đạo</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của</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Đảng</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đối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với</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Nhà</a:t>
            </a:r>
            <a:r>
              <a:rPr lang="en-US" sz="2800" spc="-150" dirty="0" smtClean="0">
                <a:solidFill>
                  <a:srgbClr val="002060"/>
                </a:solidFill>
                <a:latin typeface="Times New Roman"/>
                <a:cs typeface="Times New Roman"/>
              </a:rPr>
              <a:t> </a:t>
            </a:r>
            <a:r>
              <a:rPr lang="en-US" sz="2800" spc="-150" dirty="0" err="1" smtClean="0">
                <a:solidFill>
                  <a:srgbClr val="002060"/>
                </a:solidFill>
                <a:latin typeface="Times New Roman"/>
                <a:cs typeface="Times New Roman"/>
              </a:rPr>
              <a:t>nước</a:t>
            </a:r>
            <a:r>
              <a:rPr lang="en-US" sz="2800" spc="-150" dirty="0" smtClean="0">
                <a:solidFill>
                  <a:srgbClr val="002060"/>
                </a:solidFill>
                <a:latin typeface="Times New Roman"/>
                <a:cs typeface="Times New Roman"/>
              </a:rPr>
              <a:t>.</a:t>
            </a: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Tư tưởng Hồ Chí Minh về Đảng Cộng sản Việt Nam và Nhà nước của dân, do dân, vì dân</a:t>
            </a:r>
            <a:endParaRPr lang="en-US" sz="2000" b="1" i="1" spc="-150" dirty="0">
              <a:solidFill>
                <a:srgbClr val="FFFF00"/>
              </a:solidFill>
              <a:latin typeface="Times New Roman"/>
              <a:cs typeface="Times New Roman"/>
            </a:endParaRPr>
          </a:p>
        </p:txBody>
      </p:sp>
      <p:sp>
        <p:nvSpPr>
          <p:cNvPr id="16" name="Rectangle 15"/>
          <p:cNvSpPr/>
          <p:nvPr/>
        </p:nvSpPr>
        <p:spPr>
          <a:xfrm>
            <a:off x="0" y="0"/>
            <a:ext cx="2209799"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92760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30</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4</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5380953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1726</TotalTime>
  <Words>2636</Words>
  <Application>Microsoft Office PowerPoint</Application>
  <PresentationFormat>On-screen Show (4:3)</PresentationFormat>
  <Paragraphs>295</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512</cp:revision>
  <dcterms:created xsi:type="dcterms:W3CDTF">2014-12-31T03:01:48Z</dcterms:created>
  <dcterms:modified xsi:type="dcterms:W3CDTF">2024-12-22T02:41:59Z</dcterms:modified>
</cp:coreProperties>
</file>