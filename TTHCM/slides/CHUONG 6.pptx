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6"/>
  </p:notesMasterIdLst>
  <p:sldIdLst>
    <p:sldId id="257" r:id="rId2"/>
    <p:sldId id="506" r:id="rId3"/>
    <p:sldId id="258" r:id="rId4"/>
    <p:sldId id="321" r:id="rId5"/>
    <p:sldId id="374" r:id="rId6"/>
    <p:sldId id="377" r:id="rId7"/>
    <p:sldId id="508" r:id="rId8"/>
    <p:sldId id="462" r:id="rId9"/>
    <p:sldId id="463" r:id="rId10"/>
    <p:sldId id="464" r:id="rId11"/>
    <p:sldId id="509" r:id="rId12"/>
    <p:sldId id="510" r:id="rId13"/>
    <p:sldId id="511" r:id="rId14"/>
    <p:sldId id="465" r:id="rId15"/>
    <p:sldId id="466" r:id="rId16"/>
    <p:sldId id="467" r:id="rId17"/>
    <p:sldId id="468" r:id="rId18"/>
    <p:sldId id="469" r:id="rId19"/>
    <p:sldId id="470" r:id="rId20"/>
    <p:sldId id="471" r:id="rId21"/>
    <p:sldId id="473" r:id="rId22"/>
    <p:sldId id="474" r:id="rId23"/>
    <p:sldId id="475" r:id="rId24"/>
    <p:sldId id="476" r:id="rId25"/>
    <p:sldId id="477" r:id="rId26"/>
    <p:sldId id="478" r:id="rId27"/>
    <p:sldId id="479" r:id="rId28"/>
    <p:sldId id="480" r:id="rId29"/>
    <p:sldId id="482" r:id="rId30"/>
    <p:sldId id="483" r:id="rId31"/>
    <p:sldId id="484" r:id="rId32"/>
    <p:sldId id="485" r:id="rId33"/>
    <p:sldId id="486" r:id="rId34"/>
    <p:sldId id="487" r:id="rId35"/>
    <p:sldId id="488" r:id="rId36"/>
    <p:sldId id="489" r:id="rId37"/>
    <p:sldId id="490" r:id="rId38"/>
    <p:sldId id="491" r:id="rId39"/>
    <p:sldId id="492" r:id="rId40"/>
    <p:sldId id="493" r:id="rId41"/>
    <p:sldId id="494" r:id="rId42"/>
    <p:sldId id="495" r:id="rId43"/>
    <p:sldId id="496" r:id="rId44"/>
    <p:sldId id="497" r:id="rId45"/>
    <p:sldId id="498" r:id="rId46"/>
    <p:sldId id="499" r:id="rId47"/>
    <p:sldId id="500" r:id="rId48"/>
    <p:sldId id="501" r:id="rId49"/>
    <p:sldId id="502" r:id="rId50"/>
    <p:sldId id="503" r:id="rId51"/>
    <p:sldId id="504" r:id="rId52"/>
    <p:sldId id="505" r:id="rId53"/>
    <p:sldId id="429" r:id="rId54"/>
    <p:sldId id="507"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02047B-58C5-43E6-B9D6-6E88D756E43A}" type="datetimeFigureOut">
              <a:rPr lang="en-US" smtClean="0"/>
              <a:t>10/13/2025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8BE33-0988-40F8-B168-04F60BE9FD82}" type="slidenum">
              <a:rPr lang="en-US" smtClean="0"/>
              <a:t>‹#›</a:t>
            </a:fld>
            <a:endParaRPr lang="en-US"/>
          </a:p>
        </p:txBody>
      </p:sp>
    </p:spTree>
    <p:extLst>
      <p:ext uri="{BB962C8B-B14F-4D97-AF65-F5344CB8AC3E}">
        <p14:creationId xmlns:p14="http://schemas.microsoft.com/office/powerpoint/2010/main" val="4134277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EB454DE-53F2-4E13-8CCA-248411AB7CBA}" type="datetime1">
              <a:rPr lang="en-US" smtClean="0"/>
              <a:t>10/13/2025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300930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5B725E-A179-4815-A3FF-3C3F9953D44A}" type="datetime1">
              <a:rPr lang="en-US" smtClean="0"/>
              <a:t>10/13/2025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00850667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222ABD9-1E20-48E1-8FD2-B9F4A2649645}" type="datetime1">
              <a:rPr lang="en-US" smtClean="0"/>
              <a:t>10/13/2025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43543"/>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986092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96C2175-857C-404A-B0AC-7FF3A3528F2F}" type="datetime1">
              <a:rPr lang="en-US" smtClean="0"/>
              <a:t>10/13/2025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813833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D315094-D398-4D10-8870-3637DEEE2FAD}" type="datetime1">
              <a:rPr lang="en-US" smtClean="0"/>
              <a:t>10/13/2025</a:t>
            </a:fld>
            <a:endParaRPr lang="en-US"/>
          </a:p>
        </p:txBody>
      </p:sp>
      <p:sp>
        <p:nvSpPr>
          <p:cNvPr id="8" name="Footer Placeholder 7"/>
          <p:cNvSpPr>
            <a:spLocks noGrp="1"/>
          </p:cNvSpPr>
          <p:nvPr>
            <p:ph type="ftr" sz="quarter" idx="11"/>
          </p:nvPr>
        </p:nvSpPr>
        <p:spPr/>
        <p:txBody>
          <a:bodyPr/>
          <a:lstStyle/>
          <a:p>
            <a:r>
              <a:rPr lang="vi-VN" smtClean="0"/>
              <a:t>301002_Chương 7</a:t>
            </a:r>
            <a:endParaRPr lang="en-US"/>
          </a:p>
        </p:txBody>
      </p:sp>
      <p:sp>
        <p:nvSpPr>
          <p:cNvPr id="9" name="Slide Number Placeholder 8"/>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57967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C390A9-5F19-43AD-91C6-55F2342B4DCC}"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5" name="Slide Number Placeholder 4"/>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7966338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2C3203-D6A3-4BA8-AEB4-CD5FE82A1718}" type="datetime1">
              <a:rPr lang="en-US" smtClean="0"/>
              <a:t>10/13/2025</a:t>
            </a:fld>
            <a:endParaRPr lang="en-US"/>
          </a:p>
        </p:txBody>
      </p:sp>
      <p:sp>
        <p:nvSpPr>
          <p:cNvPr id="3" name="Footer Placeholder 2"/>
          <p:cNvSpPr>
            <a:spLocks noGrp="1"/>
          </p:cNvSpPr>
          <p:nvPr>
            <p:ph type="ftr" sz="quarter" idx="11"/>
          </p:nvPr>
        </p:nvSpPr>
        <p:spPr/>
        <p:txBody>
          <a:bodyPr/>
          <a:lstStyle/>
          <a:p>
            <a:r>
              <a:rPr lang="vi-VN" smtClean="0"/>
              <a:t>301002_Chương 7</a:t>
            </a:r>
            <a:endParaRPr lang="en-US"/>
          </a:p>
        </p:txBody>
      </p:sp>
      <p:sp>
        <p:nvSpPr>
          <p:cNvPr id="4" name="Slide Number Placeholder 3"/>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4219421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9C8B3EC-862A-4835-86EA-7F72D68C2751}" type="datetime1">
              <a:rPr lang="en-US" smtClean="0"/>
              <a:t>10/13/2025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86088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626026B-B951-4D24-9FFD-31F96799685B}" type="datetime1">
              <a:rPr lang="en-US" smtClean="0"/>
              <a:t>10/13/2025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22616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A0EDBE-881C-4345-A5AE-01B3096C158A}" type="datetime1">
              <a:rPr lang="en-US" smtClean="0"/>
              <a:t>10/13/2025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3501333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7964512-9659-41B0-BFC6-97CAFC9E1246}" type="datetime1">
              <a:rPr lang="en-US" smtClean="0"/>
              <a:t>10/13/2025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1080952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B46D90-EA8E-4D33-86A5-21E3581C5B53}" type="datetime1">
              <a:rPr lang="en-US" smtClean="0"/>
              <a:t>10/13/2025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smtClean="0"/>
              <a:t>301002_Chương 7</a:t>
            </a: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4008" y="0"/>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03100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5400"/>
            <a:ext cx="9144000" cy="3886200"/>
          </a:xfrm>
        </p:spPr>
        <p:txBody>
          <a:bodyPr>
            <a:noAutofit/>
          </a:bodyPr>
          <a:lstStyle/>
          <a:p>
            <a:pPr>
              <a:lnSpc>
                <a:spcPct val="150000"/>
              </a:lnSpc>
              <a:spcBef>
                <a:spcPts val="0"/>
              </a:spcBef>
            </a:pPr>
            <a:endParaRPr lang="en-US" sz="2000" b="1" dirty="0" smtClean="0">
              <a:solidFill>
                <a:srgbClr val="FF0000"/>
              </a:solidFill>
              <a:latin typeface="Times New Roman" pitchFamily="18" charset="0"/>
              <a:cs typeface="Times New Roman" pitchFamily="18" charset="0"/>
            </a:endParaRPr>
          </a:p>
          <a:p>
            <a:pPr>
              <a:lnSpc>
                <a:spcPct val="150000"/>
              </a:lnSpc>
              <a:spcBef>
                <a:spcPts val="0"/>
              </a:spcBef>
            </a:pPr>
            <a:r>
              <a:rPr lang="en-US" sz="3100" b="1" dirty="0" err="1" smtClean="0">
                <a:solidFill>
                  <a:srgbClr val="FF0000"/>
                </a:solidFill>
                <a:latin typeface="Times New Roman" pitchFamily="18" charset="0"/>
                <a:cs typeface="Times New Roman" pitchFamily="18" charset="0"/>
              </a:rPr>
              <a:t>Chương</a:t>
            </a:r>
            <a:r>
              <a:rPr lang="en-US" sz="3100" b="1" dirty="0" smtClean="0">
                <a:solidFill>
                  <a:srgbClr val="FF0000"/>
                </a:solidFill>
                <a:latin typeface="Times New Roman" pitchFamily="18" charset="0"/>
                <a:cs typeface="Times New Roman" pitchFamily="18" charset="0"/>
              </a:rPr>
              <a:t> </a:t>
            </a:r>
            <a:r>
              <a:rPr lang="en-US" sz="3100" b="1" dirty="0">
                <a:solidFill>
                  <a:srgbClr val="FF0000"/>
                </a:solidFill>
                <a:latin typeface="Times New Roman" pitchFamily="18" charset="0"/>
                <a:cs typeface="Times New Roman" pitchFamily="18" charset="0"/>
              </a:rPr>
              <a:t>6</a:t>
            </a:r>
            <a:endParaRPr lang="en-US" sz="3100" b="1" dirty="0" smtClean="0">
              <a:solidFill>
                <a:srgbClr val="FF0000"/>
              </a:solidFill>
              <a:latin typeface="Times New Roman" pitchFamily="18" charset="0"/>
              <a:cs typeface="Times New Roman" pitchFamily="18" charset="0"/>
            </a:endParaRPr>
          </a:p>
          <a:p>
            <a:pPr>
              <a:lnSpc>
                <a:spcPct val="150000"/>
              </a:lnSpc>
              <a:spcBef>
                <a:spcPts val="0"/>
              </a:spcBef>
            </a:pPr>
            <a:r>
              <a:rPr lang="en-US" sz="3100" b="1" dirty="0" smtClean="0">
                <a:solidFill>
                  <a:srgbClr val="FF0000"/>
                </a:solidFill>
                <a:latin typeface="Times New Roman" pitchFamily="18" charset="0"/>
                <a:cs typeface="Times New Roman" pitchFamily="18" charset="0"/>
              </a:rPr>
              <a:t>TƯ TƯỞNG HỒ CHÍ MINH </a:t>
            </a:r>
          </a:p>
          <a:p>
            <a:pPr>
              <a:lnSpc>
                <a:spcPct val="150000"/>
              </a:lnSpc>
              <a:spcBef>
                <a:spcPts val="0"/>
              </a:spcBef>
            </a:pPr>
            <a:r>
              <a:rPr lang="en-US" sz="3100" b="1" dirty="0" smtClean="0">
                <a:solidFill>
                  <a:srgbClr val="FF0000"/>
                </a:solidFill>
                <a:latin typeface="Times New Roman" pitchFamily="18" charset="0"/>
                <a:cs typeface="Times New Roman" pitchFamily="18" charset="0"/>
              </a:rPr>
              <a:t>VỀ VĂN HÓA, ĐẠO ĐỨC, CON NGƯỜI</a:t>
            </a:r>
          </a:p>
        </p:txBody>
      </p:sp>
      <p:sp>
        <p:nvSpPr>
          <p:cNvPr id="2" name="Date Placeholder 1"/>
          <p:cNvSpPr>
            <a:spLocks noGrp="1"/>
          </p:cNvSpPr>
          <p:nvPr>
            <p:ph type="dt" sz="half" idx="10"/>
          </p:nvPr>
        </p:nvSpPr>
        <p:spPr/>
        <p:txBody>
          <a:bodyPr/>
          <a:lstStyle/>
          <a:p>
            <a:fld id="{2ECB21DE-0B5A-4F32-BC26-DDDC94AB31B2}"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a:t>
            </a:r>
            <a:r>
              <a:rPr lang="en-US"/>
              <a:t>6</a:t>
            </a:r>
          </a:p>
        </p:txBody>
      </p:sp>
      <p:sp>
        <p:nvSpPr>
          <p:cNvPr id="6" name="Slide Number Placeholder 5"/>
          <p:cNvSpPr>
            <a:spLocks noGrp="1"/>
          </p:cNvSpPr>
          <p:nvPr>
            <p:ph type="sldNum" sz="quarter" idx="12"/>
          </p:nvPr>
        </p:nvSpPr>
        <p:spPr/>
        <p:txBody>
          <a:bodyPr/>
          <a:lstStyle/>
          <a:p>
            <a:fld id="{A58A153D-734D-405D-8FB4-686C2D8CE407}" type="slidenum">
              <a:rPr lang="en-US" smtClean="0"/>
              <a:pPr/>
              <a:t>1</a:t>
            </a:fld>
            <a:endParaRPr lang="en-US"/>
          </a:p>
        </p:txBody>
      </p:sp>
      <p:sp>
        <p:nvSpPr>
          <p:cNvPr id="7" name="Rectangle 6"/>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2</a:t>
            </a:fld>
            <a:endParaRPr lang="en-US"/>
          </a:p>
        </p:txBody>
      </p:sp>
      <p:sp>
        <p:nvSpPr>
          <p:cNvPr id="10" name="Text Box 36"/>
          <p:cNvSpPr txBox="1">
            <a:spLocks noChangeArrowheads="1"/>
          </p:cNvSpPr>
          <p:nvPr/>
        </p:nvSpPr>
        <p:spPr bwMode="auto">
          <a:xfrm>
            <a:off x="152400" y="2830908"/>
            <a:ext cx="964102"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b="1" dirty="0" err="1" smtClean="0">
                <a:solidFill>
                  <a:srgbClr val="FF0000"/>
                </a:solidFill>
                <a:latin typeface="Times New Roman"/>
                <a:cs typeface="Times New Roman"/>
              </a:rPr>
              <a:t>Mục</a:t>
            </a:r>
            <a:r>
              <a:rPr lang="en-US" sz="3000" b="1" dirty="0" smtClean="0">
                <a:solidFill>
                  <a:srgbClr val="FF0000"/>
                </a:solidFill>
                <a:latin typeface="Times New Roman"/>
                <a:cs typeface="Times New Roman"/>
              </a:rPr>
              <a:t> </a:t>
            </a:r>
            <a:r>
              <a:rPr lang="en-US" sz="3000" b="1" dirty="0" err="1" smtClean="0">
                <a:solidFill>
                  <a:srgbClr val="FF0000"/>
                </a:solidFill>
                <a:latin typeface="Times New Roman"/>
                <a:cs typeface="Times New Roman"/>
              </a:rPr>
              <a:t>tiêu</a:t>
            </a:r>
            <a:endParaRPr lang="en-US" sz="3000" b="1" dirty="0">
              <a:solidFill>
                <a:srgbClr val="FF0000"/>
              </a:solidFill>
              <a:latin typeface="Times New Roman"/>
              <a:cs typeface="Times New Roman"/>
            </a:endParaRPr>
          </a:p>
        </p:txBody>
      </p:sp>
      <p:sp>
        <p:nvSpPr>
          <p:cNvPr id="11" name="Text Box 36"/>
          <p:cNvSpPr txBox="1">
            <a:spLocks noChangeArrowheads="1"/>
          </p:cNvSpPr>
          <p:nvPr/>
        </p:nvSpPr>
        <p:spPr bwMode="auto">
          <a:xfrm>
            <a:off x="1905000" y="1066800"/>
            <a:ext cx="867956"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Kiến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thức</a:t>
            </a:r>
            <a:endParaRPr lang="en-US" sz="2600" dirty="0">
              <a:solidFill>
                <a:srgbClr val="FF0000"/>
              </a:solidFill>
              <a:latin typeface="Times New Roman"/>
              <a:cs typeface="Times New Roman"/>
            </a:endParaRPr>
          </a:p>
        </p:txBody>
      </p:sp>
      <p:sp>
        <p:nvSpPr>
          <p:cNvPr id="12" name="Text Box 36"/>
          <p:cNvSpPr txBox="1">
            <a:spLocks noChangeArrowheads="1"/>
          </p:cNvSpPr>
          <p:nvPr/>
        </p:nvSpPr>
        <p:spPr bwMode="auto">
          <a:xfrm>
            <a:off x="1792552" y="2589217"/>
            <a:ext cx="874448" cy="122078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Kỹ</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năng</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068638" y="1197700"/>
            <a:ext cx="5791199"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trang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bị</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kiến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thức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cơ</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bản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Hồ</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Minh </a:t>
            </a:r>
            <a:r>
              <a:rPr lang="en-US" sz="2600" dirty="0" err="1" smtClean="0">
                <a:solidFill>
                  <a:srgbClr val="002060"/>
                </a:solidFill>
                <a:latin typeface="Times New Roman" panose="02020603050405020304" pitchFamily="18" charset="0"/>
                <a:cs typeface="Times New Roman" panose="02020603050405020304" pitchFamily="18" charset="0"/>
              </a:rPr>
              <a:t>về</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văn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hóa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đạo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đức</a:t>
            </a:r>
            <a:r>
              <a:rPr lang="en-US" sz="2600" dirty="0" smtClean="0">
                <a:solidFill>
                  <a:srgbClr val="002060"/>
                </a:solidFill>
                <a:latin typeface="Times New Roman" panose="02020603050405020304" pitchFamily="18" charset="0"/>
                <a:cs typeface="Times New Roman" panose="02020603050405020304" pitchFamily="18" charset="0"/>
              </a:rPr>
              <a:t>, con </a:t>
            </a:r>
            <a:r>
              <a:rPr lang="en-US" sz="2600" dirty="0" err="1" smtClean="0">
                <a:solidFill>
                  <a:srgbClr val="002060"/>
                </a:solidFill>
                <a:latin typeface="Times New Roman" panose="02020603050405020304" pitchFamily="18" charset="0"/>
                <a:cs typeface="Times New Roman" panose="02020603050405020304" pitchFamily="18" charset="0"/>
              </a:rPr>
              <a:t>người</a:t>
            </a:r>
            <a:r>
              <a:rPr lang="en-US" sz="2600"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cxnSp>
        <p:nvCxnSpPr>
          <p:cNvPr id="15" name="Straight Connector 14"/>
          <p:cNvCxnSpPr/>
          <p:nvPr/>
        </p:nvCxnSpPr>
        <p:spPr>
          <a:xfrm>
            <a:off x="1186354" y="1653474"/>
            <a:ext cx="17235" cy="327291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155883" y="1653474"/>
            <a:ext cx="67291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1189133" y="4926385"/>
            <a:ext cx="715867" cy="26615"/>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1847850" y="4267200"/>
            <a:ext cx="97155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endParaRPr lang="en-US" sz="2600" dirty="0">
              <a:solidFill>
                <a:srgbClr val="FF0000"/>
              </a:solidFill>
              <a:latin typeface="Times New Roman"/>
              <a:cs typeface="Times New Roman"/>
            </a:endParaRPr>
          </a:p>
        </p:txBody>
      </p:sp>
      <p:cxnSp>
        <p:nvCxnSpPr>
          <p:cNvPr id="19" name="Straight Arrow Connector 18"/>
          <p:cNvCxnSpPr/>
          <p:nvPr/>
        </p:nvCxnSpPr>
        <p:spPr>
          <a:xfrm>
            <a:off x="1203589" y="3122617"/>
            <a:ext cx="625211"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6</a:t>
            </a:r>
            <a:endParaRPr lang="en-US" sz="3000" b="1" dirty="0">
              <a:solidFill>
                <a:srgbClr val="CC0099"/>
              </a:solidFill>
              <a:latin typeface="Times New Roman" pitchFamily="18" charset="0"/>
              <a:cs typeface="Times New Roman" pitchFamily="18" charset="0"/>
            </a:endParaRPr>
          </a:p>
        </p:txBody>
      </p:sp>
      <p:sp>
        <p:nvSpPr>
          <p:cNvPr id="25" name="Text Box 36"/>
          <p:cNvSpPr txBox="1">
            <a:spLocks noChangeArrowheads="1"/>
          </p:cNvSpPr>
          <p:nvPr/>
        </p:nvSpPr>
        <p:spPr bwMode="auto">
          <a:xfrm>
            <a:off x="3124199" y="2819400"/>
            <a:ext cx="5735637"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sinh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viên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có</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phương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pháp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duy</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mới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trong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học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tập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nghiên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cứu</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đào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sâu</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lý</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luận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gắn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với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thực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tiễn</a:t>
            </a:r>
            <a:r>
              <a:rPr lang="en-US" sz="2600"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sp>
        <p:nvSpPr>
          <p:cNvPr id="34" name="Text Box 36"/>
          <p:cNvSpPr txBox="1">
            <a:spLocks noChangeArrowheads="1"/>
          </p:cNvSpPr>
          <p:nvPr/>
        </p:nvSpPr>
        <p:spPr bwMode="auto">
          <a:xfrm>
            <a:off x="3124200" y="4670048"/>
            <a:ext cx="6040437"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cố</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niềm</a:t>
            </a:r>
            <a:r>
              <a:rPr lang="en-US" sz="2600" dirty="0" smtClean="0">
                <a:solidFill>
                  <a:srgbClr val="002060"/>
                </a:solidFill>
                <a:latin typeface="Times New Roman" panose="02020603050405020304" pitchFamily="18" charset="0"/>
                <a:cs typeface="Times New Roman" panose="02020603050405020304" pitchFamily="18" charset="0"/>
              </a:rPr>
              <a:t> tin </a:t>
            </a:r>
            <a:r>
              <a:rPr lang="en-US" sz="2600" dirty="0" err="1" smtClean="0">
                <a:solidFill>
                  <a:srgbClr val="002060"/>
                </a:solidFill>
                <a:latin typeface="Times New Roman" panose="02020603050405020304" pitchFamily="18" charset="0"/>
                <a:cs typeface="Times New Roman" panose="02020603050405020304" pitchFamily="18" charset="0"/>
              </a:rPr>
              <a:t>vào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Hồ</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Minh; </a:t>
            </a:r>
            <a:r>
              <a:rPr lang="en-US" sz="2600" dirty="0" err="1" smtClean="0">
                <a:solidFill>
                  <a:srgbClr val="002060"/>
                </a:solidFill>
                <a:latin typeface="Times New Roman" panose="02020603050405020304" pitchFamily="18" charset="0"/>
                <a:cs typeface="Times New Roman" panose="02020603050405020304" pitchFamily="18" charset="0"/>
              </a:rPr>
              <a:t>phản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bác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quan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điểm</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sai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trái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thù</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địch</a:t>
            </a:r>
            <a:r>
              <a:rPr lang="en-US" sz="2600"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799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anim calcmode="lin" valueType="num">
                                      <p:cBhvr>
                                        <p:cTn id="15" dur="1000" fill="hold"/>
                                        <p:tgtEl>
                                          <p:spTgt spid="25"/>
                                        </p:tgtEl>
                                        <p:attrNameLst>
                                          <p:attrName>ppt_x</p:attrName>
                                        </p:attrNameLst>
                                      </p:cBhvr>
                                      <p:tavLst>
                                        <p:tav tm="0">
                                          <p:val>
                                            <p:strVal val="#ppt_x"/>
                                          </p:val>
                                        </p:tav>
                                        <p:tav tm="100000">
                                          <p:val>
                                            <p:strVal val="#ppt_x"/>
                                          </p:val>
                                        </p:tav>
                                      </p:tavLst>
                                    </p:anim>
                                    <p:anim calcmode="lin" valueType="num">
                                      <p:cBhvr>
                                        <p:cTn id="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1000"/>
                                        <p:tgtEl>
                                          <p:spTgt spid="34"/>
                                        </p:tgtEl>
                                      </p:cBhvr>
                                    </p:animEffect>
                                    <p:anim calcmode="lin" valueType="num">
                                      <p:cBhvr>
                                        <p:cTn id="22" dur="1000" fill="hold"/>
                                        <p:tgtEl>
                                          <p:spTgt spid="34"/>
                                        </p:tgtEl>
                                        <p:attrNameLst>
                                          <p:attrName>ppt_x</p:attrName>
                                        </p:attrNameLst>
                                      </p:cBhvr>
                                      <p:tavLst>
                                        <p:tav tm="0">
                                          <p:val>
                                            <p:strVal val="#ppt_x"/>
                                          </p:val>
                                        </p:tav>
                                        <p:tav tm="100000">
                                          <p:val>
                                            <p:strVal val="#ppt_x"/>
                                          </p:val>
                                        </p:tav>
                                      </p:tavLst>
                                    </p:anim>
                                    <p:anim calcmode="lin" valueType="num">
                                      <p:cBhvr>
                                        <p:cTn id="23"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5"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10/13/2025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3</a:t>
            </a:fld>
            <a:endParaRPr lang="en-US"/>
          </a:p>
        </p:txBody>
      </p:sp>
      <p:sp>
        <p:nvSpPr>
          <p:cNvPr id="10" name="Text Box 36"/>
          <p:cNvSpPr txBox="1">
            <a:spLocks noChangeArrowheads="1"/>
          </p:cNvSpPr>
          <p:nvPr/>
        </p:nvSpPr>
        <p:spPr bwMode="auto">
          <a:xfrm>
            <a:off x="152400" y="3200400"/>
            <a:ext cx="1928980"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Nội</a:t>
            </a:r>
            <a:r>
              <a:rPr lang="en-US" sz="3600" b="1" dirty="0" smtClean="0">
                <a:solidFill>
                  <a:srgbClr val="FF0000"/>
                </a:solidFill>
                <a:latin typeface="Times New Roman"/>
                <a:cs typeface="Times New Roman"/>
              </a:rPr>
              <a:t> dung</a:t>
            </a:r>
            <a:endParaRPr lang="en-US" sz="3600" b="1" dirty="0">
              <a:solidFill>
                <a:srgbClr val="FF0000"/>
              </a:solidFill>
              <a:latin typeface="Times New Roman"/>
              <a:cs typeface="Times New Roman"/>
            </a:endParaRPr>
          </a:p>
        </p:txBody>
      </p:sp>
      <p:sp>
        <p:nvSpPr>
          <p:cNvPr id="13" name="Text Box 36"/>
          <p:cNvSpPr txBox="1">
            <a:spLocks noChangeArrowheads="1"/>
          </p:cNvSpPr>
          <p:nvPr/>
        </p:nvSpPr>
        <p:spPr bwMode="auto">
          <a:xfrm>
            <a:off x="3252686" y="4003357"/>
            <a:ext cx="5586514"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III. Tư tưởng Hồ Chí Minh về con người</a:t>
            </a:r>
            <a:endParaRPr lang="en-US" sz="2600" dirty="0">
              <a:solidFill>
                <a:srgbClr val="FF0000"/>
              </a:solidFill>
              <a:latin typeface="Times New Roman"/>
              <a:cs typeface="Times New Roman"/>
            </a:endParaRPr>
          </a:p>
        </p:txBody>
      </p:sp>
      <p:cxnSp>
        <p:nvCxnSpPr>
          <p:cNvPr id="14" name="Straight Connector 13"/>
          <p:cNvCxnSpPr/>
          <p:nvPr/>
        </p:nvCxnSpPr>
        <p:spPr>
          <a:xfrm>
            <a:off x="1714544" y="36576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177088" y="2991468"/>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sp>
        <p:nvSpPr>
          <p:cNvPr id="18" name="Text Box 36"/>
          <p:cNvSpPr txBox="1">
            <a:spLocks noChangeArrowheads="1"/>
          </p:cNvSpPr>
          <p:nvPr/>
        </p:nvSpPr>
        <p:spPr bwMode="auto">
          <a:xfrm>
            <a:off x="3048000" y="5355848"/>
            <a:ext cx="6172200"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smtClean="0">
                <a:solidFill>
                  <a:srgbClr val="FF0000"/>
                </a:solidFill>
                <a:latin typeface="Times New Roman"/>
                <a:cs typeface="Times New Roman"/>
              </a:rPr>
              <a:t>IV. Xây dựng văn hóa, đạo đức, con người                     </a:t>
            </a:r>
          </a:p>
          <a:p>
            <a:pPr algn="ctr"/>
            <a:r>
              <a:rPr lang="en-US" sz="2600" spc="-150" smtClean="0">
                <a:solidFill>
                  <a:srgbClr val="FF0000"/>
                </a:solidFill>
                <a:latin typeface="Times New Roman"/>
                <a:cs typeface="Times New Roman"/>
              </a:rPr>
              <a:t>Việt Nam hiện nay theo tư tưởng Hồ Chí Minh</a:t>
            </a:r>
            <a:endParaRPr lang="en-US" sz="2600" spc="-150" dirty="0">
              <a:solidFill>
                <a:srgbClr val="FF0000"/>
              </a:solidFill>
              <a:latin typeface="Times New Roman"/>
              <a:cs typeface="Times New Roman"/>
            </a:endParaRPr>
          </a:p>
        </p:txBody>
      </p:sp>
      <p:cxnSp>
        <p:nvCxnSpPr>
          <p:cNvPr id="19" name="Straight Arrow Connector 18"/>
          <p:cNvCxnSpPr/>
          <p:nvPr/>
        </p:nvCxnSpPr>
        <p:spPr>
          <a:xfrm>
            <a:off x="2143837" y="5837903"/>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Box 36"/>
          <p:cNvSpPr txBox="1">
            <a:spLocks noChangeArrowheads="1"/>
          </p:cNvSpPr>
          <p:nvPr/>
        </p:nvSpPr>
        <p:spPr bwMode="auto">
          <a:xfrm>
            <a:off x="3237938" y="2745246"/>
            <a:ext cx="5205514"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II. Tư tưởng Hồ Chí Minh về đạo đức</a:t>
            </a:r>
            <a:endParaRPr lang="en-US" sz="2600" dirty="0">
              <a:solidFill>
                <a:srgbClr val="FF0000"/>
              </a:solidFill>
              <a:latin typeface="Times New Roman"/>
              <a:cs typeface="Times New Roman"/>
            </a:endParaRPr>
          </a:p>
        </p:txBody>
      </p:sp>
      <p:cxnSp>
        <p:nvCxnSpPr>
          <p:cNvPr id="15" name="Straight Connector 14"/>
          <p:cNvCxnSpPr/>
          <p:nvPr/>
        </p:nvCxnSpPr>
        <p:spPr>
          <a:xfrm flipH="1">
            <a:off x="2174308" y="1828800"/>
            <a:ext cx="8288" cy="40386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6" y="1828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1" name="Text Box 36"/>
          <p:cNvSpPr txBox="1">
            <a:spLocks noChangeArrowheads="1"/>
          </p:cNvSpPr>
          <p:nvPr/>
        </p:nvSpPr>
        <p:spPr bwMode="auto">
          <a:xfrm>
            <a:off x="2827835" y="1580084"/>
            <a:ext cx="6163765"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I. Tư tưởng Hồ Chí Minh về văn hóa</a:t>
            </a:r>
            <a:endParaRPr lang="en-US" sz="2600" dirty="0">
              <a:solidFill>
                <a:srgbClr val="FF0000"/>
              </a:solidFill>
              <a:latin typeface="Times New Roman"/>
              <a:cs typeface="Times New Roman"/>
            </a:endParaRPr>
          </a:p>
        </p:txBody>
      </p:sp>
      <p:cxnSp>
        <p:nvCxnSpPr>
          <p:cNvPr id="24" name="Straight Arrow Connector 23"/>
          <p:cNvCxnSpPr/>
          <p:nvPr/>
        </p:nvCxnSpPr>
        <p:spPr>
          <a:xfrm>
            <a:off x="2174308" y="4267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pic>
        <p:nvPicPr>
          <p:cNvPr id="28" name="Picture 27"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30"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6</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1000"/>
                                        <p:tgtEl>
                                          <p:spTgt spid="23"/>
                                        </p:tgtEl>
                                      </p:cBhvr>
                                    </p:animEffect>
                                    <p:anim calcmode="lin" valueType="num">
                                      <p:cBhvr>
                                        <p:cTn id="30" dur="1000" fill="hold"/>
                                        <p:tgtEl>
                                          <p:spTgt spid="23"/>
                                        </p:tgtEl>
                                        <p:attrNameLst>
                                          <p:attrName>ppt_x</p:attrName>
                                        </p:attrNameLst>
                                      </p:cBhvr>
                                      <p:tavLst>
                                        <p:tav tm="0">
                                          <p:val>
                                            <p:strVal val="#ppt_x"/>
                                          </p:val>
                                        </p:tav>
                                        <p:tav tm="100000">
                                          <p:val>
                                            <p:strVal val="#ppt_x"/>
                                          </p:val>
                                        </p:tav>
                                      </p:tavLst>
                                    </p:anim>
                                    <p:anim calcmode="lin" valueType="num">
                                      <p:cBhvr>
                                        <p:cTn id="3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1000"/>
                                        <p:tgtEl>
                                          <p:spTgt spid="24"/>
                                        </p:tgtEl>
                                      </p:cBhvr>
                                    </p:animEffect>
                                    <p:anim calcmode="lin" valueType="num">
                                      <p:cBhvr>
                                        <p:cTn id="37" dur="1000" fill="hold"/>
                                        <p:tgtEl>
                                          <p:spTgt spid="24"/>
                                        </p:tgtEl>
                                        <p:attrNameLst>
                                          <p:attrName>ppt_x</p:attrName>
                                        </p:attrNameLst>
                                      </p:cBhvr>
                                      <p:tavLst>
                                        <p:tav tm="0">
                                          <p:val>
                                            <p:strVal val="#ppt_x"/>
                                          </p:val>
                                        </p:tav>
                                        <p:tav tm="100000">
                                          <p:val>
                                            <p:strVal val="#ppt_x"/>
                                          </p:val>
                                        </p:tav>
                                      </p:tavLst>
                                    </p:anim>
                                    <p:anim calcmode="lin" valueType="num">
                                      <p:cBhvr>
                                        <p:cTn id="38" dur="1000" fill="hold"/>
                                        <p:tgtEl>
                                          <p:spTgt spid="24"/>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1000"/>
                                        <p:tgtEl>
                                          <p:spTgt spid="19"/>
                                        </p:tgtEl>
                                      </p:cBhvr>
                                    </p:animEffect>
                                    <p:anim calcmode="lin" valueType="num">
                                      <p:cBhvr>
                                        <p:cTn id="49" dur="1000" fill="hold"/>
                                        <p:tgtEl>
                                          <p:spTgt spid="19"/>
                                        </p:tgtEl>
                                        <p:attrNameLst>
                                          <p:attrName>ppt_x</p:attrName>
                                        </p:attrNameLst>
                                      </p:cBhvr>
                                      <p:tavLst>
                                        <p:tav tm="0">
                                          <p:val>
                                            <p:strVal val="#ppt_x"/>
                                          </p:val>
                                        </p:tav>
                                        <p:tav tm="100000">
                                          <p:val>
                                            <p:strVal val="#ppt_x"/>
                                          </p:val>
                                        </p:tav>
                                      </p:tavLst>
                                    </p:anim>
                                    <p:anim calcmode="lin" valueType="num">
                                      <p:cBhvr>
                                        <p:cTn id="50" dur="1000" fill="hold"/>
                                        <p:tgtEl>
                                          <p:spTgt spid="19"/>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1000"/>
                                        <p:tgtEl>
                                          <p:spTgt spid="18"/>
                                        </p:tgtEl>
                                      </p:cBhvr>
                                    </p:animEffect>
                                    <p:anim calcmode="lin" valueType="num">
                                      <p:cBhvr>
                                        <p:cTn id="54" dur="1000" fill="hold"/>
                                        <p:tgtEl>
                                          <p:spTgt spid="18"/>
                                        </p:tgtEl>
                                        <p:attrNameLst>
                                          <p:attrName>ppt_x</p:attrName>
                                        </p:attrNameLst>
                                      </p:cBhvr>
                                      <p:tavLst>
                                        <p:tav tm="0">
                                          <p:val>
                                            <p:strVal val="#ppt_x"/>
                                          </p:val>
                                        </p:tav>
                                        <p:tav tm="100000">
                                          <p:val>
                                            <p:strVal val="#ppt_x"/>
                                          </p:val>
                                        </p:tav>
                                      </p:tavLst>
                                    </p:anim>
                                    <p:anim calcmode="lin" valueType="num">
                                      <p:cBhvr>
                                        <p:cTn id="5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P spid="23"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a:t>
            </a:fld>
            <a:endParaRPr lang="en-US"/>
          </a:p>
        </p:txBody>
      </p:sp>
      <p:sp>
        <p:nvSpPr>
          <p:cNvPr id="7" name="Title 1"/>
          <p:cNvSpPr txBox="1">
            <a:spLocks/>
          </p:cNvSpPr>
          <p:nvPr/>
        </p:nvSpPr>
        <p:spPr>
          <a:xfrm>
            <a:off x="381000" y="24384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spcBef>
                <a:spcPts val="0"/>
              </a:spcBef>
            </a:pPr>
            <a:r>
              <a:rPr lang="en-US" sz="3200" b="1" smtClean="0">
                <a:solidFill>
                  <a:srgbClr val="FF0000"/>
                </a:solidFill>
                <a:latin typeface="Times New Roman" pitchFamily="18" charset="0"/>
                <a:cs typeface="Times New Roman" pitchFamily="18" charset="0"/>
              </a:rPr>
              <a:t>I. TƯ </a:t>
            </a:r>
            <a:r>
              <a:rPr lang="en-US" sz="3200" b="1">
                <a:solidFill>
                  <a:srgbClr val="FF0000"/>
                </a:solidFill>
                <a:latin typeface="Times New Roman" pitchFamily="18" charset="0"/>
                <a:cs typeface="Times New Roman" pitchFamily="18" charset="0"/>
              </a:rPr>
              <a:t>TƯỞNG HỒ CHÍ </a:t>
            </a:r>
            <a:r>
              <a:rPr lang="en-US" sz="3200" b="1" smtClean="0">
                <a:solidFill>
                  <a:srgbClr val="FF0000"/>
                </a:solidFill>
                <a:latin typeface="Times New Roman" pitchFamily="18" charset="0"/>
                <a:cs typeface="Times New Roman" pitchFamily="18" charset="0"/>
              </a:rPr>
              <a:t>MINH VỀ VĂN HÓA</a:t>
            </a:r>
            <a:endParaRPr lang="en-US" sz="3200" b="1">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11" name="Picture 10"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6</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9849689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10/13/2025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5</a:t>
            </a:fld>
            <a:endParaRPr lang="en-US"/>
          </a:p>
        </p:txBody>
      </p:sp>
      <p:sp>
        <p:nvSpPr>
          <p:cNvPr id="10" name="Text Box 36"/>
          <p:cNvSpPr txBox="1">
            <a:spLocks noChangeArrowheads="1"/>
          </p:cNvSpPr>
          <p:nvPr/>
        </p:nvSpPr>
        <p:spPr bwMode="auto">
          <a:xfrm>
            <a:off x="0" y="1981200"/>
            <a:ext cx="1371600" cy="353943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b="1" dirty="0" smtClean="0">
                <a:solidFill>
                  <a:srgbClr val="FF0000"/>
                </a:solidFill>
                <a:latin typeface="Times New Roman"/>
                <a:cs typeface="Times New Roman"/>
              </a:rPr>
              <a:t>I. </a:t>
            </a:r>
            <a:r>
              <a:rPr lang="en-US" sz="2800" b="1" dirty="0" err="1" smtClean="0">
                <a:solidFill>
                  <a:srgbClr val="FF0000"/>
                </a:solidFill>
                <a:latin typeface="Times New Roman"/>
                <a:cs typeface="Times New Roman"/>
              </a:rPr>
              <a:t>Tư</a:t>
            </a:r>
            <a:r>
              <a:rPr lang="en-US" sz="2800" b="1" dirty="0" smtClean="0">
                <a:solidFill>
                  <a:srgbClr val="FF0000"/>
                </a:solidFill>
                <a:latin typeface="Times New Roman"/>
                <a:cs typeface="Times New Roman"/>
              </a:rPr>
              <a:t> </a:t>
            </a:r>
            <a:r>
              <a:rPr lang="en-US" sz="2800" b="1" dirty="0" err="1" smtClean="0">
                <a:solidFill>
                  <a:srgbClr val="FF0000"/>
                </a:solidFill>
                <a:latin typeface="Times New Roman"/>
                <a:cs typeface="Times New Roman"/>
              </a:rPr>
              <a:t>tưởng</a:t>
            </a:r>
            <a:r>
              <a:rPr lang="en-US" sz="2800" b="1" dirty="0" smtClean="0">
                <a:solidFill>
                  <a:srgbClr val="FF0000"/>
                </a:solidFill>
                <a:latin typeface="Times New Roman"/>
                <a:cs typeface="Times New Roman"/>
              </a:rPr>
              <a:t> </a:t>
            </a:r>
            <a:r>
              <a:rPr lang="en-US" sz="2800" b="1" dirty="0" err="1" smtClean="0">
                <a:solidFill>
                  <a:srgbClr val="FF0000"/>
                </a:solidFill>
                <a:latin typeface="Times New Roman"/>
                <a:cs typeface="Times New Roman"/>
              </a:rPr>
              <a:t>Hồ</a:t>
            </a:r>
            <a:r>
              <a:rPr lang="en-US" sz="2800" b="1" dirty="0" smtClean="0">
                <a:solidFill>
                  <a:srgbClr val="FF0000"/>
                </a:solidFill>
                <a:latin typeface="Times New Roman"/>
                <a:cs typeface="Times New Roman"/>
              </a:rPr>
              <a:t> </a:t>
            </a:r>
          </a:p>
          <a:p>
            <a:pPr algn="ctr"/>
            <a:r>
              <a:rPr lang="en-US" sz="2800" b="1" dirty="0" err="1" smtClean="0">
                <a:solidFill>
                  <a:srgbClr val="FF0000"/>
                </a:solidFill>
                <a:latin typeface="Times New Roman"/>
                <a:cs typeface="Times New Roman"/>
              </a:rPr>
              <a:t>Chí</a:t>
            </a:r>
            <a:r>
              <a:rPr lang="en-US" sz="2800" b="1" dirty="0" smtClean="0">
                <a:solidFill>
                  <a:srgbClr val="FF0000"/>
                </a:solidFill>
                <a:latin typeface="Times New Roman"/>
                <a:cs typeface="Times New Roman"/>
              </a:rPr>
              <a:t> Minh </a:t>
            </a:r>
            <a:r>
              <a:rPr lang="en-US" sz="2800" b="1" dirty="0" err="1" smtClean="0">
                <a:solidFill>
                  <a:srgbClr val="FF0000"/>
                </a:solidFill>
                <a:latin typeface="Times New Roman"/>
                <a:cs typeface="Times New Roman"/>
              </a:rPr>
              <a:t>về</a:t>
            </a:r>
            <a:r>
              <a:rPr lang="en-US" sz="2800" b="1" dirty="0" smtClean="0">
                <a:solidFill>
                  <a:srgbClr val="FF0000"/>
                </a:solidFill>
                <a:latin typeface="Times New Roman"/>
                <a:cs typeface="Times New Roman"/>
              </a:rPr>
              <a:t> </a:t>
            </a:r>
          </a:p>
          <a:p>
            <a:pPr algn="ctr"/>
            <a:r>
              <a:rPr lang="en-US" sz="2800" b="1" dirty="0" err="1" smtClean="0">
                <a:solidFill>
                  <a:srgbClr val="FF0000"/>
                </a:solidFill>
                <a:latin typeface="Times New Roman"/>
                <a:cs typeface="Times New Roman"/>
              </a:rPr>
              <a:t>văn</a:t>
            </a:r>
            <a:r>
              <a:rPr lang="en-US" sz="2800" b="1" dirty="0" smtClean="0">
                <a:solidFill>
                  <a:srgbClr val="FF0000"/>
                </a:solidFill>
                <a:latin typeface="Times New Roman"/>
                <a:cs typeface="Times New Roman"/>
              </a:rPr>
              <a:t> </a:t>
            </a:r>
            <a:r>
              <a:rPr lang="en-US" sz="2800" b="1" dirty="0" err="1" smtClean="0">
                <a:solidFill>
                  <a:srgbClr val="FF0000"/>
                </a:solidFill>
                <a:latin typeface="Times New Roman"/>
                <a:cs typeface="Times New Roman"/>
              </a:rPr>
              <a:t>hóa</a:t>
            </a:r>
            <a:endParaRPr lang="en-US" sz="2800" b="1" dirty="0">
              <a:solidFill>
                <a:srgbClr val="FF0000"/>
              </a:solidFill>
              <a:latin typeface="Times New Roman"/>
              <a:cs typeface="Times New Roman"/>
            </a:endParaRPr>
          </a:p>
        </p:txBody>
      </p:sp>
      <p:sp>
        <p:nvSpPr>
          <p:cNvPr id="13" name="Text Box 36"/>
          <p:cNvSpPr txBox="1">
            <a:spLocks noChangeArrowheads="1"/>
          </p:cNvSpPr>
          <p:nvPr/>
        </p:nvSpPr>
        <p:spPr bwMode="auto">
          <a:xfrm>
            <a:off x="2727556" y="5279648"/>
            <a:ext cx="6416444"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a:solidFill>
                  <a:srgbClr val="FF0000"/>
                </a:solidFill>
                <a:latin typeface="Times New Roman"/>
                <a:cs typeface="Times New Roman"/>
              </a:rPr>
              <a:t>3</a:t>
            </a:r>
            <a:r>
              <a:rPr lang="en-US" sz="2600" smtClean="0">
                <a:solidFill>
                  <a:srgbClr val="FF0000"/>
                </a:solidFill>
                <a:latin typeface="Times New Roman"/>
                <a:cs typeface="Times New Roman"/>
              </a:rPr>
              <a:t>. Quan điểm của Hồ Chí Minh về xây dựng nền văn hóa mới</a:t>
            </a:r>
            <a:endParaRPr lang="en-US" sz="2600" dirty="0">
              <a:solidFill>
                <a:srgbClr val="FF0000"/>
              </a:solidFill>
              <a:latin typeface="Times New Roman"/>
              <a:cs typeface="Times New Roman"/>
            </a:endParaRPr>
          </a:p>
        </p:txBody>
      </p:sp>
      <p:cxnSp>
        <p:nvCxnSpPr>
          <p:cNvPr id="15" name="Straight Connector 14"/>
          <p:cNvCxnSpPr/>
          <p:nvPr/>
        </p:nvCxnSpPr>
        <p:spPr>
          <a:xfrm>
            <a:off x="1610428" y="1947702"/>
            <a:ext cx="0" cy="384349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600200" y="1981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Rectangle 17"/>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Box 36"/>
          <p:cNvSpPr txBox="1">
            <a:spLocks noChangeArrowheads="1"/>
          </p:cNvSpPr>
          <p:nvPr/>
        </p:nvSpPr>
        <p:spPr bwMode="auto">
          <a:xfrm>
            <a:off x="2590800" y="3546157"/>
            <a:ext cx="6641958"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dirty="0">
                <a:solidFill>
                  <a:srgbClr val="FF0000"/>
                </a:solidFill>
                <a:latin typeface="Times New Roman"/>
                <a:cs typeface="Times New Roman"/>
              </a:rPr>
              <a:t>2</a:t>
            </a:r>
            <a:r>
              <a:rPr lang="en-US" sz="2600" spc="-150" dirty="0" smtClean="0">
                <a:solidFill>
                  <a:srgbClr val="FF0000"/>
                </a:solidFill>
                <a:latin typeface="Times New Roman"/>
                <a:cs typeface="Times New Roman"/>
              </a:rPr>
              <a:t>. </a:t>
            </a:r>
            <a:r>
              <a:rPr lang="en-US" sz="2600" spc="-150" dirty="0" err="1" smtClean="0">
                <a:solidFill>
                  <a:srgbClr val="FF0000"/>
                </a:solidFill>
                <a:latin typeface="Times New Roman"/>
                <a:cs typeface="Times New Roman"/>
              </a:rPr>
              <a:t>Quan</a:t>
            </a:r>
            <a:r>
              <a:rPr lang="en-US" sz="2600" spc="-150" dirty="0" smtClean="0">
                <a:solidFill>
                  <a:srgbClr val="FF0000"/>
                </a:solidFill>
                <a:latin typeface="Times New Roman"/>
                <a:cs typeface="Times New Roman"/>
              </a:rPr>
              <a:t> </a:t>
            </a:r>
            <a:r>
              <a:rPr lang="en-US" sz="2600" spc="-150" dirty="0" err="1" smtClean="0">
                <a:solidFill>
                  <a:srgbClr val="FF0000"/>
                </a:solidFill>
                <a:latin typeface="Times New Roman"/>
                <a:cs typeface="Times New Roman"/>
              </a:rPr>
              <a:t>điểm</a:t>
            </a:r>
            <a:r>
              <a:rPr lang="en-US" sz="2600" spc="-150" dirty="0" smtClean="0">
                <a:solidFill>
                  <a:srgbClr val="FF0000"/>
                </a:solidFill>
                <a:latin typeface="Times New Roman"/>
                <a:cs typeface="Times New Roman"/>
              </a:rPr>
              <a:t> </a:t>
            </a:r>
            <a:r>
              <a:rPr lang="en-US" sz="2600" spc="-150" dirty="0" err="1" smtClean="0">
                <a:solidFill>
                  <a:srgbClr val="FF0000"/>
                </a:solidFill>
                <a:latin typeface="Times New Roman"/>
                <a:cs typeface="Times New Roman"/>
              </a:rPr>
              <a:t>của</a:t>
            </a:r>
            <a:r>
              <a:rPr lang="en-US" sz="2600" spc="-150" dirty="0" smtClean="0">
                <a:solidFill>
                  <a:srgbClr val="FF0000"/>
                </a:solidFill>
                <a:latin typeface="Times New Roman"/>
                <a:cs typeface="Times New Roman"/>
              </a:rPr>
              <a:t> </a:t>
            </a:r>
            <a:r>
              <a:rPr lang="en-US" sz="2600" spc="-150" dirty="0" err="1" smtClean="0">
                <a:solidFill>
                  <a:srgbClr val="FF0000"/>
                </a:solidFill>
                <a:latin typeface="Times New Roman"/>
                <a:cs typeface="Times New Roman"/>
              </a:rPr>
              <a:t>Hồ</a:t>
            </a:r>
            <a:r>
              <a:rPr lang="en-US" sz="2600" spc="-150" dirty="0" smtClean="0">
                <a:solidFill>
                  <a:srgbClr val="FF0000"/>
                </a:solidFill>
                <a:latin typeface="Times New Roman"/>
                <a:cs typeface="Times New Roman"/>
              </a:rPr>
              <a:t> </a:t>
            </a:r>
            <a:r>
              <a:rPr lang="en-US" sz="2600" spc="-150" dirty="0" err="1" smtClean="0">
                <a:solidFill>
                  <a:srgbClr val="FF0000"/>
                </a:solidFill>
                <a:latin typeface="Times New Roman"/>
                <a:cs typeface="Times New Roman"/>
              </a:rPr>
              <a:t>Chí</a:t>
            </a:r>
            <a:r>
              <a:rPr lang="en-US" sz="2600" spc="-150" dirty="0" smtClean="0">
                <a:solidFill>
                  <a:srgbClr val="FF0000"/>
                </a:solidFill>
                <a:latin typeface="Times New Roman"/>
                <a:cs typeface="Times New Roman"/>
              </a:rPr>
              <a:t> Minh </a:t>
            </a:r>
            <a:r>
              <a:rPr lang="en-US" sz="2600" spc="-150" dirty="0" err="1" smtClean="0">
                <a:solidFill>
                  <a:srgbClr val="FF0000"/>
                </a:solidFill>
                <a:latin typeface="Times New Roman"/>
                <a:cs typeface="Times New Roman"/>
              </a:rPr>
              <a:t>về</a:t>
            </a:r>
            <a:r>
              <a:rPr lang="en-US" sz="2600" spc="-150" dirty="0" smtClean="0">
                <a:solidFill>
                  <a:srgbClr val="FF0000"/>
                </a:solidFill>
                <a:latin typeface="Times New Roman"/>
                <a:cs typeface="Times New Roman"/>
              </a:rPr>
              <a:t> </a:t>
            </a:r>
            <a:r>
              <a:rPr lang="en-US" sz="2600" spc="-150" dirty="0" err="1" smtClean="0">
                <a:solidFill>
                  <a:srgbClr val="FF0000"/>
                </a:solidFill>
                <a:latin typeface="Times New Roman"/>
                <a:cs typeface="Times New Roman"/>
              </a:rPr>
              <a:t>vai</a:t>
            </a:r>
            <a:r>
              <a:rPr lang="en-US" sz="2600" spc="-150" dirty="0" smtClean="0">
                <a:solidFill>
                  <a:srgbClr val="FF0000"/>
                </a:solidFill>
                <a:latin typeface="Times New Roman"/>
                <a:cs typeface="Times New Roman"/>
              </a:rPr>
              <a:t> </a:t>
            </a:r>
            <a:r>
              <a:rPr lang="en-US" sz="2600" spc="-150" dirty="0" err="1" smtClean="0">
                <a:solidFill>
                  <a:srgbClr val="FF0000"/>
                </a:solidFill>
                <a:latin typeface="Times New Roman"/>
                <a:cs typeface="Times New Roman"/>
              </a:rPr>
              <a:t>trò</a:t>
            </a:r>
            <a:r>
              <a:rPr lang="en-US" sz="2600" spc="-150" dirty="0" smtClean="0">
                <a:solidFill>
                  <a:srgbClr val="FF0000"/>
                </a:solidFill>
                <a:latin typeface="Times New Roman"/>
                <a:cs typeface="Times New Roman"/>
              </a:rPr>
              <a:t> </a:t>
            </a:r>
            <a:r>
              <a:rPr lang="en-US" sz="2600" spc="-150" dirty="0" err="1" smtClean="0">
                <a:solidFill>
                  <a:srgbClr val="FF0000"/>
                </a:solidFill>
                <a:latin typeface="Times New Roman"/>
                <a:cs typeface="Times New Roman"/>
              </a:rPr>
              <a:t>của</a:t>
            </a:r>
            <a:r>
              <a:rPr lang="en-US" sz="2600" spc="-150" dirty="0" smtClean="0">
                <a:solidFill>
                  <a:srgbClr val="FF0000"/>
                </a:solidFill>
                <a:latin typeface="Times New Roman"/>
                <a:cs typeface="Times New Roman"/>
              </a:rPr>
              <a:t> </a:t>
            </a:r>
            <a:r>
              <a:rPr lang="en-US" sz="2600" spc="-150" dirty="0" err="1" smtClean="0">
                <a:solidFill>
                  <a:srgbClr val="FF0000"/>
                </a:solidFill>
                <a:latin typeface="Times New Roman"/>
                <a:cs typeface="Times New Roman"/>
              </a:rPr>
              <a:t>văn</a:t>
            </a:r>
            <a:r>
              <a:rPr lang="en-US" sz="2600" spc="-150" dirty="0" smtClean="0">
                <a:solidFill>
                  <a:srgbClr val="FF0000"/>
                </a:solidFill>
                <a:latin typeface="Times New Roman"/>
                <a:cs typeface="Times New Roman"/>
              </a:rPr>
              <a:t> </a:t>
            </a:r>
            <a:r>
              <a:rPr lang="en-US" sz="2600" spc="-150" dirty="0" err="1" smtClean="0">
                <a:solidFill>
                  <a:srgbClr val="FF0000"/>
                </a:solidFill>
                <a:latin typeface="Times New Roman"/>
                <a:cs typeface="Times New Roman"/>
              </a:rPr>
              <a:t>hóa</a:t>
            </a:r>
            <a:endParaRPr lang="en-US" sz="2600" spc="-150" dirty="0">
              <a:solidFill>
                <a:srgbClr val="FF0000"/>
              </a:solidFill>
              <a:latin typeface="Times New Roman"/>
              <a:cs typeface="Times New Roman"/>
            </a:endParaRPr>
          </a:p>
        </p:txBody>
      </p:sp>
      <p:cxnSp>
        <p:nvCxnSpPr>
          <p:cNvPr id="25" name="Straight Arrow Connector 24"/>
          <p:cNvCxnSpPr/>
          <p:nvPr/>
        </p:nvCxnSpPr>
        <p:spPr>
          <a:xfrm>
            <a:off x="1600199" y="379714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600200" y="5791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1" name="Text Box 36"/>
          <p:cNvSpPr txBox="1">
            <a:spLocks noChangeArrowheads="1"/>
          </p:cNvSpPr>
          <p:nvPr/>
        </p:nvSpPr>
        <p:spPr bwMode="auto">
          <a:xfrm>
            <a:off x="2361835" y="1717357"/>
            <a:ext cx="6629765"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smtClean="0">
                <a:solidFill>
                  <a:srgbClr val="FF0000"/>
                </a:solidFill>
                <a:latin typeface="Times New Roman"/>
                <a:cs typeface="Times New Roman"/>
              </a:rPr>
              <a:t>1. </a:t>
            </a:r>
            <a:r>
              <a:rPr lang="en-US" sz="2600" dirty="0" err="1" smtClean="0">
                <a:solidFill>
                  <a:srgbClr val="FF0000"/>
                </a:solidFill>
                <a:latin typeface="Times New Roman"/>
                <a:cs typeface="Times New Roman"/>
              </a:rPr>
              <a:t>Một</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số</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nhận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thức</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chung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về</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văn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hóa</a:t>
            </a:r>
            <a:r>
              <a:rPr lang="en-US" sz="2600" dirty="0" smtClean="0">
                <a:solidFill>
                  <a:srgbClr val="FF0000"/>
                </a:solidFill>
                <a:latin typeface="Times New Roman"/>
                <a:cs typeface="Times New Roman"/>
              </a:rPr>
              <a:t> </a:t>
            </a:r>
          </a:p>
          <a:p>
            <a:pPr algn="ctr"/>
            <a:r>
              <a:rPr lang="en-US" sz="2600" dirty="0" err="1" smtClean="0">
                <a:solidFill>
                  <a:srgbClr val="FF0000"/>
                </a:solidFill>
                <a:latin typeface="Times New Roman"/>
                <a:cs typeface="Times New Roman"/>
              </a:rPr>
              <a:t>và</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quan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hệ</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giữa</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văn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hóa</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với</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các</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lĩnh</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vực</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khác</a:t>
            </a:r>
            <a:r>
              <a:rPr lang="en-US" sz="2600" dirty="0" smtClean="0">
                <a:solidFill>
                  <a:srgbClr val="FF0000"/>
                </a:solidFill>
                <a:latin typeface="Times New Roman"/>
                <a:cs typeface="Times New Roman"/>
              </a:rPr>
              <a:t> </a:t>
            </a:r>
            <a:endParaRPr lang="en-US" sz="2600" dirty="0">
              <a:solidFill>
                <a:srgbClr val="FF0000"/>
              </a:solidFill>
              <a:latin typeface="Times New Roman"/>
              <a:cs typeface="Times New Roman"/>
            </a:endParaRPr>
          </a:p>
        </p:txBody>
      </p:sp>
      <p:sp>
        <p:nvSpPr>
          <p:cNvPr id="1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19"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Connector 20"/>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6</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37459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1000"/>
                                        <p:tgtEl>
                                          <p:spTgt spid="25"/>
                                        </p:tgtEl>
                                      </p:cBhvr>
                                    </p:animEffect>
                                    <p:anim calcmode="lin" valueType="num">
                                      <p:cBhvr>
                                        <p:cTn id="25" dur="1000" fill="hold"/>
                                        <p:tgtEl>
                                          <p:spTgt spid="25"/>
                                        </p:tgtEl>
                                        <p:attrNameLst>
                                          <p:attrName>ppt_x</p:attrName>
                                        </p:attrNameLst>
                                      </p:cBhvr>
                                      <p:tavLst>
                                        <p:tav tm="0">
                                          <p:val>
                                            <p:strVal val="#ppt_x"/>
                                          </p:val>
                                        </p:tav>
                                        <p:tav tm="100000">
                                          <p:val>
                                            <p:strVal val="#ppt_x"/>
                                          </p:val>
                                        </p:tav>
                                      </p:tavLst>
                                    </p:anim>
                                    <p:anim calcmode="lin" valueType="num">
                                      <p:cBhvr>
                                        <p:cTn id="26" dur="1000" fill="hold"/>
                                        <p:tgtEl>
                                          <p:spTgt spid="2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1000"/>
                                        <p:tgtEl>
                                          <p:spTgt spid="22"/>
                                        </p:tgtEl>
                                      </p:cBhvr>
                                    </p:animEffect>
                                    <p:anim calcmode="lin" valueType="num">
                                      <p:cBhvr>
                                        <p:cTn id="30" dur="1000" fill="hold"/>
                                        <p:tgtEl>
                                          <p:spTgt spid="22"/>
                                        </p:tgtEl>
                                        <p:attrNameLst>
                                          <p:attrName>ppt_x</p:attrName>
                                        </p:attrNameLst>
                                      </p:cBhvr>
                                      <p:tavLst>
                                        <p:tav tm="0">
                                          <p:val>
                                            <p:strVal val="#ppt_x"/>
                                          </p:val>
                                        </p:tav>
                                        <p:tav tm="100000">
                                          <p:val>
                                            <p:strVal val="#ppt_x"/>
                                          </p:val>
                                        </p:tav>
                                      </p:tavLst>
                                    </p:anim>
                                    <p:anim calcmode="lin" valueType="num">
                                      <p:cBhvr>
                                        <p:cTn id="3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1000"/>
                                        <p:tgtEl>
                                          <p:spTgt spid="26"/>
                                        </p:tgtEl>
                                      </p:cBhvr>
                                    </p:animEffect>
                                    <p:anim calcmode="lin" valueType="num">
                                      <p:cBhvr>
                                        <p:cTn id="37" dur="1000" fill="hold"/>
                                        <p:tgtEl>
                                          <p:spTgt spid="26"/>
                                        </p:tgtEl>
                                        <p:attrNameLst>
                                          <p:attrName>ppt_x</p:attrName>
                                        </p:attrNameLst>
                                      </p:cBhvr>
                                      <p:tavLst>
                                        <p:tav tm="0">
                                          <p:val>
                                            <p:strVal val="#ppt_x"/>
                                          </p:val>
                                        </p:tav>
                                        <p:tav tm="100000">
                                          <p:val>
                                            <p:strVal val="#ppt_x"/>
                                          </p:val>
                                        </p:tav>
                                      </p:tavLst>
                                    </p:anim>
                                    <p:anim calcmode="lin" valueType="num">
                                      <p:cBhvr>
                                        <p:cTn id="38" dur="1000" fill="hold"/>
                                        <p:tgtEl>
                                          <p:spTgt spid="26"/>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2"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6</a:t>
            </a:fld>
            <a:endParaRPr lang="en-US"/>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905000" y="152400"/>
            <a:ext cx="7086600"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marL="514350" indent="-514350" algn="ctr">
              <a:buAutoNum type="arabicPeriod"/>
            </a:pPr>
            <a:r>
              <a:rPr lang="en-US" sz="2800" smtClean="0">
                <a:solidFill>
                  <a:srgbClr val="FF0000"/>
                </a:solidFill>
                <a:latin typeface="Times New Roman"/>
                <a:cs typeface="Times New Roman"/>
              </a:rPr>
              <a:t>Một </a:t>
            </a:r>
            <a:r>
              <a:rPr lang="en-US" sz="2800">
                <a:solidFill>
                  <a:srgbClr val="FF0000"/>
                </a:solidFill>
                <a:latin typeface="Times New Roman"/>
                <a:cs typeface="Times New Roman"/>
              </a:rPr>
              <a:t>số nhận thức chung về văn hóa </a:t>
            </a:r>
            <a:endParaRPr lang="en-US" sz="2800" smtClean="0">
              <a:solidFill>
                <a:srgbClr val="FF0000"/>
              </a:solidFill>
              <a:latin typeface="Times New Roman"/>
              <a:cs typeface="Times New Roman"/>
            </a:endParaRPr>
          </a:p>
          <a:p>
            <a:pPr algn="ctr"/>
            <a:r>
              <a:rPr lang="en-US" sz="2800" smtClean="0">
                <a:solidFill>
                  <a:srgbClr val="FF0000"/>
                </a:solidFill>
                <a:latin typeface="Times New Roman"/>
                <a:cs typeface="Times New Roman"/>
              </a:rPr>
              <a:t>và </a:t>
            </a:r>
            <a:r>
              <a:rPr lang="en-US" sz="2800">
                <a:solidFill>
                  <a:srgbClr val="FF0000"/>
                </a:solidFill>
                <a:latin typeface="Times New Roman"/>
                <a:cs typeface="Times New Roman"/>
              </a:rPr>
              <a:t>quan hệ giữa văn hóa với các lĩnh vực khác </a:t>
            </a:r>
            <a:endParaRPr lang="en-US" sz="2800" dirty="0">
              <a:solidFill>
                <a:srgbClr val="FF0000"/>
              </a:solidFill>
              <a:latin typeface="Times New Roman"/>
              <a:cs typeface="Times New Roman"/>
            </a:endParaRPr>
          </a:p>
        </p:txBody>
      </p:sp>
      <p:sp>
        <p:nvSpPr>
          <p:cNvPr id="21" name="Rectangle 20"/>
          <p:cNvSpPr/>
          <p:nvPr/>
        </p:nvSpPr>
        <p:spPr>
          <a:xfrm>
            <a:off x="3352800" y="1600200"/>
            <a:ext cx="5791200" cy="4013406"/>
          </a:xfrm>
          <a:prstGeom prst="rect">
            <a:avLst/>
          </a:prstGeom>
        </p:spPr>
        <p:txBody>
          <a:bodyPr wrap="square">
            <a:spAutoFit/>
          </a:bodyPr>
          <a:lstStyle/>
          <a:p>
            <a:pPr algn="just">
              <a:lnSpc>
                <a:spcPct val="130000"/>
              </a:lnSpc>
            </a:pPr>
            <a:r>
              <a:rPr lang="vi-VN" sz="2800" dirty="0">
                <a:solidFill>
                  <a:srgbClr val="CC0066"/>
                </a:solidFill>
                <a:latin typeface="+mj-lt"/>
              </a:rPr>
              <a:t> </a:t>
            </a:r>
            <a:r>
              <a:rPr lang="en-US" sz="2800" dirty="0" smtClean="0">
                <a:solidFill>
                  <a:srgbClr val="CC0066"/>
                </a:solidFill>
                <a:latin typeface="+mj-lt"/>
              </a:rPr>
              <a:t>"</a:t>
            </a:r>
            <a:r>
              <a:rPr lang="vi-VN" sz="2800" dirty="0" smtClean="0">
                <a:solidFill>
                  <a:srgbClr val="CC0066"/>
                </a:solidFill>
                <a:latin typeface="+mj-lt"/>
              </a:rPr>
              <a:t>Văn </a:t>
            </a:r>
            <a:r>
              <a:rPr lang="vi-VN" sz="2800" dirty="0">
                <a:solidFill>
                  <a:srgbClr val="CC0066"/>
                </a:solidFill>
                <a:latin typeface="+mj-lt"/>
              </a:rPr>
              <a:t>hóa là tổng thể sống động các hoạt động và sáng tạo trong quá khứ và trong hiện tại. Qua các thế kỷ, hoạt động sáng tạo ấy đã hình thành nên một hệ thống các giá trị, các truyền thống và thị hiếu - những yếu tố xác định đặc tính riêng của mỗi dân </a:t>
            </a:r>
            <a:r>
              <a:rPr lang="vi-VN" sz="2800" dirty="0" smtClean="0">
                <a:solidFill>
                  <a:srgbClr val="CC0066"/>
                </a:solidFill>
                <a:latin typeface="+mj-lt"/>
              </a:rPr>
              <a:t>tộc</a:t>
            </a:r>
            <a:r>
              <a:rPr lang="en-US" sz="2800" dirty="0" smtClean="0">
                <a:solidFill>
                  <a:srgbClr val="CC0066"/>
                </a:solidFill>
                <a:latin typeface="+mj-lt"/>
              </a:rPr>
              <a:t>”.</a:t>
            </a:r>
            <a:endParaRPr lang="en-US" sz="2600" i="1" dirty="0">
              <a:solidFill>
                <a:srgbClr val="CC0066"/>
              </a:solidFill>
              <a:latin typeface="+mj-lt"/>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sp>
        <p:nvSpPr>
          <p:cNvPr id="3" name="AutoShape 2" descr="https://vietwebgroup.vn/admin/uploads/unesco-la-gi-tim-hieu-ve-unesco-la-gi.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https://vietwebgroup.vn/admin/uploads/unesco-la-gi-tim-hieu-ve-unesco-la-gi.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UNESCO Việt Nam - Home | Facebook"/>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6" name="Picture 8" descr="logo unesc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32" y="2209800"/>
            <a:ext cx="2915268" cy="2215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907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10/13/2025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7</a:t>
            </a:fld>
            <a:endParaRPr lang="en-US"/>
          </a:p>
        </p:txBody>
      </p:sp>
      <p:sp>
        <p:nvSpPr>
          <p:cNvPr id="10" name="Text Box 36"/>
          <p:cNvSpPr txBox="1">
            <a:spLocks noChangeArrowheads="1"/>
          </p:cNvSpPr>
          <p:nvPr/>
        </p:nvSpPr>
        <p:spPr bwMode="auto">
          <a:xfrm>
            <a:off x="152400" y="2630031"/>
            <a:ext cx="1219200" cy="224676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b="1" dirty="0" err="1" smtClean="0">
                <a:solidFill>
                  <a:srgbClr val="FF0000"/>
                </a:solidFill>
                <a:latin typeface="Times New Roman"/>
                <a:cs typeface="Times New Roman"/>
              </a:rPr>
              <a:t>Hồ</a:t>
            </a:r>
            <a:r>
              <a:rPr lang="en-US" sz="2800" b="1" dirty="0" smtClean="0">
                <a:solidFill>
                  <a:srgbClr val="FF0000"/>
                </a:solidFill>
                <a:latin typeface="Times New Roman"/>
                <a:cs typeface="Times New Roman"/>
              </a:rPr>
              <a:t> </a:t>
            </a:r>
            <a:r>
              <a:rPr lang="en-US" sz="2800" b="1" dirty="0" err="1" smtClean="0">
                <a:solidFill>
                  <a:srgbClr val="FF0000"/>
                </a:solidFill>
                <a:latin typeface="Times New Roman"/>
                <a:cs typeface="Times New Roman"/>
              </a:rPr>
              <a:t>Chí</a:t>
            </a:r>
            <a:r>
              <a:rPr lang="en-US" sz="2800" b="1" dirty="0" smtClean="0">
                <a:solidFill>
                  <a:srgbClr val="FF0000"/>
                </a:solidFill>
                <a:latin typeface="Times New Roman"/>
                <a:cs typeface="Times New Roman"/>
              </a:rPr>
              <a:t> Minh </a:t>
            </a:r>
            <a:r>
              <a:rPr lang="en-US" sz="2800" b="1" dirty="0" err="1" smtClean="0">
                <a:solidFill>
                  <a:srgbClr val="FF0000"/>
                </a:solidFill>
                <a:latin typeface="Times New Roman"/>
                <a:cs typeface="Times New Roman"/>
              </a:rPr>
              <a:t>tiếp</a:t>
            </a:r>
            <a:r>
              <a:rPr lang="en-US" sz="2800" b="1" dirty="0" smtClean="0">
                <a:solidFill>
                  <a:srgbClr val="FF0000"/>
                </a:solidFill>
                <a:latin typeface="Times New Roman"/>
                <a:cs typeface="Times New Roman"/>
              </a:rPr>
              <a:t> </a:t>
            </a:r>
            <a:r>
              <a:rPr lang="en-US" sz="2800" b="1" dirty="0" err="1" smtClean="0">
                <a:solidFill>
                  <a:srgbClr val="FF0000"/>
                </a:solidFill>
                <a:latin typeface="Times New Roman"/>
                <a:cs typeface="Times New Roman"/>
              </a:rPr>
              <a:t>cận</a:t>
            </a:r>
            <a:endParaRPr lang="en-US" sz="2800" b="1" dirty="0">
              <a:solidFill>
                <a:srgbClr val="FF0000"/>
              </a:solidFill>
              <a:latin typeface="Times New Roman"/>
              <a:cs typeface="Times New Roman"/>
            </a:endParaRPr>
          </a:p>
        </p:txBody>
      </p:sp>
      <p:sp>
        <p:nvSpPr>
          <p:cNvPr id="13" name="Text Box 36"/>
          <p:cNvSpPr txBox="1">
            <a:spLocks noChangeArrowheads="1"/>
          </p:cNvSpPr>
          <p:nvPr/>
        </p:nvSpPr>
        <p:spPr bwMode="auto">
          <a:xfrm>
            <a:off x="2727556" y="3984248"/>
            <a:ext cx="5787794"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a:solidFill>
                  <a:srgbClr val="002060"/>
                </a:solidFill>
                <a:latin typeface="Times New Roman"/>
                <a:cs typeface="Times New Roman"/>
              </a:rPr>
              <a:t>3</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Nghĩa</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hẹp</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hơn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Trường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học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số</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người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học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xóa</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mù</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chữ</a:t>
            </a:r>
            <a:r>
              <a:rPr lang="en-US" sz="2600" dirty="0" smtClean="0">
                <a:solidFill>
                  <a:srgbClr val="002060"/>
                </a:solidFill>
                <a:latin typeface="Times New Roman"/>
                <a:cs typeface="Times New Roman"/>
              </a:rPr>
              <a:t>,…</a:t>
            </a:r>
            <a:endParaRPr lang="en-US" sz="2600" dirty="0">
              <a:solidFill>
                <a:srgbClr val="002060"/>
              </a:solidFill>
              <a:latin typeface="Times New Roman"/>
              <a:cs typeface="Times New Roman"/>
            </a:endParaRPr>
          </a:p>
        </p:txBody>
      </p:sp>
      <p:cxnSp>
        <p:nvCxnSpPr>
          <p:cNvPr id="15" name="Straight Connector 14"/>
          <p:cNvCxnSpPr/>
          <p:nvPr/>
        </p:nvCxnSpPr>
        <p:spPr>
          <a:xfrm>
            <a:off x="1600199" y="1483043"/>
            <a:ext cx="10229" cy="4308157"/>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600200" y="1483043"/>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Rectangle 17"/>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Box 36"/>
          <p:cNvSpPr txBox="1">
            <a:spLocks noChangeArrowheads="1"/>
          </p:cNvSpPr>
          <p:nvPr/>
        </p:nvSpPr>
        <p:spPr bwMode="auto">
          <a:xfrm>
            <a:off x="2514600" y="2438400"/>
            <a:ext cx="6248400"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a:solidFill>
                  <a:srgbClr val="002060"/>
                </a:solidFill>
                <a:latin typeface="Times New Roman"/>
                <a:cs typeface="Times New Roman"/>
              </a:rPr>
              <a:t>2</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Nghĩa</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hẹp</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Đời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sống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tinh</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thần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của</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xã</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hội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thuộc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kiến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trúc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thượng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tầng</a:t>
            </a:r>
            <a:endParaRPr lang="en-US" sz="2600" dirty="0">
              <a:solidFill>
                <a:srgbClr val="002060"/>
              </a:solidFill>
              <a:latin typeface="Times New Roman"/>
              <a:cs typeface="Times New Roman"/>
            </a:endParaRPr>
          </a:p>
        </p:txBody>
      </p:sp>
      <p:cxnSp>
        <p:nvCxnSpPr>
          <p:cNvPr id="25" name="Straight Arrow Connector 24"/>
          <p:cNvCxnSpPr/>
          <p:nvPr/>
        </p:nvCxnSpPr>
        <p:spPr>
          <a:xfrm>
            <a:off x="1600199" y="2863632"/>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600200" y="4495800"/>
            <a:ext cx="851933"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1" name="Text Box 36"/>
          <p:cNvSpPr txBox="1">
            <a:spLocks noChangeArrowheads="1"/>
          </p:cNvSpPr>
          <p:nvPr/>
        </p:nvSpPr>
        <p:spPr bwMode="auto">
          <a:xfrm>
            <a:off x="2590435" y="1219200"/>
            <a:ext cx="5867765"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smtClean="0">
                <a:solidFill>
                  <a:srgbClr val="002060"/>
                </a:solidFill>
                <a:latin typeface="Times New Roman"/>
                <a:cs typeface="Times New Roman"/>
              </a:rPr>
              <a:t>1. </a:t>
            </a:r>
            <a:r>
              <a:rPr lang="en-US" sz="2600" dirty="0" err="1" smtClean="0">
                <a:solidFill>
                  <a:srgbClr val="002060"/>
                </a:solidFill>
                <a:latin typeface="Times New Roman"/>
                <a:cs typeface="Times New Roman"/>
              </a:rPr>
              <a:t>Nghĩa</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rộng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Tổng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hợp</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mọi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phương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thức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sinh</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hoạt</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của</a:t>
            </a:r>
            <a:r>
              <a:rPr lang="en-US" sz="2600" dirty="0" smtClean="0">
                <a:solidFill>
                  <a:srgbClr val="002060"/>
                </a:solidFill>
                <a:latin typeface="Times New Roman"/>
                <a:cs typeface="Times New Roman"/>
              </a:rPr>
              <a:t> con </a:t>
            </a:r>
            <a:r>
              <a:rPr lang="en-US" sz="2600" dirty="0" err="1" smtClean="0">
                <a:solidFill>
                  <a:srgbClr val="002060"/>
                </a:solidFill>
                <a:latin typeface="Times New Roman"/>
                <a:cs typeface="Times New Roman"/>
              </a:rPr>
              <a:t>người</a:t>
            </a:r>
            <a:endParaRPr lang="en-US" sz="2600" dirty="0">
              <a:solidFill>
                <a:srgbClr val="002060"/>
              </a:solidFill>
              <a:latin typeface="Times New Roman"/>
              <a:cs typeface="Times New Roman"/>
            </a:endParaRPr>
          </a:p>
        </p:txBody>
      </p:sp>
      <p:sp>
        <p:nvSpPr>
          <p:cNvPr id="1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19"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Connector 20"/>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6</a:t>
            </a:r>
            <a:endParaRPr lang="en-US" sz="3000" b="1" dirty="0">
              <a:solidFill>
                <a:srgbClr val="CC0099"/>
              </a:solidFill>
              <a:latin typeface="Times New Roman" pitchFamily="18" charset="0"/>
              <a:cs typeface="Times New Roman" pitchFamily="18" charset="0"/>
            </a:endParaRPr>
          </a:p>
        </p:txBody>
      </p:sp>
      <p:sp>
        <p:nvSpPr>
          <p:cNvPr id="24" name="Text Box 36"/>
          <p:cNvSpPr txBox="1">
            <a:spLocks noChangeArrowheads="1"/>
          </p:cNvSpPr>
          <p:nvPr/>
        </p:nvSpPr>
        <p:spPr bwMode="auto">
          <a:xfrm>
            <a:off x="2727556" y="5257800"/>
            <a:ext cx="5787794"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a:solidFill>
                  <a:srgbClr val="002060"/>
                </a:solidFill>
                <a:latin typeface="Times New Roman"/>
                <a:cs typeface="Times New Roman"/>
              </a:rPr>
              <a:t>4</a:t>
            </a:r>
            <a:r>
              <a:rPr lang="en-US" sz="2600" dirty="0" smtClean="0">
                <a:solidFill>
                  <a:srgbClr val="002060"/>
                </a:solidFill>
                <a:latin typeface="Times New Roman"/>
                <a:cs typeface="Times New Roman"/>
              </a:rPr>
              <a:t>. Theo “</a:t>
            </a:r>
            <a:r>
              <a:rPr lang="en-US" sz="2600" dirty="0" err="1" smtClean="0">
                <a:solidFill>
                  <a:srgbClr val="002060"/>
                </a:solidFill>
                <a:latin typeface="Times New Roman"/>
                <a:cs typeface="Times New Roman"/>
              </a:rPr>
              <a:t>phương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thức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sử</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dụng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công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cụ</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sinh</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hoạt</a:t>
            </a:r>
            <a:r>
              <a:rPr lang="en-US" sz="2600" dirty="0" smtClean="0">
                <a:solidFill>
                  <a:srgbClr val="002060"/>
                </a:solidFill>
                <a:latin typeface="Times New Roman"/>
                <a:cs typeface="Times New Roman"/>
              </a:rPr>
              <a:t>”</a:t>
            </a:r>
            <a:endParaRPr lang="en-US" sz="2600" dirty="0">
              <a:solidFill>
                <a:srgbClr val="002060"/>
              </a:solidFill>
              <a:latin typeface="Times New Roman"/>
              <a:cs typeface="Times New Roman"/>
            </a:endParaRPr>
          </a:p>
        </p:txBody>
      </p:sp>
      <p:cxnSp>
        <p:nvCxnSpPr>
          <p:cNvPr id="27" name="Straight Arrow Connector 26"/>
          <p:cNvCxnSpPr/>
          <p:nvPr/>
        </p:nvCxnSpPr>
        <p:spPr>
          <a:xfrm>
            <a:off x="1600200" y="5769352"/>
            <a:ext cx="851933"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45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1000"/>
                                        <p:tgtEl>
                                          <p:spTgt spid="25"/>
                                        </p:tgtEl>
                                      </p:cBhvr>
                                    </p:animEffect>
                                    <p:anim calcmode="lin" valueType="num">
                                      <p:cBhvr>
                                        <p:cTn id="25" dur="1000" fill="hold"/>
                                        <p:tgtEl>
                                          <p:spTgt spid="25"/>
                                        </p:tgtEl>
                                        <p:attrNameLst>
                                          <p:attrName>ppt_x</p:attrName>
                                        </p:attrNameLst>
                                      </p:cBhvr>
                                      <p:tavLst>
                                        <p:tav tm="0">
                                          <p:val>
                                            <p:strVal val="#ppt_x"/>
                                          </p:val>
                                        </p:tav>
                                        <p:tav tm="100000">
                                          <p:val>
                                            <p:strVal val="#ppt_x"/>
                                          </p:val>
                                        </p:tav>
                                      </p:tavLst>
                                    </p:anim>
                                    <p:anim calcmode="lin" valueType="num">
                                      <p:cBhvr>
                                        <p:cTn id="26" dur="1000" fill="hold"/>
                                        <p:tgtEl>
                                          <p:spTgt spid="2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1000"/>
                                        <p:tgtEl>
                                          <p:spTgt spid="22"/>
                                        </p:tgtEl>
                                      </p:cBhvr>
                                    </p:animEffect>
                                    <p:anim calcmode="lin" valueType="num">
                                      <p:cBhvr>
                                        <p:cTn id="30" dur="1000" fill="hold"/>
                                        <p:tgtEl>
                                          <p:spTgt spid="22"/>
                                        </p:tgtEl>
                                        <p:attrNameLst>
                                          <p:attrName>ppt_x</p:attrName>
                                        </p:attrNameLst>
                                      </p:cBhvr>
                                      <p:tavLst>
                                        <p:tav tm="0">
                                          <p:val>
                                            <p:strVal val="#ppt_x"/>
                                          </p:val>
                                        </p:tav>
                                        <p:tav tm="100000">
                                          <p:val>
                                            <p:strVal val="#ppt_x"/>
                                          </p:val>
                                        </p:tav>
                                      </p:tavLst>
                                    </p:anim>
                                    <p:anim calcmode="lin" valueType="num">
                                      <p:cBhvr>
                                        <p:cTn id="3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fade">
                                      <p:cBhvr>
                                        <p:cTn id="36" dur="1000"/>
                                        <p:tgtEl>
                                          <p:spTgt spid="26"/>
                                        </p:tgtEl>
                                      </p:cBhvr>
                                    </p:animEffect>
                                    <p:anim calcmode="lin" valueType="num">
                                      <p:cBhvr>
                                        <p:cTn id="37" dur="1000" fill="hold"/>
                                        <p:tgtEl>
                                          <p:spTgt spid="26"/>
                                        </p:tgtEl>
                                        <p:attrNameLst>
                                          <p:attrName>ppt_x</p:attrName>
                                        </p:attrNameLst>
                                      </p:cBhvr>
                                      <p:tavLst>
                                        <p:tav tm="0">
                                          <p:val>
                                            <p:strVal val="#ppt_x"/>
                                          </p:val>
                                        </p:tav>
                                        <p:tav tm="100000">
                                          <p:val>
                                            <p:strVal val="#ppt_x"/>
                                          </p:val>
                                        </p:tav>
                                      </p:tavLst>
                                    </p:anim>
                                    <p:anim calcmode="lin" valueType="num">
                                      <p:cBhvr>
                                        <p:cTn id="38" dur="1000" fill="hold"/>
                                        <p:tgtEl>
                                          <p:spTgt spid="26"/>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1000"/>
                                        <p:tgtEl>
                                          <p:spTgt spid="27"/>
                                        </p:tgtEl>
                                      </p:cBhvr>
                                    </p:animEffect>
                                    <p:anim calcmode="lin" valueType="num">
                                      <p:cBhvr>
                                        <p:cTn id="49" dur="1000" fill="hold"/>
                                        <p:tgtEl>
                                          <p:spTgt spid="27"/>
                                        </p:tgtEl>
                                        <p:attrNameLst>
                                          <p:attrName>ppt_x</p:attrName>
                                        </p:attrNameLst>
                                      </p:cBhvr>
                                      <p:tavLst>
                                        <p:tav tm="0">
                                          <p:val>
                                            <p:strVal val="#ppt_x"/>
                                          </p:val>
                                        </p:tav>
                                        <p:tav tm="100000">
                                          <p:val>
                                            <p:strVal val="#ppt_x"/>
                                          </p:val>
                                        </p:tav>
                                      </p:tavLst>
                                    </p:anim>
                                    <p:anim calcmode="lin" valueType="num">
                                      <p:cBhvr>
                                        <p:cTn id="50" dur="1000" fill="hold"/>
                                        <p:tgtEl>
                                          <p:spTgt spid="27"/>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1000"/>
                                        <p:tgtEl>
                                          <p:spTgt spid="24"/>
                                        </p:tgtEl>
                                      </p:cBhvr>
                                    </p:animEffect>
                                    <p:anim calcmode="lin" valueType="num">
                                      <p:cBhvr>
                                        <p:cTn id="54" dur="1000" fill="hold"/>
                                        <p:tgtEl>
                                          <p:spTgt spid="24"/>
                                        </p:tgtEl>
                                        <p:attrNameLst>
                                          <p:attrName>ppt_x</p:attrName>
                                        </p:attrNameLst>
                                      </p:cBhvr>
                                      <p:tavLst>
                                        <p:tav tm="0">
                                          <p:val>
                                            <p:strVal val="#ppt_x"/>
                                          </p:val>
                                        </p:tav>
                                        <p:tav tm="100000">
                                          <p:val>
                                            <p:strVal val="#ppt_x"/>
                                          </p:val>
                                        </p:tav>
                                      </p:tavLst>
                                    </p:anim>
                                    <p:anim calcmode="lin" valueType="num">
                                      <p:cBhvr>
                                        <p:cTn id="5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2" grpId="0"/>
      <p:bldP spid="11"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8</a:t>
            </a:fld>
            <a:endParaRPr lang="en-US"/>
          </a:p>
        </p:txBody>
      </p:sp>
      <p:sp>
        <p:nvSpPr>
          <p:cNvPr id="17" name="Rectangle 16"/>
          <p:cNvSpPr/>
          <p:nvPr/>
        </p:nvSpPr>
        <p:spPr>
          <a:xfrm>
            <a:off x="3601068" y="1447800"/>
            <a:ext cx="5695332" cy="492443"/>
          </a:xfrm>
          <a:prstGeom prst="rect">
            <a:avLst/>
          </a:prstGeom>
        </p:spPr>
        <p:txBody>
          <a:bodyPr wrap="square">
            <a:spAutoFit/>
          </a:bodyPr>
          <a:lstStyle/>
          <a:p>
            <a:pPr algn="ctr"/>
            <a:r>
              <a:rPr lang="en-US" sz="2600" i="1" smtClean="0">
                <a:solidFill>
                  <a:srgbClr val="002060"/>
                </a:solidFill>
                <a:latin typeface="Times New Roman" pitchFamily="18" charset="0"/>
                <a:cs typeface="Times New Roman" pitchFamily="18" charset="0"/>
              </a:rPr>
              <a:t>Quan niệm của Hồ Chí Minh về văn hóa</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905000" y="152400"/>
            <a:ext cx="7086600"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marL="514350" indent="-514350" algn="ctr">
              <a:buAutoNum type="arabicPeriod"/>
            </a:pPr>
            <a:r>
              <a:rPr lang="en-US" sz="2800" smtClean="0">
                <a:solidFill>
                  <a:srgbClr val="FF0000"/>
                </a:solidFill>
                <a:latin typeface="Times New Roman"/>
                <a:cs typeface="Times New Roman"/>
              </a:rPr>
              <a:t>Một </a:t>
            </a:r>
            <a:r>
              <a:rPr lang="en-US" sz="2800">
                <a:solidFill>
                  <a:srgbClr val="FF0000"/>
                </a:solidFill>
                <a:latin typeface="Times New Roman"/>
                <a:cs typeface="Times New Roman"/>
              </a:rPr>
              <a:t>số nhận thức chung về văn hóa </a:t>
            </a:r>
            <a:endParaRPr lang="en-US" sz="2800" smtClean="0">
              <a:solidFill>
                <a:srgbClr val="FF0000"/>
              </a:solidFill>
              <a:latin typeface="Times New Roman"/>
              <a:cs typeface="Times New Roman"/>
            </a:endParaRPr>
          </a:p>
          <a:p>
            <a:pPr algn="ctr"/>
            <a:r>
              <a:rPr lang="en-US" sz="2800" smtClean="0">
                <a:solidFill>
                  <a:srgbClr val="FF0000"/>
                </a:solidFill>
                <a:latin typeface="Times New Roman"/>
                <a:cs typeface="Times New Roman"/>
              </a:rPr>
              <a:t>và </a:t>
            </a:r>
            <a:r>
              <a:rPr lang="en-US" sz="2800">
                <a:solidFill>
                  <a:srgbClr val="FF0000"/>
                </a:solidFill>
                <a:latin typeface="Times New Roman"/>
                <a:cs typeface="Times New Roman"/>
              </a:rPr>
              <a:t>quan hệ giữa văn hóa với các lĩnh vực khác </a:t>
            </a:r>
            <a:endParaRPr lang="en-US" sz="2800" dirty="0">
              <a:solidFill>
                <a:srgbClr val="FF0000"/>
              </a:solidFill>
              <a:latin typeface="Times New Roman"/>
              <a:cs typeface="Times New Roman"/>
            </a:endParaRPr>
          </a:p>
        </p:txBody>
      </p:sp>
      <p:cxnSp>
        <p:nvCxnSpPr>
          <p:cNvPr id="18" name="Straight Connector 17"/>
          <p:cNvCxnSpPr/>
          <p:nvPr/>
        </p:nvCxnSpPr>
        <p:spPr>
          <a:xfrm>
            <a:off x="2971800" y="1132076"/>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070448" y="1986555"/>
            <a:ext cx="6073552" cy="4228850"/>
          </a:xfrm>
          <a:prstGeom prst="rect">
            <a:avLst/>
          </a:prstGeom>
        </p:spPr>
        <p:txBody>
          <a:bodyPr wrap="square">
            <a:spAutoFit/>
          </a:bodyPr>
          <a:lstStyle/>
          <a:p>
            <a:pPr algn="just">
              <a:lnSpc>
                <a:spcPct val="120000"/>
              </a:lnSpc>
            </a:pPr>
            <a:r>
              <a:rPr lang="vi-VN" sz="2800">
                <a:solidFill>
                  <a:srgbClr val="CC0066"/>
                </a:solidFill>
                <a:latin typeface="+mj-lt"/>
              </a:rPr>
              <a:t>“Vì lẽ sinh tồn cũng như mục đích của cuộc sống, loài người mới sáng tạo và phát minh ra ngôn ngữ, chữ viết, đạo đức, pháp luật, khoa học, tôn giáo, văn học, nghệ thuật, những công cụ sinh hoạt hằng ngày về mặc, ăn, ở và các phương thức sử dụng. Toàn bộ những sáng tạo và phát minh đó tức là văn hóa</a:t>
            </a:r>
            <a:r>
              <a:rPr lang="vi-VN" sz="2800" smtClean="0">
                <a:solidFill>
                  <a:srgbClr val="CC0066"/>
                </a:solidFill>
                <a:latin typeface="+mj-lt"/>
              </a:rPr>
              <a:t>”</a:t>
            </a:r>
            <a:r>
              <a:rPr lang="en-US" sz="2800" smtClean="0">
                <a:solidFill>
                  <a:srgbClr val="CC0066"/>
                </a:solidFill>
                <a:latin typeface="+mj-lt"/>
              </a:rPr>
              <a:t>.</a:t>
            </a:r>
            <a:endParaRPr lang="en-US" sz="2600" i="1" dirty="0">
              <a:solidFill>
                <a:srgbClr val="CC0066"/>
              </a:solidFill>
              <a:latin typeface="+mj-lt"/>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1026"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51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9</a:t>
            </a:fld>
            <a:endParaRPr lang="en-US"/>
          </a:p>
        </p:txBody>
      </p:sp>
      <p:sp>
        <p:nvSpPr>
          <p:cNvPr id="17" name="Rectangle 16"/>
          <p:cNvSpPr/>
          <p:nvPr/>
        </p:nvSpPr>
        <p:spPr>
          <a:xfrm>
            <a:off x="3429000" y="1317248"/>
            <a:ext cx="5867400" cy="892552"/>
          </a:xfrm>
          <a:prstGeom prst="rect">
            <a:avLst/>
          </a:prstGeom>
        </p:spPr>
        <p:txBody>
          <a:bodyPr wrap="square">
            <a:spAutoFit/>
          </a:bodyPr>
          <a:lstStyle/>
          <a:p>
            <a:pPr algn="ctr"/>
            <a:r>
              <a:rPr lang="en-US" sz="2600" i="1" spc="-150" smtClean="0">
                <a:solidFill>
                  <a:srgbClr val="002060"/>
                </a:solidFill>
                <a:latin typeface="Times New Roman" pitchFamily="18" charset="0"/>
                <a:cs typeface="Times New Roman" pitchFamily="18" charset="0"/>
              </a:rPr>
              <a:t>Quan điểm của Hồ Chí Minh về mối quan hệ giữa văn hóa với các lĩnh vực khác</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905000" y="152400"/>
            <a:ext cx="7086600"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marL="514350" indent="-514350" algn="ctr">
              <a:buAutoNum type="arabicPeriod"/>
            </a:pPr>
            <a:r>
              <a:rPr lang="en-US" sz="2800" smtClean="0">
                <a:solidFill>
                  <a:srgbClr val="FF0000"/>
                </a:solidFill>
                <a:latin typeface="Times New Roman"/>
                <a:cs typeface="Times New Roman"/>
              </a:rPr>
              <a:t>Một </a:t>
            </a:r>
            <a:r>
              <a:rPr lang="en-US" sz="2800">
                <a:solidFill>
                  <a:srgbClr val="FF0000"/>
                </a:solidFill>
                <a:latin typeface="Times New Roman"/>
                <a:cs typeface="Times New Roman"/>
              </a:rPr>
              <a:t>số nhận thức chung về văn hóa </a:t>
            </a:r>
            <a:endParaRPr lang="en-US" sz="2800" smtClean="0">
              <a:solidFill>
                <a:srgbClr val="FF0000"/>
              </a:solidFill>
              <a:latin typeface="Times New Roman"/>
              <a:cs typeface="Times New Roman"/>
            </a:endParaRPr>
          </a:p>
          <a:p>
            <a:pPr algn="ctr"/>
            <a:r>
              <a:rPr lang="en-US" sz="2800" smtClean="0">
                <a:solidFill>
                  <a:srgbClr val="FF0000"/>
                </a:solidFill>
                <a:latin typeface="Times New Roman"/>
                <a:cs typeface="Times New Roman"/>
              </a:rPr>
              <a:t>và </a:t>
            </a:r>
            <a:r>
              <a:rPr lang="en-US" sz="2800">
                <a:solidFill>
                  <a:srgbClr val="FF0000"/>
                </a:solidFill>
                <a:latin typeface="Times New Roman"/>
                <a:cs typeface="Times New Roman"/>
              </a:rPr>
              <a:t>quan hệ giữa văn hóa với các lĩnh vực khác </a:t>
            </a:r>
            <a:endParaRPr lang="en-US" sz="2800" dirty="0">
              <a:solidFill>
                <a:srgbClr val="FF0000"/>
              </a:solidFill>
              <a:latin typeface="Times New Roman"/>
              <a:cs typeface="Times New Roman"/>
            </a:endParaRPr>
          </a:p>
        </p:txBody>
      </p:sp>
      <p:cxnSp>
        <p:nvCxnSpPr>
          <p:cNvPr id="18" name="Straight Connector 17"/>
          <p:cNvCxnSpPr/>
          <p:nvPr/>
        </p:nvCxnSpPr>
        <p:spPr>
          <a:xfrm>
            <a:off x="2971800" y="1132076"/>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195813" y="2438602"/>
            <a:ext cx="6073552" cy="609398"/>
          </a:xfrm>
          <a:prstGeom prst="rect">
            <a:avLst/>
          </a:prstGeom>
        </p:spPr>
        <p:txBody>
          <a:bodyPr wrap="square">
            <a:spAutoFit/>
          </a:bodyPr>
          <a:lstStyle/>
          <a:p>
            <a:pPr algn="ctr">
              <a:lnSpc>
                <a:spcPct val="120000"/>
              </a:lnSpc>
            </a:pPr>
            <a:r>
              <a:rPr lang="en-US" sz="2800" smtClean="0">
                <a:solidFill>
                  <a:srgbClr val="CC0066"/>
                </a:solidFill>
                <a:latin typeface="Times New Roman" pitchFamily="18" charset="0"/>
                <a:cs typeface="Times New Roman" pitchFamily="18" charset="0"/>
              </a:rPr>
              <a:t>Quan hệ giữa văn hóa với chính trị</a:t>
            </a:r>
            <a:endParaRPr lang="en-US" sz="2600" i="1" dirty="0">
              <a:solidFill>
                <a:srgbClr val="CC0066"/>
              </a:solidFill>
              <a:latin typeface="Times New Roman" pitchFamily="18" charset="0"/>
              <a:cs typeface="Times New Roman" pitchFamily="18" charset="0"/>
            </a:endParaRPr>
          </a:p>
        </p:txBody>
      </p:sp>
      <p:sp>
        <p:nvSpPr>
          <p:cNvPr id="13" name="Rectangle 12"/>
          <p:cNvSpPr/>
          <p:nvPr/>
        </p:nvSpPr>
        <p:spPr>
          <a:xfrm>
            <a:off x="3048000" y="3827288"/>
            <a:ext cx="6073552" cy="2421112"/>
          </a:xfrm>
          <a:prstGeom prst="rect">
            <a:avLst/>
          </a:prstGeom>
        </p:spPr>
        <p:txBody>
          <a:bodyPr wrap="square">
            <a:spAutoFit/>
          </a:bodyPr>
          <a:lstStyle/>
          <a:p>
            <a:pPr algn="just">
              <a:lnSpc>
                <a:spcPct val="150000"/>
              </a:lnSpc>
            </a:pPr>
            <a:r>
              <a:rPr lang="en-US" sz="2600" smtClean="0">
                <a:solidFill>
                  <a:srgbClr val="002060"/>
                </a:solidFill>
                <a:latin typeface="Times New Roman" pitchFamily="18" charset="0"/>
                <a:cs typeface="Times New Roman" pitchFamily="18" charset="0"/>
              </a:rPr>
              <a:t>- Văn hóa không thể đứng ngoài mà phải ở trong chính trị </a:t>
            </a:r>
            <a:r>
              <a:rPr lang="en-US" sz="2600" smtClean="0">
                <a:solidFill>
                  <a:srgbClr val="002060"/>
                </a:solidFill>
                <a:latin typeface="Times New Roman" pitchFamily="18" charset="0"/>
                <a:cs typeface="Times New Roman" pitchFamily="18" charset="0"/>
                <a:sym typeface="Wingdings" pitchFamily="2" charset="2"/>
              </a:rPr>
              <a:t> văn hóa phải phục vụ nhiệm vụ chính trị.</a:t>
            </a:r>
          </a:p>
          <a:p>
            <a:pPr algn="just">
              <a:lnSpc>
                <a:spcPct val="150000"/>
              </a:lnSpc>
            </a:pPr>
            <a:r>
              <a:rPr lang="en-US" sz="2600" smtClean="0">
                <a:solidFill>
                  <a:srgbClr val="002060"/>
                </a:solidFill>
                <a:latin typeface="Times New Roman" pitchFamily="18" charset="0"/>
                <a:cs typeface="Times New Roman" pitchFamily="18" charset="0"/>
              </a:rPr>
              <a:t>- Mọi hoạt động chính trị phải có văn hóa.</a:t>
            </a:r>
            <a:endParaRPr lang="en-US" sz="2600" dirty="0">
              <a:solidFill>
                <a:srgbClr val="002060"/>
              </a:solidFill>
              <a:latin typeface="Times New Roman" pitchFamily="18" charset="0"/>
              <a:cs typeface="Times New Roman" pitchFamily="18" charset="0"/>
            </a:endParaRPr>
          </a:p>
        </p:txBody>
      </p:sp>
      <p:sp>
        <p:nvSpPr>
          <p:cNvPr id="3" name="Down Arrow 2"/>
          <p:cNvSpPr/>
          <p:nvPr/>
        </p:nvSpPr>
        <p:spPr>
          <a:xfrm>
            <a:off x="5638800" y="3200400"/>
            <a:ext cx="838200" cy="457200"/>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880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1000"/>
                                        <p:tgtEl>
                                          <p:spTgt spid="21"/>
                                        </p:tgtEl>
                                      </p:cBhvr>
                                    </p:animEffect>
                                    <p:anim calcmode="lin" valueType="num">
                                      <p:cBhvr>
                                        <p:cTn id="22" dur="1000" fill="hold"/>
                                        <p:tgtEl>
                                          <p:spTgt spid="21"/>
                                        </p:tgtEl>
                                        <p:attrNameLst>
                                          <p:attrName>ppt_x</p:attrName>
                                        </p:attrNameLst>
                                      </p:cBhvr>
                                      <p:tavLst>
                                        <p:tav tm="0">
                                          <p:val>
                                            <p:strVal val="#ppt_x"/>
                                          </p:val>
                                        </p:tav>
                                        <p:tav tm="100000">
                                          <p:val>
                                            <p:strVal val="#ppt_x"/>
                                          </p:val>
                                        </p:tav>
                                      </p:tavLst>
                                    </p:anim>
                                    <p:anim calcmode="lin" valueType="num">
                                      <p:cBhvr>
                                        <p:cTn id="2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 calcmode="lin" valueType="num">
                                      <p:cBhvr additive="base">
                                        <p:cTn id="35"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3">
                                            <p:txEl>
                                              <p:pRg st="1" end="1"/>
                                            </p:txEl>
                                          </p:spTgt>
                                        </p:tgtEl>
                                        <p:attrNameLst>
                                          <p:attrName>style.visibility</p:attrName>
                                        </p:attrNameLst>
                                      </p:cBhvr>
                                      <p:to>
                                        <p:strVal val="visible"/>
                                      </p:to>
                                    </p:set>
                                    <p:animEffect transition="in" filter="fade">
                                      <p:cBhvr>
                                        <p:cTn id="41" dur="1000"/>
                                        <p:tgtEl>
                                          <p:spTgt spid="13">
                                            <p:txEl>
                                              <p:pRg st="1" end="1"/>
                                            </p:txEl>
                                          </p:spTgt>
                                        </p:tgtEl>
                                      </p:cBhvr>
                                    </p:animEffect>
                                    <p:anim calcmode="lin" valueType="num">
                                      <p:cBhvr>
                                        <p:cTn id="42"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43"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10</a:t>
            </a:fld>
            <a:endParaRPr lang="en-US"/>
          </a:p>
        </p:txBody>
      </p:sp>
      <p:sp>
        <p:nvSpPr>
          <p:cNvPr id="17" name="Rectangle 16"/>
          <p:cNvSpPr/>
          <p:nvPr/>
        </p:nvSpPr>
        <p:spPr>
          <a:xfrm>
            <a:off x="3429000" y="1317248"/>
            <a:ext cx="5867400" cy="892552"/>
          </a:xfrm>
          <a:prstGeom prst="rect">
            <a:avLst/>
          </a:prstGeom>
        </p:spPr>
        <p:txBody>
          <a:bodyPr wrap="square">
            <a:spAutoFit/>
          </a:bodyPr>
          <a:lstStyle/>
          <a:p>
            <a:pPr algn="ctr"/>
            <a:r>
              <a:rPr lang="en-US" sz="2600" i="1" spc="-150" smtClean="0">
                <a:solidFill>
                  <a:srgbClr val="002060"/>
                </a:solidFill>
                <a:latin typeface="Times New Roman" pitchFamily="18" charset="0"/>
                <a:cs typeface="Times New Roman" pitchFamily="18" charset="0"/>
              </a:rPr>
              <a:t>Quan điểm của Hồ Chí Minh về mối quan hệ giữa văn hóa với các lĩnh vực khác</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905000" y="152400"/>
            <a:ext cx="7086600"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marL="514350" indent="-514350" algn="ctr">
              <a:buAutoNum type="arabicPeriod"/>
            </a:pPr>
            <a:r>
              <a:rPr lang="en-US" sz="2800" smtClean="0">
                <a:solidFill>
                  <a:srgbClr val="FF0000"/>
                </a:solidFill>
                <a:latin typeface="Times New Roman"/>
                <a:cs typeface="Times New Roman"/>
              </a:rPr>
              <a:t>Một </a:t>
            </a:r>
            <a:r>
              <a:rPr lang="en-US" sz="2800">
                <a:solidFill>
                  <a:srgbClr val="FF0000"/>
                </a:solidFill>
                <a:latin typeface="Times New Roman"/>
                <a:cs typeface="Times New Roman"/>
              </a:rPr>
              <a:t>số nhận thức chung về văn hóa </a:t>
            </a:r>
            <a:endParaRPr lang="en-US" sz="2800" smtClean="0">
              <a:solidFill>
                <a:srgbClr val="FF0000"/>
              </a:solidFill>
              <a:latin typeface="Times New Roman"/>
              <a:cs typeface="Times New Roman"/>
            </a:endParaRPr>
          </a:p>
          <a:p>
            <a:pPr algn="ctr"/>
            <a:r>
              <a:rPr lang="en-US" sz="2800" smtClean="0">
                <a:solidFill>
                  <a:srgbClr val="FF0000"/>
                </a:solidFill>
                <a:latin typeface="Times New Roman"/>
                <a:cs typeface="Times New Roman"/>
              </a:rPr>
              <a:t>và </a:t>
            </a:r>
            <a:r>
              <a:rPr lang="en-US" sz="2800">
                <a:solidFill>
                  <a:srgbClr val="FF0000"/>
                </a:solidFill>
                <a:latin typeface="Times New Roman"/>
                <a:cs typeface="Times New Roman"/>
              </a:rPr>
              <a:t>quan hệ giữa văn hóa với các lĩnh vực khác </a:t>
            </a:r>
            <a:endParaRPr lang="en-US" sz="2800" dirty="0">
              <a:solidFill>
                <a:srgbClr val="FF0000"/>
              </a:solidFill>
              <a:latin typeface="Times New Roman"/>
              <a:cs typeface="Times New Roman"/>
            </a:endParaRPr>
          </a:p>
        </p:txBody>
      </p:sp>
      <p:cxnSp>
        <p:nvCxnSpPr>
          <p:cNvPr id="18" name="Straight Connector 17"/>
          <p:cNvCxnSpPr/>
          <p:nvPr/>
        </p:nvCxnSpPr>
        <p:spPr>
          <a:xfrm>
            <a:off x="2971800" y="1132076"/>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195813" y="2438602"/>
            <a:ext cx="6073552" cy="609398"/>
          </a:xfrm>
          <a:prstGeom prst="rect">
            <a:avLst/>
          </a:prstGeom>
        </p:spPr>
        <p:txBody>
          <a:bodyPr wrap="square">
            <a:spAutoFit/>
          </a:bodyPr>
          <a:lstStyle/>
          <a:p>
            <a:pPr algn="ctr">
              <a:lnSpc>
                <a:spcPct val="120000"/>
              </a:lnSpc>
            </a:pPr>
            <a:r>
              <a:rPr lang="en-US" sz="2800" smtClean="0">
                <a:solidFill>
                  <a:srgbClr val="CC0066"/>
                </a:solidFill>
                <a:latin typeface="Times New Roman" pitchFamily="18" charset="0"/>
                <a:cs typeface="Times New Roman" pitchFamily="18" charset="0"/>
              </a:rPr>
              <a:t>Quan hệ giữa văn hóa với kinh tế</a:t>
            </a:r>
            <a:endParaRPr lang="en-US" sz="2600" i="1" dirty="0">
              <a:solidFill>
                <a:srgbClr val="CC0066"/>
              </a:solidFill>
              <a:latin typeface="Times New Roman" pitchFamily="18" charset="0"/>
              <a:cs typeface="Times New Roman" pitchFamily="18" charset="0"/>
            </a:endParaRPr>
          </a:p>
        </p:txBody>
      </p:sp>
      <p:sp>
        <p:nvSpPr>
          <p:cNvPr id="13" name="Rectangle 12"/>
          <p:cNvSpPr/>
          <p:nvPr/>
        </p:nvSpPr>
        <p:spPr>
          <a:xfrm>
            <a:off x="3048000" y="4003119"/>
            <a:ext cx="6073552" cy="2092881"/>
          </a:xfrm>
          <a:prstGeom prst="rect">
            <a:avLst/>
          </a:prstGeom>
        </p:spPr>
        <p:txBody>
          <a:bodyPr wrap="square">
            <a:spAutoFit/>
          </a:bodyPr>
          <a:lstStyle/>
          <a:p>
            <a:pPr algn="just"/>
            <a:r>
              <a:rPr lang="en-US" sz="2600" smtClean="0">
                <a:solidFill>
                  <a:srgbClr val="002060"/>
                </a:solidFill>
                <a:latin typeface="Times New Roman" pitchFamily="18" charset="0"/>
                <a:cs typeface="Times New Roman" pitchFamily="18" charset="0"/>
              </a:rPr>
              <a:t>- Văn hóa cũng không thể đứng ngoài mà phải đứng trong kinh tế.</a:t>
            </a:r>
          </a:p>
          <a:p>
            <a:pPr algn="just"/>
            <a:r>
              <a:rPr lang="en-US" sz="2600" smtClean="0">
                <a:solidFill>
                  <a:srgbClr val="002060"/>
                </a:solidFill>
                <a:latin typeface="Times New Roman" pitchFamily="18" charset="0"/>
                <a:cs typeface="Times New Roman" pitchFamily="18" charset="0"/>
              </a:rPr>
              <a:t>- Văn hóa không hoàn toàn phụ thuộc vào kinh tế mà có vai trò tác động trở lại đối với kinh tế.</a:t>
            </a:r>
            <a:endParaRPr lang="en-US" sz="2600" dirty="0">
              <a:solidFill>
                <a:srgbClr val="002060"/>
              </a:solidFill>
              <a:latin typeface="Times New Roman" pitchFamily="18" charset="0"/>
              <a:cs typeface="Times New Roman" pitchFamily="18" charset="0"/>
            </a:endParaRPr>
          </a:p>
        </p:txBody>
      </p:sp>
      <p:sp>
        <p:nvSpPr>
          <p:cNvPr id="3" name="Down Arrow 2"/>
          <p:cNvSpPr/>
          <p:nvPr/>
        </p:nvSpPr>
        <p:spPr>
          <a:xfrm>
            <a:off x="5638800" y="3200400"/>
            <a:ext cx="838200" cy="457200"/>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02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ppt_x"/>
                                          </p:val>
                                        </p:tav>
                                        <p:tav tm="100000">
                                          <p:val>
                                            <p:strVal val="#ppt_x"/>
                                          </p:val>
                                        </p:tav>
                                      </p:tavLst>
                                    </p:anim>
                                    <p:anim calcmode="lin" valueType="num">
                                      <p:cBhvr additive="base">
                                        <p:cTn id="2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1000"/>
                                        <p:tgtEl>
                                          <p:spTgt spid="3"/>
                                        </p:tgtEl>
                                      </p:cBhvr>
                                    </p:animEffect>
                                    <p:anim calcmode="lin" valueType="num">
                                      <p:cBhvr>
                                        <p:cTn id="31" dur="1000" fill="hold"/>
                                        <p:tgtEl>
                                          <p:spTgt spid="3"/>
                                        </p:tgtEl>
                                        <p:attrNameLst>
                                          <p:attrName>ppt_x</p:attrName>
                                        </p:attrNameLst>
                                      </p:cBhvr>
                                      <p:tavLst>
                                        <p:tav tm="0">
                                          <p:val>
                                            <p:strVal val="#ppt_x"/>
                                          </p:val>
                                        </p:tav>
                                        <p:tav tm="100000">
                                          <p:val>
                                            <p:strVal val="#ppt_x"/>
                                          </p:val>
                                        </p:tav>
                                      </p:tavLst>
                                    </p:anim>
                                    <p:anim calcmode="lin" valueType="num">
                                      <p:cBhvr>
                                        <p:cTn id="3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Effect transition="in" filter="fade">
                                      <p:cBhvr>
                                        <p:cTn id="37" dur="1000"/>
                                        <p:tgtEl>
                                          <p:spTgt spid="13">
                                            <p:txEl>
                                              <p:pRg st="0" end="0"/>
                                            </p:txEl>
                                          </p:spTgt>
                                        </p:tgtEl>
                                      </p:cBhvr>
                                    </p:animEffect>
                                    <p:anim calcmode="lin" valueType="num">
                                      <p:cBhvr>
                                        <p:cTn id="3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3">
                                            <p:txEl>
                                              <p:pRg st="1" end="1"/>
                                            </p:txEl>
                                          </p:spTgt>
                                        </p:tgtEl>
                                        <p:attrNameLst>
                                          <p:attrName>style.visibility</p:attrName>
                                        </p:attrNameLst>
                                      </p:cBhvr>
                                      <p:to>
                                        <p:strVal val="visible"/>
                                      </p:to>
                                    </p:set>
                                    <p:animEffect transition="in" filter="fade">
                                      <p:cBhvr>
                                        <p:cTn id="44" dur="1000"/>
                                        <p:tgtEl>
                                          <p:spTgt spid="13">
                                            <p:txEl>
                                              <p:pRg st="1" end="1"/>
                                            </p:txEl>
                                          </p:spTgt>
                                        </p:tgtEl>
                                      </p:cBhvr>
                                    </p:animEffect>
                                    <p:anim calcmode="lin" valueType="num">
                                      <p:cBhvr>
                                        <p:cTn id="45"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46"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11</a:t>
            </a:fld>
            <a:endParaRPr lang="en-US"/>
          </a:p>
        </p:txBody>
      </p:sp>
      <p:sp>
        <p:nvSpPr>
          <p:cNvPr id="17" name="Rectangle 16"/>
          <p:cNvSpPr/>
          <p:nvPr/>
        </p:nvSpPr>
        <p:spPr>
          <a:xfrm>
            <a:off x="3429000" y="1317248"/>
            <a:ext cx="5867400" cy="892552"/>
          </a:xfrm>
          <a:prstGeom prst="rect">
            <a:avLst/>
          </a:prstGeom>
        </p:spPr>
        <p:txBody>
          <a:bodyPr wrap="square">
            <a:spAutoFit/>
          </a:bodyPr>
          <a:lstStyle/>
          <a:p>
            <a:pPr algn="ctr"/>
            <a:r>
              <a:rPr lang="en-US" sz="2600" i="1" spc="-150" smtClean="0">
                <a:solidFill>
                  <a:srgbClr val="002060"/>
                </a:solidFill>
                <a:latin typeface="Times New Roman" pitchFamily="18" charset="0"/>
                <a:cs typeface="Times New Roman" pitchFamily="18" charset="0"/>
              </a:rPr>
              <a:t>Quan điểm của Hồ Chí Minh về mối quan hệ giữa văn hóa với các lĩnh vực khác</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905000" y="152400"/>
            <a:ext cx="7086600"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marL="514350" indent="-514350" algn="ctr">
              <a:buAutoNum type="arabicPeriod"/>
            </a:pPr>
            <a:r>
              <a:rPr lang="en-US" sz="2800" smtClean="0">
                <a:solidFill>
                  <a:srgbClr val="FF0000"/>
                </a:solidFill>
                <a:latin typeface="Times New Roman"/>
                <a:cs typeface="Times New Roman"/>
              </a:rPr>
              <a:t>Một </a:t>
            </a:r>
            <a:r>
              <a:rPr lang="en-US" sz="2800">
                <a:solidFill>
                  <a:srgbClr val="FF0000"/>
                </a:solidFill>
                <a:latin typeface="Times New Roman"/>
                <a:cs typeface="Times New Roman"/>
              </a:rPr>
              <a:t>số nhận thức chung về văn hóa </a:t>
            </a:r>
            <a:endParaRPr lang="en-US" sz="2800" smtClean="0">
              <a:solidFill>
                <a:srgbClr val="FF0000"/>
              </a:solidFill>
              <a:latin typeface="Times New Roman"/>
              <a:cs typeface="Times New Roman"/>
            </a:endParaRPr>
          </a:p>
          <a:p>
            <a:pPr algn="ctr"/>
            <a:r>
              <a:rPr lang="en-US" sz="2800" smtClean="0">
                <a:solidFill>
                  <a:srgbClr val="FF0000"/>
                </a:solidFill>
                <a:latin typeface="Times New Roman"/>
                <a:cs typeface="Times New Roman"/>
              </a:rPr>
              <a:t>và </a:t>
            </a:r>
            <a:r>
              <a:rPr lang="en-US" sz="2800">
                <a:solidFill>
                  <a:srgbClr val="FF0000"/>
                </a:solidFill>
                <a:latin typeface="Times New Roman"/>
                <a:cs typeface="Times New Roman"/>
              </a:rPr>
              <a:t>quan hệ giữa văn hóa với các lĩnh vực khác </a:t>
            </a:r>
            <a:endParaRPr lang="en-US" sz="2800" dirty="0">
              <a:solidFill>
                <a:srgbClr val="FF0000"/>
              </a:solidFill>
              <a:latin typeface="Times New Roman"/>
              <a:cs typeface="Times New Roman"/>
            </a:endParaRPr>
          </a:p>
        </p:txBody>
      </p:sp>
      <p:cxnSp>
        <p:nvCxnSpPr>
          <p:cNvPr id="18" name="Straight Connector 17"/>
          <p:cNvCxnSpPr/>
          <p:nvPr/>
        </p:nvCxnSpPr>
        <p:spPr>
          <a:xfrm>
            <a:off x="2971800" y="1132076"/>
            <a:ext cx="0" cy="32004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195813" y="2438602"/>
            <a:ext cx="6073552" cy="609398"/>
          </a:xfrm>
          <a:prstGeom prst="rect">
            <a:avLst/>
          </a:prstGeom>
        </p:spPr>
        <p:txBody>
          <a:bodyPr wrap="square">
            <a:spAutoFit/>
          </a:bodyPr>
          <a:lstStyle/>
          <a:p>
            <a:pPr algn="ctr">
              <a:lnSpc>
                <a:spcPct val="120000"/>
              </a:lnSpc>
            </a:pPr>
            <a:r>
              <a:rPr lang="en-US" sz="2800" dirty="0" err="1" smtClean="0">
                <a:solidFill>
                  <a:srgbClr val="CC0066"/>
                </a:solidFill>
                <a:latin typeface="Times New Roman" pitchFamily="18" charset="0"/>
                <a:cs typeface="Times New Roman" pitchFamily="18" charset="0"/>
              </a:rPr>
              <a:t>Quan</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hệ</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giữa</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văn</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hóa</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với</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xã</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hội</a:t>
            </a:r>
            <a:endParaRPr lang="en-US" sz="2600" i="1" dirty="0">
              <a:solidFill>
                <a:srgbClr val="CC0066"/>
              </a:solidFill>
              <a:latin typeface="Times New Roman" pitchFamily="18" charset="0"/>
              <a:cs typeface="Times New Roman" pitchFamily="18" charset="0"/>
            </a:endParaRPr>
          </a:p>
        </p:txBody>
      </p:sp>
      <p:sp>
        <p:nvSpPr>
          <p:cNvPr id="13" name="Rectangle 12"/>
          <p:cNvSpPr/>
          <p:nvPr/>
        </p:nvSpPr>
        <p:spPr>
          <a:xfrm>
            <a:off x="3451448" y="4003119"/>
            <a:ext cx="5387752" cy="1292662"/>
          </a:xfrm>
          <a:prstGeom prst="rect">
            <a:avLst/>
          </a:prstGeom>
        </p:spPr>
        <p:txBody>
          <a:bodyPr wrap="square">
            <a:spAutoFit/>
          </a:bodyPr>
          <a:lstStyle/>
          <a:p>
            <a:pPr algn="just">
              <a:lnSpc>
                <a:spcPct val="150000"/>
              </a:lnSpc>
            </a:pP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Xã</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hội</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thế</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nào</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văn</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hóa</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thế</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ấy</a:t>
            </a:r>
            <a:r>
              <a:rPr lang="en-US" sz="2600" dirty="0" smtClean="0">
                <a:solidFill>
                  <a:srgbClr val="002060"/>
                </a:solidFill>
                <a:latin typeface="Times New Roman" pitchFamily="18" charset="0"/>
                <a:cs typeface="Times New Roman" pitchFamily="18" charset="0"/>
              </a:rPr>
              <a:t>.</a:t>
            </a:r>
          </a:p>
          <a:p>
            <a:pPr algn="just">
              <a:lnSpc>
                <a:spcPct val="150000"/>
              </a:lnSpc>
            </a:pP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Văn</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hóa</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thúc</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đẩy</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phát</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triển</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xã</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hội</a:t>
            </a:r>
            <a:r>
              <a:rPr lang="en-US" sz="2600" dirty="0" smtClean="0">
                <a:solidFill>
                  <a:srgbClr val="002060"/>
                </a:solidFill>
                <a:latin typeface="Times New Roman" pitchFamily="18" charset="0"/>
                <a:cs typeface="Times New Roman" pitchFamily="18" charset="0"/>
              </a:rPr>
              <a:t>.</a:t>
            </a:r>
            <a:endParaRPr lang="en-US" sz="2600" dirty="0">
              <a:solidFill>
                <a:srgbClr val="002060"/>
              </a:solidFill>
              <a:latin typeface="Times New Roman" pitchFamily="18" charset="0"/>
              <a:cs typeface="Times New Roman" pitchFamily="18" charset="0"/>
            </a:endParaRPr>
          </a:p>
        </p:txBody>
      </p:sp>
      <p:sp>
        <p:nvSpPr>
          <p:cNvPr id="3" name="Down Arrow 2"/>
          <p:cNvSpPr/>
          <p:nvPr/>
        </p:nvSpPr>
        <p:spPr>
          <a:xfrm>
            <a:off x="5638800" y="3200400"/>
            <a:ext cx="838200" cy="457200"/>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143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ppt_x"/>
                                          </p:val>
                                        </p:tav>
                                        <p:tav tm="100000">
                                          <p:val>
                                            <p:strVal val="#ppt_x"/>
                                          </p:val>
                                        </p:tav>
                                      </p:tavLst>
                                    </p:anim>
                                    <p:anim calcmode="lin" valueType="num">
                                      <p:cBhvr additive="base">
                                        <p:cTn id="2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1000"/>
                                        <p:tgtEl>
                                          <p:spTgt spid="3"/>
                                        </p:tgtEl>
                                      </p:cBhvr>
                                    </p:animEffect>
                                    <p:anim calcmode="lin" valueType="num">
                                      <p:cBhvr>
                                        <p:cTn id="31" dur="1000" fill="hold"/>
                                        <p:tgtEl>
                                          <p:spTgt spid="3"/>
                                        </p:tgtEl>
                                        <p:attrNameLst>
                                          <p:attrName>ppt_x</p:attrName>
                                        </p:attrNameLst>
                                      </p:cBhvr>
                                      <p:tavLst>
                                        <p:tav tm="0">
                                          <p:val>
                                            <p:strVal val="#ppt_x"/>
                                          </p:val>
                                        </p:tav>
                                        <p:tav tm="100000">
                                          <p:val>
                                            <p:strVal val="#ppt_x"/>
                                          </p:val>
                                        </p:tav>
                                      </p:tavLst>
                                    </p:anim>
                                    <p:anim calcmode="lin" valueType="num">
                                      <p:cBhvr>
                                        <p:cTn id="32"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3">
                                            <p:txEl>
                                              <p:pRg st="0" end="0"/>
                                            </p:txEl>
                                          </p:spTgt>
                                        </p:tgtEl>
                                        <p:attrNameLst>
                                          <p:attrName>style.visibility</p:attrName>
                                        </p:attrNameLst>
                                      </p:cBhvr>
                                      <p:to>
                                        <p:strVal val="visible"/>
                                      </p:to>
                                    </p:set>
                                    <p:animEffect transition="in" filter="fade">
                                      <p:cBhvr>
                                        <p:cTn id="37" dur="1000"/>
                                        <p:tgtEl>
                                          <p:spTgt spid="13">
                                            <p:txEl>
                                              <p:pRg st="0" end="0"/>
                                            </p:txEl>
                                          </p:spTgt>
                                        </p:tgtEl>
                                      </p:cBhvr>
                                    </p:animEffect>
                                    <p:anim calcmode="lin" valueType="num">
                                      <p:cBhvr>
                                        <p:cTn id="3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3">
                                            <p:txEl>
                                              <p:pRg st="1" end="1"/>
                                            </p:txEl>
                                          </p:spTgt>
                                        </p:tgtEl>
                                        <p:attrNameLst>
                                          <p:attrName>style.visibility</p:attrName>
                                        </p:attrNameLst>
                                      </p:cBhvr>
                                      <p:to>
                                        <p:strVal val="visible"/>
                                      </p:to>
                                    </p:set>
                                    <p:animEffect transition="in" filter="fade">
                                      <p:cBhvr>
                                        <p:cTn id="44" dur="1000"/>
                                        <p:tgtEl>
                                          <p:spTgt spid="13">
                                            <p:txEl>
                                              <p:pRg st="1" end="1"/>
                                            </p:txEl>
                                          </p:spTgt>
                                        </p:tgtEl>
                                      </p:cBhvr>
                                    </p:animEffect>
                                    <p:anim calcmode="lin" valueType="num">
                                      <p:cBhvr>
                                        <p:cTn id="45"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46"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12</a:t>
            </a:fld>
            <a:endParaRPr lang="en-US"/>
          </a:p>
        </p:txBody>
      </p:sp>
      <p:sp>
        <p:nvSpPr>
          <p:cNvPr id="17" name="Rectangle 16"/>
          <p:cNvSpPr/>
          <p:nvPr/>
        </p:nvSpPr>
        <p:spPr>
          <a:xfrm>
            <a:off x="3429000" y="1317248"/>
            <a:ext cx="5867400" cy="892552"/>
          </a:xfrm>
          <a:prstGeom prst="rect">
            <a:avLst/>
          </a:prstGeom>
        </p:spPr>
        <p:txBody>
          <a:bodyPr wrap="square">
            <a:spAutoFit/>
          </a:bodyPr>
          <a:lstStyle/>
          <a:p>
            <a:pPr algn="ctr"/>
            <a:r>
              <a:rPr lang="en-US" sz="2600" i="1" spc="-150" smtClean="0">
                <a:solidFill>
                  <a:srgbClr val="002060"/>
                </a:solidFill>
                <a:latin typeface="Times New Roman" pitchFamily="18" charset="0"/>
                <a:cs typeface="Times New Roman" pitchFamily="18" charset="0"/>
              </a:rPr>
              <a:t>Quan điểm của Hồ Chí Minh về mối quan hệ giữa văn hóa với các lĩnh vực khác</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905000" y="152400"/>
            <a:ext cx="7086600"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marL="514350" indent="-514350" algn="ctr">
              <a:buAutoNum type="arabicPeriod"/>
            </a:pPr>
            <a:r>
              <a:rPr lang="en-US" sz="2800" smtClean="0">
                <a:solidFill>
                  <a:srgbClr val="FF0000"/>
                </a:solidFill>
                <a:latin typeface="Times New Roman"/>
                <a:cs typeface="Times New Roman"/>
              </a:rPr>
              <a:t>Một </a:t>
            </a:r>
            <a:r>
              <a:rPr lang="en-US" sz="2800">
                <a:solidFill>
                  <a:srgbClr val="FF0000"/>
                </a:solidFill>
                <a:latin typeface="Times New Roman"/>
                <a:cs typeface="Times New Roman"/>
              </a:rPr>
              <a:t>số nhận thức chung về văn hóa </a:t>
            </a:r>
            <a:endParaRPr lang="en-US" sz="2800" smtClean="0">
              <a:solidFill>
                <a:srgbClr val="FF0000"/>
              </a:solidFill>
              <a:latin typeface="Times New Roman"/>
              <a:cs typeface="Times New Roman"/>
            </a:endParaRPr>
          </a:p>
          <a:p>
            <a:pPr algn="ctr"/>
            <a:r>
              <a:rPr lang="en-US" sz="2800" smtClean="0">
                <a:solidFill>
                  <a:srgbClr val="FF0000"/>
                </a:solidFill>
                <a:latin typeface="Times New Roman"/>
                <a:cs typeface="Times New Roman"/>
              </a:rPr>
              <a:t>và </a:t>
            </a:r>
            <a:r>
              <a:rPr lang="en-US" sz="2800">
                <a:solidFill>
                  <a:srgbClr val="FF0000"/>
                </a:solidFill>
                <a:latin typeface="Times New Roman"/>
                <a:cs typeface="Times New Roman"/>
              </a:rPr>
              <a:t>quan hệ giữa văn hóa với các lĩnh vực khác </a:t>
            </a:r>
            <a:endParaRPr lang="en-US" sz="2800" dirty="0">
              <a:solidFill>
                <a:srgbClr val="FF0000"/>
              </a:solidFill>
              <a:latin typeface="Times New Roman"/>
              <a:cs typeface="Times New Roman"/>
            </a:endParaRPr>
          </a:p>
        </p:txBody>
      </p:sp>
      <p:cxnSp>
        <p:nvCxnSpPr>
          <p:cNvPr id="18" name="Straight Connector 17"/>
          <p:cNvCxnSpPr/>
          <p:nvPr/>
        </p:nvCxnSpPr>
        <p:spPr>
          <a:xfrm>
            <a:off x="1701595" y="3762938"/>
            <a:ext cx="2780" cy="206832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1701595" y="4191000"/>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195813" y="2438602"/>
            <a:ext cx="6073552" cy="564257"/>
          </a:xfrm>
          <a:prstGeom prst="rect">
            <a:avLst/>
          </a:prstGeom>
        </p:spPr>
        <p:txBody>
          <a:bodyPr wrap="square">
            <a:spAutoFit/>
          </a:bodyPr>
          <a:lstStyle/>
          <a:p>
            <a:pPr algn="ctr">
              <a:lnSpc>
                <a:spcPct val="120000"/>
              </a:lnSpc>
            </a:pPr>
            <a:r>
              <a:rPr lang="en-US" sz="2800" dirty="0" err="1" smtClean="0">
                <a:solidFill>
                  <a:srgbClr val="CC0066"/>
                </a:solidFill>
                <a:latin typeface="Times New Roman" pitchFamily="18" charset="0"/>
                <a:cs typeface="Times New Roman" pitchFamily="18" charset="0"/>
              </a:rPr>
              <a:t>Giữ</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gìn</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bản</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sắc</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văn</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hóa</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dân</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tộc</a:t>
            </a:r>
            <a:endParaRPr lang="en-US" sz="2600" i="1" dirty="0">
              <a:solidFill>
                <a:srgbClr val="CC0066"/>
              </a:solidFill>
              <a:latin typeface="Times New Roman" pitchFamily="18" charset="0"/>
              <a:cs typeface="Times New Roman" pitchFamily="18" charset="0"/>
            </a:endParaRPr>
          </a:p>
        </p:txBody>
      </p:sp>
      <p:sp>
        <p:nvSpPr>
          <p:cNvPr id="13" name="Rectangle 12"/>
          <p:cNvSpPr/>
          <p:nvPr/>
        </p:nvSpPr>
        <p:spPr>
          <a:xfrm>
            <a:off x="228600" y="3806344"/>
            <a:ext cx="1455789" cy="1892826"/>
          </a:xfrm>
          <a:prstGeom prst="rect">
            <a:avLst/>
          </a:prstGeom>
        </p:spPr>
        <p:txBody>
          <a:bodyPr wrap="square">
            <a:spAutoFit/>
          </a:bodyPr>
          <a:lstStyle/>
          <a:p>
            <a:pPr algn="ctr">
              <a:lnSpc>
                <a:spcPct val="150000"/>
              </a:lnSpc>
            </a:pPr>
            <a:r>
              <a:rPr lang="en-US" sz="2600" dirty="0" err="1" smtClean="0">
                <a:solidFill>
                  <a:srgbClr val="002060"/>
                </a:solidFill>
                <a:latin typeface="Times New Roman" pitchFamily="18" charset="0"/>
                <a:cs typeface="Times New Roman" pitchFamily="18" charset="0"/>
              </a:rPr>
              <a:t>Giá</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trị</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văn</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hóa</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bền</a:t>
            </a:r>
            <a:r>
              <a:rPr lang="en-US" sz="2600" dirty="0" smtClean="0">
                <a:solidFill>
                  <a:srgbClr val="002060"/>
                </a:solidFill>
                <a:latin typeface="Times New Roman" pitchFamily="18" charset="0"/>
                <a:cs typeface="Times New Roman" pitchFamily="18" charset="0"/>
              </a:rPr>
              <a:t> </a:t>
            </a:r>
            <a:r>
              <a:rPr lang="en-US" sz="2600" dirty="0" err="1" smtClean="0">
                <a:solidFill>
                  <a:srgbClr val="002060"/>
                </a:solidFill>
                <a:latin typeface="Times New Roman" pitchFamily="18" charset="0"/>
                <a:cs typeface="Times New Roman" pitchFamily="18" charset="0"/>
              </a:rPr>
              <a:t>vững</a:t>
            </a:r>
            <a:endParaRPr lang="en-US" sz="2600" dirty="0">
              <a:solidFill>
                <a:srgbClr val="002060"/>
              </a:solidFill>
              <a:latin typeface="Times New Roman" pitchFamily="18" charset="0"/>
              <a:cs typeface="Times New Roman" pitchFamily="18"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0"/>
            <a:ext cx="2909045" cy="2184429"/>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p:cNvSpPr/>
          <p:nvPr/>
        </p:nvSpPr>
        <p:spPr>
          <a:xfrm>
            <a:off x="2438400" y="3750338"/>
            <a:ext cx="6553200" cy="1081322"/>
          </a:xfrm>
          <a:prstGeom prst="rect">
            <a:avLst/>
          </a:prstGeom>
        </p:spPr>
        <p:txBody>
          <a:bodyPr wrap="square">
            <a:spAutoFit/>
          </a:bodyPr>
          <a:lstStyle/>
          <a:p>
            <a:pPr algn="just">
              <a:lnSpc>
                <a:spcPct val="120000"/>
              </a:lnSpc>
            </a:pPr>
            <a:r>
              <a:rPr lang="en-US" sz="2800" dirty="0" err="1" smtClean="0">
                <a:solidFill>
                  <a:srgbClr val="CC0066"/>
                </a:solidFill>
                <a:latin typeface="Times New Roman" pitchFamily="18" charset="0"/>
                <a:cs typeface="Times New Roman" pitchFamily="18" charset="0"/>
              </a:rPr>
              <a:t>Nội</a:t>
            </a:r>
            <a:r>
              <a:rPr lang="en-US" sz="2800" dirty="0" smtClean="0">
                <a:solidFill>
                  <a:srgbClr val="CC0066"/>
                </a:solidFill>
                <a:latin typeface="Times New Roman" pitchFamily="18" charset="0"/>
                <a:cs typeface="Times New Roman" pitchFamily="18" charset="0"/>
              </a:rPr>
              <a:t> dung: </a:t>
            </a:r>
            <a:r>
              <a:rPr lang="en-US" sz="2800" dirty="0" err="1" smtClean="0">
                <a:solidFill>
                  <a:srgbClr val="002060"/>
                </a:solidFill>
                <a:latin typeface="Times New Roman" pitchFamily="18" charset="0"/>
                <a:cs typeface="Times New Roman" pitchFamily="18" charset="0"/>
              </a:rPr>
              <a:t>Lòng</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yêu</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nước</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thương</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nòi</a:t>
            </a:r>
            <a:r>
              <a:rPr lang="en-US" sz="2800" dirty="0" smtClean="0">
                <a:solidFill>
                  <a:srgbClr val="002060"/>
                </a:solidFill>
                <a:latin typeface="Times New Roman" pitchFamily="18" charset="0"/>
                <a:cs typeface="Times New Roman" pitchFamily="18" charset="0"/>
              </a:rPr>
              <a:t>,</a:t>
            </a:r>
          </a:p>
          <a:p>
            <a:pPr algn="just">
              <a:lnSpc>
                <a:spcPct val="120000"/>
              </a:lnSpc>
            </a:pP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tinh</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thần</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độc</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lập</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tự</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cường</a:t>
            </a:r>
            <a:r>
              <a:rPr lang="en-US" sz="2800" dirty="0" smtClean="0">
                <a:solidFill>
                  <a:srgbClr val="002060"/>
                </a:solidFill>
                <a:latin typeface="Times New Roman" pitchFamily="18" charset="0"/>
                <a:cs typeface="Times New Roman" pitchFamily="18" charset="0"/>
              </a:rPr>
              <a:t>,…</a:t>
            </a:r>
            <a:endParaRPr lang="en-US" sz="2600" i="1" dirty="0">
              <a:solidFill>
                <a:srgbClr val="002060"/>
              </a:solidFill>
              <a:latin typeface="Times New Roman" pitchFamily="18" charset="0"/>
              <a:cs typeface="Times New Roman" pitchFamily="18" charset="0"/>
            </a:endParaRPr>
          </a:p>
        </p:txBody>
      </p:sp>
      <p:sp>
        <p:nvSpPr>
          <p:cNvPr id="23" name="Rectangle 22"/>
          <p:cNvSpPr/>
          <p:nvPr/>
        </p:nvSpPr>
        <p:spPr>
          <a:xfrm>
            <a:off x="2461463" y="5044947"/>
            <a:ext cx="6682537" cy="1126462"/>
          </a:xfrm>
          <a:prstGeom prst="rect">
            <a:avLst/>
          </a:prstGeom>
        </p:spPr>
        <p:txBody>
          <a:bodyPr wrap="square">
            <a:spAutoFit/>
          </a:bodyPr>
          <a:lstStyle/>
          <a:p>
            <a:pPr algn="just">
              <a:lnSpc>
                <a:spcPct val="120000"/>
              </a:lnSpc>
            </a:pPr>
            <a:r>
              <a:rPr lang="en-US" sz="2800" dirty="0" err="1" smtClean="0">
                <a:solidFill>
                  <a:srgbClr val="CC0066"/>
                </a:solidFill>
                <a:latin typeface="Times New Roman" pitchFamily="18" charset="0"/>
                <a:cs typeface="Times New Roman" pitchFamily="18" charset="0"/>
              </a:rPr>
              <a:t>Hình</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thức</a:t>
            </a:r>
            <a:r>
              <a:rPr lang="en-US" sz="2800" dirty="0" smtClean="0">
                <a:solidFill>
                  <a:srgbClr val="CC0066"/>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Ngôn</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ngữ</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phong</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tục</a:t>
            </a:r>
            <a:r>
              <a:rPr lang="en-US" sz="2800" dirty="0" smtClean="0">
                <a:solidFill>
                  <a:srgbClr val="002060"/>
                </a:solidFill>
                <a:latin typeface="Times New Roman" pitchFamily="18" charset="0"/>
                <a:cs typeface="Times New Roman" pitchFamily="18" charset="0"/>
              </a:rPr>
              <a:t>, </a:t>
            </a:r>
          </a:p>
          <a:p>
            <a:pPr algn="just">
              <a:lnSpc>
                <a:spcPct val="120000"/>
              </a:lnSpc>
            </a:pPr>
            <a:r>
              <a:rPr lang="en-US" sz="2800" dirty="0">
                <a:solidFill>
                  <a:srgbClr val="002060"/>
                </a:solidFill>
                <a:latin typeface="Times New Roman" pitchFamily="18" charset="0"/>
                <a:cs typeface="Times New Roman" pitchFamily="18" charset="0"/>
              </a:rPr>
              <a:t> </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tập</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quán</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lễ</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hội</a:t>
            </a:r>
            <a:r>
              <a:rPr lang="en-US" sz="2800" dirty="0" smtClean="0">
                <a:solidFill>
                  <a:srgbClr val="002060"/>
                </a:solidFill>
                <a:latin typeface="Times New Roman" pitchFamily="18" charset="0"/>
                <a:cs typeface="Times New Roman" pitchFamily="18" charset="0"/>
              </a:rPr>
              <a:t>,…</a:t>
            </a:r>
            <a:endParaRPr lang="en-US" sz="2600" i="1" dirty="0">
              <a:solidFill>
                <a:srgbClr val="002060"/>
              </a:solidFill>
              <a:latin typeface="Times New Roman" pitchFamily="18" charset="0"/>
              <a:cs typeface="Times New Roman" pitchFamily="18" charset="0"/>
            </a:endParaRPr>
          </a:p>
        </p:txBody>
      </p:sp>
      <p:cxnSp>
        <p:nvCxnSpPr>
          <p:cNvPr id="24" name="Straight Arrow Connector 23"/>
          <p:cNvCxnSpPr/>
          <p:nvPr/>
        </p:nvCxnSpPr>
        <p:spPr>
          <a:xfrm>
            <a:off x="1755380" y="5334000"/>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77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additive="base">
                                        <p:cTn id="24" dur="500" fill="hold"/>
                                        <p:tgtEl>
                                          <p:spTgt spid="21"/>
                                        </p:tgtEl>
                                        <p:attrNameLst>
                                          <p:attrName>ppt_x</p:attrName>
                                        </p:attrNameLst>
                                      </p:cBhvr>
                                      <p:tavLst>
                                        <p:tav tm="0">
                                          <p:val>
                                            <p:strVal val="#ppt_x"/>
                                          </p:val>
                                        </p:tav>
                                        <p:tav tm="100000">
                                          <p:val>
                                            <p:strVal val="#ppt_x"/>
                                          </p:val>
                                        </p:tav>
                                      </p:tavLst>
                                    </p:anim>
                                    <p:anim calcmode="lin" valueType="num">
                                      <p:cBhvr additive="base">
                                        <p:cTn id="2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13">
                                            <p:txEl>
                                              <p:pRg st="0" end="0"/>
                                            </p:txEl>
                                          </p:spTgt>
                                        </p:tgtEl>
                                        <p:attrNameLst>
                                          <p:attrName>style.visibility</p:attrName>
                                        </p:attrNameLst>
                                      </p:cBhvr>
                                      <p:to>
                                        <p:strVal val="visible"/>
                                      </p:to>
                                    </p:set>
                                    <p:animEffect transition="in" filter="fade">
                                      <p:cBhvr>
                                        <p:cTn id="30" dur="1000"/>
                                        <p:tgtEl>
                                          <p:spTgt spid="13">
                                            <p:txEl>
                                              <p:pRg st="0" end="0"/>
                                            </p:txEl>
                                          </p:spTgt>
                                        </p:tgtEl>
                                      </p:cBhvr>
                                    </p:animEffect>
                                    <p:anim calcmode="lin" valueType="num">
                                      <p:cBhvr>
                                        <p:cTn id="31"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2"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ppt_x"/>
                                          </p:val>
                                        </p:tav>
                                        <p:tav tm="100000">
                                          <p:val>
                                            <p:strVal val="#ppt_x"/>
                                          </p:val>
                                        </p:tav>
                                      </p:tavLst>
                                    </p:anim>
                                    <p:anim calcmode="lin" valueType="num">
                                      <p:cBhvr additive="base">
                                        <p:cTn id="3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1+#ppt_h/2"/>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1000"/>
                                        <p:tgtEl>
                                          <p:spTgt spid="24"/>
                                        </p:tgtEl>
                                      </p:cBhvr>
                                    </p:animEffect>
                                    <p:anim calcmode="lin" valueType="num">
                                      <p:cBhvr>
                                        <p:cTn id="48" dur="1000" fill="hold"/>
                                        <p:tgtEl>
                                          <p:spTgt spid="24"/>
                                        </p:tgtEl>
                                        <p:attrNameLst>
                                          <p:attrName>ppt_x</p:attrName>
                                        </p:attrNameLst>
                                      </p:cBhvr>
                                      <p:tavLst>
                                        <p:tav tm="0">
                                          <p:val>
                                            <p:strVal val="#ppt_x"/>
                                          </p:val>
                                        </p:tav>
                                        <p:tav tm="100000">
                                          <p:val>
                                            <p:strVal val="#ppt_x"/>
                                          </p:val>
                                        </p:tav>
                                      </p:tavLst>
                                    </p:anim>
                                    <p:anim calcmode="lin" valueType="num">
                                      <p:cBhvr>
                                        <p:cTn id="4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13</a:t>
            </a:fld>
            <a:endParaRPr lang="en-US"/>
          </a:p>
        </p:txBody>
      </p:sp>
      <p:sp>
        <p:nvSpPr>
          <p:cNvPr id="17" name="Rectangle 16"/>
          <p:cNvSpPr/>
          <p:nvPr/>
        </p:nvSpPr>
        <p:spPr>
          <a:xfrm>
            <a:off x="3028950" y="1752773"/>
            <a:ext cx="5867400" cy="892552"/>
          </a:xfrm>
          <a:prstGeom prst="rect">
            <a:avLst/>
          </a:prstGeom>
        </p:spPr>
        <p:txBody>
          <a:bodyPr wrap="square">
            <a:spAutoFit/>
          </a:bodyPr>
          <a:lstStyle/>
          <a:p>
            <a:pPr algn="ctr"/>
            <a:r>
              <a:rPr lang="en-US" sz="2600" i="1" spc="-150" dirty="0" smtClean="0">
                <a:solidFill>
                  <a:srgbClr val="002060"/>
                </a:solidFill>
                <a:latin typeface="Times New Roman" pitchFamily="18" charset="0"/>
                <a:cs typeface="Times New Roman" pitchFamily="18" charset="0"/>
              </a:rPr>
              <a:t>b. </a:t>
            </a:r>
            <a:r>
              <a:rPr lang="en-US" sz="2600" i="1" spc="-150" dirty="0" err="1" smtClean="0">
                <a:solidFill>
                  <a:srgbClr val="002060"/>
                </a:solidFill>
                <a:latin typeface="Times New Roman" pitchFamily="18" charset="0"/>
                <a:cs typeface="Times New Roman" pitchFamily="18" charset="0"/>
              </a:rPr>
              <a:t>Quan</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điểm</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của</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Hồ</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Chí</a:t>
            </a:r>
            <a:r>
              <a:rPr lang="en-US" sz="2600" i="1" spc="-150" dirty="0" smtClean="0">
                <a:solidFill>
                  <a:srgbClr val="002060"/>
                </a:solidFill>
                <a:latin typeface="Times New Roman" pitchFamily="18" charset="0"/>
                <a:cs typeface="Times New Roman" pitchFamily="18" charset="0"/>
              </a:rPr>
              <a:t> Minh </a:t>
            </a:r>
            <a:r>
              <a:rPr lang="en-US" sz="2600" i="1" spc="-150" dirty="0" err="1" smtClean="0">
                <a:solidFill>
                  <a:srgbClr val="002060"/>
                </a:solidFill>
                <a:latin typeface="Times New Roman" pitchFamily="18" charset="0"/>
                <a:cs typeface="Times New Roman" pitchFamily="18" charset="0"/>
              </a:rPr>
              <a:t>về</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mối</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quan</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hệ</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giữa</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văn</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hóa</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với</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các</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lĩnh</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vực</a:t>
            </a:r>
            <a:r>
              <a:rPr lang="en-US" sz="2600" i="1" spc="-150" dirty="0" smtClean="0">
                <a:solidFill>
                  <a:srgbClr val="002060"/>
                </a:solidFill>
                <a:latin typeface="Times New Roman" pitchFamily="18" charset="0"/>
                <a:cs typeface="Times New Roman" pitchFamily="18" charset="0"/>
              </a:rPr>
              <a:t> </a:t>
            </a:r>
            <a:r>
              <a:rPr lang="en-US" sz="2600" i="1" spc="-150" dirty="0" err="1" smtClean="0">
                <a:solidFill>
                  <a:srgbClr val="002060"/>
                </a:solidFill>
                <a:latin typeface="Times New Roman" pitchFamily="18" charset="0"/>
                <a:cs typeface="Times New Roman" pitchFamily="18" charset="0"/>
              </a:rPr>
              <a:t>khác</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905000" y="152400"/>
            <a:ext cx="7086600" cy="954107"/>
          </a:xfrm>
          <a:prstGeom prst="rect">
            <a:avLst/>
          </a:prstGeom>
          <a:noFill/>
          <a:ln w="9525">
            <a:noFill/>
            <a:miter lim="800000"/>
            <a:headEnd/>
            <a:tailEnd/>
          </a:ln>
          <a:effectLst>
            <a:prstShdw prst="shdw17" dist="17961" dir="2700000">
              <a:srgbClr val="999900"/>
            </a:prstShdw>
          </a:effectLst>
        </p:spPr>
        <p:txBody>
          <a:bodyPr wrap="square">
            <a:spAutoFit/>
          </a:bodyPr>
          <a:lstStyle/>
          <a:p>
            <a:pPr marL="514350" indent="-514350" algn="ctr">
              <a:buAutoNum type="arabicPeriod"/>
            </a:pPr>
            <a:r>
              <a:rPr lang="en-US" sz="2800" smtClean="0">
                <a:solidFill>
                  <a:srgbClr val="FF0000"/>
                </a:solidFill>
                <a:latin typeface="Times New Roman"/>
                <a:cs typeface="Times New Roman"/>
              </a:rPr>
              <a:t>Một </a:t>
            </a:r>
            <a:r>
              <a:rPr lang="en-US" sz="2800">
                <a:solidFill>
                  <a:srgbClr val="FF0000"/>
                </a:solidFill>
                <a:latin typeface="Times New Roman"/>
                <a:cs typeface="Times New Roman"/>
              </a:rPr>
              <a:t>số nhận thức chung về văn hóa </a:t>
            </a:r>
            <a:endParaRPr lang="en-US" sz="2800" smtClean="0">
              <a:solidFill>
                <a:srgbClr val="FF0000"/>
              </a:solidFill>
              <a:latin typeface="Times New Roman"/>
              <a:cs typeface="Times New Roman"/>
            </a:endParaRPr>
          </a:p>
          <a:p>
            <a:pPr algn="ctr"/>
            <a:r>
              <a:rPr lang="en-US" sz="2800" smtClean="0">
                <a:solidFill>
                  <a:srgbClr val="FF0000"/>
                </a:solidFill>
                <a:latin typeface="Times New Roman"/>
                <a:cs typeface="Times New Roman"/>
              </a:rPr>
              <a:t>và </a:t>
            </a:r>
            <a:r>
              <a:rPr lang="en-US" sz="2800">
                <a:solidFill>
                  <a:srgbClr val="FF0000"/>
                </a:solidFill>
                <a:latin typeface="Times New Roman"/>
                <a:cs typeface="Times New Roman"/>
              </a:rPr>
              <a:t>quan hệ giữa văn hóa với các lĩnh vực khác </a:t>
            </a:r>
            <a:endParaRPr lang="en-US" sz="2800" dirty="0">
              <a:solidFill>
                <a:srgbClr val="FF0000"/>
              </a:solidFill>
              <a:latin typeface="Times New Roman"/>
              <a:cs typeface="Times New Roman"/>
            </a:endParaRPr>
          </a:p>
        </p:txBody>
      </p:sp>
      <p:sp>
        <p:nvSpPr>
          <p:cNvPr id="21" name="Rectangle 20"/>
          <p:cNvSpPr/>
          <p:nvPr/>
        </p:nvSpPr>
        <p:spPr>
          <a:xfrm>
            <a:off x="1066800" y="3938150"/>
            <a:ext cx="2519187" cy="1126462"/>
          </a:xfrm>
          <a:prstGeom prst="rect">
            <a:avLst/>
          </a:prstGeom>
        </p:spPr>
        <p:txBody>
          <a:bodyPr wrap="square">
            <a:spAutoFit/>
          </a:bodyPr>
          <a:lstStyle/>
          <a:p>
            <a:pPr algn="ctr">
              <a:lnSpc>
                <a:spcPct val="120000"/>
              </a:lnSpc>
            </a:pPr>
            <a:r>
              <a:rPr lang="en-US" sz="2800" dirty="0" err="1" smtClean="0">
                <a:solidFill>
                  <a:srgbClr val="CC0066"/>
                </a:solidFill>
                <a:latin typeface="Times New Roman" pitchFamily="18" charset="0"/>
                <a:cs typeface="Times New Roman" pitchFamily="18" charset="0"/>
              </a:rPr>
              <a:t>Giữ</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gìn</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bản</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sắc</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văn</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hóa</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dân</a:t>
            </a:r>
            <a:r>
              <a:rPr lang="en-US" sz="2800" dirty="0" smtClean="0">
                <a:solidFill>
                  <a:srgbClr val="CC0066"/>
                </a:solidFill>
                <a:latin typeface="Times New Roman" pitchFamily="18" charset="0"/>
                <a:cs typeface="Times New Roman" pitchFamily="18" charset="0"/>
              </a:rPr>
              <a:t> </a:t>
            </a:r>
            <a:r>
              <a:rPr lang="en-US" sz="2800" dirty="0" err="1" smtClean="0">
                <a:solidFill>
                  <a:srgbClr val="CC0066"/>
                </a:solidFill>
                <a:latin typeface="Times New Roman" pitchFamily="18" charset="0"/>
                <a:cs typeface="Times New Roman" pitchFamily="18" charset="0"/>
              </a:rPr>
              <a:t>tộc</a:t>
            </a:r>
            <a:endParaRPr lang="en-US" sz="2600" i="1" dirty="0">
              <a:solidFill>
                <a:srgbClr val="CC0066"/>
              </a:solidFill>
              <a:latin typeface="Times New Roman" pitchFamily="18" charset="0"/>
              <a:cs typeface="Times New Roman" pitchFamily="18"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0"/>
            <a:ext cx="2909045" cy="2184429"/>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p:cNvSpPr/>
          <p:nvPr/>
        </p:nvSpPr>
        <p:spPr>
          <a:xfrm>
            <a:off x="5616677" y="3937064"/>
            <a:ext cx="3028950" cy="1126462"/>
          </a:xfrm>
          <a:prstGeom prst="rect">
            <a:avLst/>
          </a:prstGeom>
        </p:spPr>
        <p:txBody>
          <a:bodyPr wrap="square">
            <a:spAutoFit/>
          </a:bodyPr>
          <a:lstStyle/>
          <a:p>
            <a:pPr algn="ctr">
              <a:lnSpc>
                <a:spcPct val="120000"/>
              </a:lnSpc>
            </a:pPr>
            <a:r>
              <a:rPr lang="en-US" sz="2800" dirty="0" err="1" smtClean="0">
                <a:solidFill>
                  <a:srgbClr val="002060"/>
                </a:solidFill>
                <a:latin typeface="Times New Roman" pitchFamily="18" charset="0"/>
                <a:cs typeface="Times New Roman" pitchFamily="18" charset="0"/>
              </a:rPr>
              <a:t>Tiếp</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thu</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tinh</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hoa</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văn</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hóa</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nhân</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loại</a:t>
            </a:r>
            <a:endParaRPr lang="en-US" sz="2600" i="1" dirty="0">
              <a:solidFill>
                <a:srgbClr val="002060"/>
              </a:solidFill>
              <a:latin typeface="Times New Roman" pitchFamily="18" charset="0"/>
              <a:cs typeface="Times New Roman" pitchFamily="18" charset="0"/>
            </a:endParaRPr>
          </a:p>
        </p:txBody>
      </p:sp>
      <p:sp>
        <p:nvSpPr>
          <p:cNvPr id="3" name="Left-Right Arrow 2"/>
          <p:cNvSpPr/>
          <p:nvPr/>
        </p:nvSpPr>
        <p:spPr>
          <a:xfrm>
            <a:off x="4038600" y="4174229"/>
            <a:ext cx="1295400" cy="681018"/>
          </a:xfrm>
          <a:prstGeom prst="lef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4837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additive="base">
                                        <p:cTn id="14" dur="500" fill="hold"/>
                                        <p:tgtEl>
                                          <p:spTgt spid="21"/>
                                        </p:tgtEl>
                                        <p:attrNameLst>
                                          <p:attrName>ppt_x</p:attrName>
                                        </p:attrNameLst>
                                      </p:cBhvr>
                                      <p:tavLst>
                                        <p:tav tm="0">
                                          <p:val>
                                            <p:strVal val="#ppt_x"/>
                                          </p:val>
                                        </p:tav>
                                        <p:tav tm="100000">
                                          <p:val>
                                            <p:strVal val="#ppt_x"/>
                                          </p:val>
                                        </p:tav>
                                      </p:tavLst>
                                    </p:anim>
                                    <p:anim calcmode="lin" valueType="num">
                                      <p:cBhvr additive="base">
                                        <p:cTn id="1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ppt_x"/>
                                          </p:val>
                                        </p:tav>
                                        <p:tav tm="100000">
                                          <p:val>
                                            <p:strVal val="#ppt_x"/>
                                          </p:val>
                                        </p:tav>
                                      </p:tavLst>
                                    </p:anim>
                                    <p:anim calcmode="lin" valueType="num">
                                      <p:cBhvr additive="base">
                                        <p:cTn id="21"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14</a:t>
            </a:fld>
            <a:endParaRPr lang="en-US"/>
          </a:p>
        </p:txBody>
      </p:sp>
      <p:sp>
        <p:nvSpPr>
          <p:cNvPr id="17" name="Rectangle 16"/>
          <p:cNvSpPr/>
          <p:nvPr/>
        </p:nvSpPr>
        <p:spPr>
          <a:xfrm>
            <a:off x="3429000" y="1317248"/>
            <a:ext cx="5867400" cy="892552"/>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a. </a:t>
            </a:r>
            <a:r>
              <a:rPr lang="en-US" sz="2600" i="1" dirty="0" err="1" smtClean="0">
                <a:solidFill>
                  <a:srgbClr val="002060"/>
                </a:solidFill>
                <a:latin typeface="Times New Roman" pitchFamily="18" charset="0"/>
                <a:cs typeface="Times New Roman" pitchFamily="18" charset="0"/>
              </a:rPr>
              <a:t>Văn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hóa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mục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tiêu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động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lực</a:t>
            </a:r>
            <a:r>
              <a:rPr lang="en-US" sz="2600" i="1" dirty="0" smtClean="0">
                <a:solidFill>
                  <a:srgbClr val="002060"/>
                </a:solidFill>
                <a:latin typeface="Times New Roman" pitchFamily="18" charset="0"/>
                <a:cs typeface="Times New Roman" pitchFamily="18" charset="0"/>
              </a:rPr>
              <a:t> </a:t>
            </a:r>
          </a:p>
          <a:p>
            <a:pPr algn="ct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sự</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nghiệp</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cách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mạng</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914400" y="314980"/>
            <a:ext cx="8077200"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smtClean="0">
                <a:solidFill>
                  <a:srgbClr val="FF0000"/>
                </a:solidFill>
                <a:latin typeface="Times New Roman"/>
                <a:cs typeface="Times New Roman"/>
              </a:rPr>
              <a:t>2. Quan điểm của Hồ Chí Minh về vai trò của văn hóa</a:t>
            </a:r>
            <a:endParaRPr lang="en-US" sz="28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048000" y="4114800"/>
            <a:ext cx="6073552" cy="2031325"/>
          </a:xfrm>
          <a:prstGeom prst="rect">
            <a:avLst/>
          </a:prstGeom>
        </p:spPr>
        <p:txBody>
          <a:bodyPr wrap="square">
            <a:spAutoFit/>
          </a:bodyPr>
          <a:lstStyle/>
          <a:p>
            <a:pPr algn="ctr">
              <a:lnSpc>
                <a:spcPct val="150000"/>
              </a:lnSpc>
            </a:pPr>
            <a:r>
              <a:rPr lang="en-US" sz="2800" dirty="0" err="1" smtClean="0">
                <a:solidFill>
                  <a:srgbClr val="002060"/>
                </a:solidFill>
                <a:latin typeface="Times New Roman" pitchFamily="18" charset="0"/>
                <a:cs typeface="Times New Roman" pitchFamily="18" charset="0"/>
              </a:rPr>
              <a:t>Quyền</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sống</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quyền</a:t>
            </a:r>
            <a:r>
              <a:rPr lang="en-US" sz="2800" dirty="0" smtClean="0">
                <a:solidFill>
                  <a:srgbClr val="002060"/>
                </a:solidFill>
                <a:latin typeface="Times New Roman" pitchFamily="18" charset="0"/>
                <a:cs typeface="Times New Roman" pitchFamily="18" charset="0"/>
              </a:rPr>
              <a:t> sung </a:t>
            </a:r>
            <a:r>
              <a:rPr lang="en-US" sz="2800" dirty="0" err="1" smtClean="0">
                <a:solidFill>
                  <a:srgbClr val="002060"/>
                </a:solidFill>
                <a:latin typeface="Times New Roman" pitchFamily="18" charset="0"/>
                <a:cs typeface="Times New Roman" pitchFamily="18" charset="0"/>
              </a:rPr>
              <a:t>sướng</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quyền</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tự</a:t>
            </a:r>
            <a:r>
              <a:rPr lang="en-US" sz="2800" dirty="0" smtClean="0">
                <a:solidFill>
                  <a:srgbClr val="002060"/>
                </a:solidFill>
                <a:latin typeface="Times New Roman" pitchFamily="18" charset="0"/>
                <a:cs typeface="Times New Roman" pitchFamily="18" charset="0"/>
              </a:rPr>
              <a:t> do, </a:t>
            </a:r>
            <a:r>
              <a:rPr lang="en-US" sz="2800" dirty="0" err="1" smtClean="0">
                <a:solidFill>
                  <a:srgbClr val="002060"/>
                </a:solidFill>
                <a:latin typeface="Times New Roman" pitchFamily="18" charset="0"/>
                <a:cs typeface="Times New Roman" pitchFamily="18" charset="0"/>
              </a:rPr>
              <a:t>quyền</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mưu</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cầu</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hạnh</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phúc</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khát</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vọng</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về</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các</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giá</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trị</a:t>
            </a:r>
            <a:r>
              <a:rPr lang="en-US" sz="2800" dirty="0" smtClean="0">
                <a:solidFill>
                  <a:srgbClr val="002060"/>
                </a:solidFill>
                <a:latin typeface="Times New Roman" pitchFamily="18" charset="0"/>
                <a:cs typeface="Times New Roman" pitchFamily="18" charset="0"/>
              </a:rPr>
              <a:t> </a:t>
            </a:r>
            <a:r>
              <a:rPr lang="en-US" sz="2800" dirty="0" err="1" smtClean="0">
                <a:solidFill>
                  <a:srgbClr val="002060"/>
                </a:solidFill>
                <a:latin typeface="Times New Roman" pitchFamily="18" charset="0"/>
                <a:cs typeface="Times New Roman" pitchFamily="18" charset="0"/>
              </a:rPr>
              <a:t>chân-thiện-mỹ</a:t>
            </a:r>
            <a:endParaRPr lang="en-US" sz="2800" dirty="0">
              <a:solidFill>
                <a:srgbClr val="002060"/>
              </a:solidFill>
              <a:latin typeface="Times New Roman" pitchFamily="18" charset="0"/>
              <a:cs typeface="Times New Roman" pitchFamily="18" charset="0"/>
            </a:endParaRPr>
          </a:p>
        </p:txBody>
      </p:sp>
      <p:sp>
        <p:nvSpPr>
          <p:cNvPr id="16" name="Rectangle 15"/>
          <p:cNvSpPr/>
          <p:nvPr/>
        </p:nvSpPr>
        <p:spPr>
          <a:xfrm>
            <a:off x="3195813" y="2438602"/>
            <a:ext cx="6073552" cy="564257"/>
          </a:xfrm>
          <a:prstGeom prst="rect">
            <a:avLst/>
          </a:prstGeom>
        </p:spPr>
        <p:txBody>
          <a:bodyPr wrap="square">
            <a:spAutoFit/>
          </a:bodyPr>
          <a:lstStyle/>
          <a:p>
            <a:pPr algn="ctr">
              <a:lnSpc>
                <a:spcPct val="120000"/>
              </a:lnSpc>
            </a:pPr>
            <a:r>
              <a:rPr lang="en-US" sz="2800" smtClean="0">
                <a:solidFill>
                  <a:srgbClr val="CC0066"/>
                </a:solidFill>
                <a:latin typeface="Times New Roman" pitchFamily="18" charset="0"/>
                <a:cs typeface="Times New Roman" pitchFamily="18" charset="0"/>
              </a:rPr>
              <a:t>Văn hóa là mục tiêu</a:t>
            </a:r>
            <a:endParaRPr lang="en-US" sz="2600" i="1" dirty="0">
              <a:solidFill>
                <a:srgbClr val="CC0066"/>
              </a:solidFill>
              <a:latin typeface="Times New Roman" pitchFamily="18" charset="0"/>
              <a:cs typeface="Times New Roman" pitchFamily="18" charset="0"/>
            </a:endParaRPr>
          </a:p>
        </p:txBody>
      </p:sp>
      <p:sp>
        <p:nvSpPr>
          <p:cNvPr id="7" name="Down Arrow 6"/>
          <p:cNvSpPr/>
          <p:nvPr/>
        </p:nvSpPr>
        <p:spPr>
          <a:xfrm>
            <a:off x="5867400" y="3200400"/>
            <a:ext cx="609600" cy="533400"/>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1"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732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1000"/>
                                        <p:tgtEl>
                                          <p:spTgt spid="17"/>
                                        </p:tgtEl>
                                      </p:cBhvr>
                                    </p:animEffect>
                                    <p:anim calcmode="lin" valueType="num">
                                      <p:cBhvr>
                                        <p:cTn id="18" dur="1000" fill="hold"/>
                                        <p:tgtEl>
                                          <p:spTgt spid="17"/>
                                        </p:tgtEl>
                                        <p:attrNameLst>
                                          <p:attrName>ppt_x</p:attrName>
                                        </p:attrNameLst>
                                      </p:cBhvr>
                                      <p:tavLst>
                                        <p:tav tm="0">
                                          <p:val>
                                            <p:strVal val="#ppt_x"/>
                                          </p:val>
                                        </p:tav>
                                        <p:tav tm="100000">
                                          <p:val>
                                            <p:strVal val="#ppt_x"/>
                                          </p:val>
                                        </p:tav>
                                      </p:tavLst>
                                    </p:anim>
                                    <p:anim calcmode="lin" valueType="num">
                                      <p:cBhvr>
                                        <p:cTn id="1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anim calcmode="lin" valueType="num">
                                      <p:cBhvr>
                                        <p:cTn id="37" dur="1000" fill="hold"/>
                                        <p:tgtEl>
                                          <p:spTgt spid="13"/>
                                        </p:tgtEl>
                                        <p:attrNameLst>
                                          <p:attrName>ppt_x</p:attrName>
                                        </p:attrNameLst>
                                      </p:cBhvr>
                                      <p:tavLst>
                                        <p:tav tm="0">
                                          <p:val>
                                            <p:strVal val="#ppt_x"/>
                                          </p:val>
                                        </p:tav>
                                        <p:tav tm="100000">
                                          <p:val>
                                            <p:strVal val="#ppt_x"/>
                                          </p:val>
                                        </p:tav>
                                      </p:tavLst>
                                    </p:anim>
                                    <p:anim calcmode="lin" valueType="num">
                                      <p:cBhvr>
                                        <p:cTn id="3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3" grpId="0"/>
      <p:bldP spid="16" grpId="0"/>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15</a:t>
            </a:fld>
            <a:endParaRPr lang="en-US"/>
          </a:p>
        </p:txBody>
      </p:sp>
      <p:sp>
        <p:nvSpPr>
          <p:cNvPr id="17" name="Rectangle 16"/>
          <p:cNvSpPr/>
          <p:nvPr/>
        </p:nvSpPr>
        <p:spPr>
          <a:xfrm>
            <a:off x="3429000" y="1317248"/>
            <a:ext cx="5867400" cy="892552"/>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a. </a:t>
            </a:r>
            <a:r>
              <a:rPr lang="en-US" sz="2600" i="1" dirty="0" err="1" smtClean="0">
                <a:solidFill>
                  <a:srgbClr val="002060"/>
                </a:solidFill>
                <a:latin typeface="Times New Roman" pitchFamily="18" charset="0"/>
                <a:cs typeface="Times New Roman" pitchFamily="18" charset="0"/>
              </a:rPr>
              <a:t>Văn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hóa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mục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tiêu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động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lực</a:t>
            </a:r>
            <a:r>
              <a:rPr lang="en-US" sz="2600" i="1" dirty="0" smtClean="0">
                <a:solidFill>
                  <a:srgbClr val="002060"/>
                </a:solidFill>
                <a:latin typeface="Times New Roman" pitchFamily="18" charset="0"/>
                <a:cs typeface="Times New Roman" pitchFamily="18" charset="0"/>
              </a:rPr>
              <a:t> </a:t>
            </a:r>
          </a:p>
          <a:p>
            <a:pPr algn="ctr"/>
            <a:r>
              <a:rPr lang="en-US" sz="2600" i="1" dirty="0" err="1" smtClean="0">
                <a:solidFill>
                  <a:srgbClr val="002060"/>
                </a:solidFill>
                <a:latin typeface="Times New Roman" pitchFamily="18" charset="0"/>
                <a:cs typeface="Times New Roman" pitchFamily="18" charset="0"/>
              </a:rPr>
              <a:t>của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sự</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nghiệp</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cách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mạng</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914400" y="314980"/>
            <a:ext cx="8077200"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smtClean="0">
                <a:solidFill>
                  <a:srgbClr val="FF0000"/>
                </a:solidFill>
                <a:latin typeface="Times New Roman"/>
                <a:cs typeface="Times New Roman"/>
              </a:rPr>
              <a:t>2. Quan điểm của Hồ Chí Minh về vai trò của văn hóa</a:t>
            </a:r>
            <a:endParaRPr lang="en-US" sz="28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048000" y="4114800"/>
            <a:ext cx="6073552" cy="661207"/>
          </a:xfrm>
          <a:prstGeom prst="rect">
            <a:avLst/>
          </a:prstGeom>
        </p:spPr>
        <p:txBody>
          <a:bodyPr wrap="square">
            <a:spAutoFit/>
          </a:bodyPr>
          <a:lstStyle/>
          <a:p>
            <a:pPr algn="ctr">
              <a:lnSpc>
                <a:spcPct val="150000"/>
              </a:lnSpc>
            </a:pPr>
            <a:r>
              <a:rPr lang="en-US" sz="2800" smtClean="0">
                <a:solidFill>
                  <a:srgbClr val="002060"/>
                </a:solidFill>
                <a:latin typeface="Times New Roman" pitchFamily="18" charset="0"/>
                <a:cs typeface="Times New Roman" pitchFamily="18" charset="0"/>
              </a:rPr>
              <a:t> Văn hóa soi đường cho quốc dân đi.</a:t>
            </a:r>
            <a:endParaRPr lang="en-US" sz="2800" dirty="0">
              <a:solidFill>
                <a:srgbClr val="002060"/>
              </a:solidFill>
              <a:latin typeface="Times New Roman" pitchFamily="18" charset="0"/>
              <a:cs typeface="Times New Roman" pitchFamily="18" charset="0"/>
            </a:endParaRPr>
          </a:p>
        </p:txBody>
      </p:sp>
      <p:sp>
        <p:nvSpPr>
          <p:cNvPr id="16" name="Rectangle 15"/>
          <p:cNvSpPr/>
          <p:nvPr/>
        </p:nvSpPr>
        <p:spPr>
          <a:xfrm>
            <a:off x="3195813" y="2438602"/>
            <a:ext cx="6073552" cy="609398"/>
          </a:xfrm>
          <a:prstGeom prst="rect">
            <a:avLst/>
          </a:prstGeom>
        </p:spPr>
        <p:txBody>
          <a:bodyPr wrap="square">
            <a:spAutoFit/>
          </a:bodyPr>
          <a:lstStyle/>
          <a:p>
            <a:pPr algn="ctr">
              <a:lnSpc>
                <a:spcPct val="120000"/>
              </a:lnSpc>
            </a:pPr>
            <a:r>
              <a:rPr lang="en-US" sz="2800" smtClean="0">
                <a:solidFill>
                  <a:srgbClr val="CC0066"/>
                </a:solidFill>
                <a:latin typeface="Times New Roman" pitchFamily="18" charset="0"/>
                <a:cs typeface="Times New Roman" pitchFamily="18" charset="0"/>
              </a:rPr>
              <a:t>Văn hóa là động lực</a:t>
            </a:r>
            <a:endParaRPr lang="en-US" sz="2600" i="1" dirty="0">
              <a:solidFill>
                <a:srgbClr val="CC0066"/>
              </a:solidFill>
              <a:latin typeface="Times New Roman" pitchFamily="18" charset="0"/>
              <a:cs typeface="Times New Roman" pitchFamily="18" charset="0"/>
            </a:endParaRPr>
          </a:p>
        </p:txBody>
      </p:sp>
      <p:sp>
        <p:nvSpPr>
          <p:cNvPr id="7" name="Down Arrow 6"/>
          <p:cNvSpPr/>
          <p:nvPr/>
        </p:nvSpPr>
        <p:spPr>
          <a:xfrm>
            <a:off x="5867400" y="3200400"/>
            <a:ext cx="609600" cy="533400"/>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1"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157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16</a:t>
            </a:fld>
            <a:endParaRPr lang="en-US"/>
          </a:p>
        </p:txBody>
      </p:sp>
      <p:sp>
        <p:nvSpPr>
          <p:cNvPr id="17" name="Rectangle 16"/>
          <p:cNvSpPr/>
          <p:nvPr/>
        </p:nvSpPr>
        <p:spPr>
          <a:xfrm>
            <a:off x="3429000" y="1317248"/>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Văn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hóa</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một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mặt</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trận</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914400" y="314980"/>
            <a:ext cx="8077200"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smtClean="0">
                <a:solidFill>
                  <a:srgbClr val="FF0000"/>
                </a:solidFill>
                <a:latin typeface="Times New Roman"/>
                <a:cs typeface="Times New Roman"/>
              </a:rPr>
              <a:t>2. Quan điểm của Hồ Chí Minh về vai trò của văn hóa</a:t>
            </a:r>
            <a:endParaRPr lang="en-US" sz="28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600200"/>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195813" y="2438602"/>
            <a:ext cx="6073552" cy="3010055"/>
          </a:xfrm>
          <a:prstGeom prst="rect">
            <a:avLst/>
          </a:prstGeom>
        </p:spPr>
        <p:txBody>
          <a:bodyPr wrap="square">
            <a:spAutoFit/>
          </a:bodyPr>
          <a:lstStyle/>
          <a:p>
            <a:pPr algn="just">
              <a:lnSpc>
                <a:spcPct val="120000"/>
              </a:lnSpc>
            </a:pPr>
            <a:r>
              <a:rPr lang="en-US" sz="2800" smtClean="0">
                <a:solidFill>
                  <a:srgbClr val="CC0066"/>
                </a:solidFill>
                <a:latin typeface="Times New Roman" pitchFamily="18" charset="0"/>
                <a:cs typeface="Times New Roman" pitchFamily="18" charset="0"/>
              </a:rPr>
              <a:t>- Chiến đấu trên lĩnh vực văn hóa.</a:t>
            </a:r>
          </a:p>
          <a:p>
            <a:pPr algn="just">
              <a:lnSpc>
                <a:spcPct val="120000"/>
              </a:lnSpc>
            </a:pPr>
            <a:r>
              <a:rPr lang="en-US" sz="2600" smtClean="0">
                <a:solidFill>
                  <a:srgbClr val="CC0066"/>
                </a:solidFill>
                <a:latin typeface="Times New Roman" pitchFamily="18" charset="0"/>
                <a:cs typeface="Times New Roman" pitchFamily="18" charset="0"/>
              </a:rPr>
              <a:t>- Văn nghệ sĩ là chiến sĩ.</a:t>
            </a:r>
          </a:p>
          <a:p>
            <a:pPr algn="just">
              <a:lnSpc>
                <a:spcPct val="120000"/>
              </a:lnSpc>
            </a:pPr>
            <a:r>
              <a:rPr lang="en-US" sz="2600" smtClean="0">
                <a:solidFill>
                  <a:srgbClr val="CC0066"/>
                </a:solidFill>
                <a:latin typeface="Times New Roman" pitchFamily="18" charset="0"/>
                <a:cs typeface="Times New Roman" pitchFamily="18" charset="0"/>
              </a:rPr>
              <a:t>- Tác phẩm là vũ khí.</a:t>
            </a:r>
          </a:p>
          <a:p>
            <a:pPr algn="just">
              <a:lnSpc>
                <a:spcPct val="120000"/>
              </a:lnSpc>
            </a:pPr>
            <a:endParaRPr lang="en-US" sz="2600" i="1" smtClean="0">
              <a:solidFill>
                <a:srgbClr val="CC0066"/>
              </a:solidFill>
              <a:latin typeface="Times New Roman" pitchFamily="18" charset="0"/>
              <a:cs typeface="Times New Roman" pitchFamily="18" charset="0"/>
            </a:endParaRPr>
          </a:p>
          <a:p>
            <a:pPr algn="ctr">
              <a:lnSpc>
                <a:spcPct val="120000"/>
              </a:lnSpc>
            </a:pPr>
            <a:r>
              <a:rPr lang="en-US" sz="2600" b="1" i="1" smtClean="0">
                <a:solidFill>
                  <a:srgbClr val="002060"/>
                </a:solidFill>
                <a:latin typeface="Times New Roman" pitchFamily="18" charset="0"/>
                <a:cs typeface="Times New Roman" pitchFamily="18" charset="0"/>
              </a:rPr>
              <a:t>“kháng chiến hóa văn hóa, </a:t>
            </a:r>
          </a:p>
          <a:p>
            <a:pPr algn="ctr">
              <a:lnSpc>
                <a:spcPct val="120000"/>
              </a:lnSpc>
            </a:pPr>
            <a:r>
              <a:rPr lang="en-US" sz="2600" b="1" i="1" smtClean="0">
                <a:solidFill>
                  <a:srgbClr val="002060"/>
                </a:solidFill>
                <a:latin typeface="Times New Roman" pitchFamily="18" charset="0"/>
                <a:cs typeface="Times New Roman" pitchFamily="18" charset="0"/>
              </a:rPr>
              <a:t>văn hóa hóa kháng chiến”</a:t>
            </a:r>
            <a:endParaRPr lang="en-US" sz="2600" b="1" i="1" dirty="0">
              <a:solidFill>
                <a:srgbClr val="002060"/>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8987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Effect transition="in" filter="fade">
                                      <p:cBhvr>
                                        <p:cTn id="13" dur="1000"/>
                                        <p:tgtEl>
                                          <p:spTgt spid="16">
                                            <p:txEl>
                                              <p:pRg st="1" end="1"/>
                                            </p:txEl>
                                          </p:spTgt>
                                        </p:tgtEl>
                                      </p:cBhvr>
                                    </p:animEffect>
                                    <p:anim calcmode="lin" valueType="num">
                                      <p:cBhvr>
                                        <p:cTn id="14"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6">
                                            <p:txEl>
                                              <p:pRg st="2" end="2"/>
                                            </p:txEl>
                                          </p:spTgt>
                                        </p:tgtEl>
                                        <p:attrNameLst>
                                          <p:attrName>style.visibility</p:attrName>
                                        </p:attrNameLst>
                                      </p:cBhvr>
                                      <p:to>
                                        <p:strVal val="visible"/>
                                      </p:to>
                                    </p:set>
                                    <p:anim calcmode="lin" valueType="num">
                                      <p:cBhvr additive="base">
                                        <p:cTn id="20"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6">
                                            <p:txEl>
                                              <p:pRg st="4" end="4"/>
                                            </p:txEl>
                                          </p:spTgt>
                                        </p:tgtEl>
                                        <p:attrNameLst>
                                          <p:attrName>style.visibility</p:attrName>
                                        </p:attrNameLst>
                                      </p:cBhvr>
                                      <p:to>
                                        <p:strVal val="visible"/>
                                      </p:to>
                                    </p:set>
                                    <p:anim calcmode="lin" valueType="num">
                                      <p:cBhvr additive="base">
                                        <p:cTn id="26"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6">
                                            <p:txEl>
                                              <p:pRg st="5" end="5"/>
                                            </p:txEl>
                                          </p:spTgt>
                                        </p:tgtEl>
                                        <p:attrNameLst>
                                          <p:attrName>style.visibility</p:attrName>
                                        </p:attrNameLst>
                                      </p:cBhvr>
                                      <p:to>
                                        <p:strVal val="visible"/>
                                      </p:to>
                                    </p:set>
                                    <p:anim calcmode="lin" valueType="num">
                                      <p:cBhvr additive="base">
                                        <p:cTn id="30"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17</a:t>
            </a:fld>
            <a:endParaRPr lang="en-US"/>
          </a:p>
        </p:txBody>
      </p:sp>
      <p:sp>
        <p:nvSpPr>
          <p:cNvPr id="17" name="Rectangle 16"/>
          <p:cNvSpPr/>
          <p:nvPr/>
        </p:nvSpPr>
        <p:spPr>
          <a:xfrm>
            <a:off x="3429000" y="1317248"/>
            <a:ext cx="5867400" cy="492443"/>
          </a:xfrm>
          <a:prstGeom prst="rect">
            <a:avLst/>
          </a:prstGeom>
        </p:spPr>
        <p:txBody>
          <a:bodyPr wrap="square">
            <a:spAutoFit/>
          </a:bodyPr>
          <a:lstStyle/>
          <a:p>
            <a:pPr algn="ctr"/>
            <a:r>
              <a:rPr lang="en-US" sz="2600" i="1" spc="-150" smtClean="0">
                <a:solidFill>
                  <a:srgbClr val="002060"/>
                </a:solidFill>
                <a:latin typeface="Times New Roman" pitchFamily="18" charset="0"/>
                <a:cs typeface="Times New Roman" pitchFamily="18" charset="0"/>
              </a:rPr>
              <a:t>Văn hóa là phục vụ quần chúng nhân dân</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914400" y="314980"/>
            <a:ext cx="8077200"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smtClean="0">
                <a:solidFill>
                  <a:srgbClr val="FF0000"/>
                </a:solidFill>
                <a:latin typeface="Times New Roman"/>
                <a:cs typeface="Times New Roman"/>
              </a:rPr>
              <a:t>2. Quan điểm của Hồ Chí Minh về vai trò của văn hóa</a:t>
            </a:r>
            <a:endParaRPr lang="en-US" sz="28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600200"/>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195813" y="2438602"/>
            <a:ext cx="6073552" cy="3564053"/>
          </a:xfrm>
          <a:prstGeom prst="rect">
            <a:avLst/>
          </a:prstGeom>
        </p:spPr>
        <p:txBody>
          <a:bodyPr wrap="square">
            <a:spAutoFit/>
          </a:bodyPr>
          <a:lstStyle/>
          <a:p>
            <a:pPr algn="just">
              <a:lnSpc>
                <a:spcPct val="120000"/>
              </a:lnSpc>
            </a:pPr>
            <a:r>
              <a:rPr lang="en-US" sz="2800" smtClean="0">
                <a:solidFill>
                  <a:srgbClr val="CC0066"/>
                </a:solidFill>
                <a:latin typeface="Times New Roman" pitchFamily="18" charset="0"/>
                <a:cs typeface="Times New Roman" pitchFamily="18" charset="0"/>
              </a:rPr>
              <a:t>Mọi hoạt động văn hóa phải trở về với cuộc sống thực tại của quần chúng, phản ánh được tư tưởng và khát vọng của quần chúng.</a:t>
            </a:r>
          </a:p>
          <a:p>
            <a:pPr algn="just">
              <a:lnSpc>
                <a:spcPct val="120000"/>
              </a:lnSpc>
            </a:pPr>
            <a:endParaRPr lang="en-US" sz="2000" b="1" i="1">
              <a:solidFill>
                <a:srgbClr val="CC0066"/>
              </a:solidFill>
              <a:latin typeface="Times New Roman" pitchFamily="18" charset="0"/>
              <a:cs typeface="Times New Roman" pitchFamily="18" charset="0"/>
            </a:endParaRPr>
          </a:p>
          <a:p>
            <a:pPr algn="ctr">
              <a:lnSpc>
                <a:spcPct val="120000"/>
              </a:lnSpc>
            </a:pPr>
            <a:r>
              <a:rPr lang="en-US" sz="2800" b="1" i="1" smtClean="0">
                <a:solidFill>
                  <a:srgbClr val="002060"/>
                </a:solidFill>
                <a:latin typeface="Times New Roman" pitchFamily="18" charset="0"/>
                <a:cs typeface="Times New Roman" pitchFamily="18" charset="0"/>
              </a:rPr>
              <a:t>“từ trong quần chúng ra. </a:t>
            </a:r>
          </a:p>
          <a:p>
            <a:pPr algn="ctr">
              <a:lnSpc>
                <a:spcPct val="120000"/>
              </a:lnSpc>
            </a:pPr>
            <a:r>
              <a:rPr lang="en-US" sz="2800" b="1" i="1" smtClean="0">
                <a:solidFill>
                  <a:srgbClr val="002060"/>
                </a:solidFill>
                <a:latin typeface="Times New Roman" pitchFamily="18" charset="0"/>
                <a:cs typeface="Times New Roman" pitchFamily="18" charset="0"/>
              </a:rPr>
              <a:t>Về sâu trong quần chúng”</a:t>
            </a:r>
            <a:endParaRPr lang="en-US" sz="2600" b="1" i="1" dirty="0">
              <a:solidFill>
                <a:srgbClr val="002060"/>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309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xEl>
                                              <p:pRg st="2" end="2"/>
                                            </p:txEl>
                                          </p:spTgt>
                                        </p:tgtEl>
                                        <p:attrNameLst>
                                          <p:attrName>style.visibility</p:attrName>
                                        </p:attrNameLst>
                                      </p:cBhvr>
                                      <p:to>
                                        <p:strVal val="visible"/>
                                      </p:to>
                                    </p:set>
                                    <p:animEffect transition="in" filter="fade">
                                      <p:cBhvr>
                                        <p:cTn id="14" dur="1000"/>
                                        <p:tgtEl>
                                          <p:spTgt spid="16">
                                            <p:txEl>
                                              <p:pRg st="2" end="2"/>
                                            </p:txEl>
                                          </p:spTgt>
                                        </p:tgtEl>
                                      </p:cBhvr>
                                    </p:animEffect>
                                    <p:anim calcmode="lin" valueType="num">
                                      <p:cBhvr>
                                        <p:cTn id="15"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6">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fade">
                                      <p:cBhvr>
                                        <p:cTn id="19" dur="1000"/>
                                        <p:tgtEl>
                                          <p:spTgt spid="16">
                                            <p:txEl>
                                              <p:pRg st="3" end="3"/>
                                            </p:txEl>
                                          </p:spTgt>
                                        </p:tgtEl>
                                      </p:cBhvr>
                                    </p:animEffect>
                                    <p:anim calcmode="lin" valueType="num">
                                      <p:cBhvr>
                                        <p:cTn id="20" dur="1000" fill="hold"/>
                                        <p:tgtEl>
                                          <p:spTgt spid="16">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18</a:t>
            </a:fld>
            <a:endParaRPr lang="en-US"/>
          </a:p>
        </p:txBody>
      </p:sp>
      <p:sp>
        <p:nvSpPr>
          <p:cNvPr id="17" name="Rectangle 16"/>
          <p:cNvSpPr/>
          <p:nvPr/>
        </p:nvSpPr>
        <p:spPr>
          <a:xfrm>
            <a:off x="3429000" y="1317248"/>
            <a:ext cx="5867400" cy="492443"/>
          </a:xfrm>
          <a:prstGeom prst="rect">
            <a:avLst/>
          </a:prstGeom>
        </p:spPr>
        <p:txBody>
          <a:bodyPr wrap="square">
            <a:spAutoFit/>
          </a:bodyPr>
          <a:lstStyle/>
          <a:p>
            <a:pPr algn="ctr"/>
            <a:r>
              <a:rPr lang="en-US" sz="2600" spc="-150" smtClean="0">
                <a:solidFill>
                  <a:srgbClr val="002060"/>
                </a:solidFill>
                <a:latin typeface="Times New Roman" pitchFamily="18" charset="0"/>
                <a:cs typeface="Times New Roman" pitchFamily="18" charset="0"/>
              </a:rPr>
              <a:t>Trước Cách mạng tháng Tám, 1945.</a:t>
            </a:r>
            <a:endParaRPr lang="en-US" sz="2600"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152400" y="314980"/>
            <a:ext cx="8991600" cy="52322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a:solidFill>
                  <a:srgbClr val="FF0000"/>
                </a:solidFill>
                <a:latin typeface="Times New Roman"/>
                <a:cs typeface="Times New Roman"/>
              </a:rPr>
              <a:t>3</a:t>
            </a:r>
            <a:r>
              <a:rPr lang="en-US" sz="2800" smtClean="0">
                <a:solidFill>
                  <a:srgbClr val="FF0000"/>
                </a:solidFill>
                <a:latin typeface="Times New Roman"/>
                <a:cs typeface="Times New Roman"/>
              </a:rPr>
              <a:t>. Quan điểm của Hồ Chí Minh về xây dựng nền văn hóa mới</a:t>
            </a:r>
            <a:endParaRPr lang="en-US" sz="2800" dirty="0">
              <a:solidFill>
                <a:srgbClr val="FF0000"/>
              </a:solidFill>
              <a:latin typeface="Times New Roman"/>
              <a:cs typeface="Times New Roman"/>
            </a:endParaRPr>
          </a:p>
        </p:txBody>
      </p:sp>
      <p:cxnSp>
        <p:nvCxnSpPr>
          <p:cNvPr id="18" name="Straight Connector 17"/>
          <p:cNvCxnSpPr/>
          <p:nvPr/>
        </p:nvCxnSpPr>
        <p:spPr>
          <a:xfrm>
            <a:off x="2971800" y="838200"/>
            <a:ext cx="0" cy="398002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600200"/>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657600" y="2819400"/>
            <a:ext cx="5867400" cy="492443"/>
          </a:xfrm>
          <a:prstGeom prst="rect">
            <a:avLst/>
          </a:prstGeom>
        </p:spPr>
        <p:txBody>
          <a:bodyPr wrap="square">
            <a:spAutoFit/>
          </a:bodyPr>
          <a:lstStyle/>
          <a:p>
            <a:pPr algn="ctr"/>
            <a:r>
              <a:rPr lang="en-US" sz="2600" spc="-150" smtClean="0">
                <a:solidFill>
                  <a:srgbClr val="002060"/>
                </a:solidFill>
                <a:latin typeface="Times New Roman" pitchFamily="18" charset="0"/>
                <a:cs typeface="Times New Roman" pitchFamily="18" charset="0"/>
              </a:rPr>
              <a:t>Trong kháng chiến chống thực dân Pháp.</a:t>
            </a:r>
            <a:endParaRPr lang="en-US" sz="2600" spc="-150" dirty="0">
              <a:solidFill>
                <a:srgbClr val="002060"/>
              </a:solidFill>
              <a:latin typeface="Times New Roman" pitchFamily="18" charset="0"/>
              <a:cs typeface="Times New Roman" pitchFamily="18" charset="0"/>
            </a:endParaRPr>
          </a:p>
        </p:txBody>
      </p:sp>
      <p:sp>
        <p:nvSpPr>
          <p:cNvPr id="20" name="Rectangle 19"/>
          <p:cNvSpPr/>
          <p:nvPr/>
        </p:nvSpPr>
        <p:spPr>
          <a:xfrm>
            <a:off x="3581400" y="4495800"/>
            <a:ext cx="5867400" cy="492443"/>
          </a:xfrm>
          <a:prstGeom prst="rect">
            <a:avLst/>
          </a:prstGeom>
        </p:spPr>
        <p:txBody>
          <a:bodyPr wrap="square">
            <a:spAutoFit/>
          </a:bodyPr>
          <a:lstStyle/>
          <a:p>
            <a:pPr algn="ctr"/>
            <a:r>
              <a:rPr lang="en-US" sz="2600" spc="-150" smtClean="0">
                <a:solidFill>
                  <a:srgbClr val="002060"/>
                </a:solidFill>
                <a:latin typeface="Times New Roman" pitchFamily="18" charset="0"/>
                <a:cs typeface="Times New Roman" pitchFamily="18" charset="0"/>
              </a:rPr>
              <a:t>Trong thời kỳ xây dựng chủ nghĩa xã hội.</a:t>
            </a:r>
            <a:endParaRPr lang="en-US" sz="2600" spc="-150" dirty="0">
              <a:solidFill>
                <a:srgbClr val="002060"/>
              </a:solidFill>
              <a:latin typeface="Times New Roman" pitchFamily="18" charset="0"/>
              <a:cs typeface="Times New Roman" pitchFamily="18" charset="0"/>
            </a:endParaRPr>
          </a:p>
        </p:txBody>
      </p:sp>
      <p:cxnSp>
        <p:nvCxnSpPr>
          <p:cNvPr id="21" name="Straight Arrow Connector 20"/>
          <p:cNvCxnSpPr/>
          <p:nvPr/>
        </p:nvCxnSpPr>
        <p:spPr>
          <a:xfrm>
            <a:off x="2971800" y="3065621"/>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974580" y="4818221"/>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3"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185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fill="hold"/>
                                        <p:tgtEl>
                                          <p:spTgt spid="22"/>
                                        </p:tgtEl>
                                        <p:attrNameLst>
                                          <p:attrName>ppt_x</p:attrName>
                                        </p:attrNameLst>
                                      </p:cBhvr>
                                      <p:tavLst>
                                        <p:tav tm="0">
                                          <p:val>
                                            <p:strVal val="#ppt_x"/>
                                          </p:val>
                                        </p:tav>
                                        <p:tav tm="100000">
                                          <p:val>
                                            <p:strVal val="#ppt_x"/>
                                          </p:val>
                                        </p:tav>
                                      </p:tavLst>
                                    </p:anim>
                                    <p:anim calcmode="lin" valueType="num">
                                      <p:cBhvr additive="base">
                                        <p:cTn id="32" dur="500" fill="hold"/>
                                        <p:tgtEl>
                                          <p:spTgt spid="2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3" grpId="0"/>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19</a:t>
            </a:fld>
            <a:endParaRPr lang="en-US"/>
          </a:p>
        </p:txBody>
      </p:sp>
      <p:sp>
        <p:nvSpPr>
          <p:cNvPr id="7" name="Title 1"/>
          <p:cNvSpPr txBox="1">
            <a:spLocks/>
          </p:cNvSpPr>
          <p:nvPr/>
        </p:nvSpPr>
        <p:spPr>
          <a:xfrm>
            <a:off x="381000" y="2438400"/>
            <a:ext cx="83820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spcBef>
                <a:spcPts val="0"/>
              </a:spcBef>
            </a:pPr>
            <a:r>
              <a:rPr lang="en-US" sz="3100" b="1" smtClean="0">
                <a:solidFill>
                  <a:srgbClr val="FF0000"/>
                </a:solidFill>
                <a:latin typeface="Times New Roman" pitchFamily="18" charset="0"/>
                <a:cs typeface="Times New Roman" pitchFamily="18" charset="0"/>
              </a:rPr>
              <a:t>II. TƯ </a:t>
            </a:r>
            <a:r>
              <a:rPr lang="en-US" sz="3100" b="1">
                <a:solidFill>
                  <a:srgbClr val="FF0000"/>
                </a:solidFill>
                <a:latin typeface="Times New Roman" pitchFamily="18" charset="0"/>
                <a:cs typeface="Times New Roman" pitchFamily="18" charset="0"/>
              </a:rPr>
              <a:t>TƯỞNG HỒ CHÍ </a:t>
            </a:r>
            <a:r>
              <a:rPr lang="en-US" sz="3100" b="1" smtClean="0">
                <a:solidFill>
                  <a:srgbClr val="FF0000"/>
                </a:solidFill>
                <a:latin typeface="Times New Roman" pitchFamily="18" charset="0"/>
                <a:cs typeface="Times New Roman" pitchFamily="18" charset="0"/>
              </a:rPr>
              <a:t>MINH VỀ ĐẠO ĐỨC</a:t>
            </a:r>
            <a:endParaRPr lang="en-US" sz="3100" b="1">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11" name="Picture 10"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6</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0751851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10/13/2025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20</a:t>
            </a:fld>
            <a:endParaRPr lang="en-US"/>
          </a:p>
        </p:txBody>
      </p:sp>
      <p:sp>
        <p:nvSpPr>
          <p:cNvPr id="10" name="Text Box 36"/>
          <p:cNvSpPr txBox="1">
            <a:spLocks noChangeArrowheads="1"/>
          </p:cNvSpPr>
          <p:nvPr/>
        </p:nvSpPr>
        <p:spPr bwMode="auto">
          <a:xfrm>
            <a:off x="152400" y="1828800"/>
            <a:ext cx="1219200" cy="353943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b="1" dirty="0" smtClean="0">
                <a:solidFill>
                  <a:srgbClr val="FF0000"/>
                </a:solidFill>
                <a:latin typeface="Times New Roman"/>
                <a:cs typeface="Times New Roman"/>
              </a:rPr>
              <a:t>II. </a:t>
            </a:r>
            <a:r>
              <a:rPr lang="en-US" sz="2800" b="1" dirty="0" err="1" smtClean="0">
                <a:solidFill>
                  <a:srgbClr val="FF0000"/>
                </a:solidFill>
                <a:latin typeface="Times New Roman"/>
                <a:cs typeface="Times New Roman"/>
              </a:rPr>
              <a:t>Tư</a:t>
            </a:r>
            <a:r>
              <a:rPr lang="en-US" sz="2800" b="1" dirty="0" smtClean="0">
                <a:solidFill>
                  <a:srgbClr val="FF0000"/>
                </a:solidFill>
                <a:latin typeface="Times New Roman"/>
                <a:cs typeface="Times New Roman"/>
              </a:rPr>
              <a:t> </a:t>
            </a:r>
            <a:r>
              <a:rPr lang="en-US" sz="2800" b="1" dirty="0" err="1" smtClean="0">
                <a:solidFill>
                  <a:srgbClr val="FF0000"/>
                </a:solidFill>
                <a:latin typeface="Times New Roman"/>
                <a:cs typeface="Times New Roman"/>
              </a:rPr>
              <a:t>tưởng</a:t>
            </a:r>
            <a:r>
              <a:rPr lang="en-US" sz="2800" b="1" dirty="0" smtClean="0">
                <a:solidFill>
                  <a:srgbClr val="FF0000"/>
                </a:solidFill>
                <a:latin typeface="Times New Roman"/>
                <a:cs typeface="Times New Roman"/>
              </a:rPr>
              <a:t> </a:t>
            </a:r>
            <a:r>
              <a:rPr lang="en-US" sz="2800" b="1" dirty="0" err="1" smtClean="0">
                <a:solidFill>
                  <a:srgbClr val="FF0000"/>
                </a:solidFill>
                <a:latin typeface="Times New Roman"/>
                <a:cs typeface="Times New Roman"/>
              </a:rPr>
              <a:t>Hồ</a:t>
            </a:r>
            <a:r>
              <a:rPr lang="en-US" sz="2800" b="1" dirty="0" smtClean="0">
                <a:solidFill>
                  <a:srgbClr val="FF0000"/>
                </a:solidFill>
                <a:latin typeface="Times New Roman"/>
                <a:cs typeface="Times New Roman"/>
              </a:rPr>
              <a:t> </a:t>
            </a:r>
            <a:r>
              <a:rPr lang="en-US" sz="2800" b="1" dirty="0" err="1" smtClean="0">
                <a:solidFill>
                  <a:srgbClr val="FF0000"/>
                </a:solidFill>
                <a:latin typeface="Times New Roman"/>
                <a:cs typeface="Times New Roman"/>
              </a:rPr>
              <a:t>Chí</a:t>
            </a:r>
            <a:r>
              <a:rPr lang="en-US" sz="2800" b="1" dirty="0" smtClean="0">
                <a:solidFill>
                  <a:srgbClr val="FF0000"/>
                </a:solidFill>
                <a:latin typeface="Times New Roman"/>
                <a:cs typeface="Times New Roman"/>
              </a:rPr>
              <a:t> Minh </a:t>
            </a:r>
            <a:r>
              <a:rPr lang="en-US" sz="2800" b="1" dirty="0" err="1" smtClean="0">
                <a:solidFill>
                  <a:srgbClr val="FF0000"/>
                </a:solidFill>
                <a:latin typeface="Times New Roman"/>
                <a:cs typeface="Times New Roman"/>
              </a:rPr>
              <a:t>về</a:t>
            </a:r>
            <a:r>
              <a:rPr lang="en-US" sz="2800" b="1" dirty="0" smtClean="0">
                <a:solidFill>
                  <a:srgbClr val="FF0000"/>
                </a:solidFill>
                <a:latin typeface="Times New Roman"/>
                <a:cs typeface="Times New Roman"/>
              </a:rPr>
              <a:t> </a:t>
            </a:r>
          </a:p>
          <a:p>
            <a:pPr algn="ctr"/>
            <a:r>
              <a:rPr lang="en-US" sz="2800" b="1" dirty="0" err="1" smtClean="0">
                <a:solidFill>
                  <a:srgbClr val="FF0000"/>
                </a:solidFill>
                <a:latin typeface="Times New Roman"/>
                <a:cs typeface="Times New Roman"/>
              </a:rPr>
              <a:t>đạo</a:t>
            </a:r>
            <a:r>
              <a:rPr lang="en-US" sz="2800" b="1" dirty="0" smtClean="0">
                <a:solidFill>
                  <a:srgbClr val="FF0000"/>
                </a:solidFill>
                <a:latin typeface="Times New Roman"/>
                <a:cs typeface="Times New Roman"/>
              </a:rPr>
              <a:t> </a:t>
            </a:r>
            <a:r>
              <a:rPr lang="en-US" sz="2800" b="1" dirty="0" err="1" smtClean="0">
                <a:solidFill>
                  <a:srgbClr val="FF0000"/>
                </a:solidFill>
                <a:latin typeface="Times New Roman"/>
                <a:cs typeface="Times New Roman"/>
              </a:rPr>
              <a:t>đức</a:t>
            </a:r>
            <a:endParaRPr lang="en-US" sz="2800" b="1" dirty="0">
              <a:solidFill>
                <a:srgbClr val="FF0000"/>
              </a:solidFill>
              <a:latin typeface="Times New Roman"/>
              <a:cs typeface="Times New Roman"/>
            </a:endParaRPr>
          </a:p>
        </p:txBody>
      </p:sp>
      <p:sp>
        <p:nvSpPr>
          <p:cNvPr id="13" name="Text Box 36"/>
          <p:cNvSpPr txBox="1">
            <a:spLocks noChangeArrowheads="1"/>
          </p:cNvSpPr>
          <p:nvPr/>
        </p:nvSpPr>
        <p:spPr bwMode="auto">
          <a:xfrm>
            <a:off x="2727556" y="4593848"/>
            <a:ext cx="6416444"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a:solidFill>
                  <a:srgbClr val="FF0000"/>
                </a:solidFill>
                <a:latin typeface="Times New Roman"/>
                <a:cs typeface="Times New Roman"/>
              </a:rPr>
              <a:t>3</a:t>
            </a:r>
            <a:r>
              <a:rPr lang="en-US" sz="2600" smtClean="0">
                <a:solidFill>
                  <a:srgbClr val="FF0000"/>
                </a:solidFill>
                <a:latin typeface="Times New Roman"/>
                <a:cs typeface="Times New Roman"/>
              </a:rPr>
              <a:t>. Quan điểm về những nguyên tắc xây dựng đạo đức cách mạng</a:t>
            </a:r>
            <a:endParaRPr lang="en-US" sz="2600" dirty="0">
              <a:solidFill>
                <a:srgbClr val="FF0000"/>
              </a:solidFill>
              <a:latin typeface="Times New Roman"/>
              <a:cs typeface="Times New Roman"/>
            </a:endParaRPr>
          </a:p>
        </p:txBody>
      </p:sp>
      <p:cxnSp>
        <p:nvCxnSpPr>
          <p:cNvPr id="15" name="Straight Connector 14"/>
          <p:cNvCxnSpPr/>
          <p:nvPr/>
        </p:nvCxnSpPr>
        <p:spPr>
          <a:xfrm>
            <a:off x="1610428" y="1261902"/>
            <a:ext cx="0" cy="384349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600200" y="1295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Rectangle 17"/>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Box 36"/>
          <p:cNvSpPr txBox="1">
            <a:spLocks noChangeArrowheads="1"/>
          </p:cNvSpPr>
          <p:nvPr/>
        </p:nvSpPr>
        <p:spPr bwMode="auto">
          <a:xfrm>
            <a:off x="2590800" y="2819400"/>
            <a:ext cx="6641958"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25" name="Straight Arrow Connector 24"/>
          <p:cNvCxnSpPr/>
          <p:nvPr/>
        </p:nvCxnSpPr>
        <p:spPr>
          <a:xfrm>
            <a:off x="1600199" y="311134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600200" y="5105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1" name="Text Box 36"/>
          <p:cNvSpPr txBox="1">
            <a:spLocks noChangeArrowheads="1"/>
          </p:cNvSpPr>
          <p:nvPr/>
        </p:nvSpPr>
        <p:spPr bwMode="auto">
          <a:xfrm>
            <a:off x="2361835" y="1031557"/>
            <a:ext cx="6629765"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1. Đạo đức là gốc, là nền tảng tinh thần </a:t>
            </a:r>
          </a:p>
          <a:p>
            <a:pPr algn="ctr"/>
            <a:r>
              <a:rPr lang="en-US" sz="2600" smtClean="0">
                <a:solidFill>
                  <a:srgbClr val="FF0000"/>
                </a:solidFill>
                <a:latin typeface="Times New Roman"/>
                <a:cs typeface="Times New Roman"/>
              </a:rPr>
              <a:t>của xã hội, của người cách mạng</a:t>
            </a:r>
            <a:endParaRPr lang="en-US" sz="2600" dirty="0">
              <a:solidFill>
                <a:srgbClr val="FF0000"/>
              </a:solidFill>
              <a:latin typeface="Times New Roman"/>
              <a:cs typeface="Times New Roman"/>
            </a:endParaRPr>
          </a:p>
        </p:txBody>
      </p:sp>
      <p:sp>
        <p:nvSpPr>
          <p:cNvPr id="1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19"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Connector 20"/>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6</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488070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fill="hold"/>
                                        <p:tgtEl>
                                          <p:spTgt spid="25"/>
                                        </p:tgtEl>
                                        <p:attrNameLst>
                                          <p:attrName>ppt_x</p:attrName>
                                        </p:attrNameLst>
                                      </p:cBhvr>
                                      <p:tavLst>
                                        <p:tav tm="0">
                                          <p:val>
                                            <p:strVal val="#ppt_x"/>
                                          </p:val>
                                        </p:tav>
                                        <p:tav tm="100000">
                                          <p:val>
                                            <p:strVal val="#ppt_x"/>
                                          </p:val>
                                        </p:tav>
                                      </p:tavLst>
                                    </p:anim>
                                    <p:anim calcmode="lin" valueType="num">
                                      <p:cBhvr additive="base">
                                        <p:cTn id="22" dur="500" fill="hold"/>
                                        <p:tgtEl>
                                          <p:spTgt spid="2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ppt_x"/>
                                          </p:val>
                                        </p:tav>
                                        <p:tav tm="100000">
                                          <p:val>
                                            <p:strVal val="#ppt_x"/>
                                          </p:val>
                                        </p:tav>
                                      </p:tavLst>
                                    </p:anim>
                                    <p:anim calcmode="lin" valueType="num">
                                      <p:cBhvr additive="base">
                                        <p:cTn id="32" dur="500" fill="hold"/>
                                        <p:tgtEl>
                                          <p:spTgt spid="2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2"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21</a:t>
            </a:fld>
            <a:endParaRPr lang="en-US"/>
          </a:p>
        </p:txBody>
      </p:sp>
      <p:sp>
        <p:nvSpPr>
          <p:cNvPr id="17" name="Rectangle 16"/>
          <p:cNvSpPr/>
          <p:nvPr/>
        </p:nvSpPr>
        <p:spPr>
          <a:xfrm>
            <a:off x="3505200" y="1295400"/>
            <a:ext cx="5867400" cy="892552"/>
          </a:xfrm>
          <a:prstGeom prst="rect">
            <a:avLst/>
          </a:prstGeom>
        </p:spPr>
        <p:txBody>
          <a:bodyPr wrap="square">
            <a:spAutoFit/>
          </a:bodyPr>
          <a:lstStyle/>
          <a:p>
            <a:pPr algn="ctr"/>
            <a:r>
              <a:rPr lang="en-US" sz="2600" i="1" spc="-150" smtClean="0">
                <a:solidFill>
                  <a:srgbClr val="002060"/>
                </a:solidFill>
                <a:latin typeface="Times New Roman" pitchFamily="18" charset="0"/>
                <a:cs typeface="Times New Roman" pitchFamily="18" charset="0"/>
              </a:rPr>
              <a:t>Đạo đức là gốc, là nền tảng, là sức mạnh, </a:t>
            </a:r>
          </a:p>
          <a:p>
            <a:pPr algn="ctr"/>
            <a:r>
              <a:rPr lang="en-US" sz="2600" i="1" spc="-150" smtClean="0">
                <a:solidFill>
                  <a:srgbClr val="002060"/>
                </a:solidFill>
                <a:latin typeface="Times New Roman" pitchFamily="18" charset="0"/>
                <a:cs typeface="Times New Roman" pitchFamily="18" charset="0"/>
              </a:rPr>
              <a:t>là tiêu chuẩn hàng đầu của người cách mạng.</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1. Đạo đức là gốc, là nền tảng tinh thần </a:t>
            </a:r>
            <a:r>
              <a:rPr lang="en-US" sz="2600" spc="-150" smtClean="0">
                <a:solidFill>
                  <a:srgbClr val="FF0000"/>
                </a:solidFill>
                <a:latin typeface="Times New Roman"/>
                <a:cs typeface="Times New Roman"/>
              </a:rPr>
              <a:t>của </a:t>
            </a:r>
            <a:r>
              <a:rPr lang="en-US" sz="2600" spc="-150">
                <a:solidFill>
                  <a:srgbClr val="FF0000"/>
                </a:solidFill>
                <a:latin typeface="Times New Roman"/>
                <a:cs typeface="Times New Roman"/>
              </a:rPr>
              <a:t>xã hội, của người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048000" y="2520279"/>
            <a:ext cx="6073552" cy="3194721"/>
          </a:xfrm>
          <a:prstGeom prst="rect">
            <a:avLst/>
          </a:prstGeom>
        </p:spPr>
        <p:txBody>
          <a:bodyPr wrap="square">
            <a:spAutoFit/>
          </a:bodyPr>
          <a:lstStyle/>
          <a:p>
            <a:pPr algn="just">
              <a:lnSpc>
                <a:spcPct val="120000"/>
              </a:lnSpc>
            </a:pPr>
            <a:r>
              <a:rPr lang="vi-VN" sz="2800">
                <a:solidFill>
                  <a:srgbClr val="CC0066"/>
                </a:solidFill>
                <a:latin typeface="+mj-lt"/>
              </a:rPr>
              <a:t> “Cũng như sông thì có nguồn mới có nước, không có nguồn thì sông cạn. Cây phải có gốc, không có gốc thì cây héo. Người cách mạng phải có đạo đức, không có đạo đức thì dù tài giỏi mấy cũng không lãnh đạo được nhân </a:t>
            </a:r>
            <a:r>
              <a:rPr lang="vi-VN" sz="2800" smtClean="0">
                <a:solidFill>
                  <a:srgbClr val="CC0066"/>
                </a:solidFill>
                <a:latin typeface="+mj-lt"/>
              </a:rPr>
              <a:t>dân"</a:t>
            </a:r>
            <a:r>
              <a:rPr lang="en-US" sz="2800" smtClean="0">
                <a:solidFill>
                  <a:srgbClr val="CC0066"/>
                </a:solidFill>
                <a:latin typeface="+mj-lt"/>
              </a:rPr>
              <a:t>.</a:t>
            </a:r>
            <a:endParaRPr lang="en-US" sz="2600" i="1" dirty="0">
              <a:solidFill>
                <a:srgbClr val="CC0066"/>
              </a:solidFill>
              <a:latin typeface="+mj-lt"/>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56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22</a:t>
            </a:fld>
            <a:endParaRPr lang="en-US"/>
          </a:p>
        </p:txBody>
      </p:sp>
      <p:sp>
        <p:nvSpPr>
          <p:cNvPr id="17" name="Rectangle 16"/>
          <p:cNvSpPr/>
          <p:nvPr/>
        </p:nvSpPr>
        <p:spPr>
          <a:xfrm>
            <a:off x="3505200" y="1295400"/>
            <a:ext cx="5867400" cy="892552"/>
          </a:xfrm>
          <a:prstGeom prst="rect">
            <a:avLst/>
          </a:prstGeom>
        </p:spPr>
        <p:txBody>
          <a:bodyPr wrap="square">
            <a:spAutoFit/>
          </a:bodyPr>
          <a:lstStyle/>
          <a:p>
            <a:pPr algn="ctr"/>
            <a:r>
              <a:rPr lang="en-US" sz="2600" i="1" spc="-150" smtClean="0">
                <a:solidFill>
                  <a:srgbClr val="002060"/>
                </a:solidFill>
                <a:latin typeface="Times New Roman" pitchFamily="18" charset="0"/>
                <a:cs typeface="Times New Roman" pitchFamily="18" charset="0"/>
              </a:rPr>
              <a:t>Đạo đức là gốc, là nền tảng, là sức mạnh, </a:t>
            </a:r>
          </a:p>
          <a:p>
            <a:pPr algn="ctr"/>
            <a:r>
              <a:rPr lang="en-US" sz="2600" i="1" spc="-150" smtClean="0">
                <a:solidFill>
                  <a:srgbClr val="002060"/>
                </a:solidFill>
                <a:latin typeface="Times New Roman" pitchFamily="18" charset="0"/>
                <a:cs typeface="Times New Roman" pitchFamily="18" charset="0"/>
              </a:rPr>
              <a:t>là tiêu chuẩn hàng đầu của người cách mạng.</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1. Đạo đức là gốc, là nền tảng tinh thần </a:t>
            </a:r>
            <a:r>
              <a:rPr lang="en-US" sz="2600" spc="-150" smtClean="0">
                <a:solidFill>
                  <a:srgbClr val="FF0000"/>
                </a:solidFill>
                <a:latin typeface="Times New Roman"/>
                <a:cs typeface="Times New Roman"/>
              </a:rPr>
              <a:t>của </a:t>
            </a:r>
            <a:r>
              <a:rPr lang="en-US" sz="2600" spc="-150">
                <a:solidFill>
                  <a:srgbClr val="FF0000"/>
                </a:solidFill>
                <a:latin typeface="Times New Roman"/>
                <a:cs typeface="Times New Roman"/>
              </a:rPr>
              <a:t>xã hội, của người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276600" y="2362200"/>
            <a:ext cx="5638800" cy="3693319"/>
          </a:xfrm>
          <a:prstGeom prst="rect">
            <a:avLst/>
          </a:prstGeom>
        </p:spPr>
        <p:txBody>
          <a:bodyPr wrap="square">
            <a:spAutoFit/>
          </a:bodyPr>
          <a:lstStyle/>
          <a:p>
            <a:pPr algn="just"/>
            <a:r>
              <a:rPr lang="vi-VN" sz="2600">
                <a:solidFill>
                  <a:srgbClr val="CC0066"/>
                </a:solidFill>
                <a:latin typeface="+mj-lt"/>
              </a:rPr>
              <a:t>“Làm cách mạng để cải tạo xã hội cũ thành xã hội mới là một sự nghiệp rất vẻ vang, nhưng nó cũng là một nhiệm vụ rất nặng nề, một cuộc đấu tranh rất phức tạp, lâu dài, gian khổ. Sức có mạnh mới gánh được nặng và đi được xa. Người cách mạng phải có đạo đức cách mạng làm nền tảng, mới hoàn thành được nhiệm vụ cách mạng vẻ vang</a:t>
            </a:r>
            <a:r>
              <a:rPr lang="vi-VN" sz="2600" smtClean="0">
                <a:solidFill>
                  <a:srgbClr val="CC0066"/>
                </a:solidFill>
                <a:latin typeface="+mj-lt"/>
              </a:rPr>
              <a:t>”</a:t>
            </a:r>
            <a:r>
              <a:rPr lang="en-US" sz="2600" smtClean="0">
                <a:solidFill>
                  <a:srgbClr val="CC0066"/>
                </a:solidFill>
                <a:latin typeface="+mj-lt"/>
              </a:rPr>
              <a:t>.</a:t>
            </a:r>
            <a:endParaRPr lang="en-US" sz="2600" i="1" dirty="0">
              <a:solidFill>
                <a:srgbClr val="CC0066"/>
              </a:solidFill>
              <a:latin typeface="+mj-lt"/>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12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23</a:t>
            </a:fld>
            <a:endParaRPr lang="en-US"/>
          </a:p>
        </p:txBody>
      </p:sp>
      <p:sp>
        <p:nvSpPr>
          <p:cNvPr id="17" name="Rectangle 16"/>
          <p:cNvSpPr/>
          <p:nvPr/>
        </p:nvSpPr>
        <p:spPr>
          <a:xfrm>
            <a:off x="3505200" y="1295400"/>
            <a:ext cx="5867400" cy="892552"/>
          </a:xfrm>
          <a:prstGeom prst="rect">
            <a:avLst/>
          </a:prstGeom>
        </p:spPr>
        <p:txBody>
          <a:bodyPr wrap="square">
            <a:spAutoFit/>
          </a:bodyPr>
          <a:lstStyle/>
          <a:p>
            <a:pPr algn="ctr"/>
            <a:r>
              <a:rPr lang="en-US" sz="2600" i="1" spc="-150" smtClean="0">
                <a:solidFill>
                  <a:srgbClr val="002060"/>
                </a:solidFill>
                <a:latin typeface="Times New Roman" pitchFamily="18" charset="0"/>
                <a:cs typeface="Times New Roman" pitchFamily="18" charset="0"/>
              </a:rPr>
              <a:t>Đạo đức là gốc, là nền tảng, là sức mạnh, </a:t>
            </a:r>
          </a:p>
          <a:p>
            <a:pPr algn="ctr"/>
            <a:r>
              <a:rPr lang="en-US" sz="2600" i="1" spc="-150" smtClean="0">
                <a:solidFill>
                  <a:srgbClr val="002060"/>
                </a:solidFill>
                <a:latin typeface="Times New Roman" pitchFamily="18" charset="0"/>
                <a:cs typeface="Times New Roman" pitchFamily="18" charset="0"/>
              </a:rPr>
              <a:t>là tiêu chuẩn hàng đầu của người cách mạng.</a:t>
            </a:r>
            <a:endParaRPr lang="en-US" sz="2600" i="1" spc="-150"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1. Đạo đức là gốc, là nền tảng tinh thần </a:t>
            </a:r>
            <a:r>
              <a:rPr lang="en-US" sz="2600" spc="-150" smtClean="0">
                <a:solidFill>
                  <a:srgbClr val="FF0000"/>
                </a:solidFill>
                <a:latin typeface="Times New Roman"/>
                <a:cs typeface="Times New Roman"/>
              </a:rPr>
              <a:t>của </a:t>
            </a:r>
            <a:r>
              <a:rPr lang="en-US" sz="2600" spc="-150">
                <a:solidFill>
                  <a:srgbClr val="FF0000"/>
                </a:solidFill>
                <a:latin typeface="Times New Roman"/>
                <a:cs typeface="Times New Roman"/>
              </a:rPr>
              <a:t>xã hội, của người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276600" y="2468919"/>
            <a:ext cx="5638800" cy="3246081"/>
          </a:xfrm>
          <a:prstGeom prst="rect">
            <a:avLst/>
          </a:prstGeom>
        </p:spPr>
        <p:txBody>
          <a:bodyPr wrap="square">
            <a:spAutoFit/>
          </a:bodyPr>
          <a:lstStyle/>
          <a:p>
            <a:pPr algn="just">
              <a:lnSpc>
                <a:spcPct val="150000"/>
              </a:lnSpc>
            </a:pPr>
            <a:r>
              <a:rPr lang="vi-VN" sz="2800" smtClean="0">
                <a:solidFill>
                  <a:srgbClr val="CC0066"/>
                </a:solidFill>
                <a:latin typeface="+mj-lt"/>
              </a:rPr>
              <a:t>“</a:t>
            </a:r>
            <a:r>
              <a:rPr lang="vi-VN" sz="2800">
                <a:solidFill>
                  <a:srgbClr val="CC0066"/>
                </a:solidFill>
                <a:latin typeface="+mj-lt"/>
              </a:rPr>
              <a:t>Dạy cũng như học phải biết chú trọng cả tài lẫn đức. Đức là đạo đức cách mạng. Đó là cái gốc, rất là quan trọng. Nếu không có đạo đức cách mạng thì có tài cũng vô dụng</a:t>
            </a:r>
            <a:r>
              <a:rPr lang="vi-VN" sz="2800" smtClean="0">
                <a:solidFill>
                  <a:srgbClr val="CC0066"/>
                </a:solidFill>
                <a:latin typeface="+mj-lt"/>
              </a:rPr>
              <a:t>”</a:t>
            </a:r>
            <a:r>
              <a:rPr lang="en-US" sz="2800" smtClean="0">
                <a:solidFill>
                  <a:srgbClr val="CC0066"/>
                </a:solidFill>
                <a:latin typeface="+mj-lt"/>
              </a:rPr>
              <a:t>.</a:t>
            </a:r>
            <a:endParaRPr lang="en-US" sz="2800" i="1" dirty="0">
              <a:solidFill>
                <a:srgbClr val="CC0066"/>
              </a:solidFill>
              <a:latin typeface="+mj-lt"/>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32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24</a:t>
            </a:fld>
            <a:endParaRPr lang="en-US"/>
          </a:p>
        </p:txBody>
      </p:sp>
      <p:sp>
        <p:nvSpPr>
          <p:cNvPr id="17" name="Rectangle 16"/>
          <p:cNvSpPr/>
          <p:nvPr/>
        </p:nvSpPr>
        <p:spPr>
          <a:xfrm>
            <a:off x="3505200" y="1295400"/>
            <a:ext cx="5867400" cy="892552"/>
          </a:xfrm>
          <a:prstGeom prst="rect">
            <a:avLst/>
          </a:prstGeom>
        </p:spPr>
        <p:txBody>
          <a:bodyPr wrap="square">
            <a:spAutoFit/>
          </a:bodyPr>
          <a:lstStyle/>
          <a:p>
            <a:pPr algn="ctr"/>
            <a:r>
              <a:rPr lang="en-US" sz="2600" i="1" smtClean="0">
                <a:solidFill>
                  <a:srgbClr val="002060"/>
                </a:solidFill>
                <a:latin typeface="Times New Roman" pitchFamily="18" charset="0"/>
                <a:cs typeface="Times New Roman" pitchFamily="18" charset="0"/>
              </a:rPr>
              <a:t>Đạo đức là thước đo </a:t>
            </a:r>
          </a:p>
          <a:p>
            <a:pPr algn="ctr"/>
            <a:r>
              <a:rPr lang="en-US" sz="2600" i="1" smtClean="0">
                <a:solidFill>
                  <a:srgbClr val="002060"/>
                </a:solidFill>
                <a:latin typeface="Times New Roman" pitchFamily="18" charset="0"/>
                <a:cs typeface="Times New Roman" pitchFamily="18" charset="0"/>
              </a:rPr>
              <a:t>lòng cao thượng của con người.</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1. Đạo đức là gốc, là nền tảng tinh thần </a:t>
            </a:r>
            <a:r>
              <a:rPr lang="en-US" sz="2600" spc="-150" smtClean="0">
                <a:solidFill>
                  <a:srgbClr val="FF0000"/>
                </a:solidFill>
                <a:latin typeface="Times New Roman"/>
                <a:cs typeface="Times New Roman"/>
              </a:rPr>
              <a:t>của </a:t>
            </a:r>
            <a:r>
              <a:rPr lang="en-US" sz="2600" spc="-150">
                <a:solidFill>
                  <a:srgbClr val="FF0000"/>
                </a:solidFill>
                <a:latin typeface="Times New Roman"/>
                <a:cs typeface="Times New Roman"/>
              </a:rPr>
              <a:t>xã hội, của người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276600" y="2468919"/>
            <a:ext cx="5638800" cy="3323987"/>
          </a:xfrm>
          <a:prstGeom prst="rect">
            <a:avLst/>
          </a:prstGeom>
        </p:spPr>
        <p:txBody>
          <a:bodyPr wrap="square">
            <a:spAutoFit/>
          </a:bodyPr>
          <a:lstStyle/>
          <a:p>
            <a:pPr algn="just">
              <a:lnSpc>
                <a:spcPct val="150000"/>
              </a:lnSpc>
            </a:pPr>
            <a:r>
              <a:rPr lang="vi-VN" sz="2800" smtClean="0">
                <a:solidFill>
                  <a:srgbClr val="CC0066"/>
                </a:solidFill>
                <a:latin typeface="+mj-lt"/>
              </a:rPr>
              <a:t>“</a:t>
            </a:r>
            <a:r>
              <a:rPr lang="vi-VN" sz="2800">
                <a:solidFill>
                  <a:srgbClr val="CC0066"/>
                </a:solidFill>
                <a:latin typeface="+mj-lt"/>
              </a:rPr>
              <a:t>Tuy năng lực và công việc của mỗi người khác nhau, người làm việc to, người làm việc nhỏ; nhưng ai giữ được đạo đức đều là người cao thượng</a:t>
            </a:r>
            <a:r>
              <a:rPr lang="vi-VN" sz="2800" smtClean="0">
                <a:solidFill>
                  <a:srgbClr val="CC0066"/>
                </a:solidFill>
                <a:latin typeface="+mj-lt"/>
              </a:rPr>
              <a:t>”</a:t>
            </a:r>
            <a:r>
              <a:rPr lang="en-US" sz="2800" smtClean="0">
                <a:solidFill>
                  <a:srgbClr val="CC0066"/>
                </a:solidFill>
                <a:latin typeface="+mj-lt"/>
              </a:rPr>
              <a:t>.</a:t>
            </a:r>
            <a:endParaRPr lang="en-US" sz="2800" i="1" dirty="0">
              <a:solidFill>
                <a:srgbClr val="CC0066"/>
              </a:solidFill>
              <a:latin typeface="+mj-lt"/>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55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25</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a. </a:t>
            </a:r>
            <a:r>
              <a:rPr lang="en-US" sz="2600" i="1" dirty="0" err="1" smtClean="0">
                <a:solidFill>
                  <a:srgbClr val="002060"/>
                </a:solidFill>
                <a:latin typeface="Times New Roman" pitchFamily="18" charset="0"/>
                <a:cs typeface="Times New Roman" pitchFamily="18" charset="0"/>
              </a:rPr>
              <a:t>Trung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hiếu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276600" y="3112063"/>
            <a:ext cx="5638800" cy="1307537"/>
          </a:xfrm>
          <a:prstGeom prst="rect">
            <a:avLst/>
          </a:prstGeom>
        </p:spPr>
        <p:txBody>
          <a:bodyPr wrap="square">
            <a:spAutoFit/>
          </a:bodyPr>
          <a:lstStyle/>
          <a:p>
            <a:pPr algn="ctr">
              <a:lnSpc>
                <a:spcPct val="150000"/>
              </a:lnSpc>
            </a:pPr>
            <a:r>
              <a:rPr lang="en-US" sz="2800" smtClean="0">
                <a:solidFill>
                  <a:srgbClr val="CC0066"/>
                </a:solidFill>
                <a:latin typeface="Times New Roman" pitchFamily="18" charset="0"/>
                <a:cs typeface="Times New Roman" pitchFamily="18" charset="0"/>
              </a:rPr>
              <a:t>Phẩm chất đạo đức cách mạng </a:t>
            </a:r>
          </a:p>
          <a:p>
            <a:pPr algn="ctr">
              <a:lnSpc>
                <a:spcPct val="150000"/>
              </a:lnSpc>
            </a:pPr>
            <a:r>
              <a:rPr lang="en-US" sz="2800" smtClean="0">
                <a:solidFill>
                  <a:srgbClr val="CC0066"/>
                </a:solidFill>
                <a:latin typeface="Times New Roman" pitchFamily="18" charset="0"/>
                <a:cs typeface="Times New Roman" pitchFamily="18" charset="0"/>
              </a:rPr>
              <a:t>bao trùm, quan trọng nhất.</a:t>
            </a:r>
            <a:endParaRPr lang="en-US" sz="2800" i="1" dirty="0">
              <a:solidFill>
                <a:srgbClr val="CC0066"/>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674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26</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a. </a:t>
            </a:r>
            <a:r>
              <a:rPr lang="en-US" sz="2600" i="1" dirty="0" err="1" smtClean="0">
                <a:solidFill>
                  <a:srgbClr val="002060"/>
                </a:solidFill>
                <a:latin typeface="Times New Roman" pitchFamily="18" charset="0"/>
                <a:cs typeface="Times New Roman" pitchFamily="18" charset="0"/>
              </a:rPr>
              <a:t>Trung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hiếu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203180" y="2438400"/>
            <a:ext cx="5940820" cy="3323987"/>
          </a:xfrm>
          <a:prstGeom prst="rect">
            <a:avLst/>
          </a:prstGeom>
        </p:spPr>
        <p:txBody>
          <a:bodyPr wrap="square">
            <a:spAutoFit/>
          </a:bodyPr>
          <a:lstStyle/>
          <a:p>
            <a:pPr algn="ctr">
              <a:lnSpc>
                <a:spcPct val="150000"/>
              </a:lnSpc>
            </a:pPr>
            <a:r>
              <a:rPr lang="en-US" sz="2800" smtClean="0">
                <a:solidFill>
                  <a:srgbClr val="CC0066"/>
                </a:solidFill>
                <a:latin typeface="Times New Roman" pitchFamily="18" charset="0"/>
                <a:cs typeface="Times New Roman" pitchFamily="18" charset="0"/>
              </a:rPr>
              <a:t>“Đạo đức, ngày trước thì chỉ </a:t>
            </a:r>
          </a:p>
          <a:p>
            <a:pPr algn="ctr">
              <a:lnSpc>
                <a:spcPct val="150000"/>
              </a:lnSpc>
            </a:pPr>
            <a:r>
              <a:rPr lang="en-US" sz="2800" smtClean="0">
                <a:solidFill>
                  <a:srgbClr val="CC0066"/>
                </a:solidFill>
                <a:latin typeface="Times New Roman" pitchFamily="18" charset="0"/>
                <a:cs typeface="Times New Roman" pitchFamily="18" charset="0"/>
              </a:rPr>
              <a:t>trung với vua, hiếu với cha mẹ. </a:t>
            </a:r>
          </a:p>
          <a:p>
            <a:pPr algn="ctr">
              <a:lnSpc>
                <a:spcPct val="150000"/>
              </a:lnSpc>
            </a:pPr>
            <a:r>
              <a:rPr lang="en-US" sz="2800" smtClean="0">
                <a:solidFill>
                  <a:srgbClr val="CC0066"/>
                </a:solidFill>
                <a:latin typeface="Times New Roman" pitchFamily="18" charset="0"/>
                <a:cs typeface="Times New Roman" pitchFamily="18" charset="0"/>
              </a:rPr>
              <a:t>Ngày nay, thời đại mới, đạo đức cũng phải mới. Phải trung với nước. </a:t>
            </a:r>
          </a:p>
          <a:p>
            <a:pPr algn="ctr">
              <a:lnSpc>
                <a:spcPct val="150000"/>
              </a:lnSpc>
            </a:pPr>
            <a:r>
              <a:rPr lang="en-US" sz="2800" smtClean="0">
                <a:solidFill>
                  <a:srgbClr val="CC0066"/>
                </a:solidFill>
                <a:latin typeface="Times New Roman" pitchFamily="18" charset="0"/>
                <a:cs typeface="Times New Roman" pitchFamily="18" charset="0"/>
              </a:rPr>
              <a:t>Phải hiếu với toàn dân, với đồng bào”.</a:t>
            </a:r>
            <a:endParaRPr lang="en-US" sz="2800" i="1" dirty="0">
              <a:solidFill>
                <a:srgbClr val="CC0066"/>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558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27</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a. </a:t>
            </a:r>
            <a:r>
              <a:rPr lang="en-US" sz="2600" i="1" dirty="0" err="1" smtClean="0">
                <a:solidFill>
                  <a:srgbClr val="002060"/>
                </a:solidFill>
                <a:latin typeface="Times New Roman" pitchFamily="18" charset="0"/>
                <a:cs typeface="Times New Roman" pitchFamily="18" charset="0"/>
              </a:rPr>
              <a:t>Trung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hiếu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974580" y="2819400"/>
            <a:ext cx="6169420" cy="2031325"/>
          </a:xfrm>
          <a:prstGeom prst="rect">
            <a:avLst/>
          </a:prstGeom>
        </p:spPr>
        <p:txBody>
          <a:bodyPr wrap="square">
            <a:spAutoFit/>
          </a:bodyPr>
          <a:lstStyle/>
          <a:p>
            <a:pPr algn="ctr">
              <a:lnSpc>
                <a:spcPct val="150000"/>
              </a:lnSpc>
            </a:pPr>
            <a:r>
              <a:rPr lang="en-US" sz="2800" smtClean="0">
                <a:solidFill>
                  <a:srgbClr val="CC0066"/>
                </a:solidFill>
                <a:latin typeface="Times New Roman" pitchFamily="18" charset="0"/>
                <a:cs typeface="Times New Roman" pitchFamily="18" charset="0"/>
              </a:rPr>
              <a:t>Trung với nước là yêu nước, trung thành với sự nghiệp dựng nước và giữ nước, suốt đời phấn đấu vì Tổ quốc.</a:t>
            </a:r>
            <a:endParaRPr lang="en-US" sz="2800" i="1" dirty="0">
              <a:solidFill>
                <a:srgbClr val="CC0066"/>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78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28</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a. </a:t>
            </a:r>
            <a:r>
              <a:rPr lang="en-US" sz="2600" i="1" dirty="0" err="1" smtClean="0">
                <a:solidFill>
                  <a:srgbClr val="002060"/>
                </a:solidFill>
                <a:latin typeface="Times New Roman" pitchFamily="18" charset="0"/>
                <a:cs typeface="Times New Roman" pitchFamily="18" charset="0"/>
              </a:rPr>
              <a:t>Trung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nước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hiếu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dân</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974580" y="2819400"/>
            <a:ext cx="6169420" cy="2031325"/>
          </a:xfrm>
          <a:prstGeom prst="rect">
            <a:avLst/>
          </a:prstGeom>
        </p:spPr>
        <p:txBody>
          <a:bodyPr wrap="square">
            <a:spAutoFit/>
          </a:bodyPr>
          <a:lstStyle/>
          <a:p>
            <a:pPr algn="ctr">
              <a:lnSpc>
                <a:spcPct val="150000"/>
              </a:lnSpc>
            </a:pPr>
            <a:r>
              <a:rPr lang="en-US" sz="2800" smtClean="0">
                <a:solidFill>
                  <a:srgbClr val="CC0066"/>
                </a:solidFill>
                <a:latin typeface="Times New Roman" pitchFamily="18" charset="0"/>
                <a:cs typeface="Times New Roman" pitchFamily="18" charset="0"/>
              </a:rPr>
              <a:t>Hiếu với dân là phải thương dân, tin dân, thân dân, kính trọng dân, lấy dân làm gốc, hết lòng hết sức phục vụ nhân dân.</a:t>
            </a:r>
            <a:endParaRPr lang="en-US" sz="2800" i="1" dirty="0">
              <a:solidFill>
                <a:srgbClr val="CC0066"/>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041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29</a:t>
            </a:fld>
            <a:endParaRPr lang="en-US"/>
          </a:p>
        </p:txBody>
      </p:sp>
      <p:sp>
        <p:nvSpPr>
          <p:cNvPr id="17" name="Rectangle 16"/>
          <p:cNvSpPr/>
          <p:nvPr/>
        </p:nvSpPr>
        <p:spPr>
          <a:xfrm>
            <a:off x="34290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974580" y="2126939"/>
            <a:ext cx="6169420" cy="3892861"/>
          </a:xfrm>
          <a:prstGeom prst="rect">
            <a:avLst/>
          </a:prstGeom>
        </p:spPr>
        <p:txBody>
          <a:bodyPr wrap="square">
            <a:spAutoFit/>
          </a:bodyPr>
          <a:lstStyle/>
          <a:p>
            <a:pPr algn="ctr">
              <a:lnSpc>
                <a:spcPct val="150000"/>
              </a:lnSpc>
            </a:pPr>
            <a:r>
              <a:rPr lang="vi-VN" sz="2800">
                <a:solidFill>
                  <a:srgbClr val="CC0066"/>
                </a:solidFill>
                <a:latin typeface="+mj-lt"/>
              </a:rPr>
              <a:t>“Trời có bốn mùa: Xuân, Hạ, Thu, Đông</a:t>
            </a:r>
          </a:p>
          <a:p>
            <a:pPr algn="ctr">
              <a:lnSpc>
                <a:spcPct val="150000"/>
              </a:lnSpc>
            </a:pPr>
            <a:r>
              <a:rPr lang="vi-VN" sz="2800" spc="-150">
                <a:solidFill>
                  <a:srgbClr val="CC0066"/>
                </a:solidFill>
                <a:latin typeface="+mj-lt"/>
              </a:rPr>
              <a:t>Đất có bốn phương: Đông, Tây, Nam, Bắc</a:t>
            </a:r>
          </a:p>
          <a:p>
            <a:pPr algn="ctr">
              <a:lnSpc>
                <a:spcPct val="150000"/>
              </a:lnSpc>
            </a:pPr>
            <a:r>
              <a:rPr lang="vi-VN" sz="2800" spc="-150">
                <a:solidFill>
                  <a:srgbClr val="CC0066"/>
                </a:solidFill>
                <a:latin typeface="+mj-lt"/>
              </a:rPr>
              <a:t>Người có bốn đức: Cần, Kiệm, Liêm, Chính</a:t>
            </a:r>
          </a:p>
          <a:p>
            <a:pPr algn="ctr">
              <a:lnSpc>
                <a:spcPct val="150000"/>
              </a:lnSpc>
            </a:pPr>
            <a:r>
              <a:rPr lang="vi-VN" sz="2800">
                <a:solidFill>
                  <a:srgbClr val="CC0066"/>
                </a:solidFill>
                <a:latin typeface="+mj-lt"/>
              </a:rPr>
              <a:t>Thiếu một mùa thì không thành trời</a:t>
            </a:r>
          </a:p>
          <a:p>
            <a:pPr algn="ctr">
              <a:lnSpc>
                <a:spcPct val="150000"/>
              </a:lnSpc>
            </a:pPr>
            <a:r>
              <a:rPr lang="vi-VN" sz="2800">
                <a:solidFill>
                  <a:srgbClr val="CC0066"/>
                </a:solidFill>
                <a:latin typeface="+mj-lt"/>
              </a:rPr>
              <a:t>Thiếu một phương thì không thành đất</a:t>
            </a:r>
          </a:p>
          <a:p>
            <a:pPr algn="ctr">
              <a:lnSpc>
                <a:spcPct val="150000"/>
              </a:lnSpc>
            </a:pPr>
            <a:r>
              <a:rPr lang="vi-VN" sz="2800">
                <a:solidFill>
                  <a:srgbClr val="CC0066"/>
                </a:solidFill>
                <a:latin typeface="+mj-lt"/>
              </a:rPr>
              <a:t>Thiếu một đức thì không thành người”</a:t>
            </a: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61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30</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974580" y="2126939"/>
            <a:ext cx="6169420" cy="3957494"/>
          </a:xfrm>
          <a:prstGeom prst="rect">
            <a:avLst/>
          </a:prstGeom>
        </p:spPr>
        <p:txBody>
          <a:bodyPr wrap="square">
            <a:spAutoFit/>
          </a:bodyPr>
          <a:lstStyle/>
          <a:p>
            <a:pPr algn="just">
              <a:lnSpc>
                <a:spcPct val="130000"/>
              </a:lnSpc>
            </a:pPr>
            <a:r>
              <a:rPr lang="vi-VN" sz="2800">
                <a:solidFill>
                  <a:srgbClr val="CC0066"/>
                </a:solidFill>
                <a:latin typeface="+mj-lt"/>
              </a:rPr>
              <a:t>“Cần tức là siêng năng, chăm chỉ, cố gắng dẻo dai. Dao siêng mài thì sắc bén. Ruộng siêng làm cỏ thì lúa tốt. Điều đó rất dễ hiểu. Siêng học tập thì mau biết. Siêng nghĩ ngợi thì hay có sáng kiến. Siêng làm thì nhất định thành công. Siêng hoạt động thì sức khoẻ”.</a:t>
            </a: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4718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31</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974580" y="2429001"/>
            <a:ext cx="6169420" cy="2600199"/>
          </a:xfrm>
          <a:prstGeom prst="rect">
            <a:avLst/>
          </a:prstGeom>
        </p:spPr>
        <p:txBody>
          <a:bodyPr wrap="square">
            <a:spAutoFit/>
          </a:bodyPr>
          <a:lstStyle/>
          <a:p>
            <a:pPr algn="ctr">
              <a:lnSpc>
                <a:spcPct val="150000"/>
              </a:lnSpc>
            </a:pPr>
            <a:r>
              <a:rPr lang="vi-VN" sz="2800">
                <a:solidFill>
                  <a:srgbClr val="CC0066"/>
                </a:solidFill>
                <a:latin typeface="+mj-lt"/>
              </a:rPr>
              <a:t>“Người siêng năng thì mau tiến bộ.</a:t>
            </a:r>
          </a:p>
          <a:p>
            <a:pPr algn="ctr">
              <a:lnSpc>
                <a:spcPct val="150000"/>
              </a:lnSpc>
            </a:pPr>
            <a:r>
              <a:rPr lang="vi-VN" sz="2800">
                <a:solidFill>
                  <a:srgbClr val="CC0066"/>
                </a:solidFill>
                <a:latin typeface="+mj-lt"/>
              </a:rPr>
              <a:t>Cả nhà siêng năng thì chắc ấm no.</a:t>
            </a:r>
          </a:p>
          <a:p>
            <a:pPr algn="ctr">
              <a:lnSpc>
                <a:spcPct val="150000"/>
              </a:lnSpc>
            </a:pPr>
            <a:r>
              <a:rPr lang="vi-VN" sz="2800">
                <a:solidFill>
                  <a:srgbClr val="CC0066"/>
                </a:solidFill>
                <a:latin typeface="+mj-lt"/>
              </a:rPr>
              <a:t>Cả làng siêng năng thì làng phồn thịnh.</a:t>
            </a:r>
          </a:p>
          <a:p>
            <a:pPr algn="ctr">
              <a:lnSpc>
                <a:spcPct val="150000"/>
              </a:lnSpc>
            </a:pPr>
            <a:r>
              <a:rPr lang="vi-VN" sz="2800">
                <a:solidFill>
                  <a:srgbClr val="CC0066"/>
                </a:solidFill>
                <a:latin typeface="+mj-lt"/>
              </a:rPr>
              <a:t>Cả nước siêng năng thì nước mạnh giàu”</a:t>
            </a: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78076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32</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2974580" y="1981200"/>
            <a:ext cx="6169420" cy="4221605"/>
          </a:xfrm>
          <a:prstGeom prst="rect">
            <a:avLst/>
          </a:prstGeom>
        </p:spPr>
        <p:txBody>
          <a:bodyPr wrap="square">
            <a:spAutoFit/>
          </a:bodyPr>
          <a:lstStyle/>
          <a:p>
            <a:pPr algn="just">
              <a:lnSpc>
                <a:spcPct val="150000"/>
              </a:lnSpc>
            </a:pPr>
            <a:r>
              <a:rPr lang="vi-VN" sz="2600">
                <a:solidFill>
                  <a:srgbClr val="CC0066"/>
                </a:solidFill>
                <a:latin typeface="+mj-lt"/>
              </a:rPr>
              <a:t>“Muốn cho chữ Cần có nhiều kết quả hơn, thì phải có kế hoạch cho mọi công việc. Nghĩa là phải tính toán cẩn thận, sắp đặt gọn gàng…Vì vậy, siêng năng và kế hoạch phải đi đôi với nhau. Kế hoạch lại đi đôi với phân công”; “Cần và chuyên phải đi đôi với nhau. Chuyên nghĩa là dẻo dai, bền bỉ</a:t>
            </a:r>
            <a:r>
              <a:rPr lang="vi-VN" sz="2600" smtClean="0">
                <a:solidFill>
                  <a:srgbClr val="CC0066"/>
                </a:solidFill>
                <a:latin typeface="+mj-lt"/>
              </a:rPr>
              <a:t>”</a:t>
            </a:r>
            <a:r>
              <a:rPr lang="en-US" sz="2600" smtClean="0">
                <a:solidFill>
                  <a:srgbClr val="CC0066"/>
                </a:solidFill>
                <a:latin typeface="+mj-lt"/>
              </a:rPr>
              <a:t>.</a:t>
            </a:r>
            <a:endParaRPr lang="vi-VN" sz="2600">
              <a:solidFill>
                <a:srgbClr val="CC0066"/>
              </a:solidFill>
              <a:latin typeface="+mj-lt"/>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793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33</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276600" y="2199144"/>
            <a:ext cx="5715000" cy="2677656"/>
          </a:xfrm>
          <a:prstGeom prst="rect">
            <a:avLst/>
          </a:prstGeom>
        </p:spPr>
        <p:txBody>
          <a:bodyPr wrap="square">
            <a:spAutoFit/>
          </a:bodyPr>
          <a:lstStyle/>
          <a:p>
            <a:pPr algn="just">
              <a:lnSpc>
                <a:spcPct val="150000"/>
              </a:lnSpc>
            </a:pPr>
            <a:r>
              <a:rPr lang="vi-VN" sz="2800">
                <a:solidFill>
                  <a:srgbClr val="CC0066"/>
                </a:solidFill>
                <a:latin typeface="+mj-lt"/>
              </a:rPr>
              <a:t>“Lười biếng là kẻ địch của chữ cần... Vì vậy, lười biếng cũng là kẻ địch của dân tộc. Do vậy, người lười biếng là có tội với đồng bào, với Tổ quốc”</a:t>
            </a:r>
            <a:endParaRPr lang="vi-VN" sz="2600">
              <a:solidFill>
                <a:srgbClr val="CC0066"/>
              </a:solidFill>
              <a:latin typeface="+mj-lt"/>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743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34</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505200" y="2199144"/>
            <a:ext cx="5257800" cy="2086853"/>
          </a:xfrm>
          <a:prstGeom prst="rect">
            <a:avLst/>
          </a:prstGeom>
        </p:spPr>
        <p:txBody>
          <a:bodyPr wrap="square">
            <a:spAutoFit/>
          </a:bodyPr>
          <a:lstStyle/>
          <a:p>
            <a:pPr algn="just">
              <a:lnSpc>
                <a:spcPct val="150000"/>
              </a:lnSpc>
            </a:pPr>
            <a:r>
              <a:rPr lang="en-US" sz="3000">
                <a:solidFill>
                  <a:srgbClr val="CC0066"/>
                </a:solidFill>
                <a:latin typeface="Times New Roman" pitchFamily="18" charset="0"/>
                <a:cs typeface="Times New Roman" pitchFamily="18" charset="0"/>
              </a:rPr>
              <a:t>“Kiệm là thế nào? Là tiết kiệm, không xa xỉ, không hoang phí, không bừa </a:t>
            </a:r>
            <a:r>
              <a:rPr lang="en-US" sz="3000" smtClean="0">
                <a:solidFill>
                  <a:srgbClr val="CC0066"/>
                </a:solidFill>
                <a:latin typeface="Times New Roman" pitchFamily="18" charset="0"/>
                <a:cs typeface="Times New Roman" pitchFamily="18" charset="0"/>
              </a:rPr>
              <a:t>bãi”.</a:t>
            </a:r>
            <a:endParaRPr lang="vi-VN" sz="3000">
              <a:solidFill>
                <a:srgbClr val="CC0066"/>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934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35</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505200" y="2199144"/>
            <a:ext cx="5257800" cy="2308324"/>
          </a:xfrm>
          <a:prstGeom prst="rect">
            <a:avLst/>
          </a:prstGeom>
        </p:spPr>
        <p:txBody>
          <a:bodyPr wrap="square">
            <a:spAutoFit/>
          </a:bodyPr>
          <a:lstStyle/>
          <a:p>
            <a:pPr algn="just">
              <a:lnSpc>
                <a:spcPct val="150000"/>
              </a:lnSpc>
            </a:pPr>
            <a:r>
              <a:rPr lang="en-US" sz="3200" smtClean="0">
                <a:solidFill>
                  <a:srgbClr val="CC0066"/>
                </a:solidFill>
                <a:latin typeface="Times New Roman" pitchFamily="18" charset="0"/>
                <a:cs typeface="Times New Roman" pitchFamily="18" charset="0"/>
              </a:rPr>
              <a:t>“</a:t>
            </a:r>
            <a:r>
              <a:rPr lang="vi-VN" sz="3200" smtClean="0">
                <a:solidFill>
                  <a:srgbClr val="CC0066"/>
                </a:solidFill>
                <a:latin typeface="Times New Roman" pitchFamily="18" charset="0"/>
                <a:cs typeface="Times New Roman" pitchFamily="18" charset="0"/>
              </a:rPr>
              <a:t>CẦN </a:t>
            </a:r>
            <a:r>
              <a:rPr lang="vi-VN" sz="3200">
                <a:solidFill>
                  <a:srgbClr val="CC0066"/>
                </a:solidFill>
                <a:latin typeface="Times New Roman" pitchFamily="18" charset="0"/>
                <a:cs typeface="Times New Roman" pitchFamily="18" charset="0"/>
              </a:rPr>
              <a:t>với KIỆM, phải đi đôi với nhau, như hai chân của con </a:t>
            </a:r>
            <a:r>
              <a:rPr lang="vi-VN" sz="3200" smtClean="0">
                <a:solidFill>
                  <a:srgbClr val="CC0066"/>
                </a:solidFill>
                <a:latin typeface="Times New Roman" pitchFamily="18" charset="0"/>
                <a:cs typeface="Times New Roman" pitchFamily="18" charset="0"/>
              </a:rPr>
              <a:t>người”</a:t>
            </a:r>
            <a:endParaRPr lang="vi-VN" sz="3000">
              <a:solidFill>
                <a:srgbClr val="CC0066"/>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7970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36</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505200" y="2199144"/>
            <a:ext cx="5257800" cy="1481175"/>
          </a:xfrm>
          <a:prstGeom prst="rect">
            <a:avLst/>
          </a:prstGeom>
        </p:spPr>
        <p:txBody>
          <a:bodyPr wrap="square">
            <a:spAutoFit/>
          </a:bodyPr>
          <a:lstStyle/>
          <a:p>
            <a:pPr algn="ctr">
              <a:lnSpc>
                <a:spcPct val="150000"/>
              </a:lnSpc>
            </a:pPr>
            <a:r>
              <a:rPr lang="en-US" sz="3200">
                <a:solidFill>
                  <a:srgbClr val="CC0066"/>
                </a:solidFill>
                <a:latin typeface="Times New Roman" pitchFamily="18" charset="0"/>
                <a:cs typeface="Times New Roman" pitchFamily="18" charset="0"/>
              </a:rPr>
              <a:t>“Liêm là trong sạch, </a:t>
            </a:r>
            <a:endParaRPr lang="en-US" sz="3200" smtClean="0">
              <a:solidFill>
                <a:srgbClr val="CC0066"/>
              </a:solidFill>
              <a:latin typeface="Times New Roman" pitchFamily="18" charset="0"/>
              <a:cs typeface="Times New Roman" pitchFamily="18" charset="0"/>
            </a:endParaRPr>
          </a:p>
          <a:p>
            <a:pPr algn="ctr">
              <a:lnSpc>
                <a:spcPct val="150000"/>
              </a:lnSpc>
            </a:pPr>
            <a:r>
              <a:rPr lang="en-US" sz="3200" smtClean="0">
                <a:solidFill>
                  <a:srgbClr val="CC0066"/>
                </a:solidFill>
                <a:latin typeface="Times New Roman" pitchFamily="18" charset="0"/>
                <a:cs typeface="Times New Roman" pitchFamily="18" charset="0"/>
              </a:rPr>
              <a:t>không </a:t>
            </a:r>
            <a:r>
              <a:rPr lang="en-US" sz="3200">
                <a:solidFill>
                  <a:srgbClr val="CC0066"/>
                </a:solidFill>
                <a:latin typeface="Times New Roman" pitchFamily="18" charset="0"/>
                <a:cs typeface="Times New Roman" pitchFamily="18" charset="0"/>
              </a:rPr>
              <a:t>tham lam”</a:t>
            </a:r>
            <a:endParaRPr lang="vi-VN" sz="3000">
              <a:solidFill>
                <a:srgbClr val="CC0066"/>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73014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37</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392290" y="2199144"/>
            <a:ext cx="5446910" cy="3046988"/>
          </a:xfrm>
          <a:prstGeom prst="rect">
            <a:avLst/>
          </a:prstGeom>
        </p:spPr>
        <p:txBody>
          <a:bodyPr wrap="square">
            <a:spAutoFit/>
          </a:bodyPr>
          <a:lstStyle/>
          <a:p>
            <a:pPr algn="ctr">
              <a:lnSpc>
                <a:spcPct val="150000"/>
              </a:lnSpc>
            </a:pPr>
            <a:r>
              <a:rPr lang="vi-VN" sz="3200">
                <a:solidFill>
                  <a:srgbClr val="CC0066"/>
                </a:solidFill>
                <a:latin typeface="+mj-lt"/>
              </a:rPr>
              <a:t>“Một dân tộc biết cần, kiệm, biết liêm, là một dân tộc giàu về vật chất, mạnh về tinh thần, là một dân tộc văn minh tiến bộ”.</a:t>
            </a:r>
            <a:endParaRPr lang="vi-VN" sz="3000">
              <a:solidFill>
                <a:srgbClr val="CC0066"/>
              </a:solidFill>
              <a:latin typeface="+mj-lt"/>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365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38</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124200" y="2402175"/>
            <a:ext cx="5867400" cy="2169825"/>
          </a:xfrm>
          <a:prstGeom prst="rect">
            <a:avLst/>
          </a:prstGeom>
        </p:spPr>
        <p:txBody>
          <a:bodyPr wrap="square">
            <a:spAutoFit/>
          </a:bodyPr>
          <a:lstStyle/>
          <a:p>
            <a:pPr algn="ctr">
              <a:lnSpc>
                <a:spcPct val="150000"/>
              </a:lnSpc>
            </a:pPr>
            <a:r>
              <a:rPr lang="vi-VN" sz="3000">
                <a:solidFill>
                  <a:srgbClr val="CC0066"/>
                </a:solidFill>
                <a:latin typeface="+mj-lt"/>
              </a:rPr>
              <a:t>“Chính nghĩa là không tà, nghĩa là thẳng thắn, đứng đắn. Ðiều gì không đứng đắn, thẳng thắn, tức là tà”.</a:t>
            </a:r>
            <a:endParaRPr lang="vi-VN" sz="3000">
              <a:solidFill>
                <a:srgbClr val="CC0066"/>
              </a:solidFill>
              <a:latin typeface="+mj-lt"/>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94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39</a:t>
            </a:fld>
            <a:endParaRPr lang="en-US"/>
          </a:p>
        </p:txBody>
      </p:sp>
      <p:sp>
        <p:nvSpPr>
          <p:cNvPr id="17" name="Rectangle 16"/>
          <p:cNvSpPr/>
          <p:nvPr/>
        </p:nvSpPr>
        <p:spPr>
          <a:xfrm>
            <a:off x="3505200" y="1488757"/>
            <a:ext cx="58674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b. </a:t>
            </a:r>
            <a:r>
              <a:rPr lang="en-US" sz="2600" i="1" dirty="0" err="1" smtClean="0">
                <a:solidFill>
                  <a:srgbClr val="002060"/>
                </a:solidFill>
                <a:latin typeface="Times New Roman" pitchFamily="18" charset="0"/>
                <a:cs typeface="Times New Roman" pitchFamily="18" charset="0"/>
              </a:rPr>
              <a:t>Cần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kiệm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liêm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chí</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công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vô</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tư</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124200" y="2402175"/>
            <a:ext cx="5867400" cy="2169825"/>
          </a:xfrm>
          <a:prstGeom prst="rect">
            <a:avLst/>
          </a:prstGeom>
        </p:spPr>
        <p:txBody>
          <a:bodyPr wrap="square">
            <a:spAutoFit/>
          </a:bodyPr>
          <a:lstStyle/>
          <a:p>
            <a:pPr algn="ctr">
              <a:lnSpc>
                <a:spcPct val="150000"/>
              </a:lnSpc>
            </a:pPr>
            <a:r>
              <a:rPr lang="en-US" sz="3000" smtClean="0">
                <a:solidFill>
                  <a:srgbClr val="CC0066"/>
                </a:solidFill>
                <a:latin typeface="Times New Roman" pitchFamily="18" charset="0"/>
                <a:cs typeface="Times New Roman" pitchFamily="18" charset="0"/>
              </a:rPr>
              <a:t>Chí công vô tư là hoàn toàn </a:t>
            </a:r>
          </a:p>
          <a:p>
            <a:pPr algn="ctr">
              <a:lnSpc>
                <a:spcPct val="150000"/>
              </a:lnSpc>
            </a:pPr>
            <a:r>
              <a:rPr lang="en-US" sz="3000" smtClean="0">
                <a:solidFill>
                  <a:srgbClr val="CC0066"/>
                </a:solidFill>
                <a:latin typeface="Times New Roman" pitchFamily="18" charset="0"/>
                <a:cs typeface="Times New Roman" pitchFamily="18" charset="0"/>
              </a:rPr>
              <a:t>thượng tôn lợi ích chung; không sa vào chủ nghĩa cá nhân.</a:t>
            </a:r>
            <a:endParaRPr lang="vi-VN" sz="3000">
              <a:solidFill>
                <a:srgbClr val="CC0066"/>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990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40</a:t>
            </a:fld>
            <a:endParaRPr lang="en-US"/>
          </a:p>
        </p:txBody>
      </p:sp>
      <p:sp>
        <p:nvSpPr>
          <p:cNvPr id="17" name="Rectangle 16"/>
          <p:cNvSpPr/>
          <p:nvPr/>
        </p:nvSpPr>
        <p:spPr>
          <a:xfrm>
            <a:off x="3505200" y="1295400"/>
            <a:ext cx="5181600" cy="892552"/>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c. </a:t>
            </a:r>
            <a:r>
              <a:rPr lang="en-US" sz="2600" i="1" dirty="0" err="1" smtClean="0">
                <a:solidFill>
                  <a:srgbClr val="002060"/>
                </a:solidFill>
                <a:latin typeface="Times New Roman" pitchFamily="18" charset="0"/>
                <a:cs typeface="Times New Roman" pitchFamily="18" charset="0"/>
              </a:rPr>
              <a:t>Thương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yêu</a:t>
            </a:r>
            <a:r>
              <a:rPr lang="en-US" sz="2600" i="1" dirty="0" smtClean="0">
                <a:solidFill>
                  <a:srgbClr val="002060"/>
                </a:solidFill>
                <a:latin typeface="Times New Roman" pitchFamily="18" charset="0"/>
                <a:cs typeface="Times New Roman" pitchFamily="18" charset="0"/>
              </a:rPr>
              <a:t> con </a:t>
            </a:r>
            <a:r>
              <a:rPr lang="en-US" sz="2600" i="1" dirty="0" err="1" smtClean="0">
                <a:solidFill>
                  <a:srgbClr val="002060"/>
                </a:solidFill>
                <a:latin typeface="Times New Roman" pitchFamily="18" charset="0"/>
                <a:cs typeface="Times New Roman" pitchFamily="18" charset="0"/>
              </a:rPr>
              <a:t>người</a:t>
            </a:r>
            <a:r>
              <a:rPr lang="en-US" sz="2600" i="1" dirty="0" smtClean="0">
                <a:solidFill>
                  <a:srgbClr val="002060"/>
                </a:solidFill>
                <a:latin typeface="Times New Roman" pitchFamily="18" charset="0"/>
                <a:cs typeface="Times New Roman" pitchFamily="18" charset="0"/>
              </a:rPr>
              <a:t>, </a:t>
            </a:r>
          </a:p>
          <a:p>
            <a:pPr algn="ctr"/>
            <a:r>
              <a:rPr lang="en-US" sz="2600" i="1" dirty="0" err="1" smtClean="0">
                <a:solidFill>
                  <a:srgbClr val="002060"/>
                </a:solidFill>
                <a:latin typeface="Times New Roman" pitchFamily="18" charset="0"/>
                <a:cs typeface="Times New Roman" pitchFamily="18" charset="0"/>
              </a:rPr>
              <a:t>sống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có</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tình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có</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nghĩa</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124200" y="2402175"/>
            <a:ext cx="5867400" cy="2169825"/>
          </a:xfrm>
          <a:prstGeom prst="rect">
            <a:avLst/>
          </a:prstGeom>
        </p:spPr>
        <p:txBody>
          <a:bodyPr wrap="square">
            <a:spAutoFit/>
          </a:bodyPr>
          <a:lstStyle/>
          <a:p>
            <a:pPr algn="ctr">
              <a:lnSpc>
                <a:spcPct val="150000"/>
              </a:lnSpc>
            </a:pPr>
            <a:r>
              <a:rPr lang="en-US" sz="3000" smtClean="0">
                <a:solidFill>
                  <a:srgbClr val="CC0066"/>
                </a:solidFill>
                <a:latin typeface="Times New Roman" pitchFamily="18" charset="0"/>
                <a:cs typeface="Times New Roman" pitchFamily="18" charset="0"/>
              </a:rPr>
              <a:t>“Đầu tiên là công việc đối với </a:t>
            </a:r>
          </a:p>
          <a:p>
            <a:pPr algn="ctr">
              <a:lnSpc>
                <a:spcPct val="150000"/>
              </a:lnSpc>
            </a:pPr>
            <a:r>
              <a:rPr lang="en-US" sz="3000" smtClean="0">
                <a:solidFill>
                  <a:srgbClr val="CC0066"/>
                </a:solidFill>
                <a:latin typeface="Times New Roman" pitchFamily="18" charset="0"/>
                <a:cs typeface="Times New Roman" pitchFamily="18" charset="0"/>
              </a:rPr>
              <a:t>con người,… Phải có tình đồng chí thương yêu lẫn nhau”</a:t>
            </a:r>
            <a:endParaRPr lang="vi-VN" sz="3000">
              <a:solidFill>
                <a:srgbClr val="CC0066"/>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001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41</a:t>
            </a:fld>
            <a:endParaRPr lang="en-US"/>
          </a:p>
        </p:txBody>
      </p:sp>
      <p:sp>
        <p:nvSpPr>
          <p:cNvPr id="17" name="Rectangle 16"/>
          <p:cNvSpPr/>
          <p:nvPr/>
        </p:nvSpPr>
        <p:spPr>
          <a:xfrm>
            <a:off x="3505200" y="1488757"/>
            <a:ext cx="5181600" cy="492443"/>
          </a:xfrm>
          <a:prstGeom prst="rect">
            <a:avLst/>
          </a:prstGeom>
        </p:spPr>
        <p:txBody>
          <a:bodyPr wrap="square">
            <a:spAutoFit/>
          </a:bodyPr>
          <a:lstStyle/>
          <a:p>
            <a:pPr algn="ctr"/>
            <a:r>
              <a:rPr lang="en-US" sz="2600" i="1" dirty="0" smtClean="0">
                <a:solidFill>
                  <a:srgbClr val="002060"/>
                </a:solidFill>
                <a:latin typeface="Times New Roman" pitchFamily="18" charset="0"/>
                <a:cs typeface="Times New Roman" pitchFamily="18" charset="0"/>
              </a:rPr>
              <a:t>d. </a:t>
            </a:r>
            <a:r>
              <a:rPr lang="en-US" sz="2600" i="1" dirty="0" err="1" smtClean="0">
                <a:solidFill>
                  <a:srgbClr val="002060"/>
                </a:solidFill>
                <a:latin typeface="Times New Roman" pitchFamily="18" charset="0"/>
                <a:cs typeface="Times New Roman" pitchFamily="18" charset="0"/>
              </a:rPr>
              <a:t>Tinh</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thần</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quốc</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tế</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trong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sáng</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0" y="314980"/>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về những chuẩn mực đạo đức cách mạng</a:t>
            </a:r>
            <a:endParaRPr lang="en-US" sz="2600" spc="-15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124200" y="2402175"/>
            <a:ext cx="5867400" cy="1477328"/>
          </a:xfrm>
          <a:prstGeom prst="rect">
            <a:avLst/>
          </a:prstGeom>
        </p:spPr>
        <p:txBody>
          <a:bodyPr wrap="square">
            <a:spAutoFit/>
          </a:bodyPr>
          <a:lstStyle/>
          <a:p>
            <a:pPr algn="ctr">
              <a:lnSpc>
                <a:spcPct val="150000"/>
              </a:lnSpc>
            </a:pPr>
            <a:r>
              <a:rPr lang="en-US" sz="3000" smtClean="0">
                <a:solidFill>
                  <a:srgbClr val="CC0066"/>
                </a:solidFill>
                <a:latin typeface="Times New Roman" pitchFamily="18" charset="0"/>
                <a:cs typeface="Times New Roman" pitchFamily="18" charset="0"/>
              </a:rPr>
              <a:t>“Quan sơn muôn dặm một nhà</a:t>
            </a:r>
          </a:p>
          <a:p>
            <a:pPr algn="ctr">
              <a:lnSpc>
                <a:spcPct val="150000"/>
              </a:lnSpc>
            </a:pPr>
            <a:r>
              <a:rPr lang="en-US" sz="3000" smtClean="0">
                <a:solidFill>
                  <a:srgbClr val="CC0066"/>
                </a:solidFill>
                <a:latin typeface="Times New Roman" pitchFamily="18" charset="0"/>
                <a:cs typeface="Times New Roman" pitchFamily="18" charset="0"/>
              </a:rPr>
              <a:t>Bốn phương vô sản đều là anh em!”</a:t>
            </a:r>
            <a:endParaRPr lang="vi-VN" sz="3000">
              <a:solidFill>
                <a:srgbClr val="CC0066"/>
              </a:solidFill>
              <a:latin typeface="Times New Roman" pitchFamily="18" charset="0"/>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518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42</a:t>
            </a:fld>
            <a:endParaRPr lang="en-US"/>
          </a:p>
        </p:txBody>
      </p:sp>
      <p:sp>
        <p:nvSpPr>
          <p:cNvPr id="17" name="Rectangle 16"/>
          <p:cNvSpPr/>
          <p:nvPr/>
        </p:nvSpPr>
        <p:spPr>
          <a:xfrm>
            <a:off x="3505200" y="1488757"/>
            <a:ext cx="5752828" cy="492443"/>
          </a:xfrm>
          <a:prstGeom prst="rect">
            <a:avLst/>
          </a:prstGeom>
        </p:spPr>
        <p:txBody>
          <a:bodyPr wrap="square">
            <a:spAutoFit/>
          </a:bodyPr>
          <a:lstStyle/>
          <a:p>
            <a:pPr algn="ctr"/>
            <a:r>
              <a:rPr lang="en-US" sz="2600" i="1" dirty="0" err="1" smtClean="0">
                <a:solidFill>
                  <a:srgbClr val="002060"/>
                </a:solidFill>
                <a:latin typeface="Times New Roman" pitchFamily="18" charset="0"/>
                <a:cs typeface="Times New Roman" pitchFamily="18" charset="0"/>
              </a:rPr>
              <a:t>Nói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đôi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với</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làm</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nêu</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gương</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về</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đạo</a:t>
            </a:r>
            <a:r>
              <a:rPr lang="en-US" sz="2600" i="1" dirty="0" smtClean="0">
                <a:solidFill>
                  <a:srgbClr val="002060"/>
                </a:solidFill>
                <a:latin typeface="Times New Roman" pitchFamily="18" charset="0"/>
                <a:cs typeface="Times New Roman" pitchFamily="18" charset="0"/>
              </a:rPr>
              <a:t> </a:t>
            </a:r>
            <a:r>
              <a:rPr lang="en-US" sz="2600" i="1" dirty="0" err="1" smtClean="0">
                <a:solidFill>
                  <a:srgbClr val="002060"/>
                </a:solidFill>
                <a:latin typeface="Times New Roman" pitchFamily="18" charset="0"/>
                <a:cs typeface="Times New Roman" pitchFamily="18" charset="0"/>
              </a:rPr>
              <a:t>đức</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200" y="269557"/>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3</a:t>
            </a:r>
            <a:r>
              <a:rPr lang="en-US" sz="2600" smtClean="0">
                <a:solidFill>
                  <a:srgbClr val="FF0000"/>
                </a:solidFill>
                <a:latin typeface="Times New Roman"/>
                <a:cs typeface="Times New Roman"/>
              </a:rPr>
              <a:t>. Quan điểm về những nguyên tắc xây dựng đạo đức cách mạng</a:t>
            </a:r>
            <a:endParaRPr lang="en-US" sz="26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124200" y="2209800"/>
            <a:ext cx="5867400" cy="3785652"/>
          </a:xfrm>
          <a:prstGeom prst="rect">
            <a:avLst/>
          </a:prstGeom>
        </p:spPr>
        <p:txBody>
          <a:bodyPr wrap="square">
            <a:spAutoFit/>
          </a:bodyPr>
          <a:lstStyle/>
          <a:p>
            <a:pPr algn="ctr">
              <a:lnSpc>
                <a:spcPct val="150000"/>
              </a:lnSpc>
            </a:pPr>
            <a:r>
              <a:rPr lang="vi-VN" sz="3200">
                <a:solidFill>
                  <a:srgbClr val="CC0066"/>
                </a:solidFill>
                <a:latin typeface="+mj-lt"/>
              </a:rPr>
              <a:t>“Nói chung thì các dân tộc phương Đông đều giàu tình cảm, và đối với họ một tấm gương sống còn có giá trị hơn một trăm bài diễn văn tuyên truyền”</a:t>
            </a:r>
            <a:endParaRPr lang="vi-VN" sz="3000">
              <a:solidFill>
                <a:srgbClr val="CC0066"/>
              </a:solidFill>
              <a:latin typeface="+mj-lt"/>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22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43</a:t>
            </a:fld>
            <a:endParaRPr lang="en-US"/>
          </a:p>
        </p:txBody>
      </p:sp>
      <p:sp>
        <p:nvSpPr>
          <p:cNvPr id="17" name="Rectangle 16"/>
          <p:cNvSpPr/>
          <p:nvPr/>
        </p:nvSpPr>
        <p:spPr>
          <a:xfrm>
            <a:off x="3505200" y="1488757"/>
            <a:ext cx="5752828" cy="492443"/>
          </a:xfrm>
          <a:prstGeom prst="rect">
            <a:avLst/>
          </a:prstGeom>
        </p:spPr>
        <p:txBody>
          <a:bodyPr wrap="square">
            <a:spAutoFit/>
          </a:bodyPr>
          <a:lstStyle/>
          <a:p>
            <a:pPr algn="ctr"/>
            <a:r>
              <a:rPr lang="en-US" sz="2600" i="1" smtClean="0">
                <a:solidFill>
                  <a:srgbClr val="002060"/>
                </a:solidFill>
                <a:latin typeface="Times New Roman" pitchFamily="18" charset="0"/>
                <a:cs typeface="Times New Roman" pitchFamily="18" charset="0"/>
              </a:rPr>
              <a:t>Xây đi đôi với chống</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200" y="269557"/>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3</a:t>
            </a:r>
            <a:r>
              <a:rPr lang="en-US" sz="2600" smtClean="0">
                <a:solidFill>
                  <a:srgbClr val="FF0000"/>
                </a:solidFill>
                <a:latin typeface="Times New Roman"/>
                <a:cs typeface="Times New Roman"/>
              </a:rPr>
              <a:t>. Quan điểm về những nguyên tắc xây dựng đạo đức cách mạng</a:t>
            </a:r>
            <a:endParaRPr lang="en-US" sz="26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124200" y="2209800"/>
            <a:ext cx="5867400" cy="3323987"/>
          </a:xfrm>
          <a:prstGeom prst="rect">
            <a:avLst/>
          </a:prstGeom>
        </p:spPr>
        <p:txBody>
          <a:bodyPr wrap="square">
            <a:spAutoFit/>
          </a:bodyPr>
          <a:lstStyle/>
          <a:p>
            <a:pPr algn="ctr">
              <a:lnSpc>
                <a:spcPct val="150000"/>
              </a:lnSpc>
            </a:pPr>
            <a:r>
              <a:rPr lang="vi-VN" sz="2800">
                <a:solidFill>
                  <a:srgbClr val="CC0066"/>
                </a:solidFill>
                <a:latin typeface="+mj-lt"/>
              </a:rPr>
              <a:t>“Mỗi con người đều có thiện và ác ở trong lòng. Ta phải biết làm cho phần tốt ở trong mỗi con người nảy nở như hoa mùa xuân và phần xấu bị mất dần đi, đó là thái độ của người cách </a:t>
            </a:r>
            <a:r>
              <a:rPr lang="vi-VN" sz="2800" smtClean="0">
                <a:solidFill>
                  <a:srgbClr val="CC0066"/>
                </a:solidFill>
                <a:latin typeface="+mj-lt"/>
              </a:rPr>
              <a:t>mạng</a:t>
            </a:r>
            <a:r>
              <a:rPr lang="en-US" sz="2800" smtClean="0">
                <a:solidFill>
                  <a:srgbClr val="CC0066"/>
                </a:solidFill>
                <a:latin typeface="+mj-lt"/>
              </a:rPr>
              <a:t>”.</a:t>
            </a:r>
            <a:endParaRPr lang="vi-VN" sz="2800">
              <a:solidFill>
                <a:srgbClr val="CC0066"/>
              </a:solidFill>
              <a:latin typeface="+mj-lt"/>
              <a:cs typeface="Times New Roman" pitchFamily="18" charset="0"/>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452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44</a:t>
            </a:fld>
            <a:endParaRPr lang="en-US"/>
          </a:p>
        </p:txBody>
      </p:sp>
      <p:sp>
        <p:nvSpPr>
          <p:cNvPr id="17" name="Rectangle 16"/>
          <p:cNvSpPr/>
          <p:nvPr/>
        </p:nvSpPr>
        <p:spPr>
          <a:xfrm>
            <a:off x="3505200" y="1488757"/>
            <a:ext cx="5752828" cy="492443"/>
          </a:xfrm>
          <a:prstGeom prst="rect">
            <a:avLst/>
          </a:prstGeom>
        </p:spPr>
        <p:txBody>
          <a:bodyPr wrap="square">
            <a:spAutoFit/>
          </a:bodyPr>
          <a:lstStyle/>
          <a:p>
            <a:pPr algn="ctr"/>
            <a:r>
              <a:rPr lang="en-US" sz="2600" i="1" smtClean="0">
                <a:solidFill>
                  <a:srgbClr val="002060"/>
                </a:solidFill>
                <a:latin typeface="Times New Roman" pitchFamily="18" charset="0"/>
                <a:cs typeface="Times New Roman" pitchFamily="18" charset="0"/>
              </a:rPr>
              <a:t>Tu dưỡng đạo đức suốt đời</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200" y="269557"/>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3</a:t>
            </a:r>
            <a:r>
              <a:rPr lang="en-US" sz="2600" smtClean="0">
                <a:solidFill>
                  <a:srgbClr val="FF0000"/>
                </a:solidFill>
                <a:latin typeface="Times New Roman"/>
                <a:cs typeface="Times New Roman"/>
              </a:rPr>
              <a:t>. Quan điểm về những nguyên tắc xây dựng đạo đức cách mạng</a:t>
            </a:r>
            <a:endParaRPr lang="en-US" sz="26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763524"/>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392290" y="2133600"/>
            <a:ext cx="5446910" cy="3892861"/>
          </a:xfrm>
          <a:prstGeom prst="rect">
            <a:avLst/>
          </a:prstGeom>
        </p:spPr>
        <p:txBody>
          <a:bodyPr wrap="square">
            <a:spAutoFit/>
          </a:bodyPr>
          <a:lstStyle/>
          <a:p>
            <a:pPr algn="just" fontAlgn="base">
              <a:lnSpc>
                <a:spcPct val="150000"/>
              </a:lnSpc>
            </a:pPr>
            <a:r>
              <a:rPr lang="vi-VN" sz="2800">
                <a:solidFill>
                  <a:srgbClr val="CC0066"/>
                </a:solidFill>
                <a:latin typeface="+mj-lt"/>
              </a:rPr>
              <a:t>"Đạo đức cách mạng không phải trên trời sa xuống. Nó do đấu tranh, rèn luyện bền bỉ hằng ngày mà phát triển và củng cố. Cũng như ngọc càng mài càng sáng, vàng càng luyện càng trong".</a:t>
            </a: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93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45</a:t>
            </a:fld>
            <a:endParaRPr lang="en-US"/>
          </a:p>
        </p:txBody>
      </p:sp>
      <p:sp>
        <p:nvSpPr>
          <p:cNvPr id="7" name="Title 1"/>
          <p:cNvSpPr txBox="1">
            <a:spLocks/>
          </p:cNvSpPr>
          <p:nvPr/>
        </p:nvSpPr>
        <p:spPr>
          <a:xfrm>
            <a:off x="152400" y="2438400"/>
            <a:ext cx="8915400" cy="7239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spcBef>
                <a:spcPts val="0"/>
              </a:spcBef>
            </a:pPr>
            <a:r>
              <a:rPr lang="en-US" sz="3000" b="1" dirty="0" smtClean="0">
                <a:solidFill>
                  <a:srgbClr val="FF0000"/>
                </a:solidFill>
                <a:latin typeface="Times New Roman" pitchFamily="18" charset="0"/>
                <a:cs typeface="Times New Roman" pitchFamily="18" charset="0"/>
              </a:rPr>
              <a:t>III. </a:t>
            </a:r>
            <a:r>
              <a:rPr lang="en-US" sz="3000" b="1" dirty="0" smtClean="0">
                <a:solidFill>
                  <a:srgbClr val="FF0000"/>
                </a:solidFill>
                <a:latin typeface="Times New Roman" pitchFamily="18" charset="0"/>
                <a:cs typeface="Times New Roman" pitchFamily="18" charset="0"/>
              </a:rPr>
              <a:t>TƯ </a:t>
            </a:r>
            <a:r>
              <a:rPr lang="en-US" sz="3000" b="1" dirty="0">
                <a:solidFill>
                  <a:srgbClr val="FF0000"/>
                </a:solidFill>
                <a:latin typeface="Times New Roman" pitchFamily="18" charset="0"/>
                <a:cs typeface="Times New Roman" pitchFamily="18" charset="0"/>
              </a:rPr>
              <a:t>TƯỞNG HỒ CHÍ </a:t>
            </a:r>
            <a:r>
              <a:rPr lang="en-US" sz="3000" b="1" dirty="0" smtClean="0">
                <a:solidFill>
                  <a:srgbClr val="FF0000"/>
                </a:solidFill>
                <a:latin typeface="Times New Roman" pitchFamily="18" charset="0"/>
                <a:cs typeface="Times New Roman" pitchFamily="18" charset="0"/>
              </a:rPr>
              <a:t>MINH VỀ CON NGƯỜI</a:t>
            </a:r>
            <a:endParaRPr lang="en-US" sz="3000" b="1" dirty="0">
              <a:solidFill>
                <a:srgbClr val="FF0000"/>
              </a:solidFill>
              <a:latin typeface="Times New Roman" pitchFamily="18" charset="0"/>
              <a:cs typeface="Times New Roman" pitchFamily="18" charset="0"/>
            </a:endParaRPr>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11" name="Picture 10"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4"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6</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41574273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10/13/2025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46</a:t>
            </a:fld>
            <a:endParaRPr lang="en-US"/>
          </a:p>
        </p:txBody>
      </p:sp>
      <p:sp>
        <p:nvSpPr>
          <p:cNvPr id="10" name="Text Box 36"/>
          <p:cNvSpPr txBox="1">
            <a:spLocks noChangeArrowheads="1"/>
          </p:cNvSpPr>
          <p:nvPr/>
        </p:nvSpPr>
        <p:spPr bwMode="auto">
          <a:xfrm>
            <a:off x="228600" y="1600200"/>
            <a:ext cx="1219200" cy="31085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800" dirty="0" smtClean="0">
                <a:solidFill>
                  <a:srgbClr val="FF0000"/>
                </a:solidFill>
                <a:latin typeface="Times New Roman"/>
                <a:cs typeface="Times New Roman"/>
              </a:rPr>
              <a:t>III. </a:t>
            </a:r>
            <a:r>
              <a:rPr lang="en-US" sz="2800" dirty="0" err="1" smtClean="0">
                <a:solidFill>
                  <a:srgbClr val="FF0000"/>
                </a:solidFill>
                <a:latin typeface="Times New Roman"/>
                <a:cs typeface="Times New Roman"/>
              </a:rPr>
              <a:t>Tư</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tưởng</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Hồ</a:t>
            </a:r>
            <a:r>
              <a:rPr lang="en-US" sz="2800" dirty="0" smtClean="0">
                <a:solidFill>
                  <a:srgbClr val="FF0000"/>
                </a:solidFill>
                <a:latin typeface="Times New Roman"/>
                <a:cs typeface="Times New Roman"/>
              </a:rPr>
              <a:t> </a:t>
            </a:r>
            <a:r>
              <a:rPr lang="en-US" sz="2800" dirty="0" err="1" smtClean="0">
                <a:solidFill>
                  <a:srgbClr val="FF0000"/>
                </a:solidFill>
                <a:latin typeface="Times New Roman"/>
                <a:cs typeface="Times New Roman"/>
              </a:rPr>
              <a:t>Chí</a:t>
            </a:r>
            <a:r>
              <a:rPr lang="en-US" sz="2800" dirty="0" smtClean="0">
                <a:solidFill>
                  <a:srgbClr val="FF0000"/>
                </a:solidFill>
                <a:latin typeface="Times New Roman"/>
                <a:cs typeface="Times New Roman"/>
              </a:rPr>
              <a:t> Minh </a:t>
            </a:r>
            <a:r>
              <a:rPr lang="en-US" sz="2800" dirty="0" err="1" smtClean="0">
                <a:solidFill>
                  <a:srgbClr val="FF0000"/>
                </a:solidFill>
                <a:latin typeface="Times New Roman"/>
                <a:cs typeface="Times New Roman"/>
              </a:rPr>
              <a:t>về</a:t>
            </a:r>
            <a:r>
              <a:rPr lang="en-US" sz="2800" dirty="0" smtClean="0">
                <a:solidFill>
                  <a:srgbClr val="FF0000"/>
                </a:solidFill>
                <a:latin typeface="Times New Roman"/>
                <a:cs typeface="Times New Roman"/>
              </a:rPr>
              <a:t> con </a:t>
            </a:r>
            <a:r>
              <a:rPr lang="en-US" sz="2800" dirty="0" err="1" smtClean="0">
                <a:solidFill>
                  <a:srgbClr val="FF0000"/>
                </a:solidFill>
                <a:latin typeface="Times New Roman"/>
                <a:cs typeface="Times New Roman"/>
              </a:rPr>
              <a:t>người</a:t>
            </a:r>
            <a:endParaRPr lang="en-US" sz="2800" dirty="0">
              <a:solidFill>
                <a:srgbClr val="FF0000"/>
              </a:solidFill>
              <a:latin typeface="Times New Roman"/>
              <a:cs typeface="Times New Roman"/>
            </a:endParaRPr>
          </a:p>
        </p:txBody>
      </p:sp>
      <p:sp>
        <p:nvSpPr>
          <p:cNvPr id="13" name="Text Box 36"/>
          <p:cNvSpPr txBox="1">
            <a:spLocks noChangeArrowheads="1"/>
          </p:cNvSpPr>
          <p:nvPr/>
        </p:nvSpPr>
        <p:spPr bwMode="auto">
          <a:xfrm>
            <a:off x="2727556" y="4593848"/>
            <a:ext cx="6416444"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a:solidFill>
                  <a:srgbClr val="FF0000"/>
                </a:solidFill>
                <a:latin typeface="Times New Roman"/>
                <a:cs typeface="Times New Roman"/>
              </a:rPr>
              <a:t>3</a:t>
            </a:r>
            <a:r>
              <a:rPr lang="en-US" sz="2600" smtClean="0">
                <a:solidFill>
                  <a:srgbClr val="FF0000"/>
                </a:solidFill>
                <a:latin typeface="Times New Roman"/>
                <a:cs typeface="Times New Roman"/>
              </a:rPr>
              <a:t>. Quan điểm của Hồ Chí Minh về xây dựng con người</a:t>
            </a:r>
            <a:endParaRPr lang="en-US" sz="2600" dirty="0">
              <a:solidFill>
                <a:srgbClr val="FF0000"/>
              </a:solidFill>
              <a:latin typeface="Times New Roman"/>
              <a:cs typeface="Times New Roman"/>
            </a:endParaRPr>
          </a:p>
        </p:txBody>
      </p:sp>
      <p:cxnSp>
        <p:nvCxnSpPr>
          <p:cNvPr id="15" name="Straight Connector 14"/>
          <p:cNvCxnSpPr/>
          <p:nvPr/>
        </p:nvCxnSpPr>
        <p:spPr>
          <a:xfrm>
            <a:off x="1610428" y="1261902"/>
            <a:ext cx="0" cy="3843498"/>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600200" y="1295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8" name="Rectangle 17"/>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Box 36"/>
          <p:cNvSpPr txBox="1">
            <a:spLocks noChangeArrowheads="1"/>
          </p:cNvSpPr>
          <p:nvPr/>
        </p:nvSpPr>
        <p:spPr bwMode="auto">
          <a:xfrm>
            <a:off x="2590800" y="2819400"/>
            <a:ext cx="6641958"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pc="-150">
                <a:solidFill>
                  <a:srgbClr val="FF0000"/>
                </a:solidFill>
                <a:latin typeface="Times New Roman"/>
                <a:cs typeface="Times New Roman"/>
              </a:rPr>
              <a:t>2</a:t>
            </a:r>
            <a:r>
              <a:rPr lang="en-US" sz="2600" spc="-150" smtClean="0">
                <a:solidFill>
                  <a:srgbClr val="FF0000"/>
                </a:solidFill>
                <a:latin typeface="Times New Roman"/>
                <a:cs typeface="Times New Roman"/>
              </a:rPr>
              <a:t>. Quan điểm của Hồ Chí Minh về vai trò của con người</a:t>
            </a:r>
            <a:endParaRPr lang="en-US" sz="2600" spc="-150" dirty="0">
              <a:solidFill>
                <a:srgbClr val="FF0000"/>
              </a:solidFill>
              <a:latin typeface="Times New Roman"/>
              <a:cs typeface="Times New Roman"/>
            </a:endParaRPr>
          </a:p>
        </p:txBody>
      </p:sp>
      <p:cxnSp>
        <p:nvCxnSpPr>
          <p:cNvPr id="25" name="Straight Arrow Connector 24"/>
          <p:cNvCxnSpPr/>
          <p:nvPr/>
        </p:nvCxnSpPr>
        <p:spPr>
          <a:xfrm>
            <a:off x="1600199" y="311134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1600200" y="5105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1" name="Text Box 36"/>
          <p:cNvSpPr txBox="1">
            <a:spLocks noChangeArrowheads="1"/>
          </p:cNvSpPr>
          <p:nvPr/>
        </p:nvSpPr>
        <p:spPr bwMode="auto">
          <a:xfrm>
            <a:off x="2361835" y="1031557"/>
            <a:ext cx="6629765"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smtClean="0">
                <a:solidFill>
                  <a:srgbClr val="FF0000"/>
                </a:solidFill>
                <a:latin typeface="Times New Roman"/>
                <a:cs typeface="Times New Roman"/>
              </a:rPr>
              <a:t>1. Quan niệm của Hồ Chí Minh về con người</a:t>
            </a:r>
            <a:endParaRPr lang="en-US" sz="2600" dirty="0">
              <a:solidFill>
                <a:srgbClr val="FF0000"/>
              </a:solidFill>
              <a:latin typeface="Times New Roman"/>
              <a:cs typeface="Times New Roman"/>
            </a:endParaRPr>
          </a:p>
        </p:txBody>
      </p:sp>
      <p:sp>
        <p:nvSpPr>
          <p:cNvPr id="1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19"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48" y="1141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Connector 20"/>
          <p:cNvCxnSpPr/>
          <p:nvPr/>
        </p:nvCxnSpPr>
        <p:spPr>
          <a:xfrm>
            <a:off x="1061002" y="9144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60952" y="-76200"/>
            <a:ext cx="8382000" cy="838200"/>
          </a:xfrm>
          <a:prstGeom prst="rect">
            <a:avLst/>
          </a:prstGeom>
        </p:spPr>
        <p:txBody>
          <a:bodyPr vert="horz" lIns="91440" tIns="45720" rIns="91440" bIns="4572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54935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anim calcmode="lin" valueType="num">
                                      <p:cBhvr>
                                        <p:cTn id="22" dur="1000" fill="hold"/>
                                        <p:tgtEl>
                                          <p:spTgt spid="25"/>
                                        </p:tgtEl>
                                        <p:attrNameLst>
                                          <p:attrName>ppt_x</p:attrName>
                                        </p:attrNameLst>
                                      </p:cBhvr>
                                      <p:tavLst>
                                        <p:tav tm="0">
                                          <p:val>
                                            <p:strVal val="#ppt_x"/>
                                          </p:val>
                                        </p:tav>
                                        <p:tav tm="100000">
                                          <p:val>
                                            <p:strVal val="#ppt_x"/>
                                          </p:val>
                                        </p:tav>
                                      </p:tavLst>
                                    </p:anim>
                                    <p:anim calcmode="lin" valueType="num">
                                      <p:cBhvr>
                                        <p:cTn id="23" dur="1000" fill="hold"/>
                                        <p:tgtEl>
                                          <p:spTgt spid="25"/>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1000"/>
                                        <p:tgtEl>
                                          <p:spTgt spid="22"/>
                                        </p:tgtEl>
                                      </p:cBhvr>
                                    </p:animEffect>
                                    <p:anim calcmode="lin" valueType="num">
                                      <p:cBhvr>
                                        <p:cTn id="27" dur="1000" fill="hold"/>
                                        <p:tgtEl>
                                          <p:spTgt spid="22"/>
                                        </p:tgtEl>
                                        <p:attrNameLst>
                                          <p:attrName>ppt_x</p:attrName>
                                        </p:attrNameLst>
                                      </p:cBhvr>
                                      <p:tavLst>
                                        <p:tav tm="0">
                                          <p:val>
                                            <p:strVal val="#ppt_x"/>
                                          </p:val>
                                        </p:tav>
                                        <p:tav tm="100000">
                                          <p:val>
                                            <p:strVal val="#ppt_x"/>
                                          </p:val>
                                        </p:tav>
                                      </p:tavLst>
                                    </p:anim>
                                    <p:anim calcmode="lin" valueType="num">
                                      <p:cBhvr>
                                        <p:cTn id="2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1000"/>
                                        <p:tgtEl>
                                          <p:spTgt spid="26"/>
                                        </p:tgtEl>
                                      </p:cBhvr>
                                    </p:animEffect>
                                    <p:anim calcmode="lin" valueType="num">
                                      <p:cBhvr>
                                        <p:cTn id="34" dur="1000" fill="hold"/>
                                        <p:tgtEl>
                                          <p:spTgt spid="26"/>
                                        </p:tgtEl>
                                        <p:attrNameLst>
                                          <p:attrName>ppt_x</p:attrName>
                                        </p:attrNameLst>
                                      </p:cBhvr>
                                      <p:tavLst>
                                        <p:tav tm="0">
                                          <p:val>
                                            <p:strVal val="#ppt_x"/>
                                          </p:val>
                                        </p:tav>
                                        <p:tav tm="100000">
                                          <p:val>
                                            <p:strVal val="#ppt_x"/>
                                          </p:val>
                                        </p:tav>
                                      </p:tavLst>
                                    </p:anim>
                                    <p:anim calcmode="lin" valueType="num">
                                      <p:cBhvr>
                                        <p:cTn id="35" dur="1000" fill="hold"/>
                                        <p:tgtEl>
                                          <p:spTgt spid="26"/>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2"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47</a:t>
            </a:fld>
            <a:endParaRPr lang="en-US"/>
          </a:p>
        </p:txBody>
      </p:sp>
      <p:sp>
        <p:nvSpPr>
          <p:cNvPr id="17" name="Rectangle 16"/>
          <p:cNvSpPr/>
          <p:nvPr/>
        </p:nvSpPr>
        <p:spPr>
          <a:xfrm>
            <a:off x="3810000" y="1488757"/>
            <a:ext cx="5105400" cy="2677656"/>
          </a:xfrm>
          <a:prstGeom prst="rect">
            <a:avLst/>
          </a:prstGeom>
        </p:spPr>
        <p:txBody>
          <a:bodyPr wrap="square">
            <a:spAutoFit/>
          </a:bodyPr>
          <a:lstStyle/>
          <a:p>
            <a:pPr algn="ctr">
              <a:lnSpc>
                <a:spcPct val="150000"/>
              </a:lnSpc>
            </a:pPr>
            <a:r>
              <a:rPr lang="vi-VN" sz="2800" smtClean="0">
                <a:solidFill>
                  <a:srgbClr val="002060"/>
                </a:solidFill>
                <a:latin typeface="+mj-lt"/>
              </a:rPr>
              <a:t>“</a:t>
            </a:r>
            <a:r>
              <a:rPr lang="en-US" sz="2800" smtClean="0">
                <a:solidFill>
                  <a:srgbClr val="002060"/>
                </a:solidFill>
                <a:latin typeface="Times New Roman" pitchFamily="18" charset="0"/>
                <a:cs typeface="Times New Roman" pitchFamily="18" charset="0"/>
              </a:rPr>
              <a:t>c</a:t>
            </a:r>
            <a:r>
              <a:rPr lang="vi-VN" sz="2800" smtClean="0">
                <a:solidFill>
                  <a:srgbClr val="002060"/>
                </a:solidFill>
                <a:latin typeface="+mj-lt"/>
              </a:rPr>
              <a:t>hữ </a:t>
            </a:r>
            <a:r>
              <a:rPr lang="vi-VN" sz="2800">
                <a:solidFill>
                  <a:srgbClr val="002060"/>
                </a:solidFill>
                <a:latin typeface="+mj-lt"/>
              </a:rPr>
              <a:t>người, nghĩa hẹp là gia đình, anh em, họ hàng, bầu bạn. Nghĩa rộng là đồng bào cả nước. Rộng nữa là cả loài </a:t>
            </a:r>
            <a:r>
              <a:rPr lang="vi-VN" sz="2800" smtClean="0">
                <a:solidFill>
                  <a:srgbClr val="002060"/>
                </a:solidFill>
                <a:latin typeface="+mj-lt"/>
              </a:rPr>
              <a:t>người“</a:t>
            </a:r>
            <a:r>
              <a:rPr lang="en-US" sz="2800" smtClean="0">
                <a:solidFill>
                  <a:srgbClr val="002060"/>
                </a:solidFill>
                <a:latin typeface="+mj-lt"/>
              </a:rPr>
              <a:t>.</a:t>
            </a:r>
            <a:endParaRPr lang="en-US" sz="2600" i="1" dirty="0">
              <a:solidFill>
                <a:srgbClr val="002060"/>
              </a:solidFill>
              <a:latin typeface="+mj-lt"/>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200" y="269557"/>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1. Quan niệm của Hồ Chí Minh về con người</a:t>
            </a:r>
            <a:endParaRPr lang="en-US" sz="26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2788632"/>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28308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48</a:t>
            </a:fld>
            <a:endParaRPr lang="en-US"/>
          </a:p>
        </p:txBody>
      </p:sp>
      <p:sp>
        <p:nvSpPr>
          <p:cNvPr id="17" name="Rectangle 16"/>
          <p:cNvSpPr/>
          <p:nvPr/>
        </p:nvSpPr>
        <p:spPr>
          <a:xfrm>
            <a:off x="3581400" y="1447800"/>
            <a:ext cx="5638800" cy="661207"/>
          </a:xfrm>
          <a:prstGeom prst="rect">
            <a:avLst/>
          </a:prstGeom>
        </p:spPr>
        <p:txBody>
          <a:bodyPr wrap="square">
            <a:spAutoFit/>
          </a:bodyPr>
          <a:lstStyle/>
          <a:p>
            <a:pPr algn="ctr">
              <a:lnSpc>
                <a:spcPct val="150000"/>
              </a:lnSpc>
            </a:pPr>
            <a:r>
              <a:rPr lang="en-US" sz="2800" smtClean="0">
                <a:solidFill>
                  <a:srgbClr val="002060"/>
                </a:solidFill>
                <a:latin typeface="Times New Roman" pitchFamily="18" charset="0"/>
                <a:cs typeface="Times New Roman" pitchFamily="18" charset="0"/>
              </a:rPr>
              <a:t>Con người là mục tiêu của cách mạng</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200" y="269557"/>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2. Quan điểm của Hồ Chí Minh về vai trò của con người</a:t>
            </a:r>
            <a:endParaRPr lang="en-US" sz="26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905000"/>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581400" y="3886200"/>
            <a:ext cx="5638800" cy="661207"/>
          </a:xfrm>
          <a:prstGeom prst="rect">
            <a:avLst/>
          </a:prstGeom>
        </p:spPr>
        <p:txBody>
          <a:bodyPr wrap="square">
            <a:spAutoFit/>
          </a:bodyPr>
          <a:lstStyle/>
          <a:p>
            <a:pPr algn="ctr">
              <a:lnSpc>
                <a:spcPct val="150000"/>
              </a:lnSpc>
            </a:pPr>
            <a:r>
              <a:rPr lang="en-US" sz="2800" smtClean="0">
                <a:solidFill>
                  <a:srgbClr val="002060"/>
                </a:solidFill>
                <a:latin typeface="Times New Roman" pitchFamily="18" charset="0"/>
                <a:cs typeface="Times New Roman" pitchFamily="18" charset="0"/>
              </a:rPr>
              <a:t>Con người là động lực của cách mạng</a:t>
            </a:r>
            <a:endParaRPr lang="en-US" sz="2600" i="1" dirty="0">
              <a:solidFill>
                <a:srgbClr val="002060"/>
              </a:solidFill>
              <a:latin typeface="Times New Roman" pitchFamily="18" charset="0"/>
              <a:cs typeface="Times New Roman" pitchFamily="18" charset="0"/>
            </a:endParaRPr>
          </a:p>
        </p:txBody>
      </p:sp>
      <p:cxnSp>
        <p:nvCxnSpPr>
          <p:cNvPr id="16" name="Straight Arrow Connector 15"/>
          <p:cNvCxnSpPr/>
          <p:nvPr/>
        </p:nvCxnSpPr>
        <p:spPr>
          <a:xfrm>
            <a:off x="2974580" y="4325102"/>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1"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310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49</a:t>
            </a:fld>
            <a:endParaRPr lang="en-US"/>
          </a:p>
        </p:txBody>
      </p:sp>
      <p:sp>
        <p:nvSpPr>
          <p:cNvPr id="17" name="Rectangle 16"/>
          <p:cNvSpPr/>
          <p:nvPr/>
        </p:nvSpPr>
        <p:spPr>
          <a:xfrm>
            <a:off x="3810000" y="1471136"/>
            <a:ext cx="3352800" cy="661207"/>
          </a:xfrm>
          <a:prstGeom prst="rect">
            <a:avLst/>
          </a:prstGeom>
        </p:spPr>
        <p:txBody>
          <a:bodyPr wrap="square">
            <a:spAutoFit/>
          </a:bodyPr>
          <a:lstStyle/>
          <a:p>
            <a:pPr algn="ctr">
              <a:lnSpc>
                <a:spcPct val="150000"/>
              </a:lnSpc>
            </a:pPr>
            <a:r>
              <a:rPr lang="en-US" sz="2800" smtClean="0">
                <a:solidFill>
                  <a:srgbClr val="002060"/>
                </a:solidFill>
                <a:latin typeface="Times New Roman" pitchFamily="18" charset="0"/>
                <a:cs typeface="Times New Roman" pitchFamily="18" charset="0"/>
              </a:rPr>
              <a:t>Đặc biệt quan trọng</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200" y="269557"/>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3. Quan điểm của Hồ Chí Minh về xây dựng con người</a:t>
            </a:r>
            <a:endParaRPr lang="en-US" sz="26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905000"/>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352800" y="2819400"/>
            <a:ext cx="5638800" cy="1953420"/>
          </a:xfrm>
          <a:prstGeom prst="rect">
            <a:avLst/>
          </a:prstGeom>
        </p:spPr>
        <p:txBody>
          <a:bodyPr wrap="square">
            <a:spAutoFit/>
          </a:bodyPr>
          <a:lstStyle/>
          <a:p>
            <a:pPr algn="ctr">
              <a:lnSpc>
                <a:spcPct val="150000"/>
              </a:lnSpc>
            </a:pPr>
            <a:r>
              <a:rPr lang="vi-VN" sz="2800">
                <a:solidFill>
                  <a:srgbClr val="CC0066"/>
                </a:solidFill>
                <a:latin typeface="+mj-lt"/>
              </a:rPr>
              <a:t>Muốn xây dựng chủ nghĩa xã hội, trước hết phải có con người </a:t>
            </a:r>
            <a:endParaRPr lang="en-US" sz="2800" smtClean="0">
              <a:solidFill>
                <a:srgbClr val="CC0066"/>
              </a:solidFill>
              <a:latin typeface="+mj-lt"/>
            </a:endParaRPr>
          </a:p>
          <a:p>
            <a:pPr algn="ctr">
              <a:lnSpc>
                <a:spcPct val="150000"/>
              </a:lnSpc>
            </a:pPr>
            <a:r>
              <a:rPr lang="vi-VN" sz="2800" smtClean="0">
                <a:solidFill>
                  <a:srgbClr val="CC0066"/>
                </a:solidFill>
                <a:latin typeface="+mj-lt"/>
              </a:rPr>
              <a:t>xã </a:t>
            </a:r>
            <a:r>
              <a:rPr lang="vi-VN" sz="2800">
                <a:solidFill>
                  <a:srgbClr val="CC0066"/>
                </a:solidFill>
                <a:latin typeface="+mj-lt"/>
              </a:rPr>
              <a:t>hội chủ nghĩa</a:t>
            </a:r>
            <a:endParaRPr lang="en-US" sz="2600" i="1" dirty="0">
              <a:solidFill>
                <a:srgbClr val="CC0066"/>
              </a:solidFill>
              <a:latin typeface="+mj-lt"/>
              <a:cs typeface="Times New Roman" pitchFamily="18"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2"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3860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50</a:t>
            </a:fld>
            <a:endParaRPr lang="en-US"/>
          </a:p>
        </p:txBody>
      </p:sp>
      <p:sp>
        <p:nvSpPr>
          <p:cNvPr id="17" name="Rectangle 16"/>
          <p:cNvSpPr/>
          <p:nvPr/>
        </p:nvSpPr>
        <p:spPr>
          <a:xfrm>
            <a:off x="3810000" y="1471136"/>
            <a:ext cx="2362200" cy="738664"/>
          </a:xfrm>
          <a:prstGeom prst="rect">
            <a:avLst/>
          </a:prstGeom>
        </p:spPr>
        <p:txBody>
          <a:bodyPr wrap="square">
            <a:spAutoFit/>
          </a:bodyPr>
          <a:lstStyle/>
          <a:p>
            <a:pPr algn="ctr">
              <a:lnSpc>
                <a:spcPct val="150000"/>
              </a:lnSpc>
            </a:pPr>
            <a:r>
              <a:rPr lang="en-US" sz="2800" smtClean="0">
                <a:solidFill>
                  <a:srgbClr val="002060"/>
                </a:solidFill>
                <a:latin typeface="Times New Roman" pitchFamily="18" charset="0"/>
                <a:cs typeface="Times New Roman" pitchFamily="18" charset="0"/>
              </a:rPr>
              <a:t>Lâu dài</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200" y="269557"/>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3. Quan điểm của Hồ Chí Minh về xây dựng con người</a:t>
            </a:r>
            <a:endParaRPr lang="en-US" sz="26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905000"/>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048000" y="2743200"/>
            <a:ext cx="6019800" cy="1684564"/>
          </a:xfrm>
          <a:prstGeom prst="rect">
            <a:avLst/>
          </a:prstGeom>
        </p:spPr>
        <p:txBody>
          <a:bodyPr wrap="square">
            <a:spAutoFit/>
          </a:bodyPr>
          <a:lstStyle/>
          <a:p>
            <a:pPr algn="ctr" fontAlgn="base">
              <a:lnSpc>
                <a:spcPct val="200000"/>
              </a:lnSpc>
            </a:pPr>
            <a:r>
              <a:rPr lang="vi-VN" sz="2800">
                <a:solidFill>
                  <a:srgbClr val="CC0066"/>
                </a:solidFill>
                <a:latin typeface="+mj-lt"/>
              </a:rPr>
              <a:t>“Vì lợi ích mười năm thì phải trồng cây, vì lợi ích trăm năm thì phải trồng người”</a:t>
            </a: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468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51</a:t>
            </a:fld>
            <a:endParaRPr lang="en-US"/>
          </a:p>
        </p:txBody>
      </p:sp>
      <p:sp>
        <p:nvSpPr>
          <p:cNvPr id="17" name="Rectangle 16"/>
          <p:cNvSpPr/>
          <p:nvPr/>
        </p:nvSpPr>
        <p:spPr>
          <a:xfrm>
            <a:off x="3810000" y="1471136"/>
            <a:ext cx="2362200" cy="661207"/>
          </a:xfrm>
          <a:prstGeom prst="rect">
            <a:avLst/>
          </a:prstGeom>
        </p:spPr>
        <p:txBody>
          <a:bodyPr wrap="square">
            <a:spAutoFit/>
          </a:bodyPr>
          <a:lstStyle/>
          <a:p>
            <a:pPr algn="ctr">
              <a:lnSpc>
                <a:spcPct val="150000"/>
              </a:lnSpc>
            </a:pPr>
            <a:r>
              <a:rPr lang="en-US" sz="2800" smtClean="0">
                <a:solidFill>
                  <a:srgbClr val="002060"/>
                </a:solidFill>
                <a:latin typeface="Times New Roman" pitchFamily="18" charset="0"/>
                <a:cs typeface="Times New Roman" pitchFamily="18" charset="0"/>
              </a:rPr>
              <a:t>Nội dung</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200" y="269557"/>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3. Quan điểm của Hồ Chí Minh về xây dựng con người</a:t>
            </a:r>
            <a:endParaRPr lang="en-US" sz="26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905000"/>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048000" y="2743200"/>
            <a:ext cx="6019800" cy="1031501"/>
          </a:xfrm>
          <a:prstGeom prst="rect">
            <a:avLst/>
          </a:prstGeom>
        </p:spPr>
        <p:txBody>
          <a:bodyPr wrap="square">
            <a:spAutoFit/>
          </a:bodyPr>
          <a:lstStyle/>
          <a:p>
            <a:pPr algn="ctr" fontAlgn="base">
              <a:lnSpc>
                <a:spcPct val="200000"/>
              </a:lnSpc>
            </a:pPr>
            <a:r>
              <a:rPr lang="en-US" sz="3600" smtClean="0">
                <a:solidFill>
                  <a:srgbClr val="CC0066"/>
                </a:solidFill>
                <a:latin typeface="Times New Roman" pitchFamily="18" charset="0"/>
                <a:cs typeface="Times New Roman" pitchFamily="18" charset="0"/>
              </a:rPr>
              <a:t>Toàn diện</a:t>
            </a:r>
            <a:endParaRPr lang="vi-VN" sz="3600">
              <a:solidFill>
                <a:srgbClr val="CC0066"/>
              </a:solidFill>
              <a:latin typeface="Times New Roman" pitchFamily="18" charset="0"/>
              <a:cs typeface="Times New Roman" pitchFamily="18"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3224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52</a:t>
            </a:fld>
            <a:endParaRPr lang="en-US"/>
          </a:p>
        </p:txBody>
      </p:sp>
      <p:sp>
        <p:nvSpPr>
          <p:cNvPr id="17" name="Rectangle 16"/>
          <p:cNvSpPr/>
          <p:nvPr/>
        </p:nvSpPr>
        <p:spPr>
          <a:xfrm>
            <a:off x="3810000" y="1471136"/>
            <a:ext cx="2362200" cy="661207"/>
          </a:xfrm>
          <a:prstGeom prst="rect">
            <a:avLst/>
          </a:prstGeom>
        </p:spPr>
        <p:txBody>
          <a:bodyPr wrap="square">
            <a:spAutoFit/>
          </a:bodyPr>
          <a:lstStyle/>
          <a:p>
            <a:pPr algn="ctr">
              <a:lnSpc>
                <a:spcPct val="150000"/>
              </a:lnSpc>
            </a:pPr>
            <a:r>
              <a:rPr lang="en-US" sz="2800" smtClean="0">
                <a:solidFill>
                  <a:srgbClr val="002060"/>
                </a:solidFill>
                <a:latin typeface="Times New Roman" pitchFamily="18" charset="0"/>
                <a:cs typeface="Times New Roman" pitchFamily="18" charset="0"/>
              </a:rPr>
              <a:t>Phương pháp</a:t>
            </a:r>
            <a:endParaRPr lang="en-US" sz="2600" i="1" dirty="0">
              <a:solidFill>
                <a:srgbClr val="002060"/>
              </a:solidFill>
              <a:latin typeface="Times New Roman" pitchFamily="18" charset="0"/>
              <a:cs typeface="Times New Roman" pitchFamily="18" charset="0"/>
            </a:endParaRPr>
          </a:p>
        </p:txBody>
      </p:sp>
      <p:sp>
        <p:nvSpPr>
          <p:cNvPr id="12"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5" name="Rectangle 14"/>
          <p:cNvSpPr/>
          <p:nvPr/>
        </p:nvSpPr>
        <p:spPr>
          <a:xfrm>
            <a:off x="0" y="0"/>
            <a:ext cx="9144000" cy="11442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36"/>
          <p:cNvSpPr txBox="1">
            <a:spLocks noChangeArrowheads="1"/>
          </p:cNvSpPr>
          <p:nvPr/>
        </p:nvSpPr>
        <p:spPr bwMode="auto">
          <a:xfrm>
            <a:off x="76200" y="269557"/>
            <a:ext cx="89916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a:solidFill>
                  <a:srgbClr val="FF0000"/>
                </a:solidFill>
                <a:latin typeface="Times New Roman"/>
                <a:cs typeface="Times New Roman"/>
              </a:rPr>
              <a:t>3. Quan điểm của Hồ Chí Minh về xây dựng con người</a:t>
            </a:r>
            <a:endParaRPr lang="en-US" sz="2600" dirty="0">
              <a:solidFill>
                <a:srgbClr val="FF0000"/>
              </a:solidFill>
              <a:latin typeface="Times New Roman"/>
              <a:cs typeface="Times New Roman"/>
            </a:endParaRPr>
          </a:p>
        </p:txBody>
      </p:sp>
      <p:cxnSp>
        <p:nvCxnSpPr>
          <p:cNvPr id="18" name="Straight Connector 17"/>
          <p:cNvCxnSpPr/>
          <p:nvPr/>
        </p:nvCxnSpPr>
        <p:spPr>
          <a:xfrm>
            <a:off x="2971800" y="838200"/>
            <a:ext cx="0" cy="3494276"/>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4580" y="1905000"/>
            <a:ext cx="683020"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3048000" y="2743200"/>
            <a:ext cx="6019800" cy="2308324"/>
          </a:xfrm>
          <a:prstGeom prst="rect">
            <a:avLst/>
          </a:prstGeom>
        </p:spPr>
        <p:txBody>
          <a:bodyPr wrap="square">
            <a:spAutoFit/>
          </a:bodyPr>
          <a:lstStyle/>
          <a:p>
            <a:pPr algn="ctr" fontAlgn="base">
              <a:lnSpc>
                <a:spcPct val="200000"/>
              </a:lnSpc>
            </a:pPr>
            <a:r>
              <a:rPr lang="en-US" sz="3600" smtClean="0">
                <a:solidFill>
                  <a:srgbClr val="CC0066"/>
                </a:solidFill>
                <a:latin typeface="Times New Roman" pitchFamily="18" charset="0"/>
                <a:cs typeface="Times New Roman" pitchFamily="18" charset="0"/>
              </a:rPr>
              <a:t>- Tự xây dựng.</a:t>
            </a:r>
          </a:p>
          <a:p>
            <a:pPr algn="ctr" fontAlgn="base">
              <a:lnSpc>
                <a:spcPct val="200000"/>
              </a:lnSpc>
            </a:pPr>
            <a:r>
              <a:rPr lang="en-US" sz="3600" smtClean="0">
                <a:solidFill>
                  <a:srgbClr val="CC0066"/>
                </a:solidFill>
                <a:latin typeface="Times New Roman" pitchFamily="18" charset="0"/>
                <a:cs typeface="Times New Roman" pitchFamily="18" charset="0"/>
              </a:rPr>
              <a:t>- Được xây dựng.</a:t>
            </a:r>
            <a:endParaRPr lang="vi-VN" sz="3600">
              <a:solidFill>
                <a:srgbClr val="CC0066"/>
              </a:solidFill>
              <a:latin typeface="Times New Roman" pitchFamily="18" charset="0"/>
              <a:cs typeface="Times New Roman" pitchFamily="18"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pic>
        <p:nvPicPr>
          <p:cNvPr id="20" name="Picture 2" descr="http://baohagiang.vn/dataimages/202005/original/images1463658_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2909045" cy="2184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05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10/13/2025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53</a:t>
            </a:fld>
            <a:endParaRPr lang="en-US"/>
          </a:p>
        </p:txBody>
      </p:sp>
      <p:sp>
        <p:nvSpPr>
          <p:cNvPr id="9"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Rectangle 9"/>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31954" y="152400"/>
            <a:ext cx="9112045" cy="10668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00000"/>
              </a:lnSpc>
              <a:spcBef>
                <a:spcPts val="0"/>
              </a:spcBef>
            </a:pPr>
            <a:r>
              <a:rPr lang="en-US" sz="2700" b="1" smtClean="0">
                <a:solidFill>
                  <a:srgbClr val="FF0000"/>
                </a:solidFill>
                <a:latin typeface="Times New Roman" pitchFamily="18" charset="0"/>
                <a:cs typeface="Times New Roman" pitchFamily="18" charset="0"/>
              </a:rPr>
              <a:t>IV. </a:t>
            </a:r>
            <a:r>
              <a:rPr lang="en-US" sz="2700" b="1" dirty="0" smtClean="0">
                <a:solidFill>
                  <a:srgbClr val="FF0000"/>
                </a:solidFill>
                <a:latin typeface="Times New Roman" pitchFamily="18" charset="0"/>
                <a:cs typeface="Times New Roman" pitchFamily="18" charset="0"/>
              </a:rPr>
              <a:t>XÂY DỰNG VĂN HÓA, ĐẠO ĐỨC, CON NGƯỜI VIỆT NAM HIỆN NAY THEO TƯ </a:t>
            </a:r>
            <a:r>
              <a:rPr lang="en-US" sz="2700" b="1" dirty="0">
                <a:solidFill>
                  <a:srgbClr val="FF0000"/>
                </a:solidFill>
                <a:latin typeface="Times New Roman" pitchFamily="18" charset="0"/>
                <a:cs typeface="Times New Roman" pitchFamily="18" charset="0"/>
              </a:rPr>
              <a:t>TƯỞNG HỒ CHÍ MINH </a:t>
            </a:r>
          </a:p>
        </p:txBody>
      </p:sp>
      <p:cxnSp>
        <p:nvCxnSpPr>
          <p:cNvPr id="11" name="Straight Connector 10"/>
          <p:cNvCxnSpPr/>
          <p:nvPr/>
        </p:nvCxnSpPr>
        <p:spPr>
          <a:xfrm>
            <a:off x="609600" y="1557565"/>
            <a:ext cx="0" cy="3090635"/>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700163" y="2174557"/>
            <a:ext cx="7443835" cy="492443"/>
          </a:xfrm>
          <a:prstGeom prst="rect">
            <a:avLst/>
          </a:prstGeom>
        </p:spPr>
        <p:txBody>
          <a:bodyPr wrap="square">
            <a:spAutoFit/>
          </a:bodyPr>
          <a:lstStyle/>
          <a:p>
            <a:pPr algn="just"/>
            <a:r>
              <a:rPr lang="en-US" sz="2600" i="1" smtClean="0">
                <a:solidFill>
                  <a:srgbClr val="002060"/>
                </a:solidFill>
                <a:latin typeface="Times New Roman" pitchFamily="18" charset="0"/>
                <a:cs typeface="Times New Roman" pitchFamily="18" charset="0"/>
              </a:rPr>
              <a:t>Xây dựng và phát triển văn hóa, con người</a:t>
            </a:r>
            <a:endParaRPr lang="en-US" sz="2600" i="1" dirty="0">
              <a:solidFill>
                <a:srgbClr val="002060"/>
              </a:solidFill>
              <a:latin typeface="Times New Roman" pitchFamily="18" charset="0"/>
              <a:cs typeface="Times New Roman" pitchFamily="18" charset="0"/>
            </a:endParaRPr>
          </a:p>
        </p:txBody>
      </p:sp>
      <p:cxnSp>
        <p:nvCxnSpPr>
          <p:cNvPr id="13" name="Straight Arrow Connector 12"/>
          <p:cNvCxnSpPr/>
          <p:nvPr/>
        </p:nvCxnSpPr>
        <p:spPr>
          <a:xfrm>
            <a:off x="633364" y="24384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700165" y="4308157"/>
            <a:ext cx="7443835" cy="492443"/>
          </a:xfrm>
          <a:prstGeom prst="rect">
            <a:avLst/>
          </a:prstGeom>
        </p:spPr>
        <p:txBody>
          <a:bodyPr wrap="square">
            <a:spAutoFit/>
          </a:bodyPr>
          <a:lstStyle/>
          <a:p>
            <a:pPr algn="just"/>
            <a:r>
              <a:rPr lang="en-US" sz="2600" i="1" smtClean="0">
                <a:solidFill>
                  <a:srgbClr val="002060"/>
                </a:solidFill>
                <a:latin typeface="Times New Roman" pitchFamily="18" charset="0"/>
                <a:cs typeface="Times New Roman" pitchFamily="18" charset="0"/>
              </a:rPr>
              <a:t>Xây dựng đạo đức cách mạng</a:t>
            </a:r>
            <a:endParaRPr lang="en-US" sz="2600" i="1" dirty="0">
              <a:solidFill>
                <a:srgbClr val="002060"/>
              </a:solidFill>
              <a:latin typeface="Times New Roman" pitchFamily="18" charset="0"/>
              <a:cs typeface="Times New Roman" pitchFamily="18" charset="0"/>
            </a:endParaRPr>
          </a:p>
        </p:txBody>
      </p:sp>
      <p:cxnSp>
        <p:nvCxnSpPr>
          <p:cNvPr id="15" name="Straight Arrow Connector 14"/>
          <p:cNvCxnSpPr/>
          <p:nvPr/>
        </p:nvCxnSpPr>
        <p:spPr>
          <a:xfrm>
            <a:off x="633366" y="4631828"/>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9"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Tư tưởng Hồ Chí Minh về văn hóa, đạo đức, con người</a:t>
            </a:r>
            <a:endParaRPr lang="en-US" sz="2000" b="1" i="1" dirty="0">
              <a:solidFill>
                <a:srgbClr val="FFFF00"/>
              </a:solidFill>
              <a:latin typeface="Times New Roman"/>
              <a:cs typeface="Times New Roman"/>
            </a:endParaRPr>
          </a:p>
        </p:txBody>
      </p:sp>
    </p:spTree>
    <p:extLst>
      <p:ext uri="{BB962C8B-B14F-4D97-AF65-F5344CB8AC3E}">
        <p14:creationId xmlns:p14="http://schemas.microsoft.com/office/powerpoint/2010/main" val="3274446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1000"/>
                                        <p:tgtEl>
                                          <p:spTgt spid="14"/>
                                        </p:tgtEl>
                                      </p:cBhvr>
                                    </p:animEffect>
                                    <p:anim calcmode="lin" valueType="num">
                                      <p:cBhvr>
                                        <p:cTn id="30" dur="1000" fill="hold"/>
                                        <p:tgtEl>
                                          <p:spTgt spid="14"/>
                                        </p:tgtEl>
                                        <p:attrNameLst>
                                          <p:attrName>ppt_x</p:attrName>
                                        </p:attrNameLst>
                                      </p:cBhvr>
                                      <p:tavLst>
                                        <p:tav tm="0">
                                          <p:val>
                                            <p:strVal val="#ppt_x"/>
                                          </p:val>
                                        </p:tav>
                                        <p:tav tm="100000">
                                          <p:val>
                                            <p:strVal val="#ppt_x"/>
                                          </p:val>
                                        </p:tav>
                                      </p:tavLst>
                                    </p:anim>
                                    <p:anim calcmode="lin" valueType="num">
                                      <p:cBhvr>
                                        <p:cTn id="3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2913643"/>
            <a:ext cx="7467600" cy="667757"/>
          </a:xfrm>
        </p:spPr>
        <p:txBody>
          <a:bodyPr>
            <a:noAutofit/>
          </a:bodyPr>
          <a:lstStyle/>
          <a:p>
            <a:pPr marL="0" indent="0" algn="ctr">
              <a:lnSpc>
                <a:spcPct val="100000"/>
              </a:lnSpc>
              <a:spcBef>
                <a:spcPts val="0"/>
              </a:spcBef>
              <a:buNone/>
            </a:pPr>
            <a:r>
              <a:rPr lang="en-US" sz="4000" b="1" dirty="0" err="1" smtClean="0">
                <a:solidFill>
                  <a:srgbClr val="FF0000"/>
                </a:solidFill>
                <a:latin typeface="Times New Roman" pitchFamily="18" charset="0"/>
                <a:cs typeface="Times New Roman" pitchFamily="18" charset="0"/>
              </a:rPr>
              <a:t>Chúc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các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em</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vui</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khỏe</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và</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học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tốt</a:t>
            </a:r>
            <a:r>
              <a:rPr lang="en-US" sz="4000" b="1" dirty="0" smtClean="0">
                <a:solidFill>
                  <a:srgbClr val="FF0000"/>
                </a:solidFill>
                <a:latin typeface="Times New Roman" pitchFamily="18" charset="0"/>
                <a:cs typeface="Times New Roman" pitchFamily="18" charset="0"/>
              </a:rPr>
              <a:t>!</a:t>
            </a: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54</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6</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429441466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1859</TotalTime>
  <Words>3916</Words>
  <Application>Microsoft Office PowerPoint</Application>
  <PresentationFormat>On-screen Show (4:3)</PresentationFormat>
  <Paragraphs>445</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F87</dc:creator>
  <cp:lastModifiedBy>PANASONIC</cp:lastModifiedBy>
  <cp:revision>976</cp:revision>
  <dcterms:created xsi:type="dcterms:W3CDTF">2014-12-31T03:01:48Z</dcterms:created>
  <dcterms:modified xsi:type="dcterms:W3CDTF">2025-10-13T09:14:28Z</dcterms:modified>
</cp:coreProperties>
</file>