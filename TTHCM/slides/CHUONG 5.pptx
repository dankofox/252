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6"/>
  </p:notesMasterIdLst>
  <p:sldIdLst>
    <p:sldId id="257" r:id="rId2"/>
    <p:sldId id="462" r:id="rId3"/>
    <p:sldId id="258" r:id="rId4"/>
    <p:sldId id="321" r:id="rId5"/>
    <p:sldId id="374" r:id="rId6"/>
    <p:sldId id="377" r:id="rId7"/>
    <p:sldId id="438" r:id="rId8"/>
    <p:sldId id="439" r:id="rId9"/>
    <p:sldId id="435" r:id="rId10"/>
    <p:sldId id="436" r:id="rId11"/>
    <p:sldId id="440" r:id="rId12"/>
    <p:sldId id="441" r:id="rId13"/>
    <p:sldId id="442" r:id="rId14"/>
    <p:sldId id="443" r:id="rId15"/>
    <p:sldId id="444" r:id="rId16"/>
    <p:sldId id="459" r:id="rId17"/>
    <p:sldId id="445" r:id="rId18"/>
    <p:sldId id="446" r:id="rId19"/>
    <p:sldId id="447" r:id="rId20"/>
    <p:sldId id="448" r:id="rId21"/>
    <p:sldId id="460" r:id="rId22"/>
    <p:sldId id="449" r:id="rId23"/>
    <p:sldId id="450" r:id="rId24"/>
    <p:sldId id="451" r:id="rId25"/>
    <p:sldId id="461" r:id="rId26"/>
    <p:sldId id="452" r:id="rId27"/>
    <p:sldId id="453" r:id="rId28"/>
    <p:sldId id="454" r:id="rId29"/>
    <p:sldId id="455" r:id="rId30"/>
    <p:sldId id="456" r:id="rId31"/>
    <p:sldId id="457" r:id="rId32"/>
    <p:sldId id="458" r:id="rId33"/>
    <p:sldId id="429" r:id="rId34"/>
    <p:sldId id="463"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02047B-58C5-43E6-B9D6-6E88D756E43A}" type="datetimeFigureOut">
              <a:rPr lang="en-US" smtClean="0"/>
              <a:t>12/22/2024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18BE33-0988-40F8-B168-04F60BE9FD82}" type="slidenum">
              <a:rPr lang="en-US" smtClean="0"/>
              <a:t>‹#›</a:t>
            </a:fld>
            <a:endParaRPr lang="en-US"/>
          </a:p>
        </p:txBody>
      </p:sp>
    </p:spTree>
    <p:extLst>
      <p:ext uri="{BB962C8B-B14F-4D97-AF65-F5344CB8AC3E}">
        <p14:creationId xmlns:p14="http://schemas.microsoft.com/office/powerpoint/2010/main" val="4134277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EB454DE-53F2-4E13-8CCA-248411AB7CBA}" type="datetime1">
              <a:rPr lang="en-US" smtClean="0"/>
              <a:t>12/22/2024</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83009302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5B725E-A179-4815-A3FF-3C3F9953D44A}" type="datetime1">
              <a:rPr lang="en-US" smtClean="0"/>
              <a:t>12/22/2024</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00850667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222ABD9-1E20-48E1-8FD2-B9F4A2649645}" type="datetime1">
              <a:rPr lang="en-US" smtClean="0"/>
              <a:t>12/22/2024</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pic>
        <p:nvPicPr>
          <p:cNvPr id="7" name="Picture 6" descr="logoTDT-banquyen"/>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43543"/>
            <a:ext cx="1959430" cy="1012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986092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96C2175-857C-404A-B0AC-7FF3A3528F2F}" type="datetime1">
              <a:rPr lang="en-US" smtClean="0"/>
              <a:t>12/22/2024</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813833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D315094-D398-4D10-8870-3637DEEE2FAD}" type="datetime1">
              <a:rPr lang="en-US" smtClean="0"/>
              <a:t>12/22/2024</a:t>
            </a:fld>
            <a:endParaRPr lang="en-US"/>
          </a:p>
        </p:txBody>
      </p:sp>
      <p:sp>
        <p:nvSpPr>
          <p:cNvPr id="8" name="Footer Placeholder 7"/>
          <p:cNvSpPr>
            <a:spLocks noGrp="1"/>
          </p:cNvSpPr>
          <p:nvPr>
            <p:ph type="ftr" sz="quarter" idx="11"/>
          </p:nvPr>
        </p:nvSpPr>
        <p:spPr/>
        <p:txBody>
          <a:bodyPr/>
          <a:lstStyle/>
          <a:p>
            <a:r>
              <a:rPr lang="vi-VN" smtClean="0"/>
              <a:t>301002_Chương 7</a:t>
            </a:r>
            <a:endParaRPr lang="en-US"/>
          </a:p>
        </p:txBody>
      </p:sp>
      <p:sp>
        <p:nvSpPr>
          <p:cNvPr id="9" name="Slide Number Placeholder 8"/>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57967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3C390A9-5F19-43AD-91C6-55F2342B4DCC}"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5" name="Slide Number Placeholder 4"/>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87966338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2C3203-D6A3-4BA8-AEB4-CD5FE82A1718}" type="datetime1">
              <a:rPr lang="en-US" smtClean="0"/>
              <a:t>12/22/2024</a:t>
            </a:fld>
            <a:endParaRPr lang="en-US"/>
          </a:p>
        </p:txBody>
      </p:sp>
      <p:sp>
        <p:nvSpPr>
          <p:cNvPr id="3" name="Footer Placeholder 2"/>
          <p:cNvSpPr>
            <a:spLocks noGrp="1"/>
          </p:cNvSpPr>
          <p:nvPr>
            <p:ph type="ftr" sz="quarter" idx="11"/>
          </p:nvPr>
        </p:nvSpPr>
        <p:spPr/>
        <p:txBody>
          <a:bodyPr/>
          <a:lstStyle/>
          <a:p>
            <a:r>
              <a:rPr lang="vi-VN" smtClean="0"/>
              <a:t>301002_Chương 7</a:t>
            </a:r>
            <a:endParaRPr lang="en-US"/>
          </a:p>
        </p:txBody>
      </p:sp>
      <p:sp>
        <p:nvSpPr>
          <p:cNvPr id="4" name="Slide Number Placeholder 3"/>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4219421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9C8B3EC-862A-4835-86EA-7F72D68C2751}" type="datetime1">
              <a:rPr lang="en-US" smtClean="0"/>
              <a:t>12/22/2024</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186088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626026B-B951-4D24-9FFD-31F96799685B}" type="datetime1">
              <a:rPr lang="en-US" smtClean="0"/>
              <a:t>12/22/2024</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122616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5A0EDBE-881C-4345-A5AE-01B3096C158A}" type="datetime1">
              <a:rPr lang="en-US" smtClean="0"/>
              <a:t>12/22/2024</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3501333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7964512-9659-41B0-BFC6-97CAFC9E1246}" type="datetime1">
              <a:rPr lang="en-US" smtClean="0"/>
              <a:t>12/22/2024</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1080952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B46D90-EA8E-4D33-86A5-21E3581C5B53}" type="datetime1">
              <a:rPr lang="en-US" smtClean="0"/>
              <a:t>12/22/2024</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smtClean="0"/>
              <a:t>301002_Chương 7</a:t>
            </a:r>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8A153D-734D-405D-8FB4-686C2D8CE407}" type="slidenum">
              <a:rPr lang="en-US" smtClean="0"/>
              <a:pPr/>
              <a:t>‹#›</a:t>
            </a:fld>
            <a:endParaRPr lang="en-US"/>
          </a:p>
        </p:txBody>
      </p:sp>
      <p:pic>
        <p:nvPicPr>
          <p:cNvPr id="7" name="Picture 6" descr="logoTDT-banquyen"/>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64008" y="0"/>
            <a:ext cx="1959430" cy="1012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03100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iming>
    <p:tnLst>
      <p:par>
        <p:cTn id="1" dur="indefinite" restart="never" nodeType="tmRoot"/>
      </p:par>
    </p:tnLst>
  </p:timing>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914400"/>
            <a:ext cx="9144000" cy="3886200"/>
          </a:xfrm>
        </p:spPr>
        <p:txBody>
          <a:bodyPr>
            <a:noAutofit/>
          </a:bodyPr>
          <a:lstStyle/>
          <a:p>
            <a:pPr>
              <a:lnSpc>
                <a:spcPct val="150000"/>
              </a:lnSpc>
              <a:spcBef>
                <a:spcPts val="0"/>
              </a:spcBef>
            </a:pPr>
            <a:endParaRPr lang="en-US" sz="2000" b="1" dirty="0" smtClean="0">
              <a:solidFill>
                <a:srgbClr val="FF0000"/>
              </a:solidFill>
              <a:latin typeface="Times New Roman" pitchFamily="18" charset="0"/>
              <a:cs typeface="Times New Roman" pitchFamily="18" charset="0"/>
            </a:endParaRPr>
          </a:p>
          <a:p>
            <a:pPr>
              <a:lnSpc>
                <a:spcPct val="150000"/>
              </a:lnSpc>
              <a:spcBef>
                <a:spcPts val="0"/>
              </a:spcBef>
            </a:pPr>
            <a:r>
              <a:rPr lang="en-US" sz="3100" b="1" dirty="0" err="1" smtClean="0">
                <a:solidFill>
                  <a:srgbClr val="FF0000"/>
                </a:solidFill>
                <a:latin typeface="Times New Roman" pitchFamily="18" charset="0"/>
                <a:cs typeface="Times New Roman" pitchFamily="18" charset="0"/>
              </a:rPr>
              <a:t>Chương</a:t>
            </a:r>
            <a:r>
              <a:rPr lang="en-US" sz="3100" b="1" dirty="0" smtClean="0">
                <a:solidFill>
                  <a:srgbClr val="FF0000"/>
                </a:solidFill>
                <a:latin typeface="Times New Roman" pitchFamily="18" charset="0"/>
                <a:cs typeface="Times New Roman" pitchFamily="18" charset="0"/>
              </a:rPr>
              <a:t> </a:t>
            </a:r>
            <a:r>
              <a:rPr lang="en-US" sz="3100" b="1" dirty="0" smtClean="0">
                <a:solidFill>
                  <a:srgbClr val="FF0000"/>
                </a:solidFill>
                <a:latin typeface="Times New Roman" pitchFamily="18" charset="0"/>
                <a:cs typeface="Times New Roman" pitchFamily="18" charset="0"/>
              </a:rPr>
              <a:t>5</a:t>
            </a:r>
            <a:endParaRPr lang="en-US" sz="3100" b="1" dirty="0" smtClean="0">
              <a:solidFill>
                <a:srgbClr val="FF0000"/>
              </a:solidFill>
              <a:latin typeface="Times New Roman" pitchFamily="18" charset="0"/>
              <a:cs typeface="Times New Roman" pitchFamily="18" charset="0"/>
            </a:endParaRPr>
          </a:p>
          <a:p>
            <a:pPr>
              <a:lnSpc>
                <a:spcPct val="150000"/>
              </a:lnSpc>
              <a:spcBef>
                <a:spcPts val="0"/>
              </a:spcBef>
            </a:pPr>
            <a:r>
              <a:rPr lang="en-US" sz="3100" b="1" dirty="0" smtClean="0">
                <a:solidFill>
                  <a:srgbClr val="FF0000"/>
                </a:solidFill>
                <a:latin typeface="Times New Roman" pitchFamily="18" charset="0"/>
                <a:cs typeface="Times New Roman" pitchFamily="18" charset="0"/>
              </a:rPr>
              <a:t>TƯ TƯỞNG HỒ CHÍ MINH </a:t>
            </a:r>
          </a:p>
          <a:p>
            <a:pPr>
              <a:lnSpc>
                <a:spcPct val="150000"/>
              </a:lnSpc>
              <a:spcBef>
                <a:spcPts val="0"/>
              </a:spcBef>
            </a:pPr>
            <a:r>
              <a:rPr lang="en-US" sz="3100" b="1" dirty="0" smtClean="0">
                <a:solidFill>
                  <a:srgbClr val="FF0000"/>
                </a:solidFill>
                <a:latin typeface="Times New Roman" pitchFamily="18" charset="0"/>
                <a:cs typeface="Times New Roman" pitchFamily="18" charset="0"/>
              </a:rPr>
              <a:t>VỀ ĐẠI ĐOÀN KẾT DÂN TỘC </a:t>
            </a:r>
          </a:p>
          <a:p>
            <a:pPr>
              <a:lnSpc>
                <a:spcPct val="150000"/>
              </a:lnSpc>
              <a:spcBef>
                <a:spcPts val="0"/>
              </a:spcBef>
            </a:pPr>
            <a:r>
              <a:rPr lang="en-US" sz="3100" b="1" dirty="0" smtClean="0">
                <a:solidFill>
                  <a:srgbClr val="FF0000"/>
                </a:solidFill>
                <a:latin typeface="Times New Roman" pitchFamily="18" charset="0"/>
                <a:cs typeface="Times New Roman" pitchFamily="18" charset="0"/>
              </a:rPr>
              <a:t>VÀ ĐOÀN KẾT QUỐC TẾ</a:t>
            </a:r>
          </a:p>
          <a:p>
            <a:pPr>
              <a:lnSpc>
                <a:spcPct val="150000"/>
              </a:lnSpc>
              <a:spcBef>
                <a:spcPts val="0"/>
              </a:spcBef>
            </a:pPr>
            <a:endParaRPr lang="en-US" sz="3100" b="1" dirty="0" smtClean="0">
              <a:solidFill>
                <a:srgbClr val="FF0000"/>
              </a:solidFill>
              <a:latin typeface="Times New Roman" pitchFamily="18" charset="0"/>
              <a:cs typeface="Times New Roman" pitchFamily="18" charset="0"/>
            </a:endParaRPr>
          </a:p>
          <a:p>
            <a:pPr>
              <a:lnSpc>
                <a:spcPct val="150000"/>
              </a:lnSpc>
              <a:spcBef>
                <a:spcPts val="0"/>
              </a:spcBef>
            </a:pPr>
            <a:endParaRPr lang="en-US" sz="3100" b="1" dirty="0">
              <a:solidFill>
                <a:srgbClr val="FF0000"/>
              </a:solidFill>
              <a:latin typeface="Times New Roman" pitchFamily="18" charset="0"/>
              <a:cs typeface="Times New Roman" pitchFamily="18" charset="0"/>
            </a:endParaRPr>
          </a:p>
        </p:txBody>
      </p:sp>
      <p:sp>
        <p:nvSpPr>
          <p:cNvPr id="2" name="Date Placeholder 1"/>
          <p:cNvSpPr>
            <a:spLocks noGrp="1"/>
          </p:cNvSpPr>
          <p:nvPr>
            <p:ph type="dt" sz="half" idx="10"/>
          </p:nvPr>
        </p:nvSpPr>
        <p:spPr/>
        <p:txBody>
          <a:bodyPr/>
          <a:lstStyle/>
          <a:p>
            <a:fld id="{2ECB21DE-0B5A-4F32-BC26-DDDC94AB31B2}"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a:t>
            </a:r>
            <a:r>
              <a:rPr lang="en-US"/>
              <a:t>5</a:t>
            </a:r>
          </a:p>
        </p:txBody>
      </p:sp>
      <p:sp>
        <p:nvSpPr>
          <p:cNvPr id="6" name="Slide Number Placeholder 5"/>
          <p:cNvSpPr>
            <a:spLocks noGrp="1"/>
          </p:cNvSpPr>
          <p:nvPr>
            <p:ph type="sldNum" sz="quarter" idx="12"/>
          </p:nvPr>
        </p:nvSpPr>
        <p:spPr/>
        <p:txBody>
          <a:bodyPr/>
          <a:lstStyle/>
          <a:p>
            <a:fld id="{A58A153D-734D-405D-8FB4-686C2D8CE407}" type="slidenum">
              <a:rPr lang="en-US" smtClean="0"/>
              <a:pPr/>
              <a:t>1</a:t>
            </a:fld>
            <a:endParaRPr lang="en-US"/>
          </a:p>
        </p:txBody>
      </p:sp>
      <p:sp>
        <p:nvSpPr>
          <p:cNvPr id="7" name="Rectangle 6"/>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0"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a:t>
            </a:r>
            <a:endParaRPr lang="en-US" sz="3000" b="1" dirty="0">
              <a:solidFill>
                <a:srgbClr val="CC0099"/>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A58A153D-734D-405D-8FB4-686C2D8CE407}" type="slidenum">
              <a:rPr lang="en-US" smtClean="0"/>
              <a:pPr/>
              <a:t>2</a:t>
            </a:fld>
            <a:endParaRPr lang="en-US"/>
          </a:p>
        </p:txBody>
      </p:sp>
      <p:sp>
        <p:nvSpPr>
          <p:cNvPr id="10" name="Text Box 36"/>
          <p:cNvSpPr txBox="1">
            <a:spLocks noChangeArrowheads="1"/>
          </p:cNvSpPr>
          <p:nvPr/>
        </p:nvSpPr>
        <p:spPr bwMode="auto">
          <a:xfrm>
            <a:off x="152400" y="2830908"/>
            <a:ext cx="964102" cy="101566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b="1" dirty="0" err="1" smtClean="0">
                <a:solidFill>
                  <a:srgbClr val="FF0000"/>
                </a:solidFill>
                <a:latin typeface="Times New Roman"/>
                <a:cs typeface="Times New Roman"/>
              </a:rPr>
              <a:t>Mục</a:t>
            </a:r>
            <a:r>
              <a:rPr lang="en-US" sz="3000" b="1" dirty="0" smtClean="0">
                <a:solidFill>
                  <a:srgbClr val="FF0000"/>
                </a:solidFill>
                <a:latin typeface="Times New Roman"/>
                <a:cs typeface="Times New Roman"/>
              </a:rPr>
              <a:t> </a:t>
            </a:r>
            <a:r>
              <a:rPr lang="en-US" sz="3000" b="1" dirty="0" err="1" smtClean="0">
                <a:solidFill>
                  <a:srgbClr val="FF0000"/>
                </a:solidFill>
                <a:latin typeface="Times New Roman"/>
                <a:cs typeface="Times New Roman"/>
              </a:rPr>
              <a:t>tiêu</a:t>
            </a:r>
            <a:endParaRPr lang="en-US" sz="3000" b="1" dirty="0">
              <a:solidFill>
                <a:srgbClr val="FF0000"/>
              </a:solidFill>
              <a:latin typeface="Times New Roman"/>
              <a:cs typeface="Times New Roman"/>
            </a:endParaRPr>
          </a:p>
        </p:txBody>
      </p:sp>
      <p:sp>
        <p:nvSpPr>
          <p:cNvPr id="11" name="Text Box 36"/>
          <p:cNvSpPr txBox="1">
            <a:spLocks noChangeArrowheads="1"/>
          </p:cNvSpPr>
          <p:nvPr/>
        </p:nvSpPr>
        <p:spPr bwMode="auto">
          <a:xfrm>
            <a:off x="1905000" y="1066800"/>
            <a:ext cx="867956"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dirty="0" err="1" smtClean="0">
                <a:solidFill>
                  <a:srgbClr val="FF0000"/>
                </a:solidFill>
                <a:latin typeface="Times New Roman"/>
                <a:cs typeface="Times New Roman"/>
              </a:rPr>
              <a:t>Kiến</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thức</a:t>
            </a:r>
            <a:endParaRPr lang="en-US" sz="2600" dirty="0">
              <a:solidFill>
                <a:srgbClr val="FF0000"/>
              </a:solidFill>
              <a:latin typeface="Times New Roman"/>
              <a:cs typeface="Times New Roman"/>
            </a:endParaRPr>
          </a:p>
        </p:txBody>
      </p:sp>
      <p:sp>
        <p:nvSpPr>
          <p:cNvPr id="12" name="Text Box 36"/>
          <p:cNvSpPr txBox="1">
            <a:spLocks noChangeArrowheads="1"/>
          </p:cNvSpPr>
          <p:nvPr/>
        </p:nvSpPr>
        <p:spPr bwMode="auto">
          <a:xfrm>
            <a:off x="1792552" y="2589217"/>
            <a:ext cx="874448" cy="122078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dirty="0" err="1" smtClean="0">
                <a:solidFill>
                  <a:srgbClr val="FF0000"/>
                </a:solidFill>
                <a:latin typeface="Times New Roman"/>
                <a:cs typeface="Times New Roman"/>
              </a:rPr>
              <a:t>Kỹ</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năng</a:t>
            </a:r>
            <a:endParaRPr lang="en-US" sz="2600" dirty="0">
              <a:solidFill>
                <a:srgbClr val="FF0000"/>
              </a:solidFill>
              <a:latin typeface="Times New Roman"/>
              <a:cs typeface="Times New Roman"/>
            </a:endParaRPr>
          </a:p>
        </p:txBody>
      </p:sp>
      <p:sp>
        <p:nvSpPr>
          <p:cNvPr id="13" name="Text Box 36"/>
          <p:cNvSpPr txBox="1">
            <a:spLocks noChangeArrowheads="1"/>
          </p:cNvSpPr>
          <p:nvPr/>
        </p:nvSpPr>
        <p:spPr bwMode="auto">
          <a:xfrm>
            <a:off x="3068638" y="1197700"/>
            <a:ext cx="5791199"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err="1" smtClean="0">
                <a:solidFill>
                  <a:srgbClr val="002060"/>
                </a:solidFill>
                <a:latin typeface="Times New Roman" panose="02020603050405020304" pitchFamily="18" charset="0"/>
                <a:cs typeface="Times New Roman" panose="02020603050405020304" pitchFamily="18" charset="0"/>
              </a:rPr>
              <a:t>Giúp</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trang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bị</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kiến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thức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cơ</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bản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của</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tư</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tưởng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Hồ</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Chí</a:t>
            </a:r>
            <a:r>
              <a:rPr lang="en-US" sz="2600" dirty="0" smtClean="0">
                <a:solidFill>
                  <a:srgbClr val="002060"/>
                </a:solidFill>
                <a:latin typeface="Times New Roman" panose="02020603050405020304" pitchFamily="18" charset="0"/>
                <a:cs typeface="Times New Roman" panose="02020603050405020304" pitchFamily="18" charset="0"/>
              </a:rPr>
              <a:t> Minh </a:t>
            </a:r>
            <a:r>
              <a:rPr lang="en-US" sz="2600" dirty="0" err="1" smtClean="0">
                <a:solidFill>
                  <a:srgbClr val="002060"/>
                </a:solidFill>
                <a:latin typeface="Times New Roman" panose="02020603050405020304" pitchFamily="18" charset="0"/>
                <a:cs typeface="Times New Roman" panose="02020603050405020304" pitchFamily="18" charset="0"/>
              </a:rPr>
              <a:t>về</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đại</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đoàn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kết</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dân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tộc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đoàn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kết</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quốc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tế</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và</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sự</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vận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dụng</a:t>
            </a:r>
            <a:r>
              <a:rPr lang="en-US" sz="2600" dirty="0" smtClean="0">
                <a:solidFill>
                  <a:srgbClr val="002060"/>
                </a:solidFill>
                <a:latin typeface="Times New Roman" panose="02020603050405020304" pitchFamily="18" charset="0"/>
                <a:cs typeface="Times New Roman" panose="02020603050405020304" pitchFamily="18" charset="0"/>
              </a:rPr>
              <a:t>.</a:t>
            </a:r>
            <a:endParaRPr lang="en-US" sz="2600" dirty="0">
              <a:solidFill>
                <a:srgbClr val="002060"/>
              </a:solidFill>
              <a:latin typeface="Times New Roman" panose="02020603050405020304" pitchFamily="18" charset="0"/>
              <a:cs typeface="Times New Roman" panose="02020603050405020304" pitchFamily="18" charset="0"/>
            </a:endParaRPr>
          </a:p>
        </p:txBody>
      </p:sp>
      <p:cxnSp>
        <p:nvCxnSpPr>
          <p:cNvPr id="15" name="Straight Connector 14"/>
          <p:cNvCxnSpPr/>
          <p:nvPr/>
        </p:nvCxnSpPr>
        <p:spPr>
          <a:xfrm>
            <a:off x="1186354" y="1653474"/>
            <a:ext cx="17235" cy="3272912"/>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1155883" y="1653474"/>
            <a:ext cx="67291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1189133" y="4926385"/>
            <a:ext cx="715867" cy="26615"/>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8" name="Text Box 36"/>
          <p:cNvSpPr txBox="1">
            <a:spLocks noChangeArrowheads="1"/>
          </p:cNvSpPr>
          <p:nvPr/>
        </p:nvSpPr>
        <p:spPr bwMode="auto">
          <a:xfrm>
            <a:off x="1847850" y="4267200"/>
            <a:ext cx="971550"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dirty="0" err="1" smtClean="0">
                <a:solidFill>
                  <a:srgbClr val="FF0000"/>
                </a:solidFill>
                <a:latin typeface="Times New Roman"/>
                <a:cs typeface="Times New Roman"/>
              </a:rPr>
              <a:t>Tư</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tưởng</a:t>
            </a:r>
            <a:endParaRPr lang="en-US" sz="2600" dirty="0">
              <a:solidFill>
                <a:srgbClr val="FF0000"/>
              </a:solidFill>
              <a:latin typeface="Times New Roman"/>
              <a:cs typeface="Times New Roman"/>
            </a:endParaRPr>
          </a:p>
        </p:txBody>
      </p:sp>
      <p:cxnSp>
        <p:nvCxnSpPr>
          <p:cNvPr id="19" name="Straight Arrow Connector 18"/>
          <p:cNvCxnSpPr/>
          <p:nvPr/>
        </p:nvCxnSpPr>
        <p:spPr>
          <a:xfrm>
            <a:off x="1203589" y="3122617"/>
            <a:ext cx="625211"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Straight Connector 26"/>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8"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5</a:t>
            </a:r>
            <a:endParaRPr lang="en-US" sz="3000" b="1" dirty="0">
              <a:solidFill>
                <a:srgbClr val="CC0099"/>
              </a:solidFill>
              <a:latin typeface="Times New Roman" pitchFamily="18" charset="0"/>
              <a:cs typeface="Times New Roman" pitchFamily="18" charset="0"/>
            </a:endParaRPr>
          </a:p>
        </p:txBody>
      </p:sp>
      <p:sp>
        <p:nvSpPr>
          <p:cNvPr id="25" name="Text Box 36"/>
          <p:cNvSpPr txBox="1">
            <a:spLocks noChangeArrowheads="1"/>
          </p:cNvSpPr>
          <p:nvPr/>
        </p:nvSpPr>
        <p:spPr bwMode="auto">
          <a:xfrm>
            <a:off x="3124199" y="2819400"/>
            <a:ext cx="5735637"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err="1" smtClean="0">
                <a:solidFill>
                  <a:srgbClr val="002060"/>
                </a:solidFill>
                <a:latin typeface="Times New Roman" panose="02020603050405020304" pitchFamily="18" charset="0"/>
                <a:cs typeface="Times New Roman" panose="02020603050405020304" pitchFamily="18" charset="0"/>
              </a:rPr>
              <a:t>Giúp</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rèn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luyện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kỹ</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năng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vận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dụng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tư</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tưởng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Hồ</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Chí</a:t>
            </a:r>
            <a:r>
              <a:rPr lang="en-US" sz="2600" dirty="0" smtClean="0">
                <a:solidFill>
                  <a:srgbClr val="002060"/>
                </a:solidFill>
                <a:latin typeface="Times New Roman" panose="02020603050405020304" pitchFamily="18" charset="0"/>
                <a:cs typeface="Times New Roman" panose="02020603050405020304" pitchFamily="18" charset="0"/>
              </a:rPr>
              <a:t> Minh </a:t>
            </a:r>
            <a:r>
              <a:rPr lang="en-US" sz="2600" dirty="0" err="1" smtClean="0">
                <a:solidFill>
                  <a:srgbClr val="002060"/>
                </a:solidFill>
                <a:latin typeface="Times New Roman" panose="02020603050405020304" pitchFamily="18" charset="0"/>
                <a:cs typeface="Times New Roman" panose="02020603050405020304" pitchFamily="18" charset="0"/>
              </a:rPr>
              <a:t>về</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đại</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đoàn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kết</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dân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tộc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và</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đoàn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kết</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quốc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tế</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hiện</a:t>
            </a:r>
            <a:r>
              <a:rPr lang="en-US" sz="2600" dirty="0" smtClean="0">
                <a:solidFill>
                  <a:srgbClr val="002060"/>
                </a:solidFill>
                <a:latin typeface="Times New Roman" panose="02020603050405020304" pitchFamily="18" charset="0"/>
                <a:cs typeface="Times New Roman" panose="02020603050405020304" pitchFamily="18" charset="0"/>
              </a:rPr>
              <a:t> nay.</a:t>
            </a:r>
            <a:endParaRPr lang="en-US" sz="2600" dirty="0">
              <a:solidFill>
                <a:srgbClr val="002060"/>
              </a:solidFill>
              <a:latin typeface="Times New Roman" panose="02020603050405020304" pitchFamily="18" charset="0"/>
              <a:cs typeface="Times New Roman" panose="02020603050405020304" pitchFamily="18" charset="0"/>
            </a:endParaRPr>
          </a:p>
        </p:txBody>
      </p:sp>
      <p:sp>
        <p:nvSpPr>
          <p:cNvPr id="34" name="Text Box 36"/>
          <p:cNvSpPr txBox="1">
            <a:spLocks noChangeArrowheads="1"/>
          </p:cNvSpPr>
          <p:nvPr/>
        </p:nvSpPr>
        <p:spPr bwMode="auto">
          <a:xfrm>
            <a:off x="3124200" y="4498538"/>
            <a:ext cx="6040437"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err="1" smtClean="0">
                <a:solidFill>
                  <a:srgbClr val="002060"/>
                </a:solidFill>
                <a:latin typeface="Times New Roman" panose="02020603050405020304" pitchFamily="18" charset="0"/>
                <a:cs typeface="Times New Roman" panose="02020603050405020304" pitchFamily="18" charset="0"/>
              </a:rPr>
              <a:t>Giúp</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củng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cố</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niềm</a:t>
            </a:r>
            <a:r>
              <a:rPr lang="en-US" sz="2600" dirty="0" smtClean="0">
                <a:solidFill>
                  <a:srgbClr val="002060"/>
                </a:solidFill>
                <a:latin typeface="Times New Roman" panose="02020603050405020304" pitchFamily="18" charset="0"/>
                <a:cs typeface="Times New Roman" panose="02020603050405020304" pitchFamily="18" charset="0"/>
              </a:rPr>
              <a:t> tin </a:t>
            </a:r>
            <a:r>
              <a:rPr lang="en-US" sz="2600" dirty="0" err="1" smtClean="0">
                <a:solidFill>
                  <a:srgbClr val="002060"/>
                </a:solidFill>
                <a:latin typeface="Times New Roman" panose="02020603050405020304" pitchFamily="18" charset="0"/>
                <a:cs typeface="Times New Roman" panose="02020603050405020304" pitchFamily="18" charset="0"/>
              </a:rPr>
              <a:t>vào</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khối</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đại</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đoàn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kết</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dân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tộc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và</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đoàn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kết</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quốc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tế</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trong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sự</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nghiệp</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đổi</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mới</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hiện</a:t>
            </a:r>
            <a:r>
              <a:rPr lang="en-US" sz="2600" dirty="0" smtClean="0">
                <a:solidFill>
                  <a:srgbClr val="002060"/>
                </a:solidFill>
                <a:latin typeface="Times New Roman" panose="02020603050405020304" pitchFamily="18" charset="0"/>
                <a:cs typeface="Times New Roman" panose="02020603050405020304" pitchFamily="18" charset="0"/>
              </a:rPr>
              <a:t> nay.</a:t>
            </a:r>
            <a:endParaRPr lang="en-US" sz="2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3895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1000"/>
                                        <p:tgtEl>
                                          <p:spTgt spid="25"/>
                                        </p:tgtEl>
                                      </p:cBhvr>
                                    </p:animEffect>
                                    <p:anim calcmode="lin" valueType="num">
                                      <p:cBhvr>
                                        <p:cTn id="15" dur="1000" fill="hold"/>
                                        <p:tgtEl>
                                          <p:spTgt spid="25"/>
                                        </p:tgtEl>
                                        <p:attrNameLst>
                                          <p:attrName>ppt_x</p:attrName>
                                        </p:attrNameLst>
                                      </p:cBhvr>
                                      <p:tavLst>
                                        <p:tav tm="0">
                                          <p:val>
                                            <p:strVal val="#ppt_x"/>
                                          </p:val>
                                        </p:tav>
                                        <p:tav tm="100000">
                                          <p:val>
                                            <p:strVal val="#ppt_x"/>
                                          </p:val>
                                        </p:tav>
                                      </p:tavLst>
                                    </p:anim>
                                    <p:anim calcmode="lin" valueType="num">
                                      <p:cBhvr>
                                        <p:cTn id="16"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fade">
                                      <p:cBhvr>
                                        <p:cTn id="21" dur="1000"/>
                                        <p:tgtEl>
                                          <p:spTgt spid="34"/>
                                        </p:tgtEl>
                                      </p:cBhvr>
                                    </p:animEffect>
                                    <p:anim calcmode="lin" valueType="num">
                                      <p:cBhvr>
                                        <p:cTn id="22" dur="1000" fill="hold"/>
                                        <p:tgtEl>
                                          <p:spTgt spid="34"/>
                                        </p:tgtEl>
                                        <p:attrNameLst>
                                          <p:attrName>ppt_x</p:attrName>
                                        </p:attrNameLst>
                                      </p:cBhvr>
                                      <p:tavLst>
                                        <p:tav tm="0">
                                          <p:val>
                                            <p:strVal val="#ppt_x"/>
                                          </p:val>
                                        </p:tav>
                                        <p:tav tm="100000">
                                          <p:val>
                                            <p:strVal val="#ppt_x"/>
                                          </p:val>
                                        </p:tav>
                                      </p:tavLst>
                                    </p:anim>
                                    <p:anim calcmode="lin" valueType="num">
                                      <p:cBhvr>
                                        <p:cTn id="23"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5" grpId="0"/>
      <p:bldP spid="3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D3018F1E-720D-4B7A-9D03-B5F7EFACBCD0}" type="datetime1">
              <a:rPr lang="en-US" smtClean="0"/>
              <a:t>12/22/2024</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3</a:t>
            </a:fld>
            <a:endParaRPr lang="en-US"/>
          </a:p>
        </p:txBody>
      </p:sp>
      <p:sp>
        <p:nvSpPr>
          <p:cNvPr id="10" name="Text Box 36"/>
          <p:cNvSpPr txBox="1">
            <a:spLocks noChangeArrowheads="1"/>
          </p:cNvSpPr>
          <p:nvPr/>
        </p:nvSpPr>
        <p:spPr bwMode="auto">
          <a:xfrm>
            <a:off x="152400" y="2830908"/>
            <a:ext cx="1928980" cy="120032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600" b="1" dirty="0" err="1" smtClean="0">
                <a:solidFill>
                  <a:srgbClr val="FF0000"/>
                </a:solidFill>
                <a:latin typeface="Times New Roman"/>
                <a:cs typeface="Times New Roman"/>
              </a:rPr>
              <a:t>Nội</a:t>
            </a:r>
            <a:r>
              <a:rPr lang="en-US" sz="3600" b="1" dirty="0" smtClean="0">
                <a:solidFill>
                  <a:srgbClr val="FF0000"/>
                </a:solidFill>
                <a:latin typeface="Times New Roman"/>
                <a:cs typeface="Times New Roman"/>
              </a:rPr>
              <a:t> dung</a:t>
            </a:r>
            <a:endParaRPr lang="en-US" sz="3600" b="1" dirty="0">
              <a:solidFill>
                <a:srgbClr val="FF0000"/>
              </a:solidFill>
              <a:latin typeface="Times New Roman"/>
              <a:cs typeface="Times New Roman"/>
            </a:endParaRPr>
          </a:p>
        </p:txBody>
      </p:sp>
      <p:sp>
        <p:nvSpPr>
          <p:cNvPr id="11" name="Text Box 36"/>
          <p:cNvSpPr txBox="1">
            <a:spLocks noChangeArrowheads="1"/>
          </p:cNvSpPr>
          <p:nvPr/>
        </p:nvSpPr>
        <p:spPr bwMode="auto">
          <a:xfrm>
            <a:off x="2827835" y="1600200"/>
            <a:ext cx="6163765"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mtClean="0">
                <a:solidFill>
                  <a:srgbClr val="FF0000"/>
                </a:solidFill>
                <a:latin typeface="Times New Roman"/>
                <a:cs typeface="Times New Roman"/>
              </a:rPr>
              <a:t>I. Tư tưởng Hồ Chí Minh </a:t>
            </a:r>
          </a:p>
          <a:p>
            <a:pPr algn="ctr"/>
            <a:r>
              <a:rPr lang="en-US" sz="2600" smtClean="0">
                <a:solidFill>
                  <a:srgbClr val="FF0000"/>
                </a:solidFill>
                <a:latin typeface="Times New Roman"/>
                <a:cs typeface="Times New Roman"/>
              </a:rPr>
              <a:t>về đại đoàn kết dân tộc</a:t>
            </a:r>
            <a:endParaRPr lang="en-US" sz="2600" dirty="0">
              <a:solidFill>
                <a:srgbClr val="FF0000"/>
              </a:solidFill>
              <a:latin typeface="Times New Roman"/>
              <a:cs typeface="Times New Roman"/>
            </a:endParaRPr>
          </a:p>
        </p:txBody>
      </p:sp>
      <p:sp>
        <p:nvSpPr>
          <p:cNvPr id="13" name="Text Box 36"/>
          <p:cNvSpPr txBox="1">
            <a:spLocks noChangeArrowheads="1"/>
          </p:cNvSpPr>
          <p:nvPr/>
        </p:nvSpPr>
        <p:spPr bwMode="auto">
          <a:xfrm>
            <a:off x="3252686" y="2898338"/>
            <a:ext cx="5205514"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mtClean="0">
                <a:solidFill>
                  <a:srgbClr val="FF0000"/>
                </a:solidFill>
                <a:latin typeface="Times New Roman"/>
                <a:cs typeface="Times New Roman"/>
              </a:rPr>
              <a:t>II. Tư tưởng Hồ Chí Minh </a:t>
            </a:r>
          </a:p>
          <a:p>
            <a:pPr algn="ctr"/>
            <a:r>
              <a:rPr lang="en-US" sz="2600" smtClean="0">
                <a:solidFill>
                  <a:srgbClr val="FF0000"/>
                </a:solidFill>
                <a:latin typeface="Times New Roman"/>
                <a:cs typeface="Times New Roman"/>
              </a:rPr>
              <a:t>về đoàn kết quốc tế</a:t>
            </a:r>
            <a:endParaRPr lang="en-US" sz="2600" dirty="0">
              <a:solidFill>
                <a:srgbClr val="FF0000"/>
              </a:solidFill>
              <a:latin typeface="Times New Roman"/>
              <a:cs typeface="Times New Roman"/>
            </a:endParaRPr>
          </a:p>
        </p:txBody>
      </p:sp>
      <p:cxnSp>
        <p:nvCxnSpPr>
          <p:cNvPr id="14" name="Straight Connector 13"/>
          <p:cNvCxnSpPr/>
          <p:nvPr/>
        </p:nvCxnSpPr>
        <p:spPr>
          <a:xfrm>
            <a:off x="1714544" y="3505200"/>
            <a:ext cx="468052"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2174308" y="1905000"/>
            <a:ext cx="0" cy="32004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143838" y="1882074"/>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2177088" y="35052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2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sp>
        <p:nvSpPr>
          <p:cNvPr id="18" name="Text Box 36"/>
          <p:cNvSpPr txBox="1">
            <a:spLocks noChangeArrowheads="1"/>
          </p:cNvSpPr>
          <p:nvPr/>
        </p:nvSpPr>
        <p:spPr bwMode="auto">
          <a:xfrm>
            <a:off x="3240704" y="4498538"/>
            <a:ext cx="5446096"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mtClean="0">
                <a:solidFill>
                  <a:srgbClr val="FF0000"/>
                </a:solidFill>
                <a:latin typeface="Times New Roman"/>
                <a:cs typeface="Times New Roman"/>
              </a:rPr>
              <a:t>III. Vận dụng tư tưởng Hồ Chí Minh </a:t>
            </a:r>
          </a:p>
          <a:p>
            <a:pPr algn="ctr"/>
            <a:r>
              <a:rPr lang="en-US" sz="2600" smtClean="0">
                <a:solidFill>
                  <a:srgbClr val="FF0000"/>
                </a:solidFill>
                <a:latin typeface="Times New Roman"/>
                <a:cs typeface="Times New Roman"/>
              </a:rPr>
              <a:t>về đại đoàn kết dân tộc và đoàn kết quốc tế trong giai đoạn hiện nay</a:t>
            </a:r>
            <a:endParaRPr lang="en-US" sz="2600" dirty="0">
              <a:solidFill>
                <a:srgbClr val="FF0000"/>
              </a:solidFill>
              <a:latin typeface="Times New Roman"/>
              <a:cs typeface="Times New Roman"/>
            </a:endParaRPr>
          </a:p>
        </p:txBody>
      </p:sp>
      <p:cxnSp>
        <p:nvCxnSpPr>
          <p:cNvPr id="19" name="Straight Arrow Connector 18"/>
          <p:cNvCxnSpPr/>
          <p:nvPr/>
        </p:nvCxnSpPr>
        <p:spPr>
          <a:xfrm>
            <a:off x="2143837" y="5075903"/>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Connector 23"/>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5"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5</a:t>
            </a:r>
            <a:endParaRPr lang="en-US" sz="3000" b="1" dirty="0">
              <a:solidFill>
                <a:srgbClr val="CC0099"/>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1000"/>
                                        <p:tgtEl>
                                          <p:spTgt spid="17"/>
                                        </p:tgtEl>
                                      </p:cBhvr>
                                    </p:animEffect>
                                    <p:anim calcmode="lin" valueType="num">
                                      <p:cBhvr>
                                        <p:cTn id="30" dur="1000" fill="hold"/>
                                        <p:tgtEl>
                                          <p:spTgt spid="17"/>
                                        </p:tgtEl>
                                        <p:attrNameLst>
                                          <p:attrName>ppt_x</p:attrName>
                                        </p:attrNameLst>
                                      </p:cBhvr>
                                      <p:tavLst>
                                        <p:tav tm="0">
                                          <p:val>
                                            <p:strVal val="#ppt_x"/>
                                          </p:val>
                                        </p:tav>
                                        <p:tav tm="100000">
                                          <p:val>
                                            <p:strVal val="#ppt_x"/>
                                          </p:val>
                                        </p:tav>
                                      </p:tavLst>
                                    </p:anim>
                                    <p:anim calcmode="lin" valueType="num">
                                      <p:cBhvr>
                                        <p:cTn id="31" dur="1000" fill="hold"/>
                                        <p:tgtEl>
                                          <p:spTgt spid="17"/>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1000"/>
                                        <p:tgtEl>
                                          <p:spTgt spid="13"/>
                                        </p:tgtEl>
                                      </p:cBhvr>
                                    </p:animEffect>
                                    <p:anim calcmode="lin" valueType="num">
                                      <p:cBhvr>
                                        <p:cTn id="35" dur="1000" fill="hold"/>
                                        <p:tgtEl>
                                          <p:spTgt spid="13"/>
                                        </p:tgtEl>
                                        <p:attrNameLst>
                                          <p:attrName>ppt_x</p:attrName>
                                        </p:attrNameLst>
                                      </p:cBhvr>
                                      <p:tavLst>
                                        <p:tav tm="0">
                                          <p:val>
                                            <p:strVal val="#ppt_x"/>
                                          </p:val>
                                        </p:tav>
                                        <p:tav tm="100000">
                                          <p:val>
                                            <p:strVal val="#ppt_x"/>
                                          </p:val>
                                        </p:tav>
                                      </p:tavLst>
                                    </p:anim>
                                    <p:anim calcmode="lin" valueType="num">
                                      <p:cBhvr>
                                        <p:cTn id="3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1000"/>
                                        <p:tgtEl>
                                          <p:spTgt spid="19"/>
                                        </p:tgtEl>
                                      </p:cBhvr>
                                    </p:animEffect>
                                    <p:anim calcmode="lin" valueType="num">
                                      <p:cBhvr>
                                        <p:cTn id="42" dur="1000" fill="hold"/>
                                        <p:tgtEl>
                                          <p:spTgt spid="19"/>
                                        </p:tgtEl>
                                        <p:attrNameLst>
                                          <p:attrName>ppt_x</p:attrName>
                                        </p:attrNameLst>
                                      </p:cBhvr>
                                      <p:tavLst>
                                        <p:tav tm="0">
                                          <p:val>
                                            <p:strVal val="#ppt_x"/>
                                          </p:val>
                                        </p:tav>
                                        <p:tav tm="100000">
                                          <p:val>
                                            <p:strVal val="#ppt_x"/>
                                          </p:val>
                                        </p:tav>
                                      </p:tavLst>
                                    </p:anim>
                                    <p:anim calcmode="lin" valueType="num">
                                      <p:cBhvr>
                                        <p:cTn id="43" dur="1000" fill="hold"/>
                                        <p:tgtEl>
                                          <p:spTgt spid="19"/>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1000"/>
                                        <p:tgtEl>
                                          <p:spTgt spid="18"/>
                                        </p:tgtEl>
                                      </p:cBhvr>
                                    </p:animEffect>
                                    <p:anim calcmode="lin" valueType="num">
                                      <p:cBhvr>
                                        <p:cTn id="47" dur="1000" fill="hold"/>
                                        <p:tgtEl>
                                          <p:spTgt spid="18"/>
                                        </p:tgtEl>
                                        <p:attrNameLst>
                                          <p:attrName>ppt_x</p:attrName>
                                        </p:attrNameLst>
                                      </p:cBhvr>
                                      <p:tavLst>
                                        <p:tav tm="0">
                                          <p:val>
                                            <p:strVal val="#ppt_x"/>
                                          </p:val>
                                        </p:tav>
                                        <p:tav tm="100000">
                                          <p:val>
                                            <p:strVal val="#ppt_x"/>
                                          </p:val>
                                        </p:tav>
                                      </p:tavLst>
                                    </p:anim>
                                    <p:anim calcmode="lin" valueType="num">
                                      <p:cBhvr>
                                        <p:cTn id="4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4</a:t>
            </a:fld>
            <a:endParaRPr lang="en-US"/>
          </a:p>
        </p:txBody>
      </p:sp>
      <p:sp>
        <p:nvSpPr>
          <p:cNvPr id="7" name="Title 1"/>
          <p:cNvSpPr txBox="1">
            <a:spLocks/>
          </p:cNvSpPr>
          <p:nvPr/>
        </p:nvSpPr>
        <p:spPr>
          <a:xfrm>
            <a:off x="381000" y="3009900"/>
            <a:ext cx="8382000" cy="7239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spcBef>
                <a:spcPts val="0"/>
              </a:spcBef>
            </a:pPr>
            <a:r>
              <a:rPr lang="en-US" sz="2800" b="1" smtClean="0">
                <a:solidFill>
                  <a:srgbClr val="FF0000"/>
                </a:solidFill>
                <a:latin typeface="Times New Roman" pitchFamily="18" charset="0"/>
                <a:cs typeface="Times New Roman" pitchFamily="18" charset="0"/>
              </a:rPr>
              <a:t>I. TƯ </a:t>
            </a:r>
            <a:r>
              <a:rPr lang="en-US" sz="2800" b="1">
                <a:solidFill>
                  <a:srgbClr val="FF0000"/>
                </a:solidFill>
                <a:latin typeface="Times New Roman" pitchFamily="18" charset="0"/>
                <a:cs typeface="Times New Roman" pitchFamily="18" charset="0"/>
              </a:rPr>
              <a:t>TƯỞNG HỒ CHÍ MINH </a:t>
            </a:r>
          </a:p>
          <a:p>
            <a:pPr>
              <a:lnSpc>
                <a:spcPct val="150000"/>
              </a:lnSpc>
              <a:spcBef>
                <a:spcPts val="0"/>
              </a:spcBef>
            </a:pPr>
            <a:r>
              <a:rPr lang="en-US" sz="2800" b="1">
                <a:solidFill>
                  <a:srgbClr val="FF0000"/>
                </a:solidFill>
                <a:latin typeface="Times New Roman" pitchFamily="18" charset="0"/>
                <a:cs typeface="Times New Roman" pitchFamily="18" charset="0"/>
              </a:rPr>
              <a:t>VỀ ĐẠI ĐOÀN KẾT DÂN TỘC </a:t>
            </a:r>
          </a:p>
        </p:txBody>
      </p:sp>
      <p:sp>
        <p:nvSpPr>
          <p:cNvPr id="9"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0" name="Rectangle 9"/>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pic>
        <p:nvPicPr>
          <p:cNvPr id="12" name="Picture 11"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Connector 12"/>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5</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9849689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D3018F1E-720D-4B7A-9D03-B5F7EFACBCD0}" type="datetime1">
              <a:rPr lang="en-US" smtClean="0"/>
              <a:t>12/22/2024</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5</a:t>
            </a:fld>
            <a:endParaRPr lang="en-US"/>
          </a:p>
        </p:txBody>
      </p:sp>
      <p:sp>
        <p:nvSpPr>
          <p:cNvPr id="10" name="Text Box 36"/>
          <p:cNvSpPr txBox="1">
            <a:spLocks noChangeArrowheads="1"/>
          </p:cNvSpPr>
          <p:nvPr/>
        </p:nvSpPr>
        <p:spPr bwMode="auto">
          <a:xfrm>
            <a:off x="-76200" y="2096631"/>
            <a:ext cx="1676400" cy="224676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800" spc="-300" dirty="0" smtClean="0">
                <a:solidFill>
                  <a:srgbClr val="FF0000"/>
                </a:solidFill>
                <a:latin typeface="Times New Roman"/>
                <a:cs typeface="Times New Roman"/>
              </a:rPr>
              <a:t>I. </a:t>
            </a:r>
            <a:r>
              <a:rPr lang="en-US" sz="2800" spc="-300" dirty="0" err="1" smtClean="0">
                <a:solidFill>
                  <a:srgbClr val="FF0000"/>
                </a:solidFill>
                <a:latin typeface="Times New Roman"/>
                <a:cs typeface="Times New Roman"/>
              </a:rPr>
              <a:t>Tư</a:t>
            </a:r>
            <a:r>
              <a:rPr lang="en-US" sz="2800" spc="-300" dirty="0" smtClean="0">
                <a:solidFill>
                  <a:srgbClr val="FF0000"/>
                </a:solidFill>
                <a:latin typeface="Times New Roman"/>
                <a:cs typeface="Times New Roman"/>
              </a:rPr>
              <a:t> </a:t>
            </a:r>
            <a:r>
              <a:rPr lang="en-US" sz="2800" spc="-300" dirty="0" err="1" smtClean="0">
                <a:solidFill>
                  <a:srgbClr val="FF0000"/>
                </a:solidFill>
                <a:latin typeface="Times New Roman"/>
                <a:cs typeface="Times New Roman"/>
              </a:rPr>
              <a:t>tưởng</a:t>
            </a:r>
            <a:r>
              <a:rPr lang="en-US" sz="2800" spc="-300" dirty="0" smtClean="0">
                <a:solidFill>
                  <a:srgbClr val="FF0000"/>
                </a:solidFill>
                <a:latin typeface="Times New Roman"/>
                <a:cs typeface="Times New Roman"/>
              </a:rPr>
              <a:t> </a:t>
            </a:r>
            <a:r>
              <a:rPr lang="en-US" sz="2800" spc="-300" dirty="0" err="1" smtClean="0">
                <a:solidFill>
                  <a:srgbClr val="FF0000"/>
                </a:solidFill>
                <a:latin typeface="Times New Roman"/>
                <a:cs typeface="Times New Roman"/>
              </a:rPr>
              <a:t>Hồ</a:t>
            </a:r>
            <a:r>
              <a:rPr lang="en-US" sz="2800" spc="-300" dirty="0" smtClean="0">
                <a:solidFill>
                  <a:srgbClr val="FF0000"/>
                </a:solidFill>
                <a:latin typeface="Times New Roman"/>
                <a:cs typeface="Times New Roman"/>
              </a:rPr>
              <a:t> </a:t>
            </a:r>
            <a:r>
              <a:rPr lang="en-US" sz="2800" spc="-300" dirty="0" err="1" smtClean="0">
                <a:solidFill>
                  <a:srgbClr val="FF0000"/>
                </a:solidFill>
                <a:latin typeface="Times New Roman"/>
                <a:cs typeface="Times New Roman"/>
              </a:rPr>
              <a:t>Chí</a:t>
            </a:r>
            <a:r>
              <a:rPr lang="en-US" sz="2800" spc="-300" dirty="0" smtClean="0">
                <a:solidFill>
                  <a:srgbClr val="FF0000"/>
                </a:solidFill>
                <a:latin typeface="Times New Roman"/>
                <a:cs typeface="Times New Roman"/>
              </a:rPr>
              <a:t> Minh </a:t>
            </a:r>
          </a:p>
          <a:p>
            <a:pPr algn="ctr"/>
            <a:r>
              <a:rPr lang="en-US" sz="2800" spc="-300" dirty="0" err="1" smtClean="0">
                <a:solidFill>
                  <a:srgbClr val="FF0000"/>
                </a:solidFill>
                <a:latin typeface="Times New Roman"/>
                <a:cs typeface="Times New Roman"/>
              </a:rPr>
              <a:t>về</a:t>
            </a:r>
            <a:r>
              <a:rPr lang="en-US" sz="2800" spc="-300" dirty="0" smtClean="0">
                <a:solidFill>
                  <a:srgbClr val="FF0000"/>
                </a:solidFill>
                <a:latin typeface="Times New Roman"/>
                <a:cs typeface="Times New Roman"/>
              </a:rPr>
              <a:t> </a:t>
            </a:r>
          </a:p>
          <a:p>
            <a:pPr algn="ctr"/>
            <a:r>
              <a:rPr lang="en-US" sz="2800" spc="-300" dirty="0" err="1" smtClean="0">
                <a:solidFill>
                  <a:srgbClr val="FF0000"/>
                </a:solidFill>
                <a:latin typeface="Times New Roman"/>
                <a:cs typeface="Times New Roman"/>
              </a:rPr>
              <a:t>đại</a:t>
            </a:r>
            <a:r>
              <a:rPr lang="en-US" sz="2800" spc="-300" dirty="0" smtClean="0">
                <a:solidFill>
                  <a:srgbClr val="FF0000"/>
                </a:solidFill>
                <a:latin typeface="Times New Roman"/>
                <a:cs typeface="Times New Roman"/>
              </a:rPr>
              <a:t> </a:t>
            </a:r>
            <a:r>
              <a:rPr lang="en-US" sz="2800" spc="-300" dirty="0" err="1" smtClean="0">
                <a:solidFill>
                  <a:srgbClr val="FF0000"/>
                </a:solidFill>
                <a:latin typeface="Times New Roman"/>
                <a:cs typeface="Times New Roman"/>
              </a:rPr>
              <a:t>đoàn</a:t>
            </a:r>
            <a:r>
              <a:rPr lang="en-US" sz="2800" spc="-300" dirty="0" smtClean="0">
                <a:solidFill>
                  <a:srgbClr val="FF0000"/>
                </a:solidFill>
                <a:latin typeface="Times New Roman"/>
                <a:cs typeface="Times New Roman"/>
              </a:rPr>
              <a:t> </a:t>
            </a:r>
            <a:r>
              <a:rPr lang="en-US" sz="2800" spc="-300" dirty="0" err="1" smtClean="0">
                <a:solidFill>
                  <a:srgbClr val="FF0000"/>
                </a:solidFill>
                <a:latin typeface="Times New Roman"/>
                <a:cs typeface="Times New Roman"/>
              </a:rPr>
              <a:t>kết</a:t>
            </a:r>
            <a:r>
              <a:rPr lang="en-US" sz="2800" spc="-300" dirty="0" smtClean="0">
                <a:solidFill>
                  <a:srgbClr val="FF0000"/>
                </a:solidFill>
                <a:latin typeface="Times New Roman"/>
                <a:cs typeface="Times New Roman"/>
              </a:rPr>
              <a:t> </a:t>
            </a:r>
          </a:p>
          <a:p>
            <a:pPr algn="ctr"/>
            <a:r>
              <a:rPr lang="en-US" sz="2800" spc="-300" dirty="0" err="1" smtClean="0">
                <a:solidFill>
                  <a:srgbClr val="FF0000"/>
                </a:solidFill>
                <a:latin typeface="Times New Roman"/>
                <a:cs typeface="Times New Roman"/>
              </a:rPr>
              <a:t>dân</a:t>
            </a:r>
            <a:r>
              <a:rPr lang="en-US" sz="2800" spc="-300" dirty="0" smtClean="0">
                <a:solidFill>
                  <a:srgbClr val="FF0000"/>
                </a:solidFill>
                <a:latin typeface="Times New Roman"/>
                <a:cs typeface="Times New Roman"/>
              </a:rPr>
              <a:t> </a:t>
            </a:r>
            <a:r>
              <a:rPr lang="en-US" sz="2800" spc="-300" dirty="0" err="1" smtClean="0">
                <a:solidFill>
                  <a:srgbClr val="FF0000"/>
                </a:solidFill>
                <a:latin typeface="Times New Roman"/>
                <a:cs typeface="Times New Roman"/>
              </a:rPr>
              <a:t>tộc</a:t>
            </a:r>
            <a:endParaRPr lang="en-US" sz="2800" spc="-300" dirty="0">
              <a:solidFill>
                <a:srgbClr val="FF0000"/>
              </a:solidFill>
              <a:latin typeface="Times New Roman"/>
              <a:cs typeface="Times New Roman"/>
            </a:endParaRPr>
          </a:p>
        </p:txBody>
      </p:sp>
      <p:sp>
        <p:nvSpPr>
          <p:cNvPr id="11" name="Text Box 36"/>
          <p:cNvSpPr txBox="1">
            <a:spLocks noChangeArrowheads="1"/>
          </p:cNvSpPr>
          <p:nvPr/>
        </p:nvSpPr>
        <p:spPr bwMode="auto">
          <a:xfrm>
            <a:off x="2361835" y="1031557"/>
            <a:ext cx="5105765"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mtClean="0">
                <a:solidFill>
                  <a:srgbClr val="FF0000"/>
                </a:solidFill>
                <a:latin typeface="Times New Roman"/>
                <a:cs typeface="Times New Roman"/>
              </a:rPr>
              <a:t>1. Vai trò của đại đoàn kết dân tộc</a:t>
            </a:r>
            <a:endParaRPr lang="en-US" sz="2600" dirty="0">
              <a:solidFill>
                <a:srgbClr val="FF0000"/>
              </a:solidFill>
              <a:latin typeface="Times New Roman"/>
              <a:cs typeface="Times New Roman"/>
            </a:endParaRPr>
          </a:p>
        </p:txBody>
      </p:sp>
      <p:sp>
        <p:nvSpPr>
          <p:cNvPr id="13" name="Text Box 36"/>
          <p:cNvSpPr txBox="1">
            <a:spLocks noChangeArrowheads="1"/>
          </p:cNvSpPr>
          <p:nvPr/>
        </p:nvSpPr>
        <p:spPr bwMode="auto">
          <a:xfrm>
            <a:off x="2727556" y="3755648"/>
            <a:ext cx="6416444"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spc="-150">
                <a:solidFill>
                  <a:srgbClr val="FF0000"/>
                </a:solidFill>
                <a:latin typeface="Times New Roman"/>
                <a:cs typeface="Times New Roman"/>
              </a:rPr>
              <a:t>4</a:t>
            </a:r>
            <a:r>
              <a:rPr lang="en-US" sz="2600" spc="-150" smtClean="0">
                <a:solidFill>
                  <a:srgbClr val="FF0000"/>
                </a:solidFill>
                <a:latin typeface="Times New Roman"/>
                <a:cs typeface="Times New Roman"/>
              </a:rPr>
              <a:t>. Hình thức, nguyên tắc tổ chức của khối đại đoàn kết toàn dân tộc – Mặt trận dân tộc thống nhất</a:t>
            </a:r>
            <a:endParaRPr lang="en-US" sz="2600" spc="-150" dirty="0">
              <a:solidFill>
                <a:srgbClr val="FF0000"/>
              </a:solidFill>
              <a:latin typeface="Times New Roman"/>
              <a:cs typeface="Times New Roman"/>
            </a:endParaRPr>
          </a:p>
        </p:txBody>
      </p:sp>
      <p:cxnSp>
        <p:nvCxnSpPr>
          <p:cNvPr id="15" name="Straight Connector 14"/>
          <p:cNvCxnSpPr/>
          <p:nvPr/>
        </p:nvCxnSpPr>
        <p:spPr>
          <a:xfrm>
            <a:off x="1610428" y="1261902"/>
            <a:ext cx="0" cy="3843498"/>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1600200" y="12954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1600198" y="4117837"/>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8" name="Rectangle 17"/>
          <p:cNvSpPr/>
          <p:nvPr/>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 Box 36"/>
          <p:cNvSpPr txBox="1">
            <a:spLocks noChangeArrowheads="1"/>
          </p:cNvSpPr>
          <p:nvPr/>
        </p:nvSpPr>
        <p:spPr bwMode="auto">
          <a:xfrm>
            <a:off x="2616070" y="1850648"/>
            <a:ext cx="652793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a:solidFill>
                  <a:srgbClr val="FF0000"/>
                </a:solidFill>
                <a:latin typeface="Times New Roman"/>
                <a:cs typeface="Times New Roman"/>
              </a:rPr>
              <a:t>2</a:t>
            </a:r>
            <a:r>
              <a:rPr lang="en-US" sz="2600" smtClean="0">
                <a:solidFill>
                  <a:srgbClr val="FF0000"/>
                </a:solidFill>
                <a:latin typeface="Times New Roman"/>
                <a:cs typeface="Times New Roman"/>
              </a:rPr>
              <a:t>. Lực lượng của khối đại đoàn kết toàn dân tộc</a:t>
            </a:r>
            <a:endParaRPr lang="en-US" sz="2600" dirty="0">
              <a:solidFill>
                <a:srgbClr val="FF0000"/>
              </a:solidFill>
              <a:latin typeface="Times New Roman"/>
              <a:cs typeface="Times New Roman"/>
            </a:endParaRPr>
          </a:p>
        </p:txBody>
      </p:sp>
      <p:sp>
        <p:nvSpPr>
          <p:cNvPr id="22" name="Text Box 36"/>
          <p:cNvSpPr txBox="1">
            <a:spLocks noChangeArrowheads="1"/>
          </p:cNvSpPr>
          <p:nvPr/>
        </p:nvSpPr>
        <p:spPr bwMode="auto">
          <a:xfrm>
            <a:off x="2616070" y="2895600"/>
            <a:ext cx="6641958"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pc="-150">
                <a:solidFill>
                  <a:srgbClr val="FF0000"/>
                </a:solidFill>
                <a:latin typeface="Times New Roman"/>
                <a:cs typeface="Times New Roman"/>
              </a:rPr>
              <a:t>3</a:t>
            </a:r>
            <a:r>
              <a:rPr lang="en-US" sz="2600" spc="-150" smtClean="0">
                <a:solidFill>
                  <a:srgbClr val="FF0000"/>
                </a:solidFill>
                <a:latin typeface="Times New Roman"/>
                <a:cs typeface="Times New Roman"/>
              </a:rPr>
              <a:t>. Điều kiện để xây dựng khối đại đoàn kết toàn dân tộc</a:t>
            </a:r>
            <a:endParaRPr lang="en-US" sz="2600" spc="-150" dirty="0">
              <a:solidFill>
                <a:srgbClr val="FF0000"/>
              </a:solidFill>
              <a:latin typeface="Times New Roman"/>
              <a:cs typeface="Times New Roman"/>
            </a:endParaRPr>
          </a:p>
        </p:txBody>
      </p:sp>
      <p:sp>
        <p:nvSpPr>
          <p:cNvPr id="23" name="Text Box 36"/>
          <p:cNvSpPr txBox="1">
            <a:spLocks noChangeArrowheads="1"/>
          </p:cNvSpPr>
          <p:nvPr/>
        </p:nvSpPr>
        <p:spPr bwMode="auto">
          <a:xfrm>
            <a:off x="2727556" y="4800600"/>
            <a:ext cx="6416444"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spc="-150">
                <a:solidFill>
                  <a:srgbClr val="FF0000"/>
                </a:solidFill>
                <a:latin typeface="Times New Roman"/>
                <a:cs typeface="Times New Roman"/>
              </a:rPr>
              <a:t>5</a:t>
            </a:r>
            <a:r>
              <a:rPr lang="en-US" sz="2600" spc="-150" smtClean="0">
                <a:solidFill>
                  <a:srgbClr val="FF0000"/>
                </a:solidFill>
                <a:latin typeface="Times New Roman"/>
                <a:cs typeface="Times New Roman"/>
              </a:rPr>
              <a:t>. Phương thức xây dựng khối đại đoàn kết dân tộc</a:t>
            </a:r>
            <a:endParaRPr lang="en-US" sz="2600" spc="-150" dirty="0">
              <a:solidFill>
                <a:srgbClr val="FF0000"/>
              </a:solidFill>
              <a:latin typeface="Times New Roman"/>
              <a:cs typeface="Times New Roman"/>
            </a:endParaRPr>
          </a:p>
        </p:txBody>
      </p:sp>
      <p:cxnSp>
        <p:nvCxnSpPr>
          <p:cNvPr id="24" name="Straight Arrow Connector 23"/>
          <p:cNvCxnSpPr/>
          <p:nvPr/>
        </p:nvCxnSpPr>
        <p:spPr>
          <a:xfrm>
            <a:off x="1600200" y="21336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1600199" y="3111341"/>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1600200" y="51054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7"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pic>
        <p:nvPicPr>
          <p:cNvPr id="28" name="Picture 27"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9" name="Straight Connector 28"/>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30"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5</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1374596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additive="base">
                                        <p:cTn id="17" dur="500" fill="hold"/>
                                        <p:tgtEl>
                                          <p:spTgt spid="24"/>
                                        </p:tgtEl>
                                        <p:attrNameLst>
                                          <p:attrName>ppt_x</p:attrName>
                                        </p:attrNameLst>
                                      </p:cBhvr>
                                      <p:tavLst>
                                        <p:tav tm="0">
                                          <p:val>
                                            <p:strVal val="#ppt_x"/>
                                          </p:val>
                                        </p:tav>
                                        <p:tav tm="100000">
                                          <p:val>
                                            <p:strVal val="#ppt_x"/>
                                          </p:val>
                                        </p:tav>
                                      </p:tavLst>
                                    </p:anim>
                                    <p:anim calcmode="lin" valueType="num">
                                      <p:cBhvr additive="base">
                                        <p:cTn id="18" dur="500" fill="hold"/>
                                        <p:tgtEl>
                                          <p:spTgt spid="24"/>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additive="base">
                                        <p:cTn id="21" dur="500" fill="hold"/>
                                        <p:tgtEl>
                                          <p:spTgt spid="21"/>
                                        </p:tgtEl>
                                        <p:attrNameLst>
                                          <p:attrName>ppt_x</p:attrName>
                                        </p:attrNameLst>
                                      </p:cBhvr>
                                      <p:tavLst>
                                        <p:tav tm="0">
                                          <p:val>
                                            <p:strVal val="#ppt_x"/>
                                          </p:val>
                                        </p:tav>
                                        <p:tav tm="100000">
                                          <p:val>
                                            <p:strVal val="#ppt_x"/>
                                          </p:val>
                                        </p:tav>
                                      </p:tavLst>
                                    </p:anim>
                                    <p:anim calcmode="lin" valueType="num">
                                      <p:cBhvr additive="base">
                                        <p:cTn id="2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additive="base">
                                        <p:cTn id="27" dur="500" fill="hold"/>
                                        <p:tgtEl>
                                          <p:spTgt spid="25"/>
                                        </p:tgtEl>
                                        <p:attrNameLst>
                                          <p:attrName>ppt_x</p:attrName>
                                        </p:attrNameLst>
                                      </p:cBhvr>
                                      <p:tavLst>
                                        <p:tav tm="0">
                                          <p:val>
                                            <p:strVal val="#ppt_x"/>
                                          </p:val>
                                        </p:tav>
                                        <p:tav tm="100000">
                                          <p:val>
                                            <p:strVal val="#ppt_x"/>
                                          </p:val>
                                        </p:tav>
                                      </p:tavLst>
                                    </p:anim>
                                    <p:anim calcmode="lin" valueType="num">
                                      <p:cBhvr additive="base">
                                        <p:cTn id="28" dur="500" fill="hold"/>
                                        <p:tgtEl>
                                          <p:spTgt spid="2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 calcmode="lin" valueType="num">
                                      <p:cBhvr additive="base">
                                        <p:cTn id="31" dur="500" fill="hold"/>
                                        <p:tgtEl>
                                          <p:spTgt spid="22"/>
                                        </p:tgtEl>
                                        <p:attrNameLst>
                                          <p:attrName>ppt_x</p:attrName>
                                        </p:attrNameLst>
                                      </p:cBhvr>
                                      <p:tavLst>
                                        <p:tav tm="0">
                                          <p:val>
                                            <p:strVal val="#ppt_x"/>
                                          </p:val>
                                        </p:tav>
                                        <p:tav tm="100000">
                                          <p:val>
                                            <p:strVal val="#ppt_x"/>
                                          </p:val>
                                        </p:tav>
                                      </p:tavLst>
                                    </p:anim>
                                    <p:anim calcmode="lin" valueType="num">
                                      <p:cBhvr additive="base">
                                        <p:cTn id="3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 calcmode="lin" valueType="num">
                                      <p:cBhvr additive="base">
                                        <p:cTn id="37" dur="500" fill="hold"/>
                                        <p:tgtEl>
                                          <p:spTgt spid="19"/>
                                        </p:tgtEl>
                                        <p:attrNameLst>
                                          <p:attrName>ppt_x</p:attrName>
                                        </p:attrNameLst>
                                      </p:cBhvr>
                                      <p:tavLst>
                                        <p:tav tm="0">
                                          <p:val>
                                            <p:strVal val="#ppt_x"/>
                                          </p:val>
                                        </p:tav>
                                        <p:tav tm="100000">
                                          <p:val>
                                            <p:strVal val="#ppt_x"/>
                                          </p:val>
                                        </p:tav>
                                      </p:tavLst>
                                    </p:anim>
                                    <p:anim calcmode="lin" valueType="num">
                                      <p:cBhvr additive="base">
                                        <p:cTn id="38" dur="500" fill="hold"/>
                                        <p:tgtEl>
                                          <p:spTgt spid="19"/>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500" fill="hold"/>
                                        <p:tgtEl>
                                          <p:spTgt spid="13"/>
                                        </p:tgtEl>
                                        <p:attrNameLst>
                                          <p:attrName>ppt_x</p:attrName>
                                        </p:attrNameLst>
                                      </p:cBhvr>
                                      <p:tavLst>
                                        <p:tav tm="0">
                                          <p:val>
                                            <p:strVal val="#ppt_x"/>
                                          </p:val>
                                        </p:tav>
                                        <p:tav tm="100000">
                                          <p:val>
                                            <p:strVal val="#ppt_x"/>
                                          </p:val>
                                        </p:tav>
                                      </p:tavLst>
                                    </p:anim>
                                    <p:anim calcmode="lin" valueType="num">
                                      <p:cBhvr additive="base">
                                        <p:cTn id="4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6"/>
                                        </p:tgtEl>
                                        <p:attrNameLst>
                                          <p:attrName>style.visibility</p:attrName>
                                        </p:attrNameLst>
                                      </p:cBhvr>
                                      <p:to>
                                        <p:strVal val="visible"/>
                                      </p:to>
                                    </p:set>
                                    <p:anim calcmode="lin" valueType="num">
                                      <p:cBhvr additive="base">
                                        <p:cTn id="47" dur="500" fill="hold"/>
                                        <p:tgtEl>
                                          <p:spTgt spid="26"/>
                                        </p:tgtEl>
                                        <p:attrNameLst>
                                          <p:attrName>ppt_x</p:attrName>
                                        </p:attrNameLst>
                                      </p:cBhvr>
                                      <p:tavLst>
                                        <p:tav tm="0">
                                          <p:val>
                                            <p:strVal val="#ppt_x"/>
                                          </p:val>
                                        </p:tav>
                                        <p:tav tm="100000">
                                          <p:val>
                                            <p:strVal val="#ppt_x"/>
                                          </p:val>
                                        </p:tav>
                                      </p:tavLst>
                                    </p:anim>
                                    <p:anim calcmode="lin" valueType="num">
                                      <p:cBhvr additive="base">
                                        <p:cTn id="48" dur="500" fill="hold"/>
                                        <p:tgtEl>
                                          <p:spTgt spid="26"/>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 calcmode="lin" valueType="num">
                                      <p:cBhvr additive="base">
                                        <p:cTn id="51" dur="500" fill="hold"/>
                                        <p:tgtEl>
                                          <p:spTgt spid="23"/>
                                        </p:tgtEl>
                                        <p:attrNameLst>
                                          <p:attrName>ppt_x</p:attrName>
                                        </p:attrNameLst>
                                      </p:cBhvr>
                                      <p:tavLst>
                                        <p:tav tm="0">
                                          <p:val>
                                            <p:strVal val="#ppt_x"/>
                                          </p:val>
                                        </p:tav>
                                        <p:tav tm="100000">
                                          <p:val>
                                            <p:strVal val="#ppt_x"/>
                                          </p:val>
                                        </p:tav>
                                      </p:tavLst>
                                    </p:anim>
                                    <p:anim calcmode="lin" valueType="num">
                                      <p:cBhvr additive="base">
                                        <p:cTn id="5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21" grpId="0"/>
      <p:bldP spid="22" grpId="0"/>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6</a:t>
            </a:fld>
            <a:endParaRPr lang="en-US"/>
          </a:p>
        </p:txBody>
      </p:sp>
      <p:sp>
        <p:nvSpPr>
          <p:cNvPr id="17" name="Rectangle 16"/>
          <p:cNvSpPr/>
          <p:nvPr/>
        </p:nvSpPr>
        <p:spPr>
          <a:xfrm>
            <a:off x="4724400" y="2898338"/>
            <a:ext cx="4343400" cy="1220783"/>
          </a:xfrm>
          <a:prstGeom prst="rect">
            <a:avLst/>
          </a:prstGeom>
        </p:spPr>
        <p:txBody>
          <a:bodyPr wrap="square">
            <a:spAutoFit/>
          </a:bodyPr>
          <a:lstStyle/>
          <a:p>
            <a:pPr algn="ctr">
              <a:lnSpc>
                <a:spcPct val="150000"/>
              </a:lnSpc>
            </a:pPr>
            <a:r>
              <a:rPr lang="en-US" sz="2600" i="1" smtClean="0">
                <a:solidFill>
                  <a:srgbClr val="002060"/>
                </a:solidFill>
                <a:latin typeface="Times New Roman" pitchFamily="18" charset="0"/>
                <a:cs typeface="Times New Roman" pitchFamily="18" charset="0"/>
              </a:rPr>
              <a:t>Vấn đề có ý nghĩa chiến lược, quyết định thành công</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1026" name="Picture 2" descr="http://www.baovinhlong.com.vn/dataimages/202001/original/images2262011_10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453818"/>
            <a:ext cx="2990160" cy="23336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3110313" y="1701225"/>
            <a:ext cx="5957487" cy="584775"/>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200" dirty="0">
                <a:solidFill>
                  <a:srgbClr val="FF0000"/>
                </a:solidFill>
                <a:latin typeface="Times New Roman"/>
                <a:cs typeface="Times New Roman"/>
              </a:rPr>
              <a:t>1. </a:t>
            </a:r>
            <a:r>
              <a:rPr lang="en-US" sz="3200" dirty="0" err="1">
                <a:solidFill>
                  <a:srgbClr val="FF0000"/>
                </a:solidFill>
                <a:latin typeface="Times New Roman"/>
                <a:cs typeface="Times New Roman"/>
              </a:rPr>
              <a:t>Vai</a:t>
            </a:r>
            <a:r>
              <a:rPr lang="en-US" sz="3200" dirty="0">
                <a:solidFill>
                  <a:srgbClr val="FF0000"/>
                </a:solidFill>
                <a:latin typeface="Times New Roman"/>
                <a:cs typeface="Times New Roman"/>
              </a:rPr>
              <a:t> </a:t>
            </a:r>
            <a:r>
              <a:rPr lang="en-US" sz="3200" dirty="0" err="1">
                <a:solidFill>
                  <a:srgbClr val="FF0000"/>
                </a:solidFill>
                <a:latin typeface="Times New Roman"/>
                <a:cs typeface="Times New Roman"/>
              </a:rPr>
              <a:t>trò</a:t>
            </a:r>
            <a:r>
              <a:rPr lang="en-US" sz="3200" dirty="0">
                <a:solidFill>
                  <a:srgbClr val="FF0000"/>
                </a:solidFill>
                <a:latin typeface="Times New Roman"/>
                <a:cs typeface="Times New Roman"/>
              </a:rPr>
              <a:t> </a:t>
            </a:r>
            <a:r>
              <a:rPr lang="en-US" sz="3200" dirty="0" err="1">
                <a:solidFill>
                  <a:srgbClr val="FF0000"/>
                </a:solidFill>
                <a:latin typeface="Times New Roman"/>
                <a:cs typeface="Times New Roman"/>
              </a:rPr>
              <a:t>của</a:t>
            </a:r>
            <a:r>
              <a:rPr lang="en-US" sz="3200" dirty="0">
                <a:solidFill>
                  <a:srgbClr val="FF0000"/>
                </a:solidFill>
                <a:latin typeface="Times New Roman"/>
                <a:cs typeface="Times New Roman"/>
              </a:rPr>
              <a:t> </a:t>
            </a:r>
            <a:r>
              <a:rPr lang="en-US" sz="3200" dirty="0" err="1">
                <a:solidFill>
                  <a:srgbClr val="FF0000"/>
                </a:solidFill>
                <a:latin typeface="Times New Roman"/>
                <a:cs typeface="Times New Roman"/>
              </a:rPr>
              <a:t>đại</a:t>
            </a:r>
            <a:r>
              <a:rPr lang="en-US" sz="3200" dirty="0">
                <a:solidFill>
                  <a:srgbClr val="FF0000"/>
                </a:solidFill>
                <a:latin typeface="Times New Roman"/>
                <a:cs typeface="Times New Roman"/>
              </a:rPr>
              <a:t> </a:t>
            </a:r>
            <a:r>
              <a:rPr lang="en-US" sz="3200" dirty="0" err="1">
                <a:solidFill>
                  <a:srgbClr val="FF0000"/>
                </a:solidFill>
                <a:latin typeface="Times New Roman"/>
                <a:cs typeface="Times New Roman"/>
              </a:rPr>
              <a:t>đoàn</a:t>
            </a:r>
            <a:r>
              <a:rPr lang="en-US" sz="3200" dirty="0">
                <a:solidFill>
                  <a:srgbClr val="FF0000"/>
                </a:solidFill>
                <a:latin typeface="Times New Roman"/>
                <a:cs typeface="Times New Roman"/>
              </a:rPr>
              <a:t> </a:t>
            </a:r>
            <a:r>
              <a:rPr lang="en-US" sz="3200" dirty="0" err="1">
                <a:solidFill>
                  <a:srgbClr val="FF0000"/>
                </a:solidFill>
                <a:latin typeface="Times New Roman"/>
                <a:cs typeface="Times New Roman"/>
              </a:rPr>
              <a:t>kết</a:t>
            </a:r>
            <a:r>
              <a:rPr lang="en-US" sz="3200" dirty="0">
                <a:solidFill>
                  <a:srgbClr val="FF0000"/>
                </a:solidFill>
                <a:latin typeface="Times New Roman"/>
                <a:cs typeface="Times New Roman"/>
              </a:rPr>
              <a:t> </a:t>
            </a:r>
            <a:r>
              <a:rPr lang="en-US" sz="3200" dirty="0" err="1">
                <a:solidFill>
                  <a:srgbClr val="FF0000"/>
                </a:solidFill>
                <a:latin typeface="Times New Roman"/>
                <a:cs typeface="Times New Roman"/>
              </a:rPr>
              <a:t>dân</a:t>
            </a:r>
            <a:r>
              <a:rPr lang="en-US" sz="3200" dirty="0">
                <a:solidFill>
                  <a:srgbClr val="FF0000"/>
                </a:solidFill>
                <a:latin typeface="Times New Roman"/>
                <a:cs typeface="Times New Roman"/>
              </a:rPr>
              <a:t> </a:t>
            </a:r>
            <a:r>
              <a:rPr lang="en-US" sz="3200" dirty="0" err="1">
                <a:solidFill>
                  <a:srgbClr val="FF0000"/>
                </a:solidFill>
                <a:latin typeface="Times New Roman"/>
                <a:cs typeface="Times New Roman"/>
              </a:rPr>
              <a:t>tộc</a:t>
            </a:r>
            <a:endParaRPr lang="en-US" sz="3200" dirty="0">
              <a:solidFill>
                <a:srgbClr val="FF0000"/>
              </a:solidFill>
              <a:latin typeface="Times New Roman"/>
              <a:cs typeface="Times New Roman"/>
            </a:endParaRPr>
          </a:p>
        </p:txBody>
      </p:sp>
      <p:cxnSp>
        <p:nvCxnSpPr>
          <p:cNvPr id="18" name="Straight Connector 17"/>
          <p:cNvCxnSpPr/>
          <p:nvPr/>
        </p:nvCxnSpPr>
        <p:spPr>
          <a:xfrm>
            <a:off x="3276600" y="2514600"/>
            <a:ext cx="0" cy="32004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279380" y="3502462"/>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3352800" y="4574738"/>
            <a:ext cx="5791200" cy="1292662"/>
          </a:xfrm>
          <a:prstGeom prst="rect">
            <a:avLst/>
          </a:prstGeom>
        </p:spPr>
        <p:txBody>
          <a:bodyPr wrap="square">
            <a:spAutoFit/>
          </a:bodyPr>
          <a:lstStyle/>
          <a:p>
            <a:pPr algn="ctr">
              <a:lnSpc>
                <a:spcPct val="150000"/>
              </a:lnSpc>
            </a:pPr>
            <a:r>
              <a:rPr lang="en-US" sz="2600" i="1" smtClean="0">
                <a:solidFill>
                  <a:srgbClr val="FF0000"/>
                </a:solidFill>
                <a:latin typeface="Times New Roman" pitchFamily="18" charset="0"/>
                <a:cs typeface="Times New Roman" pitchFamily="18" charset="0"/>
              </a:rPr>
              <a:t>“Đoàn kết, đoàn kết, đại đoàn kết</a:t>
            </a:r>
          </a:p>
          <a:p>
            <a:pPr algn="ctr">
              <a:lnSpc>
                <a:spcPct val="150000"/>
              </a:lnSpc>
            </a:pPr>
            <a:r>
              <a:rPr lang="en-US" sz="2600" i="1" smtClean="0">
                <a:solidFill>
                  <a:srgbClr val="FF0000"/>
                </a:solidFill>
                <a:latin typeface="Times New Roman" pitchFamily="18" charset="0"/>
                <a:cs typeface="Times New Roman" pitchFamily="18" charset="0"/>
              </a:rPr>
              <a:t>Thành công, thành công, đại thành công”</a:t>
            </a:r>
            <a:endParaRPr lang="en-US" sz="2600" i="1" dirty="0">
              <a:solidFill>
                <a:srgbClr val="FF0000"/>
              </a:solidFill>
              <a:latin typeface="Times New Roman" pitchFamily="18" charset="0"/>
              <a:cs typeface="Times New Roman" pitchFamily="18" charset="0"/>
            </a:endParaRPr>
          </a:p>
        </p:txBody>
      </p:sp>
      <p:sp>
        <p:nvSpPr>
          <p:cNvPr id="14"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pic>
        <p:nvPicPr>
          <p:cNvPr id="23" name="Picture 2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Connector 23"/>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5"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5</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119071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additive="base">
                                        <p:cTn id="21" dur="500" fill="hold"/>
                                        <p:tgtEl>
                                          <p:spTgt spid="21"/>
                                        </p:tgtEl>
                                        <p:attrNameLst>
                                          <p:attrName>ppt_x</p:attrName>
                                        </p:attrNameLst>
                                      </p:cBhvr>
                                      <p:tavLst>
                                        <p:tav tm="0">
                                          <p:val>
                                            <p:strVal val="#ppt_x"/>
                                          </p:val>
                                        </p:tav>
                                        <p:tav tm="100000">
                                          <p:val>
                                            <p:strVal val="#ppt_x"/>
                                          </p:val>
                                        </p:tav>
                                      </p:tavLst>
                                    </p:anim>
                                    <p:anim calcmode="lin" valueType="num">
                                      <p:cBhvr additive="base">
                                        <p:cTn id="2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7</a:t>
            </a:fld>
            <a:endParaRPr lang="en-US"/>
          </a:p>
        </p:txBody>
      </p:sp>
      <p:sp>
        <p:nvSpPr>
          <p:cNvPr id="17" name="Rectangle 16"/>
          <p:cNvSpPr/>
          <p:nvPr/>
        </p:nvSpPr>
        <p:spPr>
          <a:xfrm>
            <a:off x="3962400" y="1981200"/>
            <a:ext cx="4343400" cy="1292662"/>
          </a:xfrm>
          <a:prstGeom prst="rect">
            <a:avLst/>
          </a:prstGeom>
        </p:spPr>
        <p:txBody>
          <a:bodyPr wrap="square">
            <a:spAutoFit/>
          </a:bodyPr>
          <a:lstStyle/>
          <a:p>
            <a:pPr algn="ctr">
              <a:lnSpc>
                <a:spcPct val="150000"/>
              </a:lnSpc>
            </a:pPr>
            <a:r>
              <a:rPr lang="en-US" sz="2600" i="1" smtClean="0">
                <a:solidFill>
                  <a:srgbClr val="002060"/>
                </a:solidFill>
                <a:latin typeface="Times New Roman" pitchFamily="18" charset="0"/>
                <a:cs typeface="Times New Roman" pitchFamily="18" charset="0"/>
              </a:rPr>
              <a:t>Mục tiêu, nhiệm vụ hàng đầu của cách mạng Việt Nam</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1026" name="Picture 2" descr="http://www.baovinhlong.com.vn/dataimages/202001/original/images2262011_10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2453818"/>
            <a:ext cx="2990160" cy="23336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2438400" y="583781"/>
            <a:ext cx="5957487" cy="584775"/>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200" dirty="0">
                <a:solidFill>
                  <a:srgbClr val="FF0000"/>
                </a:solidFill>
                <a:latin typeface="Times New Roman"/>
                <a:cs typeface="Times New Roman"/>
              </a:rPr>
              <a:t>1. </a:t>
            </a:r>
            <a:r>
              <a:rPr lang="en-US" sz="3200" dirty="0" err="1">
                <a:solidFill>
                  <a:srgbClr val="FF0000"/>
                </a:solidFill>
                <a:latin typeface="Times New Roman"/>
                <a:cs typeface="Times New Roman"/>
              </a:rPr>
              <a:t>Vai</a:t>
            </a:r>
            <a:r>
              <a:rPr lang="en-US" sz="3200" dirty="0">
                <a:solidFill>
                  <a:srgbClr val="FF0000"/>
                </a:solidFill>
                <a:latin typeface="Times New Roman"/>
                <a:cs typeface="Times New Roman"/>
              </a:rPr>
              <a:t> </a:t>
            </a:r>
            <a:r>
              <a:rPr lang="en-US" sz="3200" dirty="0" err="1">
                <a:solidFill>
                  <a:srgbClr val="FF0000"/>
                </a:solidFill>
                <a:latin typeface="Times New Roman"/>
                <a:cs typeface="Times New Roman"/>
              </a:rPr>
              <a:t>trò</a:t>
            </a:r>
            <a:r>
              <a:rPr lang="en-US" sz="3200" dirty="0">
                <a:solidFill>
                  <a:srgbClr val="FF0000"/>
                </a:solidFill>
                <a:latin typeface="Times New Roman"/>
                <a:cs typeface="Times New Roman"/>
              </a:rPr>
              <a:t> </a:t>
            </a:r>
            <a:r>
              <a:rPr lang="en-US" sz="3200" dirty="0" err="1">
                <a:solidFill>
                  <a:srgbClr val="FF0000"/>
                </a:solidFill>
                <a:latin typeface="Times New Roman"/>
                <a:cs typeface="Times New Roman"/>
              </a:rPr>
              <a:t>của</a:t>
            </a:r>
            <a:r>
              <a:rPr lang="en-US" sz="3200" dirty="0">
                <a:solidFill>
                  <a:srgbClr val="FF0000"/>
                </a:solidFill>
                <a:latin typeface="Times New Roman"/>
                <a:cs typeface="Times New Roman"/>
              </a:rPr>
              <a:t> </a:t>
            </a:r>
            <a:r>
              <a:rPr lang="en-US" sz="3200" dirty="0" err="1">
                <a:solidFill>
                  <a:srgbClr val="FF0000"/>
                </a:solidFill>
                <a:latin typeface="Times New Roman"/>
                <a:cs typeface="Times New Roman"/>
              </a:rPr>
              <a:t>đại</a:t>
            </a:r>
            <a:r>
              <a:rPr lang="en-US" sz="3200" dirty="0">
                <a:solidFill>
                  <a:srgbClr val="FF0000"/>
                </a:solidFill>
                <a:latin typeface="Times New Roman"/>
                <a:cs typeface="Times New Roman"/>
              </a:rPr>
              <a:t> </a:t>
            </a:r>
            <a:r>
              <a:rPr lang="en-US" sz="3200" dirty="0" err="1">
                <a:solidFill>
                  <a:srgbClr val="FF0000"/>
                </a:solidFill>
                <a:latin typeface="Times New Roman"/>
                <a:cs typeface="Times New Roman"/>
              </a:rPr>
              <a:t>đoàn</a:t>
            </a:r>
            <a:r>
              <a:rPr lang="en-US" sz="3200" dirty="0">
                <a:solidFill>
                  <a:srgbClr val="FF0000"/>
                </a:solidFill>
                <a:latin typeface="Times New Roman"/>
                <a:cs typeface="Times New Roman"/>
              </a:rPr>
              <a:t> </a:t>
            </a:r>
            <a:r>
              <a:rPr lang="en-US" sz="3200" dirty="0" err="1">
                <a:solidFill>
                  <a:srgbClr val="FF0000"/>
                </a:solidFill>
                <a:latin typeface="Times New Roman"/>
                <a:cs typeface="Times New Roman"/>
              </a:rPr>
              <a:t>kết</a:t>
            </a:r>
            <a:r>
              <a:rPr lang="en-US" sz="3200" dirty="0">
                <a:solidFill>
                  <a:srgbClr val="FF0000"/>
                </a:solidFill>
                <a:latin typeface="Times New Roman"/>
                <a:cs typeface="Times New Roman"/>
              </a:rPr>
              <a:t> </a:t>
            </a:r>
            <a:r>
              <a:rPr lang="en-US" sz="3200" dirty="0" err="1">
                <a:solidFill>
                  <a:srgbClr val="FF0000"/>
                </a:solidFill>
                <a:latin typeface="Times New Roman"/>
                <a:cs typeface="Times New Roman"/>
              </a:rPr>
              <a:t>dân</a:t>
            </a:r>
            <a:r>
              <a:rPr lang="en-US" sz="3200" dirty="0">
                <a:solidFill>
                  <a:srgbClr val="FF0000"/>
                </a:solidFill>
                <a:latin typeface="Times New Roman"/>
                <a:cs typeface="Times New Roman"/>
              </a:rPr>
              <a:t> </a:t>
            </a:r>
            <a:r>
              <a:rPr lang="en-US" sz="3200" dirty="0" err="1">
                <a:solidFill>
                  <a:srgbClr val="FF0000"/>
                </a:solidFill>
                <a:latin typeface="Times New Roman"/>
                <a:cs typeface="Times New Roman"/>
              </a:rPr>
              <a:t>tộc</a:t>
            </a:r>
            <a:endParaRPr lang="en-US" sz="3200" dirty="0">
              <a:solidFill>
                <a:srgbClr val="FF0000"/>
              </a:solidFill>
              <a:latin typeface="Times New Roman"/>
              <a:cs typeface="Times New Roman"/>
            </a:endParaRPr>
          </a:p>
        </p:txBody>
      </p:sp>
      <p:cxnSp>
        <p:nvCxnSpPr>
          <p:cNvPr id="18" name="Straight Connector 17"/>
          <p:cNvCxnSpPr/>
          <p:nvPr/>
        </p:nvCxnSpPr>
        <p:spPr>
          <a:xfrm>
            <a:off x="3151248" y="1132076"/>
            <a:ext cx="0" cy="32004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154028" y="2732276"/>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2895600" y="3810000"/>
            <a:ext cx="6306240" cy="1892826"/>
          </a:xfrm>
          <a:prstGeom prst="rect">
            <a:avLst/>
          </a:prstGeom>
        </p:spPr>
        <p:txBody>
          <a:bodyPr wrap="square">
            <a:spAutoFit/>
          </a:bodyPr>
          <a:lstStyle/>
          <a:p>
            <a:pPr algn="ctr">
              <a:lnSpc>
                <a:spcPct val="150000"/>
              </a:lnSpc>
            </a:pPr>
            <a:r>
              <a:rPr lang="en-US" sz="2600" i="1" smtClean="0">
                <a:solidFill>
                  <a:srgbClr val="FF0000"/>
                </a:solidFill>
                <a:latin typeface="Times New Roman" pitchFamily="18" charset="0"/>
                <a:cs typeface="Times New Roman" pitchFamily="18" charset="0"/>
              </a:rPr>
              <a:t>“Mục đích của Đảng Lao động Việt Nam </a:t>
            </a:r>
          </a:p>
          <a:p>
            <a:pPr algn="ctr">
              <a:lnSpc>
                <a:spcPct val="150000"/>
              </a:lnSpc>
            </a:pPr>
            <a:r>
              <a:rPr lang="en-US" sz="2600" i="1" smtClean="0">
                <a:solidFill>
                  <a:srgbClr val="FF0000"/>
                </a:solidFill>
                <a:latin typeface="Times New Roman" pitchFamily="18" charset="0"/>
                <a:cs typeface="Times New Roman" pitchFamily="18" charset="0"/>
              </a:rPr>
              <a:t>có thể gồm trong tám chữ là:</a:t>
            </a:r>
          </a:p>
          <a:p>
            <a:pPr algn="ctr">
              <a:lnSpc>
                <a:spcPct val="150000"/>
              </a:lnSpc>
            </a:pPr>
            <a:r>
              <a:rPr lang="en-US" sz="2600" i="1" spc="-150" smtClean="0">
                <a:solidFill>
                  <a:srgbClr val="FF0000"/>
                </a:solidFill>
                <a:latin typeface="Times New Roman" pitchFamily="18" charset="0"/>
                <a:cs typeface="Times New Roman" pitchFamily="18" charset="0"/>
              </a:rPr>
              <a:t>ĐOÀN KẾT TOÀN DÂN, PHỤNG SỰ TỔ QUỐC”</a:t>
            </a:r>
            <a:endParaRPr lang="en-US" sz="2600" i="1" spc="-150" dirty="0">
              <a:solidFill>
                <a:srgbClr val="FF0000"/>
              </a:solidFill>
              <a:latin typeface="Times New Roman" pitchFamily="18" charset="0"/>
              <a:cs typeface="Times New Roman" pitchFamily="18" charset="0"/>
            </a:endParaRPr>
          </a:p>
        </p:txBody>
      </p:sp>
      <p:sp>
        <p:nvSpPr>
          <p:cNvPr id="14"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spTree>
    <p:extLst>
      <p:ext uri="{BB962C8B-B14F-4D97-AF65-F5344CB8AC3E}">
        <p14:creationId xmlns:p14="http://schemas.microsoft.com/office/powerpoint/2010/main" val="1339158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additive="base">
                                        <p:cTn id="21" dur="500" fill="hold"/>
                                        <p:tgtEl>
                                          <p:spTgt spid="21"/>
                                        </p:tgtEl>
                                        <p:attrNameLst>
                                          <p:attrName>ppt_x</p:attrName>
                                        </p:attrNameLst>
                                      </p:cBhvr>
                                      <p:tavLst>
                                        <p:tav tm="0">
                                          <p:val>
                                            <p:strVal val="#ppt_x"/>
                                          </p:val>
                                        </p:tav>
                                        <p:tav tm="100000">
                                          <p:val>
                                            <p:strVal val="#ppt_x"/>
                                          </p:val>
                                        </p:tav>
                                      </p:tavLst>
                                    </p:anim>
                                    <p:anim calcmode="lin" valueType="num">
                                      <p:cBhvr additive="base">
                                        <p:cTn id="2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8</a:t>
            </a:fld>
            <a:endParaRPr lang="en-US"/>
          </a:p>
        </p:txBody>
      </p:sp>
      <p:sp>
        <p:nvSpPr>
          <p:cNvPr id="17" name="Rectangle 16"/>
          <p:cNvSpPr/>
          <p:nvPr/>
        </p:nvSpPr>
        <p:spPr>
          <a:xfrm>
            <a:off x="4724400" y="2286000"/>
            <a:ext cx="4343400" cy="1220783"/>
          </a:xfrm>
          <a:prstGeom prst="rect">
            <a:avLst/>
          </a:prstGeom>
        </p:spPr>
        <p:txBody>
          <a:bodyPr wrap="square">
            <a:spAutoFit/>
          </a:bodyPr>
          <a:lstStyle/>
          <a:p>
            <a:pPr algn="ctr">
              <a:lnSpc>
                <a:spcPct val="150000"/>
              </a:lnSpc>
            </a:pPr>
            <a:r>
              <a:rPr lang="en-US" sz="2600" i="1" smtClean="0">
                <a:solidFill>
                  <a:srgbClr val="002060"/>
                </a:solidFill>
                <a:latin typeface="Times New Roman" pitchFamily="18" charset="0"/>
                <a:cs typeface="Times New Roman" pitchFamily="18" charset="0"/>
              </a:rPr>
              <a:t>Vấn đề có ý nghĩa chiến lược, quyết định thành công</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1026" name="Picture 2" descr="http://www.baovinhlong.com.vn/dataimages/202001/original/images2262011_10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453818"/>
            <a:ext cx="2990160" cy="23336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3110313" y="583781"/>
            <a:ext cx="5957487" cy="584775"/>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200">
                <a:solidFill>
                  <a:srgbClr val="FF0000"/>
                </a:solidFill>
                <a:latin typeface="Times New Roman"/>
                <a:cs typeface="Times New Roman"/>
              </a:rPr>
              <a:t>1. Vai trò của đại đoàn kết dân tộc</a:t>
            </a:r>
            <a:endParaRPr lang="en-US" sz="3200" dirty="0">
              <a:solidFill>
                <a:srgbClr val="FF0000"/>
              </a:solidFill>
              <a:latin typeface="Times New Roman"/>
              <a:cs typeface="Times New Roman"/>
            </a:endParaRPr>
          </a:p>
        </p:txBody>
      </p:sp>
      <p:cxnSp>
        <p:nvCxnSpPr>
          <p:cNvPr id="18" name="Straight Connector 17"/>
          <p:cNvCxnSpPr/>
          <p:nvPr/>
        </p:nvCxnSpPr>
        <p:spPr>
          <a:xfrm>
            <a:off x="3505200" y="1216462"/>
            <a:ext cx="0" cy="3660338"/>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507980" y="2732276"/>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4648200" y="4193738"/>
            <a:ext cx="4343400" cy="1292662"/>
          </a:xfrm>
          <a:prstGeom prst="rect">
            <a:avLst/>
          </a:prstGeom>
        </p:spPr>
        <p:txBody>
          <a:bodyPr wrap="square">
            <a:spAutoFit/>
          </a:bodyPr>
          <a:lstStyle/>
          <a:p>
            <a:pPr algn="ctr">
              <a:lnSpc>
                <a:spcPct val="150000"/>
              </a:lnSpc>
            </a:pPr>
            <a:r>
              <a:rPr lang="en-US" sz="2600" i="1" smtClean="0">
                <a:solidFill>
                  <a:srgbClr val="002060"/>
                </a:solidFill>
                <a:latin typeface="Times New Roman" pitchFamily="18" charset="0"/>
                <a:cs typeface="Times New Roman" pitchFamily="18" charset="0"/>
              </a:rPr>
              <a:t>Mục tiêu, nhiệm vụ hàng đầu của cách mạng Việt Nam</a:t>
            </a:r>
            <a:endParaRPr lang="en-US" sz="2600" i="1" dirty="0">
              <a:solidFill>
                <a:srgbClr val="002060"/>
              </a:solidFill>
              <a:latin typeface="Times New Roman" pitchFamily="18" charset="0"/>
              <a:cs typeface="Times New Roman" pitchFamily="18" charset="0"/>
            </a:endParaRPr>
          </a:p>
        </p:txBody>
      </p:sp>
      <p:cxnSp>
        <p:nvCxnSpPr>
          <p:cNvPr id="20" name="Straight Arrow Connector 19"/>
          <p:cNvCxnSpPr/>
          <p:nvPr/>
        </p:nvCxnSpPr>
        <p:spPr>
          <a:xfrm>
            <a:off x="3535028" y="48768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spTree>
    <p:extLst>
      <p:ext uri="{BB962C8B-B14F-4D97-AF65-F5344CB8AC3E}">
        <p14:creationId xmlns:p14="http://schemas.microsoft.com/office/powerpoint/2010/main" val="126970371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9</a:t>
            </a:fld>
            <a:endParaRPr lang="en-US"/>
          </a:p>
        </p:txBody>
      </p:sp>
      <p:sp>
        <p:nvSpPr>
          <p:cNvPr id="17" name="Rectangle 16"/>
          <p:cNvSpPr/>
          <p:nvPr/>
        </p:nvSpPr>
        <p:spPr>
          <a:xfrm>
            <a:off x="3733800" y="2355503"/>
            <a:ext cx="5562600" cy="692497"/>
          </a:xfrm>
          <a:prstGeom prst="rect">
            <a:avLst/>
          </a:prstGeom>
        </p:spPr>
        <p:txBody>
          <a:bodyPr wrap="square">
            <a:spAutoFit/>
          </a:bodyPr>
          <a:lstStyle/>
          <a:p>
            <a:pPr algn="ctr">
              <a:lnSpc>
                <a:spcPct val="150000"/>
              </a:lnSpc>
            </a:pPr>
            <a:r>
              <a:rPr lang="en-US" sz="2600" i="1" spc="-150" smtClean="0">
                <a:solidFill>
                  <a:srgbClr val="002060"/>
                </a:solidFill>
                <a:latin typeface="Times New Roman" pitchFamily="18" charset="0"/>
                <a:cs typeface="Times New Roman" pitchFamily="18" charset="0"/>
              </a:rPr>
              <a:t>Chủ thể của khối đại đoàn kết toàn dân tộc</a:t>
            </a:r>
            <a:endParaRPr lang="en-US" sz="2600" i="1" spc="-150"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1026" name="Picture 2" descr="http://www.baovinhlong.com.vn/dataimages/202001/original/images2262011_10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53818"/>
            <a:ext cx="2990160" cy="23336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2286000" y="589002"/>
            <a:ext cx="6915839" cy="55399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smtClean="0">
                <a:solidFill>
                  <a:srgbClr val="FF0000"/>
                </a:solidFill>
                <a:latin typeface="Times New Roman"/>
                <a:cs typeface="Times New Roman"/>
              </a:rPr>
              <a:t>2. Lực lượng </a:t>
            </a:r>
            <a:r>
              <a:rPr lang="en-US" sz="3000">
                <a:solidFill>
                  <a:srgbClr val="FF0000"/>
                </a:solidFill>
                <a:latin typeface="Times New Roman"/>
                <a:cs typeface="Times New Roman"/>
              </a:rPr>
              <a:t>của </a:t>
            </a:r>
            <a:r>
              <a:rPr lang="en-US" sz="3000" smtClean="0">
                <a:solidFill>
                  <a:srgbClr val="FF0000"/>
                </a:solidFill>
                <a:latin typeface="Times New Roman"/>
                <a:cs typeface="Times New Roman"/>
              </a:rPr>
              <a:t>khối đại </a:t>
            </a:r>
            <a:r>
              <a:rPr lang="en-US" sz="3000">
                <a:solidFill>
                  <a:srgbClr val="FF0000"/>
                </a:solidFill>
                <a:latin typeface="Times New Roman"/>
                <a:cs typeface="Times New Roman"/>
              </a:rPr>
              <a:t>đoàn kết dân tộc</a:t>
            </a:r>
            <a:endParaRPr lang="en-US" sz="3000" dirty="0">
              <a:solidFill>
                <a:srgbClr val="FF0000"/>
              </a:solidFill>
              <a:latin typeface="Times New Roman"/>
              <a:cs typeface="Times New Roman"/>
            </a:endParaRPr>
          </a:p>
        </p:txBody>
      </p:sp>
      <p:cxnSp>
        <p:nvCxnSpPr>
          <p:cNvPr id="18" name="Straight Connector 17"/>
          <p:cNvCxnSpPr/>
          <p:nvPr/>
        </p:nvCxnSpPr>
        <p:spPr>
          <a:xfrm>
            <a:off x="3062760" y="1132076"/>
            <a:ext cx="0" cy="32004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065540" y="2732276"/>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3352800" y="4412903"/>
            <a:ext cx="5334000" cy="692497"/>
          </a:xfrm>
          <a:prstGeom prst="rect">
            <a:avLst/>
          </a:prstGeom>
        </p:spPr>
        <p:txBody>
          <a:bodyPr wrap="square">
            <a:spAutoFit/>
          </a:bodyPr>
          <a:lstStyle/>
          <a:p>
            <a:pPr algn="ctr">
              <a:lnSpc>
                <a:spcPct val="150000"/>
              </a:lnSpc>
            </a:pPr>
            <a:r>
              <a:rPr lang="en-US" sz="2600" i="1" smtClean="0">
                <a:solidFill>
                  <a:srgbClr val="FF0000"/>
                </a:solidFill>
                <a:latin typeface="Times New Roman" pitchFamily="18" charset="0"/>
                <a:cs typeface="Times New Roman" pitchFamily="18" charset="0"/>
              </a:rPr>
              <a:t>Toàn thể Nhân dân Việt Nam</a:t>
            </a:r>
            <a:endParaRPr lang="en-US" sz="2600" i="1" spc="-150" dirty="0">
              <a:solidFill>
                <a:srgbClr val="FF0000"/>
              </a:solidFill>
              <a:latin typeface="Times New Roman" pitchFamily="18" charset="0"/>
              <a:cs typeface="Times New Roman" pitchFamily="18" charset="0"/>
            </a:endParaRPr>
          </a:p>
        </p:txBody>
      </p:sp>
      <p:sp>
        <p:nvSpPr>
          <p:cNvPr id="3" name="Down Arrow 2"/>
          <p:cNvSpPr/>
          <p:nvPr/>
        </p:nvSpPr>
        <p:spPr>
          <a:xfrm>
            <a:off x="5743919" y="3287619"/>
            <a:ext cx="580681" cy="827181"/>
          </a:xfrm>
          <a:prstGeom prst="downArrow">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spTree>
    <p:extLst>
      <p:ext uri="{BB962C8B-B14F-4D97-AF65-F5344CB8AC3E}">
        <p14:creationId xmlns:p14="http://schemas.microsoft.com/office/powerpoint/2010/main" val="2749958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 calcmode="lin" valueType="num">
                                      <p:cBhvr additive="base">
                                        <p:cTn id="25" dur="500" fill="hold"/>
                                        <p:tgtEl>
                                          <p:spTgt spid="21"/>
                                        </p:tgtEl>
                                        <p:attrNameLst>
                                          <p:attrName>ppt_x</p:attrName>
                                        </p:attrNameLst>
                                      </p:cBhvr>
                                      <p:tavLst>
                                        <p:tav tm="0">
                                          <p:val>
                                            <p:strVal val="#ppt_x"/>
                                          </p:val>
                                        </p:tav>
                                        <p:tav tm="100000">
                                          <p:val>
                                            <p:strVal val="#ppt_x"/>
                                          </p:val>
                                        </p:tav>
                                      </p:tavLst>
                                    </p:anim>
                                    <p:anim calcmode="lin" valueType="num">
                                      <p:cBhvr additive="base">
                                        <p:cTn id="2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1" grpId="0"/>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10</a:t>
            </a:fld>
            <a:endParaRPr lang="en-US"/>
          </a:p>
        </p:txBody>
      </p:sp>
      <p:sp>
        <p:nvSpPr>
          <p:cNvPr id="17" name="Rectangle 16"/>
          <p:cNvSpPr/>
          <p:nvPr/>
        </p:nvSpPr>
        <p:spPr>
          <a:xfrm>
            <a:off x="3733800" y="1447800"/>
            <a:ext cx="5562600" cy="692497"/>
          </a:xfrm>
          <a:prstGeom prst="rect">
            <a:avLst/>
          </a:prstGeom>
        </p:spPr>
        <p:txBody>
          <a:bodyPr wrap="square">
            <a:spAutoFit/>
          </a:bodyPr>
          <a:lstStyle/>
          <a:p>
            <a:pPr algn="ctr">
              <a:lnSpc>
                <a:spcPct val="150000"/>
              </a:lnSpc>
            </a:pPr>
            <a:r>
              <a:rPr lang="en-US" sz="2600" i="1" spc="-150" smtClean="0">
                <a:solidFill>
                  <a:srgbClr val="002060"/>
                </a:solidFill>
                <a:latin typeface="Times New Roman" pitchFamily="18" charset="0"/>
                <a:cs typeface="Times New Roman" pitchFamily="18" charset="0"/>
              </a:rPr>
              <a:t>Nền tảng của khối đại đoàn kết toàn dân tộc</a:t>
            </a:r>
            <a:endParaRPr lang="en-US" sz="2600" i="1" spc="-150"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1026" name="Picture 2" descr="http://www.baovinhlong.com.vn/dataimages/202001/original/images2262011_10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53818"/>
            <a:ext cx="2990160" cy="23336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2286000" y="589002"/>
            <a:ext cx="6915839" cy="55399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smtClean="0">
                <a:solidFill>
                  <a:srgbClr val="FF0000"/>
                </a:solidFill>
                <a:latin typeface="Times New Roman"/>
                <a:cs typeface="Times New Roman"/>
              </a:rPr>
              <a:t>2. Lực lượng </a:t>
            </a:r>
            <a:r>
              <a:rPr lang="en-US" sz="3000">
                <a:solidFill>
                  <a:srgbClr val="FF0000"/>
                </a:solidFill>
                <a:latin typeface="Times New Roman"/>
                <a:cs typeface="Times New Roman"/>
              </a:rPr>
              <a:t>của </a:t>
            </a:r>
            <a:r>
              <a:rPr lang="en-US" sz="3000" smtClean="0">
                <a:solidFill>
                  <a:srgbClr val="FF0000"/>
                </a:solidFill>
                <a:latin typeface="Times New Roman"/>
                <a:cs typeface="Times New Roman"/>
              </a:rPr>
              <a:t>khối đại </a:t>
            </a:r>
            <a:r>
              <a:rPr lang="en-US" sz="3000">
                <a:solidFill>
                  <a:srgbClr val="FF0000"/>
                </a:solidFill>
                <a:latin typeface="Times New Roman"/>
                <a:cs typeface="Times New Roman"/>
              </a:rPr>
              <a:t>đoàn kết dân tộc</a:t>
            </a:r>
            <a:endParaRPr lang="en-US" sz="3000" dirty="0">
              <a:solidFill>
                <a:srgbClr val="FF0000"/>
              </a:solidFill>
              <a:latin typeface="Times New Roman"/>
              <a:cs typeface="Times New Roman"/>
            </a:endParaRPr>
          </a:p>
        </p:txBody>
      </p:sp>
      <p:cxnSp>
        <p:nvCxnSpPr>
          <p:cNvPr id="18" name="Straight Connector 17"/>
          <p:cNvCxnSpPr/>
          <p:nvPr/>
        </p:nvCxnSpPr>
        <p:spPr>
          <a:xfrm>
            <a:off x="3062760" y="1132076"/>
            <a:ext cx="0" cy="32004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065540" y="1824573"/>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3200400" y="2878991"/>
            <a:ext cx="5791200" cy="3293209"/>
          </a:xfrm>
          <a:prstGeom prst="rect">
            <a:avLst/>
          </a:prstGeom>
        </p:spPr>
        <p:txBody>
          <a:bodyPr wrap="square">
            <a:spAutoFit/>
          </a:bodyPr>
          <a:lstStyle/>
          <a:p>
            <a:pPr algn="just"/>
            <a:r>
              <a:rPr lang="en-US" sz="2600" i="1" smtClean="0">
                <a:solidFill>
                  <a:srgbClr val="FF0000"/>
                </a:solidFill>
                <a:latin typeface="Times New Roman" pitchFamily="18" charset="0"/>
                <a:cs typeface="Times New Roman" pitchFamily="18" charset="0"/>
              </a:rPr>
              <a:t>“Đại đoàn kết tức là trước hết phải đoàn kết đại đa số nhân dân, mà đại đa số nhân dân là công nhân, nông dân và các tầng lớp nhân dân lao động khác. Đó là nền, gốc của đại đoàn kết. Nó như cái nền của nhà, gốc của cây. Nhưng đã có nền vững, gốc tốt, còn phải đoàn kết các tầng lớp nhân dân khác”</a:t>
            </a:r>
            <a:endParaRPr lang="en-US" sz="2600" i="1" spc="-150" dirty="0">
              <a:solidFill>
                <a:srgbClr val="FF0000"/>
              </a:solidFill>
              <a:latin typeface="Times New Roman" pitchFamily="18" charset="0"/>
              <a:cs typeface="Times New Roman" pitchFamily="18" charset="0"/>
            </a:endParaRPr>
          </a:p>
        </p:txBody>
      </p:sp>
      <p:sp>
        <p:nvSpPr>
          <p:cNvPr id="3" name="Down Arrow 2"/>
          <p:cNvSpPr/>
          <p:nvPr/>
        </p:nvSpPr>
        <p:spPr>
          <a:xfrm>
            <a:off x="5791200" y="2040227"/>
            <a:ext cx="580681" cy="827181"/>
          </a:xfrm>
          <a:prstGeom prst="downArrow">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spTree>
    <p:extLst>
      <p:ext uri="{BB962C8B-B14F-4D97-AF65-F5344CB8AC3E}">
        <p14:creationId xmlns:p14="http://schemas.microsoft.com/office/powerpoint/2010/main" val="1391456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 calcmode="lin" valueType="num">
                                      <p:cBhvr additive="base">
                                        <p:cTn id="25" dur="500" fill="hold"/>
                                        <p:tgtEl>
                                          <p:spTgt spid="21"/>
                                        </p:tgtEl>
                                        <p:attrNameLst>
                                          <p:attrName>ppt_x</p:attrName>
                                        </p:attrNameLst>
                                      </p:cBhvr>
                                      <p:tavLst>
                                        <p:tav tm="0">
                                          <p:val>
                                            <p:strVal val="#ppt_x"/>
                                          </p:val>
                                        </p:tav>
                                        <p:tav tm="100000">
                                          <p:val>
                                            <p:strVal val="#ppt_x"/>
                                          </p:val>
                                        </p:tav>
                                      </p:tavLst>
                                    </p:anim>
                                    <p:anim calcmode="lin" valueType="num">
                                      <p:cBhvr additive="base">
                                        <p:cTn id="2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1" grpId="0"/>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11</a:t>
            </a:fld>
            <a:endParaRPr lang="en-US"/>
          </a:p>
        </p:txBody>
      </p:sp>
      <p:sp>
        <p:nvSpPr>
          <p:cNvPr id="17" name="Rectangle 16"/>
          <p:cNvSpPr/>
          <p:nvPr/>
        </p:nvSpPr>
        <p:spPr>
          <a:xfrm>
            <a:off x="4114800" y="2286000"/>
            <a:ext cx="1752600" cy="492443"/>
          </a:xfrm>
          <a:prstGeom prst="rect">
            <a:avLst/>
          </a:prstGeom>
        </p:spPr>
        <p:txBody>
          <a:bodyPr wrap="square">
            <a:spAutoFit/>
          </a:bodyPr>
          <a:lstStyle/>
          <a:p>
            <a:pPr algn="ctr"/>
            <a:r>
              <a:rPr lang="en-US" sz="2600" i="1" smtClean="0">
                <a:solidFill>
                  <a:srgbClr val="002060"/>
                </a:solidFill>
                <a:latin typeface="Times New Roman" pitchFamily="18" charset="0"/>
                <a:cs typeface="Times New Roman" pitchFamily="18" charset="0"/>
              </a:rPr>
              <a:t>Chủ thể</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1026" name="Picture 2" descr="http://www.baovinhlong.com.vn/dataimages/202001/original/images2262011_10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53818"/>
            <a:ext cx="2990160" cy="23336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2286000" y="589002"/>
            <a:ext cx="6915839" cy="55399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smtClean="0">
                <a:solidFill>
                  <a:srgbClr val="FF0000"/>
                </a:solidFill>
                <a:latin typeface="Times New Roman"/>
                <a:cs typeface="Times New Roman"/>
              </a:rPr>
              <a:t>2. Lực lượng </a:t>
            </a:r>
            <a:r>
              <a:rPr lang="en-US" sz="3000">
                <a:solidFill>
                  <a:srgbClr val="FF0000"/>
                </a:solidFill>
                <a:latin typeface="Times New Roman"/>
                <a:cs typeface="Times New Roman"/>
              </a:rPr>
              <a:t>của </a:t>
            </a:r>
            <a:r>
              <a:rPr lang="en-US" sz="3000" smtClean="0">
                <a:solidFill>
                  <a:srgbClr val="FF0000"/>
                </a:solidFill>
                <a:latin typeface="Times New Roman"/>
                <a:cs typeface="Times New Roman"/>
              </a:rPr>
              <a:t>khối đại </a:t>
            </a:r>
            <a:r>
              <a:rPr lang="en-US" sz="3000">
                <a:solidFill>
                  <a:srgbClr val="FF0000"/>
                </a:solidFill>
                <a:latin typeface="Times New Roman"/>
                <a:cs typeface="Times New Roman"/>
              </a:rPr>
              <a:t>đoàn kết dân tộc</a:t>
            </a:r>
            <a:endParaRPr lang="en-US" sz="3000" dirty="0">
              <a:solidFill>
                <a:srgbClr val="FF0000"/>
              </a:solidFill>
              <a:latin typeface="Times New Roman"/>
              <a:cs typeface="Times New Roman"/>
            </a:endParaRPr>
          </a:p>
        </p:txBody>
      </p:sp>
      <p:cxnSp>
        <p:nvCxnSpPr>
          <p:cNvPr id="18" name="Straight Connector 17"/>
          <p:cNvCxnSpPr/>
          <p:nvPr/>
        </p:nvCxnSpPr>
        <p:spPr>
          <a:xfrm>
            <a:off x="3062760" y="1132076"/>
            <a:ext cx="0" cy="3655367"/>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065540" y="25908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7543800" y="2107569"/>
            <a:ext cx="1447800" cy="692497"/>
          </a:xfrm>
          <a:prstGeom prst="rect">
            <a:avLst/>
          </a:prstGeom>
        </p:spPr>
        <p:txBody>
          <a:bodyPr wrap="square">
            <a:spAutoFit/>
          </a:bodyPr>
          <a:lstStyle/>
          <a:p>
            <a:pPr algn="ctr">
              <a:lnSpc>
                <a:spcPct val="150000"/>
              </a:lnSpc>
            </a:pPr>
            <a:r>
              <a:rPr lang="en-US" sz="2600" i="1" smtClean="0">
                <a:solidFill>
                  <a:srgbClr val="FF0000"/>
                </a:solidFill>
                <a:latin typeface="Times New Roman" pitchFamily="18" charset="0"/>
                <a:cs typeface="Times New Roman" pitchFamily="18" charset="0"/>
              </a:rPr>
              <a:t>Toàn dân</a:t>
            </a:r>
            <a:endParaRPr lang="en-US" sz="2600" i="1" spc="-150" dirty="0">
              <a:solidFill>
                <a:srgbClr val="FF0000"/>
              </a:solidFill>
              <a:latin typeface="Times New Roman" pitchFamily="18" charset="0"/>
              <a:cs typeface="Times New Roman" pitchFamily="18" charset="0"/>
            </a:endParaRPr>
          </a:p>
        </p:txBody>
      </p:sp>
      <p:sp>
        <p:nvSpPr>
          <p:cNvPr id="3" name="Down Arrow 2"/>
          <p:cNvSpPr/>
          <p:nvPr/>
        </p:nvSpPr>
        <p:spPr>
          <a:xfrm rot="16200000">
            <a:off x="6518903" y="2101051"/>
            <a:ext cx="580681" cy="827181"/>
          </a:xfrm>
          <a:prstGeom prst="downArrow">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962400" y="4572000"/>
            <a:ext cx="1524000" cy="492443"/>
          </a:xfrm>
          <a:prstGeom prst="rect">
            <a:avLst/>
          </a:prstGeom>
        </p:spPr>
        <p:txBody>
          <a:bodyPr wrap="square">
            <a:spAutoFit/>
          </a:bodyPr>
          <a:lstStyle/>
          <a:p>
            <a:pPr algn="ctr"/>
            <a:r>
              <a:rPr lang="en-US" sz="2600" i="1" smtClean="0">
                <a:solidFill>
                  <a:srgbClr val="002060"/>
                </a:solidFill>
                <a:latin typeface="Times New Roman" pitchFamily="18" charset="0"/>
                <a:cs typeface="Times New Roman" pitchFamily="18" charset="0"/>
              </a:rPr>
              <a:t>Nền tảng</a:t>
            </a:r>
            <a:endParaRPr lang="en-US" sz="2600" i="1" dirty="0">
              <a:solidFill>
                <a:srgbClr val="002060"/>
              </a:solidFill>
              <a:latin typeface="Times New Roman" pitchFamily="18" charset="0"/>
              <a:cs typeface="Times New Roman" pitchFamily="18" charset="0"/>
            </a:endParaRPr>
          </a:p>
        </p:txBody>
      </p:sp>
      <p:cxnSp>
        <p:nvCxnSpPr>
          <p:cNvPr id="22" name="Straight Arrow Connector 21"/>
          <p:cNvCxnSpPr/>
          <p:nvPr/>
        </p:nvCxnSpPr>
        <p:spPr>
          <a:xfrm>
            <a:off x="3065540" y="48006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5791200" y="4489103"/>
            <a:ext cx="3586547" cy="692497"/>
          </a:xfrm>
          <a:prstGeom prst="rect">
            <a:avLst/>
          </a:prstGeom>
        </p:spPr>
        <p:txBody>
          <a:bodyPr wrap="square">
            <a:spAutoFit/>
          </a:bodyPr>
          <a:lstStyle/>
          <a:p>
            <a:pPr algn="ctr">
              <a:lnSpc>
                <a:spcPct val="150000"/>
              </a:lnSpc>
            </a:pPr>
            <a:r>
              <a:rPr lang="en-US" sz="2600" i="1" spc="-150" smtClean="0">
                <a:solidFill>
                  <a:srgbClr val="FF0000"/>
                </a:solidFill>
                <a:latin typeface="Times New Roman" pitchFamily="18" charset="0"/>
                <a:cs typeface="Times New Roman" pitchFamily="18" charset="0"/>
              </a:rPr>
              <a:t>Công nhân – Nông dân</a:t>
            </a:r>
            <a:endParaRPr lang="en-US" sz="2600" i="1" spc="-150" dirty="0">
              <a:solidFill>
                <a:srgbClr val="FF0000"/>
              </a:solidFill>
              <a:latin typeface="Times New Roman" pitchFamily="18" charset="0"/>
              <a:cs typeface="Times New Roman" pitchFamily="18" charset="0"/>
            </a:endParaRPr>
          </a:p>
        </p:txBody>
      </p:sp>
      <p:sp>
        <p:nvSpPr>
          <p:cNvPr id="24" name="Down Arrow 23"/>
          <p:cNvSpPr/>
          <p:nvPr/>
        </p:nvSpPr>
        <p:spPr>
          <a:xfrm rot="16200000">
            <a:off x="5518991" y="4615610"/>
            <a:ext cx="580681" cy="493462"/>
          </a:xfrm>
          <a:prstGeom prst="downArrow">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spTree>
    <p:extLst>
      <p:ext uri="{BB962C8B-B14F-4D97-AF65-F5344CB8AC3E}">
        <p14:creationId xmlns:p14="http://schemas.microsoft.com/office/powerpoint/2010/main" val="2895773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ppt_x"/>
                                          </p:val>
                                        </p:tav>
                                        <p:tav tm="100000">
                                          <p:val>
                                            <p:strVal val="#ppt_x"/>
                                          </p:val>
                                        </p:tav>
                                      </p:tavLst>
                                    </p:anim>
                                    <p:anim calcmode="lin" valueType="num">
                                      <p:cBhvr additive="base">
                                        <p:cTn id="2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1000"/>
                                        <p:tgtEl>
                                          <p:spTgt spid="22"/>
                                        </p:tgtEl>
                                      </p:cBhvr>
                                    </p:animEffect>
                                    <p:anim calcmode="lin" valueType="num">
                                      <p:cBhvr>
                                        <p:cTn id="30" dur="1000" fill="hold"/>
                                        <p:tgtEl>
                                          <p:spTgt spid="22"/>
                                        </p:tgtEl>
                                        <p:attrNameLst>
                                          <p:attrName>ppt_x</p:attrName>
                                        </p:attrNameLst>
                                      </p:cBhvr>
                                      <p:tavLst>
                                        <p:tav tm="0">
                                          <p:val>
                                            <p:strVal val="#ppt_x"/>
                                          </p:val>
                                        </p:tav>
                                        <p:tav tm="100000">
                                          <p:val>
                                            <p:strVal val="#ppt_x"/>
                                          </p:val>
                                        </p:tav>
                                      </p:tavLst>
                                    </p:anim>
                                    <p:anim calcmode="lin" valueType="num">
                                      <p:cBhvr>
                                        <p:cTn id="31" dur="1000" fill="hold"/>
                                        <p:tgtEl>
                                          <p:spTgt spid="22"/>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1000"/>
                                        <p:tgtEl>
                                          <p:spTgt spid="20"/>
                                        </p:tgtEl>
                                      </p:cBhvr>
                                    </p:animEffect>
                                    <p:anim calcmode="lin" valueType="num">
                                      <p:cBhvr>
                                        <p:cTn id="35" dur="1000" fill="hold"/>
                                        <p:tgtEl>
                                          <p:spTgt spid="20"/>
                                        </p:tgtEl>
                                        <p:attrNameLst>
                                          <p:attrName>ppt_x</p:attrName>
                                        </p:attrNameLst>
                                      </p:cBhvr>
                                      <p:tavLst>
                                        <p:tav tm="0">
                                          <p:val>
                                            <p:strVal val="#ppt_x"/>
                                          </p:val>
                                        </p:tav>
                                        <p:tav tm="100000">
                                          <p:val>
                                            <p:strVal val="#ppt_x"/>
                                          </p:val>
                                        </p:tav>
                                      </p:tavLst>
                                    </p:anim>
                                    <p:anim calcmode="lin" valueType="num">
                                      <p:cBhvr>
                                        <p:cTn id="36" dur="1000" fill="hold"/>
                                        <p:tgtEl>
                                          <p:spTgt spid="20"/>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1000"/>
                                        <p:tgtEl>
                                          <p:spTgt spid="24"/>
                                        </p:tgtEl>
                                      </p:cBhvr>
                                    </p:animEffect>
                                    <p:anim calcmode="lin" valueType="num">
                                      <p:cBhvr>
                                        <p:cTn id="40" dur="1000" fill="hold"/>
                                        <p:tgtEl>
                                          <p:spTgt spid="24"/>
                                        </p:tgtEl>
                                        <p:attrNameLst>
                                          <p:attrName>ppt_x</p:attrName>
                                        </p:attrNameLst>
                                      </p:cBhvr>
                                      <p:tavLst>
                                        <p:tav tm="0">
                                          <p:val>
                                            <p:strVal val="#ppt_x"/>
                                          </p:val>
                                        </p:tav>
                                        <p:tav tm="100000">
                                          <p:val>
                                            <p:strVal val="#ppt_x"/>
                                          </p:val>
                                        </p:tav>
                                      </p:tavLst>
                                    </p:anim>
                                    <p:anim calcmode="lin" valueType="num">
                                      <p:cBhvr>
                                        <p:cTn id="41" dur="1000" fill="hold"/>
                                        <p:tgtEl>
                                          <p:spTgt spid="24"/>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1000"/>
                                        <p:tgtEl>
                                          <p:spTgt spid="23"/>
                                        </p:tgtEl>
                                      </p:cBhvr>
                                    </p:animEffect>
                                    <p:anim calcmode="lin" valueType="num">
                                      <p:cBhvr>
                                        <p:cTn id="45" dur="1000" fill="hold"/>
                                        <p:tgtEl>
                                          <p:spTgt spid="23"/>
                                        </p:tgtEl>
                                        <p:attrNameLst>
                                          <p:attrName>ppt_x</p:attrName>
                                        </p:attrNameLst>
                                      </p:cBhvr>
                                      <p:tavLst>
                                        <p:tav tm="0">
                                          <p:val>
                                            <p:strVal val="#ppt_x"/>
                                          </p:val>
                                        </p:tav>
                                        <p:tav tm="100000">
                                          <p:val>
                                            <p:strVal val="#ppt_x"/>
                                          </p:val>
                                        </p:tav>
                                      </p:tavLst>
                                    </p:anim>
                                    <p:anim calcmode="lin" valueType="num">
                                      <p:cBhvr>
                                        <p:cTn id="46"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1" grpId="0"/>
      <p:bldP spid="3" grpId="0" animBg="1"/>
      <p:bldP spid="20" grpId="0"/>
      <p:bldP spid="23" grpId="0"/>
      <p:bldP spid="2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12</a:t>
            </a:fld>
            <a:endParaRPr lang="en-US"/>
          </a:p>
        </p:txBody>
      </p:sp>
      <p:sp>
        <p:nvSpPr>
          <p:cNvPr id="17" name="Rectangle 16"/>
          <p:cNvSpPr/>
          <p:nvPr/>
        </p:nvSpPr>
        <p:spPr>
          <a:xfrm>
            <a:off x="3733800" y="1981200"/>
            <a:ext cx="5562600" cy="1292662"/>
          </a:xfrm>
          <a:prstGeom prst="rect">
            <a:avLst/>
          </a:prstGeom>
        </p:spPr>
        <p:txBody>
          <a:bodyPr wrap="square">
            <a:spAutoFit/>
          </a:bodyPr>
          <a:lstStyle/>
          <a:p>
            <a:pPr algn="ctr">
              <a:lnSpc>
                <a:spcPct val="150000"/>
              </a:lnSpc>
            </a:pPr>
            <a:r>
              <a:rPr lang="en-US" sz="2600" i="1" spc="-150" smtClean="0">
                <a:solidFill>
                  <a:srgbClr val="002060"/>
                </a:solidFill>
                <a:latin typeface="Times New Roman" pitchFamily="18" charset="0"/>
                <a:cs typeface="Times New Roman" pitchFamily="18" charset="0"/>
              </a:rPr>
              <a:t>Lấy lợi ích chung làm điểm quy tụ, đồng thời tôn trọng các lợi ích khác biệt chính đáng </a:t>
            </a:r>
            <a:endParaRPr lang="en-US" sz="2600" i="1" spc="-150"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1026" name="Picture 2" descr="http://www.baovinhlong.com.vn/dataimages/202001/original/images2262011_10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53818"/>
            <a:ext cx="2990160" cy="23336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1219200" y="589002"/>
            <a:ext cx="7982639" cy="55399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a:solidFill>
                  <a:srgbClr val="FF0000"/>
                </a:solidFill>
                <a:latin typeface="Times New Roman"/>
                <a:cs typeface="Times New Roman"/>
              </a:rPr>
              <a:t>3</a:t>
            </a:r>
            <a:r>
              <a:rPr lang="en-US" sz="3000" smtClean="0">
                <a:solidFill>
                  <a:srgbClr val="FF0000"/>
                </a:solidFill>
                <a:latin typeface="Times New Roman"/>
                <a:cs typeface="Times New Roman"/>
              </a:rPr>
              <a:t>. Điều kiện để xây dựng khối đại </a:t>
            </a:r>
            <a:r>
              <a:rPr lang="en-US" sz="3000">
                <a:solidFill>
                  <a:srgbClr val="FF0000"/>
                </a:solidFill>
                <a:latin typeface="Times New Roman"/>
                <a:cs typeface="Times New Roman"/>
              </a:rPr>
              <a:t>đoàn kết dân tộc</a:t>
            </a:r>
            <a:endParaRPr lang="en-US" sz="3000" dirty="0">
              <a:solidFill>
                <a:srgbClr val="FF0000"/>
              </a:solidFill>
              <a:latin typeface="Times New Roman"/>
              <a:cs typeface="Times New Roman"/>
            </a:endParaRPr>
          </a:p>
        </p:txBody>
      </p:sp>
      <p:cxnSp>
        <p:nvCxnSpPr>
          <p:cNvPr id="18" name="Straight Connector 17"/>
          <p:cNvCxnSpPr/>
          <p:nvPr/>
        </p:nvCxnSpPr>
        <p:spPr>
          <a:xfrm>
            <a:off x="3062760" y="1132076"/>
            <a:ext cx="0" cy="32004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065540" y="2732276"/>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3352800" y="4412903"/>
            <a:ext cx="5334000" cy="1220783"/>
          </a:xfrm>
          <a:prstGeom prst="rect">
            <a:avLst/>
          </a:prstGeom>
        </p:spPr>
        <p:txBody>
          <a:bodyPr wrap="square">
            <a:spAutoFit/>
          </a:bodyPr>
          <a:lstStyle/>
          <a:p>
            <a:pPr algn="ctr">
              <a:lnSpc>
                <a:spcPct val="150000"/>
              </a:lnSpc>
            </a:pPr>
            <a:r>
              <a:rPr lang="en-US" sz="2600" i="1" smtClean="0">
                <a:solidFill>
                  <a:srgbClr val="FF0000"/>
                </a:solidFill>
                <a:latin typeface="Times New Roman" pitchFamily="18" charset="0"/>
                <a:cs typeface="Times New Roman" pitchFamily="18" charset="0"/>
              </a:rPr>
              <a:t>Lợi ích của toàn thể </a:t>
            </a:r>
          </a:p>
          <a:p>
            <a:pPr algn="ctr">
              <a:lnSpc>
                <a:spcPct val="150000"/>
              </a:lnSpc>
            </a:pPr>
            <a:r>
              <a:rPr lang="en-US" sz="2600" i="1" smtClean="0">
                <a:solidFill>
                  <a:srgbClr val="FF0000"/>
                </a:solidFill>
                <a:latin typeface="Times New Roman" pitchFamily="18" charset="0"/>
                <a:cs typeface="Times New Roman" pitchFamily="18" charset="0"/>
              </a:rPr>
              <a:t>quốc gia dân tộc Việt Nam</a:t>
            </a:r>
            <a:endParaRPr lang="en-US" sz="2600" i="1" spc="-150" dirty="0">
              <a:solidFill>
                <a:srgbClr val="FF0000"/>
              </a:solidFill>
              <a:latin typeface="Times New Roman" pitchFamily="18" charset="0"/>
              <a:cs typeface="Times New Roman" pitchFamily="18" charset="0"/>
            </a:endParaRPr>
          </a:p>
        </p:txBody>
      </p:sp>
      <p:sp>
        <p:nvSpPr>
          <p:cNvPr id="3" name="Down Arrow 2"/>
          <p:cNvSpPr/>
          <p:nvPr/>
        </p:nvSpPr>
        <p:spPr>
          <a:xfrm>
            <a:off x="5743919" y="3363819"/>
            <a:ext cx="580681" cy="827181"/>
          </a:xfrm>
          <a:prstGeom prst="downArrow">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spTree>
    <p:extLst>
      <p:ext uri="{BB962C8B-B14F-4D97-AF65-F5344CB8AC3E}">
        <p14:creationId xmlns:p14="http://schemas.microsoft.com/office/powerpoint/2010/main" val="2206290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ppt_x"/>
                                          </p:val>
                                        </p:tav>
                                        <p:tav tm="100000">
                                          <p:val>
                                            <p:strVal val="#ppt_x"/>
                                          </p:val>
                                        </p:tav>
                                      </p:tavLst>
                                    </p:anim>
                                    <p:anim calcmode="lin" valueType="num">
                                      <p:cBhvr additive="base">
                                        <p:cTn id="2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1" grpId="0"/>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13</a:t>
            </a:fld>
            <a:endParaRPr lang="en-US"/>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1026" name="Picture 2" descr="http://www.baovinhlong.com.vn/dataimages/202001/original/images2262011_10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53818"/>
            <a:ext cx="2990160" cy="23336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1219200" y="152400"/>
            <a:ext cx="7982639" cy="55399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a:solidFill>
                  <a:srgbClr val="FF0000"/>
                </a:solidFill>
                <a:latin typeface="Times New Roman"/>
                <a:cs typeface="Times New Roman"/>
              </a:rPr>
              <a:t>3</a:t>
            </a:r>
            <a:r>
              <a:rPr lang="en-US" sz="3000" smtClean="0">
                <a:solidFill>
                  <a:srgbClr val="FF0000"/>
                </a:solidFill>
                <a:latin typeface="Times New Roman"/>
                <a:cs typeface="Times New Roman"/>
              </a:rPr>
              <a:t>. Điều kiện để xây dựng khối đại </a:t>
            </a:r>
            <a:r>
              <a:rPr lang="en-US" sz="3000">
                <a:solidFill>
                  <a:srgbClr val="FF0000"/>
                </a:solidFill>
                <a:latin typeface="Times New Roman"/>
                <a:cs typeface="Times New Roman"/>
              </a:rPr>
              <a:t>đoàn kết dân tộc</a:t>
            </a:r>
            <a:endParaRPr lang="en-US" sz="3000" dirty="0">
              <a:solidFill>
                <a:srgbClr val="FF0000"/>
              </a:solidFill>
              <a:latin typeface="Times New Roman"/>
              <a:cs typeface="Times New Roman"/>
            </a:endParaRPr>
          </a:p>
        </p:txBody>
      </p:sp>
      <p:sp>
        <p:nvSpPr>
          <p:cNvPr id="3" name="Down Arrow 2"/>
          <p:cNvSpPr/>
          <p:nvPr/>
        </p:nvSpPr>
        <p:spPr>
          <a:xfrm>
            <a:off x="5849683" y="2085591"/>
            <a:ext cx="580681" cy="581409"/>
          </a:xfrm>
          <a:prstGeom prst="downArrow">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Box 3"/>
          <p:cNvSpPr txBox="1">
            <a:spLocks noChangeArrowheads="1"/>
          </p:cNvSpPr>
          <p:nvPr/>
        </p:nvSpPr>
        <p:spPr bwMode="auto">
          <a:xfrm>
            <a:off x="3121300" y="2650391"/>
            <a:ext cx="6037448"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just" eaLnBrk="1" hangingPunct="1"/>
            <a:r>
              <a:rPr lang="en-US" sz="2600" i="1">
                <a:solidFill>
                  <a:srgbClr val="D60093"/>
                </a:solidFill>
                <a:latin typeface="Times New Roman" pitchFamily="18" charset="0"/>
              </a:rPr>
              <a:t>“Dân ta có một lòng nồng nàn yêu nước. Đó là một truyền thống quý báu của ta. Từ xưa đến nay, mỗi khi Tổ quốc bị xâm lăng, thì tinh thần ấy lại sôi nổi, nó kết thành một làn sóng vô cùng mạnh mẽ, to lớn, nó lướt qua mọi sự nguy hiểm, khó khăn, nó nhấn chìm tất cả lũ bán nước và lũ cướp nước…”</a:t>
            </a:r>
          </a:p>
          <a:p>
            <a:pPr algn="just" eaLnBrk="1" hangingPunct="1"/>
            <a:r>
              <a:rPr lang="en-US" sz="2600" i="1">
                <a:solidFill>
                  <a:srgbClr val="0000CC"/>
                </a:solidFill>
                <a:latin typeface="Times New Roman" pitchFamily="18" charset="0"/>
              </a:rPr>
              <a:t>                                                 </a:t>
            </a:r>
            <a:r>
              <a:rPr lang="en-US" sz="2600" i="1" smtClean="0">
                <a:solidFill>
                  <a:srgbClr val="0000CC"/>
                </a:solidFill>
                <a:latin typeface="Times New Roman" pitchFamily="18" charset="0"/>
              </a:rPr>
              <a:t>Hồ </a:t>
            </a:r>
            <a:r>
              <a:rPr lang="en-US" sz="2600" i="1">
                <a:solidFill>
                  <a:srgbClr val="0000CC"/>
                </a:solidFill>
                <a:latin typeface="Times New Roman" pitchFamily="18" charset="0"/>
              </a:rPr>
              <a:t>Chí Minh</a:t>
            </a:r>
          </a:p>
        </p:txBody>
      </p:sp>
      <p:sp>
        <p:nvSpPr>
          <p:cNvPr id="17" name="Rectangle 16"/>
          <p:cNvSpPr/>
          <p:nvPr/>
        </p:nvSpPr>
        <p:spPr>
          <a:xfrm>
            <a:off x="3733800" y="696724"/>
            <a:ext cx="5562600" cy="1292662"/>
          </a:xfrm>
          <a:prstGeom prst="rect">
            <a:avLst/>
          </a:prstGeom>
        </p:spPr>
        <p:txBody>
          <a:bodyPr wrap="square">
            <a:spAutoFit/>
          </a:bodyPr>
          <a:lstStyle/>
          <a:p>
            <a:pPr algn="ctr">
              <a:lnSpc>
                <a:spcPct val="150000"/>
              </a:lnSpc>
            </a:pPr>
            <a:r>
              <a:rPr lang="en-US" sz="2600" i="1" smtClean="0">
                <a:solidFill>
                  <a:srgbClr val="002060"/>
                </a:solidFill>
                <a:latin typeface="Times New Roman" pitchFamily="18" charset="0"/>
                <a:cs typeface="Times New Roman" pitchFamily="18" charset="0"/>
              </a:rPr>
              <a:t>Kế thừa truyền thống yêu nước,</a:t>
            </a:r>
          </a:p>
          <a:p>
            <a:pPr algn="ctr">
              <a:lnSpc>
                <a:spcPct val="150000"/>
              </a:lnSpc>
            </a:pPr>
            <a:r>
              <a:rPr lang="en-US" sz="2600" i="1" smtClean="0">
                <a:solidFill>
                  <a:srgbClr val="002060"/>
                </a:solidFill>
                <a:latin typeface="Times New Roman" pitchFamily="18" charset="0"/>
                <a:cs typeface="Times New Roman" pitchFamily="18" charset="0"/>
              </a:rPr>
              <a:t>nhân nghĩa, đoàn kết của dân tộc</a:t>
            </a:r>
            <a:endParaRPr lang="en-US" sz="2600" i="1" dirty="0">
              <a:solidFill>
                <a:srgbClr val="002060"/>
              </a:solidFill>
              <a:latin typeface="Times New Roman" pitchFamily="18" charset="0"/>
              <a:cs typeface="Times New Roman" pitchFamily="18" charset="0"/>
            </a:endParaRPr>
          </a:p>
        </p:txBody>
      </p:sp>
      <p:cxnSp>
        <p:nvCxnSpPr>
          <p:cNvPr id="18" name="Straight Connector 17"/>
          <p:cNvCxnSpPr/>
          <p:nvPr/>
        </p:nvCxnSpPr>
        <p:spPr>
          <a:xfrm>
            <a:off x="3062760" y="685800"/>
            <a:ext cx="2780" cy="52578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065540" y="14478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spTree>
    <p:extLst>
      <p:ext uri="{BB962C8B-B14F-4D97-AF65-F5344CB8AC3E}">
        <p14:creationId xmlns:p14="http://schemas.microsoft.com/office/powerpoint/2010/main" val="37658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additive="base">
                                        <p:cTn id="25" dur="500" fill="hold"/>
                                        <p:tgtEl>
                                          <p:spTgt spid="20"/>
                                        </p:tgtEl>
                                        <p:attrNameLst>
                                          <p:attrName>ppt_x</p:attrName>
                                        </p:attrNameLst>
                                      </p:cBhvr>
                                      <p:tavLst>
                                        <p:tav tm="0">
                                          <p:val>
                                            <p:strVal val="#ppt_x"/>
                                          </p:val>
                                        </p:tav>
                                        <p:tav tm="100000">
                                          <p:val>
                                            <p:strVal val="#ppt_x"/>
                                          </p:val>
                                        </p:tav>
                                      </p:tavLst>
                                    </p:anim>
                                    <p:anim calcmode="lin" valueType="num">
                                      <p:cBhvr additive="base">
                                        <p:cTn id="2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0" grpId="0"/>
      <p:bldP spid="1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14</a:t>
            </a:fld>
            <a:endParaRPr lang="en-US"/>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1026" name="Picture 2" descr="http://www.baovinhlong.com.vn/dataimages/202001/original/images2262011_10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53818"/>
            <a:ext cx="2990160" cy="23336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1219200" y="152400"/>
            <a:ext cx="7982639" cy="55399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a:solidFill>
                  <a:srgbClr val="FF0000"/>
                </a:solidFill>
                <a:latin typeface="Times New Roman"/>
                <a:cs typeface="Times New Roman"/>
              </a:rPr>
              <a:t>3</a:t>
            </a:r>
            <a:r>
              <a:rPr lang="en-US" sz="3000" smtClean="0">
                <a:solidFill>
                  <a:srgbClr val="FF0000"/>
                </a:solidFill>
                <a:latin typeface="Times New Roman"/>
                <a:cs typeface="Times New Roman"/>
              </a:rPr>
              <a:t>. Điều kiện để xây dựng khối đại </a:t>
            </a:r>
            <a:r>
              <a:rPr lang="en-US" sz="3000">
                <a:solidFill>
                  <a:srgbClr val="FF0000"/>
                </a:solidFill>
                <a:latin typeface="Times New Roman"/>
                <a:cs typeface="Times New Roman"/>
              </a:rPr>
              <a:t>đoàn kết dân tộc</a:t>
            </a:r>
            <a:endParaRPr lang="en-US" sz="3000" dirty="0">
              <a:solidFill>
                <a:srgbClr val="FF0000"/>
              </a:solidFill>
              <a:latin typeface="Times New Roman"/>
              <a:cs typeface="Times New Roman"/>
            </a:endParaRPr>
          </a:p>
        </p:txBody>
      </p:sp>
      <p:sp>
        <p:nvSpPr>
          <p:cNvPr id="20" name="Text Box 3"/>
          <p:cNvSpPr txBox="1">
            <a:spLocks noChangeArrowheads="1"/>
          </p:cNvSpPr>
          <p:nvPr/>
        </p:nvSpPr>
        <p:spPr bwMode="auto">
          <a:xfrm>
            <a:off x="3121300" y="1752600"/>
            <a:ext cx="603744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just" eaLnBrk="1" hangingPunct="1"/>
            <a:r>
              <a:rPr lang="vi-VN">
                <a:solidFill>
                  <a:srgbClr val="CC0066"/>
                </a:solidFill>
                <a:latin typeface="+mj-lt"/>
              </a:rPr>
              <a:t>"Tôi khuyên đồng bào đoàn kết chặt chẽ và rộng rãi. Năm ngón tay cũng có ngón vắn ngón dài. Nhưng vắn dài đều họp nhau lại nơi bàn tay. Trong mấy triệu người cũng có người thế này thế khác nhưng thế này hay thế khác đều dòng dõi của tổ tiên ta. Vậy nên ta phải khoan hồng đại độ. Ta phải nhận rằng đã là con Lạc cháu Hồng thì ai cũng có ít hay nhiều lòng ái quốc. Đối với những đồng bào lạc lối lầm đường, ta phải lấy tình thân ái mà cảm hoá họ. Có như thế mới thành đại đoàn kết, có đại đoàn kết thì tương lai chắc sẽ vẻ vang”.</a:t>
            </a:r>
            <a:endParaRPr lang="en-US" i="1">
              <a:solidFill>
                <a:srgbClr val="CC0066"/>
              </a:solidFill>
              <a:latin typeface="+mj-lt"/>
            </a:endParaRPr>
          </a:p>
        </p:txBody>
      </p:sp>
      <p:sp>
        <p:nvSpPr>
          <p:cNvPr id="17" name="Rectangle 16"/>
          <p:cNvSpPr/>
          <p:nvPr/>
        </p:nvSpPr>
        <p:spPr>
          <a:xfrm>
            <a:off x="3733800" y="1055781"/>
            <a:ext cx="5562600" cy="692497"/>
          </a:xfrm>
          <a:prstGeom prst="rect">
            <a:avLst/>
          </a:prstGeom>
        </p:spPr>
        <p:txBody>
          <a:bodyPr wrap="square">
            <a:spAutoFit/>
          </a:bodyPr>
          <a:lstStyle/>
          <a:p>
            <a:pPr algn="ctr">
              <a:lnSpc>
                <a:spcPct val="150000"/>
              </a:lnSpc>
            </a:pPr>
            <a:r>
              <a:rPr lang="en-US" sz="2600" i="1" smtClean="0">
                <a:solidFill>
                  <a:srgbClr val="002060"/>
                </a:solidFill>
                <a:latin typeface="Times New Roman" pitchFamily="18" charset="0"/>
                <a:cs typeface="Times New Roman" pitchFamily="18" charset="0"/>
              </a:rPr>
              <a:t>Phải có lòng khoan dung, độ lượng</a:t>
            </a:r>
            <a:endParaRPr lang="en-US" sz="2600" i="1" dirty="0">
              <a:solidFill>
                <a:srgbClr val="002060"/>
              </a:solidFill>
              <a:latin typeface="Times New Roman" pitchFamily="18" charset="0"/>
              <a:cs typeface="Times New Roman" pitchFamily="18" charset="0"/>
            </a:endParaRPr>
          </a:p>
        </p:txBody>
      </p:sp>
      <p:cxnSp>
        <p:nvCxnSpPr>
          <p:cNvPr id="18" name="Straight Connector 17"/>
          <p:cNvCxnSpPr/>
          <p:nvPr/>
        </p:nvCxnSpPr>
        <p:spPr>
          <a:xfrm>
            <a:off x="3062760" y="685800"/>
            <a:ext cx="2780" cy="52578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065540" y="14478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4"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spTree>
    <p:extLst>
      <p:ext uri="{BB962C8B-B14F-4D97-AF65-F5344CB8AC3E}">
        <p14:creationId xmlns:p14="http://schemas.microsoft.com/office/powerpoint/2010/main" val="3891127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500" fill="hold"/>
                                        <p:tgtEl>
                                          <p:spTgt spid="20"/>
                                        </p:tgtEl>
                                        <p:attrNameLst>
                                          <p:attrName>ppt_x</p:attrName>
                                        </p:attrNameLst>
                                      </p:cBhvr>
                                      <p:tavLst>
                                        <p:tav tm="0">
                                          <p:val>
                                            <p:strVal val="#ppt_x"/>
                                          </p:val>
                                        </p:tav>
                                        <p:tav tm="100000">
                                          <p:val>
                                            <p:strVal val="#ppt_x"/>
                                          </p:val>
                                        </p:tav>
                                      </p:tavLst>
                                    </p:anim>
                                    <p:anim calcmode="lin" valueType="num">
                                      <p:cBhvr additive="base">
                                        <p:cTn id="2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15</a:t>
            </a:fld>
            <a:endParaRPr lang="en-US"/>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1026" name="Picture 2" descr="http://www.baovinhlong.com.vn/dataimages/202001/original/images2262011_10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53818"/>
            <a:ext cx="2990160" cy="23336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1219200" y="152400"/>
            <a:ext cx="7982639" cy="55399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a:solidFill>
                  <a:srgbClr val="FF0000"/>
                </a:solidFill>
                <a:latin typeface="Times New Roman"/>
                <a:cs typeface="Times New Roman"/>
              </a:rPr>
              <a:t>3</a:t>
            </a:r>
            <a:r>
              <a:rPr lang="en-US" sz="3000" smtClean="0">
                <a:solidFill>
                  <a:srgbClr val="FF0000"/>
                </a:solidFill>
                <a:latin typeface="Times New Roman"/>
                <a:cs typeface="Times New Roman"/>
              </a:rPr>
              <a:t>. Điều kiện để xây dựng khối đại </a:t>
            </a:r>
            <a:r>
              <a:rPr lang="en-US" sz="3000">
                <a:solidFill>
                  <a:srgbClr val="FF0000"/>
                </a:solidFill>
                <a:latin typeface="Times New Roman"/>
                <a:cs typeface="Times New Roman"/>
              </a:rPr>
              <a:t>đoàn kết dân tộc</a:t>
            </a:r>
            <a:endParaRPr lang="en-US" sz="3000" dirty="0">
              <a:solidFill>
                <a:srgbClr val="FF0000"/>
              </a:solidFill>
              <a:latin typeface="Times New Roman"/>
              <a:cs typeface="Times New Roman"/>
            </a:endParaRPr>
          </a:p>
        </p:txBody>
      </p:sp>
      <p:sp>
        <p:nvSpPr>
          <p:cNvPr id="20" name="Text Box 3"/>
          <p:cNvSpPr txBox="1">
            <a:spLocks noChangeArrowheads="1"/>
          </p:cNvSpPr>
          <p:nvPr/>
        </p:nvSpPr>
        <p:spPr bwMode="auto">
          <a:xfrm>
            <a:off x="3276600" y="1828800"/>
            <a:ext cx="5715000" cy="4413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just" eaLnBrk="1" hangingPunct="1">
              <a:lnSpc>
                <a:spcPct val="130000"/>
              </a:lnSpc>
            </a:pPr>
            <a:r>
              <a:rPr lang="vi-VN" smtClean="0">
                <a:solidFill>
                  <a:srgbClr val="CC0066"/>
                </a:solidFill>
                <a:latin typeface="+mj-lt"/>
              </a:rPr>
              <a:t>“</a:t>
            </a:r>
            <a:r>
              <a:rPr lang="vi-VN">
                <a:solidFill>
                  <a:srgbClr val="CC0066"/>
                </a:solidFill>
                <a:latin typeface="+mj-lt"/>
              </a:rPr>
              <a:t>NƯỚC TA LÀ NƯỚC DÂN CHỦ. Bao nhiêu lợi ích đều </a:t>
            </a:r>
            <a:r>
              <a:rPr lang="vi-VN" i="1">
                <a:solidFill>
                  <a:srgbClr val="CC0066"/>
                </a:solidFill>
                <a:latin typeface="+mj-lt"/>
              </a:rPr>
              <a:t>vì dân</a:t>
            </a:r>
            <a:r>
              <a:rPr lang="vi-VN">
                <a:solidFill>
                  <a:srgbClr val="CC0066"/>
                </a:solidFill>
                <a:latin typeface="+mj-lt"/>
              </a:rPr>
              <a:t>. Bao nhiêu quyền hạn đều </a:t>
            </a:r>
            <a:r>
              <a:rPr lang="vi-VN" i="1">
                <a:solidFill>
                  <a:srgbClr val="CC0066"/>
                </a:solidFill>
                <a:latin typeface="+mj-lt"/>
              </a:rPr>
              <a:t>của dân</a:t>
            </a:r>
            <a:r>
              <a:rPr lang="vi-VN">
                <a:solidFill>
                  <a:srgbClr val="CC0066"/>
                </a:solidFill>
                <a:latin typeface="+mj-lt"/>
              </a:rPr>
              <a:t>. Công việc đổi mới, xây dựng là trách nhiệm </a:t>
            </a:r>
            <a:r>
              <a:rPr lang="vi-VN" i="1">
                <a:solidFill>
                  <a:srgbClr val="CC0066"/>
                </a:solidFill>
                <a:latin typeface="+mj-lt"/>
              </a:rPr>
              <a:t>của dân</a:t>
            </a:r>
            <a:r>
              <a:rPr lang="vi-VN">
                <a:solidFill>
                  <a:srgbClr val="CC0066"/>
                </a:solidFill>
                <a:latin typeface="+mj-lt"/>
              </a:rPr>
              <a:t>. Sự nghiệp kháng chiến, kiến quốc là </a:t>
            </a:r>
            <a:r>
              <a:rPr lang="vi-VN" i="1">
                <a:solidFill>
                  <a:srgbClr val="CC0066"/>
                </a:solidFill>
                <a:latin typeface="+mj-lt"/>
              </a:rPr>
              <a:t>công việc của dân</a:t>
            </a:r>
            <a:r>
              <a:rPr lang="vi-VN">
                <a:solidFill>
                  <a:srgbClr val="CC0066"/>
                </a:solidFill>
                <a:latin typeface="+mj-lt"/>
              </a:rPr>
              <a:t>. Chính quyền từ xã đến Chính phủ Trung ương </a:t>
            </a:r>
            <a:r>
              <a:rPr lang="vi-VN" i="1">
                <a:solidFill>
                  <a:srgbClr val="CC0066"/>
                </a:solidFill>
                <a:latin typeface="+mj-lt"/>
              </a:rPr>
              <a:t>do dân cử ra</a:t>
            </a:r>
            <a:r>
              <a:rPr lang="vi-VN">
                <a:solidFill>
                  <a:srgbClr val="CC0066"/>
                </a:solidFill>
                <a:latin typeface="+mj-lt"/>
              </a:rPr>
              <a:t>. Đoàn thể từ Trung ương đến xã </a:t>
            </a:r>
            <a:r>
              <a:rPr lang="vi-VN" i="1">
                <a:solidFill>
                  <a:srgbClr val="CC0066"/>
                </a:solidFill>
                <a:latin typeface="+mj-lt"/>
              </a:rPr>
              <a:t>do dân tổ chức nên</a:t>
            </a:r>
            <a:r>
              <a:rPr lang="vi-VN">
                <a:solidFill>
                  <a:srgbClr val="CC0066"/>
                </a:solidFill>
                <a:latin typeface="+mj-lt"/>
              </a:rPr>
              <a:t>. Nói tóm lại, quyền hành và lực lượng </a:t>
            </a:r>
            <a:r>
              <a:rPr lang="vi-VN" i="1">
                <a:solidFill>
                  <a:srgbClr val="CC0066"/>
                </a:solidFill>
                <a:latin typeface="+mj-lt"/>
              </a:rPr>
              <a:t>đều ở nơi dân</a:t>
            </a:r>
            <a:r>
              <a:rPr lang="vi-VN" smtClean="0">
                <a:solidFill>
                  <a:srgbClr val="CC0066"/>
                </a:solidFill>
                <a:latin typeface="+mj-lt"/>
              </a:rPr>
              <a:t>”</a:t>
            </a:r>
            <a:r>
              <a:rPr lang="en-US" smtClean="0">
                <a:solidFill>
                  <a:srgbClr val="CC0066"/>
                </a:solidFill>
                <a:latin typeface="+mj-lt"/>
              </a:rPr>
              <a:t>.</a:t>
            </a:r>
            <a:endParaRPr lang="en-US" i="1">
              <a:solidFill>
                <a:srgbClr val="CC0066"/>
              </a:solidFill>
              <a:latin typeface="+mj-lt"/>
            </a:endParaRPr>
          </a:p>
        </p:txBody>
      </p:sp>
      <p:sp>
        <p:nvSpPr>
          <p:cNvPr id="17" name="Rectangle 16"/>
          <p:cNvSpPr/>
          <p:nvPr/>
        </p:nvSpPr>
        <p:spPr>
          <a:xfrm>
            <a:off x="4010007" y="1055781"/>
            <a:ext cx="4448194" cy="692497"/>
          </a:xfrm>
          <a:prstGeom prst="rect">
            <a:avLst/>
          </a:prstGeom>
        </p:spPr>
        <p:txBody>
          <a:bodyPr wrap="square">
            <a:spAutoFit/>
          </a:bodyPr>
          <a:lstStyle/>
          <a:p>
            <a:pPr algn="ctr">
              <a:lnSpc>
                <a:spcPct val="150000"/>
              </a:lnSpc>
            </a:pPr>
            <a:r>
              <a:rPr lang="en-US" sz="2600" i="1" smtClean="0">
                <a:solidFill>
                  <a:srgbClr val="002060"/>
                </a:solidFill>
                <a:latin typeface="Times New Roman" pitchFamily="18" charset="0"/>
                <a:cs typeface="Times New Roman" pitchFamily="18" charset="0"/>
              </a:rPr>
              <a:t>Phải có niềm tin vào Nhân dân</a:t>
            </a:r>
            <a:endParaRPr lang="en-US" sz="2600" i="1" dirty="0">
              <a:solidFill>
                <a:srgbClr val="002060"/>
              </a:solidFill>
              <a:latin typeface="Times New Roman" pitchFamily="18" charset="0"/>
              <a:cs typeface="Times New Roman" pitchFamily="18" charset="0"/>
            </a:endParaRPr>
          </a:p>
        </p:txBody>
      </p:sp>
      <p:cxnSp>
        <p:nvCxnSpPr>
          <p:cNvPr id="18" name="Straight Connector 17"/>
          <p:cNvCxnSpPr/>
          <p:nvPr/>
        </p:nvCxnSpPr>
        <p:spPr>
          <a:xfrm>
            <a:off x="3062760" y="685800"/>
            <a:ext cx="2780" cy="52578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065540" y="14478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4"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spTree>
    <p:extLst>
      <p:ext uri="{BB962C8B-B14F-4D97-AF65-F5344CB8AC3E}">
        <p14:creationId xmlns:p14="http://schemas.microsoft.com/office/powerpoint/2010/main" val="783049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500" fill="hold"/>
                                        <p:tgtEl>
                                          <p:spTgt spid="20"/>
                                        </p:tgtEl>
                                        <p:attrNameLst>
                                          <p:attrName>ppt_x</p:attrName>
                                        </p:attrNameLst>
                                      </p:cBhvr>
                                      <p:tavLst>
                                        <p:tav tm="0">
                                          <p:val>
                                            <p:strVal val="#ppt_x"/>
                                          </p:val>
                                        </p:tav>
                                        <p:tav tm="100000">
                                          <p:val>
                                            <p:strVal val="#ppt_x"/>
                                          </p:val>
                                        </p:tav>
                                      </p:tavLst>
                                    </p:anim>
                                    <p:anim calcmode="lin" valueType="num">
                                      <p:cBhvr additive="base">
                                        <p:cTn id="2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16</a:t>
            </a:fld>
            <a:endParaRPr lang="en-US"/>
          </a:p>
        </p:txBody>
      </p:sp>
      <p:sp>
        <p:nvSpPr>
          <p:cNvPr id="17" name="Rectangle 16"/>
          <p:cNvSpPr/>
          <p:nvPr/>
        </p:nvSpPr>
        <p:spPr>
          <a:xfrm>
            <a:off x="3810000" y="1241048"/>
            <a:ext cx="5562600" cy="892552"/>
          </a:xfrm>
          <a:prstGeom prst="rect">
            <a:avLst/>
          </a:prstGeom>
        </p:spPr>
        <p:txBody>
          <a:bodyPr wrap="square">
            <a:spAutoFit/>
          </a:bodyPr>
          <a:lstStyle/>
          <a:p>
            <a:pPr algn="ctr"/>
            <a:r>
              <a:rPr lang="en-US" sz="2600" i="1" spc="-150" smtClean="0">
                <a:solidFill>
                  <a:srgbClr val="002060"/>
                </a:solidFill>
                <a:latin typeface="Times New Roman" pitchFamily="18" charset="0"/>
                <a:cs typeface="Times New Roman" pitchFamily="18" charset="0"/>
              </a:rPr>
              <a:t>Lấy lợi ích chung làm điểm quy tụ, đồng thời tôn trọng các lợi ích khác biệt chính đáng </a:t>
            </a:r>
            <a:endParaRPr lang="en-US" sz="2600" i="1" spc="-150"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1026" name="Picture 2" descr="http://www.baovinhlong.com.vn/dataimages/202001/original/images2262011_10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53818"/>
            <a:ext cx="2990160" cy="23336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1066800" y="208002"/>
            <a:ext cx="7982639" cy="55399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a:solidFill>
                  <a:srgbClr val="FF0000"/>
                </a:solidFill>
                <a:latin typeface="Times New Roman"/>
                <a:cs typeface="Times New Roman"/>
              </a:rPr>
              <a:t>3</a:t>
            </a:r>
            <a:r>
              <a:rPr lang="en-US" sz="3000" smtClean="0">
                <a:solidFill>
                  <a:srgbClr val="FF0000"/>
                </a:solidFill>
                <a:latin typeface="Times New Roman"/>
                <a:cs typeface="Times New Roman"/>
              </a:rPr>
              <a:t>. Điều kiện để xây dựng khối đại </a:t>
            </a:r>
            <a:r>
              <a:rPr lang="en-US" sz="3000">
                <a:solidFill>
                  <a:srgbClr val="FF0000"/>
                </a:solidFill>
                <a:latin typeface="Times New Roman"/>
                <a:cs typeface="Times New Roman"/>
              </a:rPr>
              <a:t>đoàn kết dân tộc</a:t>
            </a:r>
            <a:endParaRPr lang="en-US" sz="3000" dirty="0">
              <a:solidFill>
                <a:srgbClr val="FF0000"/>
              </a:solidFill>
              <a:latin typeface="Times New Roman"/>
              <a:cs typeface="Times New Roman"/>
            </a:endParaRPr>
          </a:p>
        </p:txBody>
      </p:sp>
      <p:cxnSp>
        <p:nvCxnSpPr>
          <p:cNvPr id="18" name="Straight Connector 17"/>
          <p:cNvCxnSpPr/>
          <p:nvPr/>
        </p:nvCxnSpPr>
        <p:spPr>
          <a:xfrm flipH="1">
            <a:off x="3062760" y="762000"/>
            <a:ext cx="2780" cy="4652522"/>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065540" y="17526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0"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sp>
        <p:nvSpPr>
          <p:cNvPr id="16" name="Rectangle 15"/>
          <p:cNvSpPr/>
          <p:nvPr/>
        </p:nvSpPr>
        <p:spPr>
          <a:xfrm>
            <a:off x="3733800" y="2441138"/>
            <a:ext cx="5562600" cy="892552"/>
          </a:xfrm>
          <a:prstGeom prst="rect">
            <a:avLst/>
          </a:prstGeom>
        </p:spPr>
        <p:txBody>
          <a:bodyPr wrap="square">
            <a:spAutoFit/>
          </a:bodyPr>
          <a:lstStyle/>
          <a:p>
            <a:pPr algn="ctr"/>
            <a:r>
              <a:rPr lang="en-US" sz="2600" i="1" smtClean="0">
                <a:solidFill>
                  <a:srgbClr val="002060"/>
                </a:solidFill>
                <a:latin typeface="Times New Roman" pitchFamily="18" charset="0"/>
                <a:cs typeface="Times New Roman" pitchFamily="18" charset="0"/>
              </a:rPr>
              <a:t>Kế thừa truyền thống yêu nước,</a:t>
            </a:r>
          </a:p>
          <a:p>
            <a:pPr algn="ctr"/>
            <a:r>
              <a:rPr lang="en-US" sz="2600" i="1" smtClean="0">
                <a:solidFill>
                  <a:srgbClr val="002060"/>
                </a:solidFill>
                <a:latin typeface="Times New Roman" pitchFamily="18" charset="0"/>
                <a:cs typeface="Times New Roman" pitchFamily="18" charset="0"/>
              </a:rPr>
              <a:t>nhân nghĩa, đoàn kết của dân tộc</a:t>
            </a:r>
            <a:endParaRPr lang="en-US" sz="2600" i="1" dirty="0">
              <a:solidFill>
                <a:srgbClr val="002060"/>
              </a:solidFill>
              <a:latin typeface="Times New Roman" pitchFamily="18" charset="0"/>
              <a:cs typeface="Times New Roman" pitchFamily="18" charset="0"/>
            </a:endParaRPr>
          </a:p>
        </p:txBody>
      </p:sp>
      <p:cxnSp>
        <p:nvCxnSpPr>
          <p:cNvPr id="22" name="Straight Arrow Connector 21"/>
          <p:cNvCxnSpPr/>
          <p:nvPr/>
        </p:nvCxnSpPr>
        <p:spPr>
          <a:xfrm>
            <a:off x="3065540" y="29718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3733800" y="3955703"/>
            <a:ext cx="5562600" cy="492443"/>
          </a:xfrm>
          <a:prstGeom prst="rect">
            <a:avLst/>
          </a:prstGeom>
        </p:spPr>
        <p:txBody>
          <a:bodyPr wrap="square">
            <a:spAutoFit/>
          </a:bodyPr>
          <a:lstStyle/>
          <a:p>
            <a:pPr algn="ctr"/>
            <a:r>
              <a:rPr lang="en-US" sz="2600" i="1" smtClean="0">
                <a:solidFill>
                  <a:srgbClr val="002060"/>
                </a:solidFill>
                <a:latin typeface="Times New Roman" pitchFamily="18" charset="0"/>
                <a:cs typeface="Times New Roman" pitchFamily="18" charset="0"/>
              </a:rPr>
              <a:t>Phải có lòng khoan dung, độ lượng</a:t>
            </a:r>
            <a:endParaRPr lang="en-US" sz="2600" i="1" dirty="0">
              <a:solidFill>
                <a:srgbClr val="002060"/>
              </a:solidFill>
              <a:latin typeface="Times New Roman" pitchFamily="18" charset="0"/>
              <a:cs typeface="Times New Roman" pitchFamily="18" charset="0"/>
            </a:endParaRPr>
          </a:p>
        </p:txBody>
      </p:sp>
      <p:cxnSp>
        <p:nvCxnSpPr>
          <p:cNvPr id="24" name="Straight Arrow Connector 23"/>
          <p:cNvCxnSpPr/>
          <p:nvPr/>
        </p:nvCxnSpPr>
        <p:spPr>
          <a:xfrm>
            <a:off x="3065540" y="41910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4010007" y="5022503"/>
            <a:ext cx="4448194" cy="492443"/>
          </a:xfrm>
          <a:prstGeom prst="rect">
            <a:avLst/>
          </a:prstGeom>
        </p:spPr>
        <p:txBody>
          <a:bodyPr wrap="square">
            <a:spAutoFit/>
          </a:bodyPr>
          <a:lstStyle/>
          <a:p>
            <a:pPr algn="ctr"/>
            <a:r>
              <a:rPr lang="en-US" sz="2600" i="1" smtClean="0">
                <a:solidFill>
                  <a:srgbClr val="002060"/>
                </a:solidFill>
                <a:latin typeface="Times New Roman" pitchFamily="18" charset="0"/>
                <a:cs typeface="Times New Roman" pitchFamily="18" charset="0"/>
              </a:rPr>
              <a:t>Phải có niềm tin vào Nhân dân</a:t>
            </a:r>
            <a:endParaRPr lang="en-US" sz="2600" i="1" dirty="0">
              <a:solidFill>
                <a:srgbClr val="002060"/>
              </a:solidFill>
              <a:latin typeface="Times New Roman" pitchFamily="18" charset="0"/>
              <a:cs typeface="Times New Roman" pitchFamily="18" charset="0"/>
            </a:endParaRPr>
          </a:p>
        </p:txBody>
      </p:sp>
      <p:cxnSp>
        <p:nvCxnSpPr>
          <p:cNvPr id="26" name="Straight Arrow Connector 25"/>
          <p:cNvCxnSpPr/>
          <p:nvPr/>
        </p:nvCxnSpPr>
        <p:spPr>
          <a:xfrm>
            <a:off x="3065540" y="5414522"/>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269605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17</a:t>
            </a:fld>
            <a:endParaRPr lang="en-US"/>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1026" name="Picture 2" descr="http://www.baovinhlong.com.vn/dataimages/202001/original/images2262011_10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53818"/>
            <a:ext cx="2990160" cy="23336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685800" y="152400"/>
            <a:ext cx="8516039" cy="101566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a:solidFill>
                  <a:srgbClr val="FF0000"/>
                </a:solidFill>
                <a:latin typeface="Times New Roman"/>
                <a:cs typeface="Times New Roman"/>
              </a:rPr>
              <a:t>4</a:t>
            </a:r>
            <a:r>
              <a:rPr lang="en-US" sz="3000" smtClean="0">
                <a:solidFill>
                  <a:srgbClr val="FF0000"/>
                </a:solidFill>
                <a:latin typeface="Times New Roman"/>
                <a:cs typeface="Times New Roman"/>
              </a:rPr>
              <a:t>. Hình thức, nguyên tắc tổ chức của  khối đại </a:t>
            </a:r>
            <a:r>
              <a:rPr lang="en-US" sz="3000">
                <a:solidFill>
                  <a:srgbClr val="FF0000"/>
                </a:solidFill>
                <a:latin typeface="Times New Roman"/>
                <a:cs typeface="Times New Roman"/>
              </a:rPr>
              <a:t>đoàn kết </a:t>
            </a:r>
            <a:r>
              <a:rPr lang="en-US" sz="3000" smtClean="0">
                <a:solidFill>
                  <a:srgbClr val="FF0000"/>
                </a:solidFill>
                <a:latin typeface="Times New Roman"/>
                <a:cs typeface="Times New Roman"/>
              </a:rPr>
              <a:t>toàn dân tộc – Mặt trận Dân tộc thống nhất</a:t>
            </a:r>
            <a:endParaRPr lang="en-US" sz="3000" dirty="0">
              <a:solidFill>
                <a:srgbClr val="FF0000"/>
              </a:solidFill>
              <a:latin typeface="Times New Roman"/>
              <a:cs typeface="Times New Roman"/>
            </a:endParaRPr>
          </a:p>
        </p:txBody>
      </p:sp>
      <p:sp>
        <p:nvSpPr>
          <p:cNvPr id="20" name="Text Box 3"/>
          <p:cNvSpPr txBox="1">
            <a:spLocks noChangeArrowheads="1"/>
          </p:cNvSpPr>
          <p:nvPr/>
        </p:nvSpPr>
        <p:spPr bwMode="auto">
          <a:xfrm>
            <a:off x="3100396" y="2209800"/>
            <a:ext cx="604360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just" eaLnBrk="1" hangingPunct="1"/>
            <a:r>
              <a:rPr lang="en-US" smtClean="0">
                <a:solidFill>
                  <a:srgbClr val="CC0066"/>
                </a:solidFill>
                <a:latin typeface="Times New Roman" pitchFamily="18" charset="0"/>
                <a:cs typeface="Times New Roman" pitchFamily="18" charset="0"/>
              </a:rPr>
              <a:t>- Hội Phản đế đồng minh (1930).</a:t>
            </a:r>
          </a:p>
          <a:p>
            <a:pPr algn="just" eaLnBrk="1" hangingPunct="1"/>
            <a:r>
              <a:rPr lang="en-US" smtClean="0">
                <a:solidFill>
                  <a:srgbClr val="CC0066"/>
                </a:solidFill>
                <a:latin typeface="Times New Roman" pitchFamily="18" charset="0"/>
                <a:cs typeface="Times New Roman" pitchFamily="18" charset="0"/>
              </a:rPr>
              <a:t>- Mặt trận Dân chủ Đông Dương (1936).</a:t>
            </a:r>
          </a:p>
          <a:p>
            <a:pPr algn="just" eaLnBrk="1" hangingPunct="1"/>
            <a:r>
              <a:rPr lang="en-US" spc="-150" smtClean="0">
                <a:solidFill>
                  <a:srgbClr val="CC0066"/>
                </a:solidFill>
                <a:latin typeface="Times New Roman" pitchFamily="18" charset="0"/>
                <a:cs typeface="Times New Roman" pitchFamily="18" charset="0"/>
              </a:rPr>
              <a:t>- Mặt trận Nhân dân phản đế Đông Dương (1939).</a:t>
            </a:r>
          </a:p>
          <a:p>
            <a:pPr algn="just" eaLnBrk="1" hangingPunct="1"/>
            <a:r>
              <a:rPr lang="en-US" smtClean="0">
                <a:solidFill>
                  <a:srgbClr val="CC0066"/>
                </a:solidFill>
                <a:latin typeface="Times New Roman" pitchFamily="18" charset="0"/>
                <a:cs typeface="Times New Roman" pitchFamily="18" charset="0"/>
              </a:rPr>
              <a:t>- Mặt trận Việt Minh (1941).</a:t>
            </a:r>
          </a:p>
          <a:p>
            <a:pPr algn="just" eaLnBrk="1" hangingPunct="1"/>
            <a:r>
              <a:rPr lang="en-US" smtClean="0">
                <a:solidFill>
                  <a:srgbClr val="CC0066"/>
                </a:solidFill>
                <a:latin typeface="Times New Roman" pitchFamily="18" charset="0"/>
                <a:cs typeface="Times New Roman" pitchFamily="18" charset="0"/>
              </a:rPr>
              <a:t>- Mặt trận Liên Việt (1951).</a:t>
            </a:r>
          </a:p>
          <a:p>
            <a:pPr algn="just" eaLnBrk="1" hangingPunct="1"/>
            <a:r>
              <a:rPr lang="en-US" smtClean="0">
                <a:solidFill>
                  <a:srgbClr val="CC0066"/>
                </a:solidFill>
                <a:latin typeface="Times New Roman" pitchFamily="18" charset="0"/>
                <a:cs typeface="Times New Roman" pitchFamily="18" charset="0"/>
              </a:rPr>
              <a:t>- Mặt trận Dân tộc giải phóng miền Nam              Việt Nam (1960).</a:t>
            </a:r>
          </a:p>
          <a:p>
            <a:pPr algn="just" eaLnBrk="1" hangingPunct="1"/>
            <a:r>
              <a:rPr lang="en-US" smtClean="0">
                <a:solidFill>
                  <a:srgbClr val="CC0066"/>
                </a:solidFill>
                <a:latin typeface="Times New Roman" pitchFamily="18" charset="0"/>
                <a:cs typeface="Times New Roman" pitchFamily="18" charset="0"/>
              </a:rPr>
              <a:t>- Liên minh các lực lượng dân tộc, dân chủ và hòa bình Việt Nam (1968).</a:t>
            </a:r>
          </a:p>
          <a:p>
            <a:pPr algn="just" eaLnBrk="1" hangingPunct="1"/>
            <a:r>
              <a:rPr lang="en-US" smtClean="0">
                <a:solidFill>
                  <a:srgbClr val="CC0066"/>
                </a:solidFill>
                <a:latin typeface="Times New Roman" pitchFamily="18" charset="0"/>
                <a:cs typeface="Times New Roman" pitchFamily="18" charset="0"/>
              </a:rPr>
              <a:t>- Mặt trận Tổ quốc Việt Nam (hiện nay).</a:t>
            </a:r>
            <a:endParaRPr lang="en-US">
              <a:solidFill>
                <a:srgbClr val="CC0066"/>
              </a:solidFill>
              <a:latin typeface="Times New Roman" pitchFamily="18" charset="0"/>
              <a:cs typeface="Times New Roman" pitchFamily="18" charset="0"/>
            </a:endParaRPr>
          </a:p>
        </p:txBody>
      </p:sp>
      <p:sp>
        <p:nvSpPr>
          <p:cNvPr id="17" name="Rectangle 16"/>
          <p:cNvSpPr/>
          <p:nvPr/>
        </p:nvSpPr>
        <p:spPr>
          <a:xfrm>
            <a:off x="4010007" y="1055781"/>
            <a:ext cx="4448194" cy="620619"/>
          </a:xfrm>
          <a:prstGeom prst="rect">
            <a:avLst/>
          </a:prstGeom>
        </p:spPr>
        <p:txBody>
          <a:bodyPr wrap="square">
            <a:spAutoFit/>
          </a:bodyPr>
          <a:lstStyle/>
          <a:p>
            <a:pPr algn="ctr">
              <a:lnSpc>
                <a:spcPct val="150000"/>
              </a:lnSpc>
            </a:pPr>
            <a:r>
              <a:rPr lang="en-US" sz="2600" i="1" smtClean="0">
                <a:solidFill>
                  <a:srgbClr val="002060"/>
                </a:solidFill>
                <a:latin typeface="Times New Roman" pitchFamily="18" charset="0"/>
                <a:cs typeface="Times New Roman" pitchFamily="18" charset="0"/>
              </a:rPr>
              <a:t>Mặt trận Dân tộc thống nhất</a:t>
            </a:r>
            <a:endParaRPr lang="en-US" sz="2600" i="1" dirty="0">
              <a:solidFill>
                <a:srgbClr val="002060"/>
              </a:solidFill>
              <a:latin typeface="Times New Roman" pitchFamily="18" charset="0"/>
              <a:cs typeface="Times New Roman" pitchFamily="18" charset="0"/>
            </a:endParaRPr>
          </a:p>
        </p:txBody>
      </p:sp>
      <p:cxnSp>
        <p:nvCxnSpPr>
          <p:cNvPr id="18" name="Straight Connector 17"/>
          <p:cNvCxnSpPr/>
          <p:nvPr/>
        </p:nvCxnSpPr>
        <p:spPr>
          <a:xfrm>
            <a:off x="3048000" y="1478229"/>
            <a:ext cx="0" cy="4541571"/>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017933" y="14478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4"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spTree>
    <p:extLst>
      <p:ext uri="{BB962C8B-B14F-4D97-AF65-F5344CB8AC3E}">
        <p14:creationId xmlns:p14="http://schemas.microsoft.com/office/powerpoint/2010/main" val="2488266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0">
                                            <p:txEl>
                                              <p:pRg st="0" end="0"/>
                                            </p:txEl>
                                          </p:spTgt>
                                        </p:tgtEl>
                                        <p:attrNameLst>
                                          <p:attrName>style.visibility</p:attrName>
                                        </p:attrNameLst>
                                      </p:cBhvr>
                                      <p:to>
                                        <p:strVal val="visible"/>
                                      </p:to>
                                    </p:set>
                                    <p:anim calcmode="lin" valueType="num">
                                      <p:cBhvr additive="base">
                                        <p:cTn id="21"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0">
                                            <p:txEl>
                                              <p:pRg st="1" end="1"/>
                                            </p:txEl>
                                          </p:spTgt>
                                        </p:tgtEl>
                                        <p:attrNameLst>
                                          <p:attrName>style.visibility</p:attrName>
                                        </p:attrNameLst>
                                      </p:cBhvr>
                                      <p:to>
                                        <p:strVal val="visible"/>
                                      </p:to>
                                    </p:set>
                                    <p:anim calcmode="lin" valueType="num">
                                      <p:cBhvr additive="base">
                                        <p:cTn id="27" dur="500" fill="hold"/>
                                        <p:tgtEl>
                                          <p:spTgt spid="20">
                                            <p:txEl>
                                              <p:pRg st="1" end="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0">
                                            <p:txEl>
                                              <p:pRg st="2" end="2"/>
                                            </p:txEl>
                                          </p:spTgt>
                                        </p:tgtEl>
                                        <p:attrNameLst>
                                          <p:attrName>style.visibility</p:attrName>
                                        </p:attrNameLst>
                                      </p:cBhvr>
                                      <p:to>
                                        <p:strVal val="visible"/>
                                      </p:to>
                                    </p:set>
                                    <p:anim calcmode="lin" valueType="num">
                                      <p:cBhvr additive="base">
                                        <p:cTn id="33" dur="500" fill="hold"/>
                                        <p:tgtEl>
                                          <p:spTgt spid="20">
                                            <p:txEl>
                                              <p:pRg st="2" end="2"/>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20">
                                            <p:txEl>
                                              <p:pRg st="3" end="3"/>
                                            </p:txEl>
                                          </p:spTgt>
                                        </p:tgtEl>
                                        <p:attrNameLst>
                                          <p:attrName>style.visibility</p:attrName>
                                        </p:attrNameLst>
                                      </p:cBhvr>
                                      <p:to>
                                        <p:strVal val="visible"/>
                                      </p:to>
                                    </p:set>
                                    <p:anim calcmode="lin" valueType="num">
                                      <p:cBhvr additive="base">
                                        <p:cTn id="39" dur="500" fill="hold"/>
                                        <p:tgtEl>
                                          <p:spTgt spid="20">
                                            <p:txEl>
                                              <p:pRg st="3" end="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20">
                                            <p:txEl>
                                              <p:pRg st="4" end="4"/>
                                            </p:txEl>
                                          </p:spTgt>
                                        </p:tgtEl>
                                        <p:attrNameLst>
                                          <p:attrName>style.visibility</p:attrName>
                                        </p:attrNameLst>
                                      </p:cBhvr>
                                      <p:to>
                                        <p:strVal val="visible"/>
                                      </p:to>
                                    </p:set>
                                    <p:anim calcmode="lin" valueType="num">
                                      <p:cBhvr additive="base">
                                        <p:cTn id="45" dur="500" fill="hold"/>
                                        <p:tgtEl>
                                          <p:spTgt spid="20">
                                            <p:txEl>
                                              <p:pRg st="4" end="4"/>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2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20">
                                            <p:txEl>
                                              <p:pRg st="5" end="5"/>
                                            </p:txEl>
                                          </p:spTgt>
                                        </p:tgtEl>
                                        <p:attrNameLst>
                                          <p:attrName>style.visibility</p:attrName>
                                        </p:attrNameLst>
                                      </p:cBhvr>
                                      <p:to>
                                        <p:strVal val="visible"/>
                                      </p:to>
                                    </p:set>
                                    <p:anim calcmode="lin" valueType="num">
                                      <p:cBhvr additive="base">
                                        <p:cTn id="51" dur="500" fill="hold"/>
                                        <p:tgtEl>
                                          <p:spTgt spid="20">
                                            <p:txEl>
                                              <p:pRg st="5" end="5"/>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20">
                                            <p:txEl>
                                              <p:pRg st="6" end="6"/>
                                            </p:txEl>
                                          </p:spTgt>
                                        </p:tgtEl>
                                        <p:attrNameLst>
                                          <p:attrName>style.visibility</p:attrName>
                                        </p:attrNameLst>
                                      </p:cBhvr>
                                      <p:to>
                                        <p:strVal val="visible"/>
                                      </p:to>
                                    </p:set>
                                    <p:anim calcmode="lin" valueType="num">
                                      <p:cBhvr additive="base">
                                        <p:cTn id="57" dur="500" fill="hold"/>
                                        <p:tgtEl>
                                          <p:spTgt spid="20">
                                            <p:txEl>
                                              <p:pRg st="6" end="6"/>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2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20">
                                            <p:txEl>
                                              <p:pRg st="7" end="7"/>
                                            </p:txEl>
                                          </p:spTgt>
                                        </p:tgtEl>
                                        <p:attrNameLst>
                                          <p:attrName>style.visibility</p:attrName>
                                        </p:attrNameLst>
                                      </p:cBhvr>
                                      <p:to>
                                        <p:strVal val="visible"/>
                                      </p:to>
                                    </p:set>
                                    <p:anim calcmode="lin" valueType="num">
                                      <p:cBhvr additive="base">
                                        <p:cTn id="63" dur="500" fill="hold"/>
                                        <p:tgtEl>
                                          <p:spTgt spid="20">
                                            <p:txEl>
                                              <p:pRg st="7" end="7"/>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20">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18</a:t>
            </a:fld>
            <a:endParaRPr lang="en-US"/>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1026" name="Picture 2" descr="http://www.baovinhlong.com.vn/dataimages/202001/original/images2262011_10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53818"/>
            <a:ext cx="2990160" cy="23336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685800" y="152400"/>
            <a:ext cx="8516039" cy="101566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a:solidFill>
                  <a:srgbClr val="FF0000"/>
                </a:solidFill>
                <a:latin typeface="Times New Roman"/>
                <a:cs typeface="Times New Roman"/>
              </a:rPr>
              <a:t>4</a:t>
            </a:r>
            <a:r>
              <a:rPr lang="en-US" sz="3000" smtClean="0">
                <a:solidFill>
                  <a:srgbClr val="FF0000"/>
                </a:solidFill>
                <a:latin typeface="Times New Roman"/>
                <a:cs typeface="Times New Roman"/>
              </a:rPr>
              <a:t>. Hình thức, nguyên tắc tổ chức của  khối đại </a:t>
            </a:r>
            <a:r>
              <a:rPr lang="en-US" sz="3000">
                <a:solidFill>
                  <a:srgbClr val="FF0000"/>
                </a:solidFill>
                <a:latin typeface="Times New Roman"/>
                <a:cs typeface="Times New Roman"/>
              </a:rPr>
              <a:t>đoàn kết </a:t>
            </a:r>
            <a:r>
              <a:rPr lang="en-US" sz="3000" smtClean="0">
                <a:solidFill>
                  <a:srgbClr val="FF0000"/>
                </a:solidFill>
                <a:latin typeface="Times New Roman"/>
                <a:cs typeface="Times New Roman"/>
              </a:rPr>
              <a:t>toàn dân tộc – Mặt trận Dân tộc thống nhất</a:t>
            </a:r>
            <a:endParaRPr lang="en-US" sz="3000" dirty="0">
              <a:solidFill>
                <a:srgbClr val="FF0000"/>
              </a:solidFill>
              <a:latin typeface="Times New Roman"/>
              <a:cs typeface="Times New Roman"/>
            </a:endParaRPr>
          </a:p>
        </p:txBody>
      </p:sp>
      <p:sp>
        <p:nvSpPr>
          <p:cNvPr id="20" name="Text Box 3"/>
          <p:cNvSpPr txBox="1">
            <a:spLocks noChangeArrowheads="1"/>
          </p:cNvSpPr>
          <p:nvPr/>
        </p:nvSpPr>
        <p:spPr bwMode="auto">
          <a:xfrm>
            <a:off x="3413967" y="2997875"/>
            <a:ext cx="565383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just" eaLnBrk="1" hangingPunct="1">
              <a:lnSpc>
                <a:spcPct val="150000"/>
              </a:lnSpc>
            </a:pPr>
            <a:r>
              <a:rPr lang="en-US" sz="2800" smtClean="0">
                <a:solidFill>
                  <a:srgbClr val="CC0066"/>
                </a:solidFill>
                <a:latin typeface="Times New Roman" pitchFamily="18" charset="0"/>
                <a:cs typeface="Times New Roman" pitchFamily="18" charset="0"/>
              </a:rPr>
              <a:t>Phải được xây dựng trên nền tảng liên minh công nhân – nông dân – trí thức và dưới sự lãnh đạo của Đảng.</a:t>
            </a:r>
            <a:endParaRPr lang="en-US" sz="2800">
              <a:solidFill>
                <a:srgbClr val="CC0066"/>
              </a:solidFill>
              <a:latin typeface="Times New Roman" pitchFamily="18" charset="0"/>
              <a:cs typeface="Times New Roman" pitchFamily="18" charset="0"/>
            </a:endParaRPr>
          </a:p>
        </p:txBody>
      </p:sp>
      <p:sp>
        <p:nvSpPr>
          <p:cNvPr id="17" name="Rectangle 16"/>
          <p:cNvSpPr/>
          <p:nvPr/>
        </p:nvSpPr>
        <p:spPr>
          <a:xfrm>
            <a:off x="4024754" y="1418292"/>
            <a:ext cx="5133993" cy="1292662"/>
          </a:xfrm>
          <a:prstGeom prst="rect">
            <a:avLst/>
          </a:prstGeom>
        </p:spPr>
        <p:txBody>
          <a:bodyPr wrap="square">
            <a:spAutoFit/>
          </a:bodyPr>
          <a:lstStyle/>
          <a:p>
            <a:pPr algn="ctr">
              <a:lnSpc>
                <a:spcPct val="150000"/>
              </a:lnSpc>
            </a:pPr>
            <a:r>
              <a:rPr lang="en-US" sz="2600" i="1" smtClean="0">
                <a:solidFill>
                  <a:srgbClr val="002060"/>
                </a:solidFill>
                <a:latin typeface="Times New Roman" pitchFamily="18" charset="0"/>
                <a:cs typeface="Times New Roman" pitchFamily="18" charset="0"/>
              </a:rPr>
              <a:t>Nguyên tắc xây dựng và hoạt động của Mặt trận Dân tộc thống nhất</a:t>
            </a:r>
            <a:endParaRPr lang="en-US" sz="2600" i="1" dirty="0">
              <a:solidFill>
                <a:srgbClr val="002060"/>
              </a:solidFill>
              <a:latin typeface="Times New Roman" pitchFamily="18" charset="0"/>
              <a:cs typeface="Times New Roman" pitchFamily="18" charset="0"/>
            </a:endParaRPr>
          </a:p>
        </p:txBody>
      </p:sp>
      <p:cxnSp>
        <p:nvCxnSpPr>
          <p:cNvPr id="18" name="Straight Connector 17"/>
          <p:cNvCxnSpPr/>
          <p:nvPr/>
        </p:nvCxnSpPr>
        <p:spPr>
          <a:xfrm>
            <a:off x="3048000" y="1981200"/>
            <a:ext cx="0" cy="4124628"/>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032681" y="19812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4"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spTree>
    <p:extLst>
      <p:ext uri="{BB962C8B-B14F-4D97-AF65-F5344CB8AC3E}">
        <p14:creationId xmlns:p14="http://schemas.microsoft.com/office/powerpoint/2010/main" val="932734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500" fill="hold"/>
                                        <p:tgtEl>
                                          <p:spTgt spid="20"/>
                                        </p:tgtEl>
                                        <p:attrNameLst>
                                          <p:attrName>ppt_x</p:attrName>
                                        </p:attrNameLst>
                                      </p:cBhvr>
                                      <p:tavLst>
                                        <p:tav tm="0">
                                          <p:val>
                                            <p:strVal val="#ppt_x"/>
                                          </p:val>
                                        </p:tav>
                                        <p:tav tm="100000">
                                          <p:val>
                                            <p:strVal val="#ppt_x"/>
                                          </p:val>
                                        </p:tav>
                                      </p:tavLst>
                                    </p:anim>
                                    <p:anim calcmode="lin" valueType="num">
                                      <p:cBhvr additive="base">
                                        <p:cTn id="2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19</a:t>
            </a:fld>
            <a:endParaRPr lang="en-US"/>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1026" name="Picture 2" descr="http://www.baovinhlong.com.vn/dataimages/202001/original/images2262011_10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53818"/>
            <a:ext cx="2990160" cy="23336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685800" y="152400"/>
            <a:ext cx="8516039" cy="101566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a:solidFill>
                  <a:srgbClr val="FF0000"/>
                </a:solidFill>
                <a:latin typeface="Times New Roman"/>
                <a:cs typeface="Times New Roman"/>
              </a:rPr>
              <a:t>4</a:t>
            </a:r>
            <a:r>
              <a:rPr lang="en-US" sz="3000" smtClean="0">
                <a:solidFill>
                  <a:srgbClr val="FF0000"/>
                </a:solidFill>
                <a:latin typeface="Times New Roman"/>
                <a:cs typeface="Times New Roman"/>
              </a:rPr>
              <a:t>. Hình thức, nguyên tắc tổ chức của  khối đại </a:t>
            </a:r>
            <a:r>
              <a:rPr lang="en-US" sz="3000">
                <a:solidFill>
                  <a:srgbClr val="FF0000"/>
                </a:solidFill>
                <a:latin typeface="Times New Roman"/>
                <a:cs typeface="Times New Roman"/>
              </a:rPr>
              <a:t>đoàn kết </a:t>
            </a:r>
            <a:r>
              <a:rPr lang="en-US" sz="3000" smtClean="0">
                <a:solidFill>
                  <a:srgbClr val="FF0000"/>
                </a:solidFill>
                <a:latin typeface="Times New Roman"/>
                <a:cs typeface="Times New Roman"/>
              </a:rPr>
              <a:t>toàn dân tộc – Mặt trận Dân tộc thống nhất</a:t>
            </a:r>
            <a:endParaRPr lang="en-US" sz="3000" dirty="0">
              <a:solidFill>
                <a:srgbClr val="FF0000"/>
              </a:solidFill>
              <a:latin typeface="Times New Roman"/>
              <a:cs typeface="Times New Roman"/>
            </a:endParaRPr>
          </a:p>
        </p:txBody>
      </p:sp>
      <p:sp>
        <p:nvSpPr>
          <p:cNvPr id="20" name="Text Box 3"/>
          <p:cNvSpPr txBox="1">
            <a:spLocks noChangeArrowheads="1"/>
          </p:cNvSpPr>
          <p:nvPr/>
        </p:nvSpPr>
        <p:spPr bwMode="auto">
          <a:xfrm>
            <a:off x="3413967" y="2997875"/>
            <a:ext cx="5653833" cy="1307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ctr" eaLnBrk="1" hangingPunct="1">
              <a:lnSpc>
                <a:spcPct val="150000"/>
              </a:lnSpc>
            </a:pPr>
            <a:r>
              <a:rPr lang="en-US" sz="2800" smtClean="0">
                <a:solidFill>
                  <a:srgbClr val="CC0066"/>
                </a:solidFill>
                <a:latin typeface="Times New Roman" pitchFamily="18" charset="0"/>
                <a:cs typeface="Times New Roman" pitchFamily="18" charset="0"/>
              </a:rPr>
              <a:t>Phải hoạt động theo nguyên tắc </a:t>
            </a:r>
          </a:p>
          <a:p>
            <a:pPr algn="ctr" eaLnBrk="1" hangingPunct="1">
              <a:lnSpc>
                <a:spcPct val="150000"/>
              </a:lnSpc>
            </a:pPr>
            <a:r>
              <a:rPr lang="en-US" sz="2800" smtClean="0">
                <a:solidFill>
                  <a:srgbClr val="CC0066"/>
                </a:solidFill>
                <a:latin typeface="Times New Roman" pitchFamily="18" charset="0"/>
                <a:cs typeface="Times New Roman" pitchFamily="18" charset="0"/>
              </a:rPr>
              <a:t>hiệp thương dân chủ.</a:t>
            </a:r>
            <a:endParaRPr lang="en-US" sz="2800">
              <a:solidFill>
                <a:srgbClr val="CC0066"/>
              </a:solidFill>
              <a:latin typeface="Times New Roman" pitchFamily="18" charset="0"/>
              <a:cs typeface="Times New Roman" pitchFamily="18" charset="0"/>
            </a:endParaRPr>
          </a:p>
        </p:txBody>
      </p:sp>
      <p:sp>
        <p:nvSpPr>
          <p:cNvPr id="17" name="Rectangle 16"/>
          <p:cNvSpPr/>
          <p:nvPr/>
        </p:nvSpPr>
        <p:spPr>
          <a:xfrm>
            <a:off x="4024754" y="1418292"/>
            <a:ext cx="5133993" cy="1292662"/>
          </a:xfrm>
          <a:prstGeom prst="rect">
            <a:avLst/>
          </a:prstGeom>
        </p:spPr>
        <p:txBody>
          <a:bodyPr wrap="square">
            <a:spAutoFit/>
          </a:bodyPr>
          <a:lstStyle/>
          <a:p>
            <a:pPr algn="ctr">
              <a:lnSpc>
                <a:spcPct val="150000"/>
              </a:lnSpc>
            </a:pPr>
            <a:r>
              <a:rPr lang="en-US" sz="2600" i="1" smtClean="0">
                <a:solidFill>
                  <a:srgbClr val="002060"/>
                </a:solidFill>
                <a:latin typeface="Times New Roman" pitchFamily="18" charset="0"/>
                <a:cs typeface="Times New Roman" pitchFamily="18" charset="0"/>
              </a:rPr>
              <a:t>Nguyên tắc xây dựng và hoạt động của Mặt trận Dân tộc thống nhất</a:t>
            </a:r>
            <a:endParaRPr lang="en-US" sz="2600" i="1" dirty="0">
              <a:solidFill>
                <a:srgbClr val="002060"/>
              </a:solidFill>
              <a:latin typeface="Times New Roman" pitchFamily="18" charset="0"/>
              <a:cs typeface="Times New Roman" pitchFamily="18" charset="0"/>
            </a:endParaRPr>
          </a:p>
        </p:txBody>
      </p:sp>
      <p:cxnSp>
        <p:nvCxnSpPr>
          <p:cNvPr id="18" name="Straight Connector 17"/>
          <p:cNvCxnSpPr/>
          <p:nvPr/>
        </p:nvCxnSpPr>
        <p:spPr>
          <a:xfrm>
            <a:off x="3048000" y="1981200"/>
            <a:ext cx="0" cy="4124628"/>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032681" y="19812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4"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spTree>
    <p:extLst>
      <p:ext uri="{BB962C8B-B14F-4D97-AF65-F5344CB8AC3E}">
        <p14:creationId xmlns:p14="http://schemas.microsoft.com/office/powerpoint/2010/main" val="2945147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500" fill="hold"/>
                                        <p:tgtEl>
                                          <p:spTgt spid="20"/>
                                        </p:tgtEl>
                                        <p:attrNameLst>
                                          <p:attrName>ppt_x</p:attrName>
                                        </p:attrNameLst>
                                      </p:cBhvr>
                                      <p:tavLst>
                                        <p:tav tm="0">
                                          <p:val>
                                            <p:strVal val="#ppt_x"/>
                                          </p:val>
                                        </p:tav>
                                        <p:tav tm="100000">
                                          <p:val>
                                            <p:strVal val="#ppt_x"/>
                                          </p:val>
                                        </p:tav>
                                      </p:tavLst>
                                    </p:anim>
                                    <p:anim calcmode="lin" valueType="num">
                                      <p:cBhvr additive="base">
                                        <p:cTn id="2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20</a:t>
            </a:fld>
            <a:endParaRPr lang="en-US"/>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1026" name="Picture 2" descr="http://www.baovinhlong.com.vn/dataimages/202001/original/images2262011_10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53818"/>
            <a:ext cx="2990160" cy="23336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685800" y="152400"/>
            <a:ext cx="8516039" cy="101566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a:solidFill>
                  <a:srgbClr val="FF0000"/>
                </a:solidFill>
                <a:latin typeface="Times New Roman"/>
                <a:cs typeface="Times New Roman"/>
              </a:rPr>
              <a:t>4</a:t>
            </a:r>
            <a:r>
              <a:rPr lang="en-US" sz="3000" smtClean="0">
                <a:solidFill>
                  <a:srgbClr val="FF0000"/>
                </a:solidFill>
                <a:latin typeface="Times New Roman"/>
                <a:cs typeface="Times New Roman"/>
              </a:rPr>
              <a:t>. Hình thức, nguyên tắc tổ chức của  khối đại </a:t>
            </a:r>
            <a:r>
              <a:rPr lang="en-US" sz="3000">
                <a:solidFill>
                  <a:srgbClr val="FF0000"/>
                </a:solidFill>
                <a:latin typeface="Times New Roman"/>
                <a:cs typeface="Times New Roman"/>
              </a:rPr>
              <a:t>đoàn kết </a:t>
            </a:r>
            <a:r>
              <a:rPr lang="en-US" sz="3000" smtClean="0">
                <a:solidFill>
                  <a:srgbClr val="FF0000"/>
                </a:solidFill>
                <a:latin typeface="Times New Roman"/>
                <a:cs typeface="Times New Roman"/>
              </a:rPr>
              <a:t>toàn dân tộc – Mặt trận Dân tộc thống nhất</a:t>
            </a:r>
            <a:endParaRPr lang="en-US" sz="3000" dirty="0">
              <a:solidFill>
                <a:srgbClr val="FF0000"/>
              </a:solidFill>
              <a:latin typeface="Times New Roman"/>
              <a:cs typeface="Times New Roman"/>
            </a:endParaRPr>
          </a:p>
        </p:txBody>
      </p:sp>
      <p:sp>
        <p:nvSpPr>
          <p:cNvPr id="20" name="Text Box 3"/>
          <p:cNvSpPr txBox="1">
            <a:spLocks noChangeArrowheads="1"/>
          </p:cNvSpPr>
          <p:nvPr/>
        </p:nvSpPr>
        <p:spPr bwMode="auto">
          <a:xfrm>
            <a:off x="3413967" y="2997875"/>
            <a:ext cx="565383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ctr" eaLnBrk="1" hangingPunct="1">
              <a:lnSpc>
                <a:spcPct val="150000"/>
              </a:lnSpc>
            </a:pPr>
            <a:r>
              <a:rPr lang="en-US" sz="2800" smtClean="0">
                <a:solidFill>
                  <a:srgbClr val="CC0066"/>
                </a:solidFill>
                <a:latin typeface="Times New Roman" pitchFamily="18" charset="0"/>
                <a:cs typeface="Times New Roman" pitchFamily="18" charset="0"/>
              </a:rPr>
              <a:t>Phải đoàn kết lâu dài, chặt chẽ, đoàn kết thật sự, chân thành, thân ái giúp đỡ nhau cùng tiến bộ.</a:t>
            </a:r>
            <a:endParaRPr lang="en-US" sz="2800">
              <a:solidFill>
                <a:srgbClr val="CC0066"/>
              </a:solidFill>
              <a:latin typeface="Times New Roman" pitchFamily="18" charset="0"/>
              <a:cs typeface="Times New Roman" pitchFamily="18" charset="0"/>
            </a:endParaRPr>
          </a:p>
        </p:txBody>
      </p:sp>
      <p:sp>
        <p:nvSpPr>
          <p:cNvPr id="17" name="Rectangle 16"/>
          <p:cNvSpPr/>
          <p:nvPr/>
        </p:nvSpPr>
        <p:spPr>
          <a:xfrm>
            <a:off x="4024754" y="1418292"/>
            <a:ext cx="5133993" cy="1292662"/>
          </a:xfrm>
          <a:prstGeom prst="rect">
            <a:avLst/>
          </a:prstGeom>
        </p:spPr>
        <p:txBody>
          <a:bodyPr wrap="square">
            <a:spAutoFit/>
          </a:bodyPr>
          <a:lstStyle/>
          <a:p>
            <a:pPr algn="ctr">
              <a:lnSpc>
                <a:spcPct val="150000"/>
              </a:lnSpc>
            </a:pPr>
            <a:r>
              <a:rPr lang="en-US" sz="2600" i="1" smtClean="0">
                <a:solidFill>
                  <a:srgbClr val="002060"/>
                </a:solidFill>
                <a:latin typeface="Times New Roman" pitchFamily="18" charset="0"/>
                <a:cs typeface="Times New Roman" pitchFamily="18" charset="0"/>
              </a:rPr>
              <a:t>Nguyên tắc xây dựng và hoạt động của Mặt trận Dân tộc thống nhất</a:t>
            </a:r>
            <a:endParaRPr lang="en-US" sz="2600" i="1" dirty="0">
              <a:solidFill>
                <a:srgbClr val="002060"/>
              </a:solidFill>
              <a:latin typeface="Times New Roman" pitchFamily="18" charset="0"/>
              <a:cs typeface="Times New Roman" pitchFamily="18" charset="0"/>
            </a:endParaRPr>
          </a:p>
        </p:txBody>
      </p:sp>
      <p:cxnSp>
        <p:nvCxnSpPr>
          <p:cNvPr id="18" name="Straight Connector 17"/>
          <p:cNvCxnSpPr/>
          <p:nvPr/>
        </p:nvCxnSpPr>
        <p:spPr>
          <a:xfrm>
            <a:off x="3032681" y="1144221"/>
            <a:ext cx="15319" cy="4961607"/>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032681" y="19812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4"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spTree>
    <p:extLst>
      <p:ext uri="{BB962C8B-B14F-4D97-AF65-F5344CB8AC3E}">
        <p14:creationId xmlns:p14="http://schemas.microsoft.com/office/powerpoint/2010/main" val="2751681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500" fill="hold"/>
                                        <p:tgtEl>
                                          <p:spTgt spid="20"/>
                                        </p:tgtEl>
                                        <p:attrNameLst>
                                          <p:attrName>ppt_x</p:attrName>
                                        </p:attrNameLst>
                                      </p:cBhvr>
                                      <p:tavLst>
                                        <p:tav tm="0">
                                          <p:val>
                                            <p:strVal val="#ppt_x"/>
                                          </p:val>
                                        </p:tav>
                                        <p:tav tm="100000">
                                          <p:val>
                                            <p:strVal val="#ppt_x"/>
                                          </p:val>
                                        </p:tav>
                                      </p:tavLst>
                                    </p:anim>
                                    <p:anim calcmode="lin" valueType="num">
                                      <p:cBhvr additive="base">
                                        <p:cTn id="2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21</a:t>
            </a:fld>
            <a:endParaRPr lang="en-US"/>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1026" name="Picture 2" descr="http://www.baovinhlong.com.vn/dataimages/202001/original/images2262011_10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53818"/>
            <a:ext cx="2990160" cy="23336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685800" y="152400"/>
            <a:ext cx="8516039" cy="101566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a:solidFill>
                  <a:srgbClr val="FF0000"/>
                </a:solidFill>
                <a:latin typeface="Times New Roman"/>
                <a:cs typeface="Times New Roman"/>
              </a:rPr>
              <a:t>4</a:t>
            </a:r>
            <a:r>
              <a:rPr lang="en-US" sz="3000" smtClean="0">
                <a:solidFill>
                  <a:srgbClr val="FF0000"/>
                </a:solidFill>
                <a:latin typeface="Times New Roman"/>
                <a:cs typeface="Times New Roman"/>
              </a:rPr>
              <a:t>. Hình thức, nguyên tắc tổ chức của  khối đại </a:t>
            </a:r>
            <a:r>
              <a:rPr lang="en-US" sz="3000">
                <a:solidFill>
                  <a:srgbClr val="FF0000"/>
                </a:solidFill>
                <a:latin typeface="Times New Roman"/>
                <a:cs typeface="Times New Roman"/>
              </a:rPr>
              <a:t>đoàn kết </a:t>
            </a:r>
            <a:r>
              <a:rPr lang="en-US" sz="3000" smtClean="0">
                <a:solidFill>
                  <a:srgbClr val="FF0000"/>
                </a:solidFill>
                <a:latin typeface="Times New Roman"/>
                <a:cs typeface="Times New Roman"/>
              </a:rPr>
              <a:t>toàn dân tộc – Mặt trận Dân tộc thống nhất</a:t>
            </a:r>
            <a:endParaRPr lang="en-US" sz="3000" dirty="0">
              <a:solidFill>
                <a:srgbClr val="FF0000"/>
              </a:solidFill>
              <a:latin typeface="Times New Roman"/>
              <a:cs typeface="Times New Roman"/>
            </a:endParaRPr>
          </a:p>
        </p:txBody>
      </p:sp>
      <p:sp>
        <p:nvSpPr>
          <p:cNvPr id="17" name="Rectangle 16"/>
          <p:cNvSpPr/>
          <p:nvPr/>
        </p:nvSpPr>
        <p:spPr>
          <a:xfrm>
            <a:off x="4010007" y="2209800"/>
            <a:ext cx="4448194" cy="620619"/>
          </a:xfrm>
          <a:prstGeom prst="rect">
            <a:avLst/>
          </a:prstGeom>
        </p:spPr>
        <p:txBody>
          <a:bodyPr wrap="square">
            <a:spAutoFit/>
          </a:bodyPr>
          <a:lstStyle/>
          <a:p>
            <a:pPr algn="ctr">
              <a:lnSpc>
                <a:spcPct val="150000"/>
              </a:lnSpc>
            </a:pPr>
            <a:r>
              <a:rPr lang="en-US" sz="2600" i="1" smtClean="0">
                <a:solidFill>
                  <a:srgbClr val="002060"/>
                </a:solidFill>
                <a:latin typeface="Times New Roman" pitchFamily="18" charset="0"/>
                <a:cs typeface="Times New Roman" pitchFamily="18" charset="0"/>
              </a:rPr>
              <a:t>Mặt trận Dân tộc thống nhất</a:t>
            </a:r>
            <a:endParaRPr lang="en-US" sz="2600" i="1" dirty="0">
              <a:solidFill>
                <a:srgbClr val="002060"/>
              </a:solidFill>
              <a:latin typeface="Times New Roman" pitchFamily="18" charset="0"/>
              <a:cs typeface="Times New Roman" pitchFamily="18" charset="0"/>
            </a:endParaRPr>
          </a:p>
        </p:txBody>
      </p:sp>
      <p:cxnSp>
        <p:nvCxnSpPr>
          <p:cNvPr id="18" name="Straight Connector 17"/>
          <p:cNvCxnSpPr/>
          <p:nvPr/>
        </p:nvCxnSpPr>
        <p:spPr>
          <a:xfrm>
            <a:off x="3048000" y="1173429"/>
            <a:ext cx="0" cy="3275679"/>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017933" y="2601819"/>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4"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sp>
        <p:nvSpPr>
          <p:cNvPr id="16" name="Rectangle 15"/>
          <p:cNvSpPr/>
          <p:nvPr/>
        </p:nvSpPr>
        <p:spPr>
          <a:xfrm>
            <a:off x="4024754" y="3886200"/>
            <a:ext cx="5133993" cy="1292662"/>
          </a:xfrm>
          <a:prstGeom prst="rect">
            <a:avLst/>
          </a:prstGeom>
        </p:spPr>
        <p:txBody>
          <a:bodyPr wrap="square">
            <a:spAutoFit/>
          </a:bodyPr>
          <a:lstStyle/>
          <a:p>
            <a:pPr algn="ctr">
              <a:lnSpc>
                <a:spcPct val="150000"/>
              </a:lnSpc>
            </a:pPr>
            <a:r>
              <a:rPr lang="en-US" sz="2600" i="1" smtClean="0">
                <a:solidFill>
                  <a:srgbClr val="002060"/>
                </a:solidFill>
                <a:latin typeface="Times New Roman" pitchFamily="18" charset="0"/>
                <a:cs typeface="Times New Roman" pitchFamily="18" charset="0"/>
              </a:rPr>
              <a:t>Nguyên tắc xây dựng và hoạt động của Mặt trận Dân tộc thống nhất</a:t>
            </a:r>
            <a:endParaRPr lang="en-US" sz="2600" i="1" dirty="0">
              <a:solidFill>
                <a:srgbClr val="002060"/>
              </a:solidFill>
              <a:latin typeface="Times New Roman" pitchFamily="18" charset="0"/>
              <a:cs typeface="Times New Roman" pitchFamily="18" charset="0"/>
            </a:endParaRPr>
          </a:p>
        </p:txBody>
      </p:sp>
      <p:cxnSp>
        <p:nvCxnSpPr>
          <p:cNvPr id="21" name="Straight Arrow Connector 20"/>
          <p:cNvCxnSpPr/>
          <p:nvPr/>
        </p:nvCxnSpPr>
        <p:spPr>
          <a:xfrm>
            <a:off x="3032681" y="4449108"/>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851556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22</a:t>
            </a:fld>
            <a:endParaRPr lang="en-US"/>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1026" name="Picture 2" descr="http://www.baovinhlong.com.vn/dataimages/202001/original/images2262011_10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53818"/>
            <a:ext cx="2990160" cy="23336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685800" y="665202"/>
            <a:ext cx="8516039" cy="55399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a:solidFill>
                  <a:srgbClr val="FF0000"/>
                </a:solidFill>
                <a:latin typeface="Times New Roman"/>
                <a:cs typeface="Times New Roman"/>
              </a:rPr>
              <a:t>5</a:t>
            </a:r>
            <a:r>
              <a:rPr lang="en-US" sz="3000" smtClean="0">
                <a:solidFill>
                  <a:srgbClr val="FF0000"/>
                </a:solidFill>
                <a:latin typeface="Times New Roman"/>
                <a:cs typeface="Times New Roman"/>
              </a:rPr>
              <a:t>. Phương thức xây dựng khối đại </a:t>
            </a:r>
            <a:r>
              <a:rPr lang="en-US" sz="3000">
                <a:solidFill>
                  <a:srgbClr val="FF0000"/>
                </a:solidFill>
                <a:latin typeface="Times New Roman"/>
                <a:cs typeface="Times New Roman"/>
              </a:rPr>
              <a:t>đoàn kết </a:t>
            </a:r>
            <a:r>
              <a:rPr lang="en-US" sz="3000" smtClean="0">
                <a:solidFill>
                  <a:srgbClr val="FF0000"/>
                </a:solidFill>
                <a:latin typeface="Times New Roman"/>
                <a:cs typeface="Times New Roman"/>
              </a:rPr>
              <a:t>dân tộc</a:t>
            </a:r>
            <a:endParaRPr lang="en-US" sz="3000" dirty="0">
              <a:solidFill>
                <a:srgbClr val="FF0000"/>
              </a:solidFill>
              <a:latin typeface="Times New Roman"/>
              <a:cs typeface="Times New Roman"/>
            </a:endParaRPr>
          </a:p>
        </p:txBody>
      </p:sp>
      <p:sp>
        <p:nvSpPr>
          <p:cNvPr id="20" name="Text Box 3"/>
          <p:cNvSpPr txBox="1">
            <a:spLocks noChangeArrowheads="1"/>
          </p:cNvSpPr>
          <p:nvPr/>
        </p:nvSpPr>
        <p:spPr bwMode="auto">
          <a:xfrm>
            <a:off x="3352800" y="2362200"/>
            <a:ext cx="5653833" cy="364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just" eaLnBrk="1" hangingPunct="1">
              <a:lnSpc>
                <a:spcPct val="140000"/>
              </a:lnSpc>
            </a:pPr>
            <a:r>
              <a:rPr lang="en-US" sz="2800" smtClean="0">
                <a:solidFill>
                  <a:srgbClr val="CC0066"/>
                </a:solidFill>
                <a:latin typeface="Times New Roman" pitchFamily="18" charset="0"/>
                <a:cs typeface="Times New Roman" pitchFamily="18" charset="0"/>
              </a:rPr>
              <a:t>“</a:t>
            </a:r>
            <a:r>
              <a:rPr lang="vi-VN" sz="2800">
                <a:solidFill>
                  <a:srgbClr val="CC0066"/>
                </a:solidFill>
                <a:latin typeface="Times New Roman" pitchFamily="18" charset="0"/>
                <a:cs typeface="Times New Roman" pitchFamily="18" charset="0"/>
              </a:rPr>
              <a:t>Dân vận là vận động tất cả lực lượng của </a:t>
            </a:r>
            <a:r>
              <a:rPr lang="vi-VN" sz="2800" i="1">
                <a:solidFill>
                  <a:srgbClr val="CC0066"/>
                </a:solidFill>
                <a:latin typeface="Times New Roman" pitchFamily="18" charset="0"/>
                <a:cs typeface="Times New Roman" pitchFamily="18" charset="0"/>
              </a:rPr>
              <a:t>mỗi một người dân</a:t>
            </a:r>
            <a:r>
              <a:rPr lang="vi-VN" sz="2800">
                <a:solidFill>
                  <a:srgbClr val="CC0066"/>
                </a:solidFill>
                <a:latin typeface="Times New Roman" pitchFamily="18" charset="0"/>
                <a:cs typeface="Times New Roman" pitchFamily="18" charset="0"/>
              </a:rPr>
              <a:t> không để sót một người dân nào, góp thành lực lượng toàn dân, để thực hành những công việc nên làm, những công việc Chính phủ và Đoàn thể đã giao </a:t>
            </a:r>
            <a:r>
              <a:rPr lang="vi-VN" sz="2800" smtClean="0">
                <a:solidFill>
                  <a:srgbClr val="CC0066"/>
                </a:solidFill>
                <a:latin typeface="Times New Roman" pitchFamily="18" charset="0"/>
                <a:cs typeface="Times New Roman" pitchFamily="18" charset="0"/>
              </a:rPr>
              <a:t>cho</a:t>
            </a:r>
            <a:r>
              <a:rPr lang="en-US" sz="2800" smtClean="0">
                <a:solidFill>
                  <a:srgbClr val="CC0066"/>
                </a:solidFill>
                <a:latin typeface="Times New Roman" pitchFamily="18" charset="0"/>
                <a:cs typeface="Times New Roman" pitchFamily="18" charset="0"/>
              </a:rPr>
              <a:t>”.</a:t>
            </a:r>
            <a:endParaRPr lang="en-US" sz="2800">
              <a:solidFill>
                <a:srgbClr val="CC0066"/>
              </a:solidFill>
              <a:latin typeface="Times New Roman" pitchFamily="18" charset="0"/>
              <a:cs typeface="Times New Roman" pitchFamily="18" charset="0"/>
            </a:endParaRPr>
          </a:p>
        </p:txBody>
      </p:sp>
      <p:sp>
        <p:nvSpPr>
          <p:cNvPr id="17" name="Rectangle 16"/>
          <p:cNvSpPr/>
          <p:nvPr/>
        </p:nvSpPr>
        <p:spPr>
          <a:xfrm>
            <a:off x="3810000" y="1524000"/>
            <a:ext cx="5500246" cy="692497"/>
          </a:xfrm>
          <a:prstGeom prst="rect">
            <a:avLst/>
          </a:prstGeom>
        </p:spPr>
        <p:txBody>
          <a:bodyPr wrap="square">
            <a:spAutoFit/>
          </a:bodyPr>
          <a:lstStyle/>
          <a:p>
            <a:pPr algn="ctr">
              <a:lnSpc>
                <a:spcPct val="150000"/>
              </a:lnSpc>
            </a:pPr>
            <a:r>
              <a:rPr lang="en-US" sz="2600" i="1" smtClean="0">
                <a:solidFill>
                  <a:srgbClr val="002060"/>
                </a:solidFill>
                <a:latin typeface="Times New Roman" pitchFamily="18" charset="0"/>
                <a:cs typeface="Times New Roman" pitchFamily="18" charset="0"/>
              </a:rPr>
              <a:t>Làm tốt công tác vận động quần chúng</a:t>
            </a:r>
            <a:endParaRPr lang="en-US" sz="2600" i="1" dirty="0">
              <a:solidFill>
                <a:srgbClr val="002060"/>
              </a:solidFill>
              <a:latin typeface="Times New Roman" pitchFamily="18" charset="0"/>
              <a:cs typeface="Times New Roman" pitchFamily="18" charset="0"/>
            </a:endParaRPr>
          </a:p>
        </p:txBody>
      </p:sp>
      <p:cxnSp>
        <p:nvCxnSpPr>
          <p:cNvPr id="18" name="Straight Connector 17"/>
          <p:cNvCxnSpPr/>
          <p:nvPr/>
        </p:nvCxnSpPr>
        <p:spPr>
          <a:xfrm>
            <a:off x="3032681" y="1144221"/>
            <a:ext cx="15319" cy="4961607"/>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032681" y="19812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4"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spTree>
    <p:extLst>
      <p:ext uri="{BB962C8B-B14F-4D97-AF65-F5344CB8AC3E}">
        <p14:creationId xmlns:p14="http://schemas.microsoft.com/office/powerpoint/2010/main" val="2808910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500" fill="hold"/>
                                        <p:tgtEl>
                                          <p:spTgt spid="20"/>
                                        </p:tgtEl>
                                        <p:attrNameLst>
                                          <p:attrName>ppt_x</p:attrName>
                                        </p:attrNameLst>
                                      </p:cBhvr>
                                      <p:tavLst>
                                        <p:tav tm="0">
                                          <p:val>
                                            <p:strVal val="#ppt_x"/>
                                          </p:val>
                                        </p:tav>
                                        <p:tav tm="100000">
                                          <p:val>
                                            <p:strVal val="#ppt_x"/>
                                          </p:val>
                                        </p:tav>
                                      </p:tavLst>
                                    </p:anim>
                                    <p:anim calcmode="lin" valueType="num">
                                      <p:cBhvr additive="base">
                                        <p:cTn id="2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23</a:t>
            </a:fld>
            <a:endParaRPr lang="en-US"/>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1026" name="Picture 2" descr="http://www.baovinhlong.com.vn/dataimages/202001/original/images2262011_10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53818"/>
            <a:ext cx="2990160" cy="23336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628650" y="1524424"/>
            <a:ext cx="8516039" cy="55399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dirty="0">
                <a:solidFill>
                  <a:srgbClr val="FF0000"/>
                </a:solidFill>
                <a:latin typeface="Times New Roman"/>
                <a:cs typeface="Times New Roman"/>
              </a:rPr>
              <a:t>5</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Phương</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thức</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xây</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dựng</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khối</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đại</a:t>
            </a:r>
            <a:r>
              <a:rPr lang="en-US" sz="3000" dirty="0" smtClean="0">
                <a:solidFill>
                  <a:srgbClr val="FF0000"/>
                </a:solidFill>
                <a:latin typeface="Times New Roman"/>
                <a:cs typeface="Times New Roman"/>
              </a:rPr>
              <a:t> </a:t>
            </a:r>
            <a:r>
              <a:rPr lang="en-US" sz="3000" dirty="0" err="1">
                <a:solidFill>
                  <a:srgbClr val="FF0000"/>
                </a:solidFill>
                <a:latin typeface="Times New Roman"/>
                <a:cs typeface="Times New Roman"/>
              </a:rPr>
              <a:t>đoàn</a:t>
            </a:r>
            <a:r>
              <a:rPr lang="en-US" sz="3000" dirty="0">
                <a:solidFill>
                  <a:srgbClr val="FF0000"/>
                </a:solidFill>
                <a:latin typeface="Times New Roman"/>
                <a:cs typeface="Times New Roman"/>
              </a:rPr>
              <a:t> </a:t>
            </a:r>
            <a:r>
              <a:rPr lang="en-US" sz="3000" dirty="0" err="1">
                <a:solidFill>
                  <a:srgbClr val="FF0000"/>
                </a:solidFill>
                <a:latin typeface="Times New Roman"/>
                <a:cs typeface="Times New Roman"/>
              </a:rPr>
              <a:t>kết</a:t>
            </a:r>
            <a:r>
              <a:rPr lang="en-US" sz="3000" dirty="0">
                <a:solidFill>
                  <a:srgbClr val="FF0000"/>
                </a:solidFill>
                <a:latin typeface="Times New Roman"/>
                <a:cs typeface="Times New Roman"/>
              </a:rPr>
              <a:t> </a:t>
            </a:r>
            <a:r>
              <a:rPr lang="en-US" sz="3000" dirty="0" err="1" smtClean="0">
                <a:solidFill>
                  <a:srgbClr val="FF0000"/>
                </a:solidFill>
                <a:latin typeface="Times New Roman"/>
                <a:cs typeface="Times New Roman"/>
              </a:rPr>
              <a:t>dân</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tộc</a:t>
            </a:r>
            <a:endParaRPr lang="en-US" sz="3000" dirty="0">
              <a:solidFill>
                <a:srgbClr val="FF0000"/>
              </a:solidFill>
              <a:latin typeface="Times New Roman"/>
              <a:cs typeface="Times New Roman"/>
            </a:endParaRPr>
          </a:p>
        </p:txBody>
      </p:sp>
      <p:sp>
        <p:nvSpPr>
          <p:cNvPr id="17" name="Rectangle 16"/>
          <p:cNvSpPr/>
          <p:nvPr/>
        </p:nvSpPr>
        <p:spPr>
          <a:xfrm>
            <a:off x="4191000" y="2667000"/>
            <a:ext cx="4800600" cy="1820948"/>
          </a:xfrm>
          <a:prstGeom prst="rect">
            <a:avLst/>
          </a:prstGeom>
        </p:spPr>
        <p:txBody>
          <a:bodyPr wrap="square">
            <a:spAutoFit/>
          </a:bodyPr>
          <a:lstStyle/>
          <a:p>
            <a:pPr algn="just">
              <a:lnSpc>
                <a:spcPct val="150000"/>
              </a:lnSpc>
            </a:pPr>
            <a:r>
              <a:rPr lang="en-US" sz="2600" i="1" smtClean="0">
                <a:solidFill>
                  <a:srgbClr val="002060"/>
                </a:solidFill>
                <a:latin typeface="Times New Roman" pitchFamily="18" charset="0"/>
                <a:cs typeface="Times New Roman" pitchFamily="18" charset="0"/>
              </a:rPr>
              <a:t>Thành lập đoàn thể, tổ chức quần chúng phù hợp với từng đối tượng để tập hợp quần chúng</a:t>
            </a:r>
            <a:endParaRPr lang="en-US" sz="2600" i="1" dirty="0">
              <a:solidFill>
                <a:srgbClr val="002060"/>
              </a:solidFill>
              <a:latin typeface="Times New Roman" pitchFamily="18" charset="0"/>
              <a:cs typeface="Times New Roman" pitchFamily="18" charset="0"/>
            </a:endParaRP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pic>
        <p:nvPicPr>
          <p:cNvPr id="14" name="Picture 13"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5</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620911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24</a:t>
            </a:fld>
            <a:endParaRPr lang="en-US"/>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1026" name="Picture 2" descr="http://www.baovinhlong.com.vn/dataimages/202001/original/images2262011_10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53818"/>
            <a:ext cx="2990160" cy="23336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685800" y="1427202"/>
            <a:ext cx="8516039" cy="55399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dirty="0">
                <a:solidFill>
                  <a:srgbClr val="FF0000"/>
                </a:solidFill>
                <a:latin typeface="Times New Roman"/>
                <a:cs typeface="Times New Roman"/>
              </a:rPr>
              <a:t>5</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Phương</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thức</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xây</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dựng</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khối</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đại</a:t>
            </a:r>
            <a:r>
              <a:rPr lang="en-US" sz="3000" dirty="0" smtClean="0">
                <a:solidFill>
                  <a:srgbClr val="FF0000"/>
                </a:solidFill>
                <a:latin typeface="Times New Roman"/>
                <a:cs typeface="Times New Roman"/>
              </a:rPr>
              <a:t> </a:t>
            </a:r>
            <a:r>
              <a:rPr lang="en-US" sz="3000" dirty="0" err="1">
                <a:solidFill>
                  <a:srgbClr val="FF0000"/>
                </a:solidFill>
                <a:latin typeface="Times New Roman"/>
                <a:cs typeface="Times New Roman"/>
              </a:rPr>
              <a:t>đoàn</a:t>
            </a:r>
            <a:r>
              <a:rPr lang="en-US" sz="3000" dirty="0">
                <a:solidFill>
                  <a:srgbClr val="FF0000"/>
                </a:solidFill>
                <a:latin typeface="Times New Roman"/>
                <a:cs typeface="Times New Roman"/>
              </a:rPr>
              <a:t> </a:t>
            </a:r>
            <a:r>
              <a:rPr lang="en-US" sz="3000" dirty="0" err="1">
                <a:solidFill>
                  <a:srgbClr val="FF0000"/>
                </a:solidFill>
                <a:latin typeface="Times New Roman"/>
                <a:cs typeface="Times New Roman"/>
              </a:rPr>
              <a:t>kết</a:t>
            </a:r>
            <a:r>
              <a:rPr lang="en-US" sz="3000" dirty="0">
                <a:solidFill>
                  <a:srgbClr val="FF0000"/>
                </a:solidFill>
                <a:latin typeface="Times New Roman"/>
                <a:cs typeface="Times New Roman"/>
              </a:rPr>
              <a:t> </a:t>
            </a:r>
            <a:r>
              <a:rPr lang="en-US" sz="3000" dirty="0" err="1" smtClean="0">
                <a:solidFill>
                  <a:srgbClr val="FF0000"/>
                </a:solidFill>
                <a:latin typeface="Times New Roman"/>
                <a:cs typeface="Times New Roman"/>
              </a:rPr>
              <a:t>dân</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tộc</a:t>
            </a:r>
            <a:endParaRPr lang="en-US" sz="3000" dirty="0">
              <a:solidFill>
                <a:srgbClr val="FF0000"/>
              </a:solidFill>
              <a:latin typeface="Times New Roman"/>
              <a:cs typeface="Times New Roman"/>
            </a:endParaRPr>
          </a:p>
        </p:txBody>
      </p:sp>
      <p:sp>
        <p:nvSpPr>
          <p:cNvPr id="17" name="Rectangle 16"/>
          <p:cNvSpPr/>
          <p:nvPr/>
        </p:nvSpPr>
        <p:spPr>
          <a:xfrm>
            <a:off x="4191000" y="2667000"/>
            <a:ext cx="4800600" cy="1892826"/>
          </a:xfrm>
          <a:prstGeom prst="rect">
            <a:avLst/>
          </a:prstGeom>
        </p:spPr>
        <p:txBody>
          <a:bodyPr wrap="square">
            <a:spAutoFit/>
          </a:bodyPr>
          <a:lstStyle/>
          <a:p>
            <a:pPr algn="just">
              <a:lnSpc>
                <a:spcPct val="150000"/>
              </a:lnSpc>
            </a:pPr>
            <a:r>
              <a:rPr lang="en-US" sz="2600" i="1" smtClean="0">
                <a:solidFill>
                  <a:srgbClr val="002060"/>
                </a:solidFill>
                <a:latin typeface="Times New Roman" pitchFamily="18" charset="0"/>
                <a:cs typeface="Times New Roman" pitchFamily="18" charset="0"/>
              </a:rPr>
              <a:t>Các đoàn thể, tổ chức quần chúng được tập hợp và đoàn kết trong Mặt trận Dân tộc thống nhất.</a:t>
            </a:r>
            <a:endParaRPr lang="en-US" sz="2600" i="1" dirty="0">
              <a:solidFill>
                <a:srgbClr val="002060"/>
              </a:solidFill>
              <a:latin typeface="Times New Roman" pitchFamily="18" charset="0"/>
              <a:cs typeface="Times New Roman" pitchFamily="18" charset="0"/>
            </a:endParaRP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pic>
        <p:nvPicPr>
          <p:cNvPr id="14" name="Picture 13"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5</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1657261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25</a:t>
            </a:fld>
            <a:endParaRPr lang="en-US"/>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1026" name="Picture 2" descr="http://www.baovinhlong.com.vn/dataimages/202001/original/images2262011_10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53818"/>
            <a:ext cx="2990160" cy="23336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685800" y="1122402"/>
            <a:ext cx="8516039" cy="55399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dirty="0">
                <a:solidFill>
                  <a:srgbClr val="FF0000"/>
                </a:solidFill>
                <a:latin typeface="Times New Roman"/>
                <a:cs typeface="Times New Roman"/>
              </a:rPr>
              <a:t>5</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Phương</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thức</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xây</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dựng</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khối</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đại</a:t>
            </a:r>
            <a:r>
              <a:rPr lang="en-US" sz="3000" dirty="0" smtClean="0">
                <a:solidFill>
                  <a:srgbClr val="FF0000"/>
                </a:solidFill>
                <a:latin typeface="Times New Roman"/>
                <a:cs typeface="Times New Roman"/>
              </a:rPr>
              <a:t> </a:t>
            </a:r>
            <a:r>
              <a:rPr lang="en-US" sz="3000" dirty="0" err="1">
                <a:solidFill>
                  <a:srgbClr val="FF0000"/>
                </a:solidFill>
                <a:latin typeface="Times New Roman"/>
                <a:cs typeface="Times New Roman"/>
              </a:rPr>
              <a:t>đoàn</a:t>
            </a:r>
            <a:r>
              <a:rPr lang="en-US" sz="3000" dirty="0">
                <a:solidFill>
                  <a:srgbClr val="FF0000"/>
                </a:solidFill>
                <a:latin typeface="Times New Roman"/>
                <a:cs typeface="Times New Roman"/>
              </a:rPr>
              <a:t> </a:t>
            </a:r>
            <a:r>
              <a:rPr lang="en-US" sz="3000" dirty="0" err="1">
                <a:solidFill>
                  <a:srgbClr val="FF0000"/>
                </a:solidFill>
                <a:latin typeface="Times New Roman"/>
                <a:cs typeface="Times New Roman"/>
              </a:rPr>
              <a:t>kết</a:t>
            </a:r>
            <a:r>
              <a:rPr lang="en-US" sz="3000" dirty="0">
                <a:solidFill>
                  <a:srgbClr val="FF0000"/>
                </a:solidFill>
                <a:latin typeface="Times New Roman"/>
                <a:cs typeface="Times New Roman"/>
              </a:rPr>
              <a:t> </a:t>
            </a:r>
            <a:r>
              <a:rPr lang="en-US" sz="3000" dirty="0" err="1" smtClean="0">
                <a:solidFill>
                  <a:srgbClr val="FF0000"/>
                </a:solidFill>
                <a:latin typeface="Times New Roman"/>
                <a:cs typeface="Times New Roman"/>
              </a:rPr>
              <a:t>dân</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tộc</a:t>
            </a:r>
            <a:endParaRPr lang="en-US" sz="3000" dirty="0">
              <a:solidFill>
                <a:srgbClr val="FF0000"/>
              </a:solidFill>
              <a:latin typeface="Times New Roman"/>
              <a:cs typeface="Times New Roman"/>
            </a:endParaRPr>
          </a:p>
        </p:txBody>
      </p:sp>
      <p:sp>
        <p:nvSpPr>
          <p:cNvPr id="17" name="Rectangle 16"/>
          <p:cNvSpPr/>
          <p:nvPr/>
        </p:nvSpPr>
        <p:spPr>
          <a:xfrm>
            <a:off x="3810000" y="1524000"/>
            <a:ext cx="5181600" cy="692497"/>
          </a:xfrm>
          <a:prstGeom prst="rect">
            <a:avLst/>
          </a:prstGeom>
        </p:spPr>
        <p:txBody>
          <a:bodyPr wrap="square">
            <a:spAutoFit/>
          </a:bodyPr>
          <a:lstStyle/>
          <a:p>
            <a:pPr algn="ctr">
              <a:lnSpc>
                <a:spcPct val="150000"/>
              </a:lnSpc>
            </a:pPr>
            <a:r>
              <a:rPr lang="en-US" sz="2600" i="1" spc="-150" smtClean="0">
                <a:solidFill>
                  <a:srgbClr val="002060"/>
                </a:solidFill>
                <a:latin typeface="Times New Roman" pitchFamily="18" charset="0"/>
                <a:cs typeface="Times New Roman" pitchFamily="18" charset="0"/>
              </a:rPr>
              <a:t>Làm tốt công tác vận động quần chúng</a:t>
            </a:r>
            <a:endParaRPr lang="en-US" sz="2600" i="1" spc="-150" dirty="0">
              <a:solidFill>
                <a:srgbClr val="002060"/>
              </a:solidFill>
              <a:latin typeface="Times New Roman" pitchFamily="18" charset="0"/>
              <a:cs typeface="Times New Roman" pitchFamily="18" charset="0"/>
            </a:endParaRPr>
          </a:p>
        </p:txBody>
      </p:sp>
      <p:cxnSp>
        <p:nvCxnSpPr>
          <p:cNvPr id="18" name="Straight Connector 17"/>
          <p:cNvCxnSpPr/>
          <p:nvPr/>
        </p:nvCxnSpPr>
        <p:spPr>
          <a:xfrm flipH="1">
            <a:off x="3040340" y="1981200"/>
            <a:ext cx="7660" cy="32766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032681" y="19812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4"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sp>
        <p:nvSpPr>
          <p:cNvPr id="16" name="Rectangle 15"/>
          <p:cNvSpPr/>
          <p:nvPr/>
        </p:nvSpPr>
        <p:spPr>
          <a:xfrm>
            <a:off x="4114800" y="2822138"/>
            <a:ext cx="4800600" cy="1292662"/>
          </a:xfrm>
          <a:prstGeom prst="rect">
            <a:avLst/>
          </a:prstGeom>
        </p:spPr>
        <p:txBody>
          <a:bodyPr wrap="square">
            <a:spAutoFit/>
          </a:bodyPr>
          <a:lstStyle/>
          <a:p>
            <a:pPr algn="just"/>
            <a:r>
              <a:rPr lang="en-US" sz="2600" i="1" smtClean="0">
                <a:solidFill>
                  <a:srgbClr val="002060"/>
                </a:solidFill>
                <a:latin typeface="Times New Roman" pitchFamily="18" charset="0"/>
                <a:cs typeface="Times New Roman" pitchFamily="18" charset="0"/>
              </a:rPr>
              <a:t>Thành lập đoàn thể, tổ chức quần chúng phù hợp với từng đối tượng để tập hợp quần chúng</a:t>
            </a:r>
            <a:endParaRPr lang="en-US" sz="2600" i="1" dirty="0">
              <a:solidFill>
                <a:srgbClr val="002060"/>
              </a:solidFill>
              <a:latin typeface="Times New Roman" pitchFamily="18" charset="0"/>
              <a:cs typeface="Times New Roman" pitchFamily="18" charset="0"/>
            </a:endParaRPr>
          </a:p>
        </p:txBody>
      </p:sp>
      <p:cxnSp>
        <p:nvCxnSpPr>
          <p:cNvPr id="21" name="Straight Arrow Connector 20"/>
          <p:cNvCxnSpPr/>
          <p:nvPr/>
        </p:nvCxnSpPr>
        <p:spPr>
          <a:xfrm>
            <a:off x="3048000" y="3452965"/>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4191000" y="4422338"/>
            <a:ext cx="4800600" cy="1292662"/>
          </a:xfrm>
          <a:prstGeom prst="rect">
            <a:avLst/>
          </a:prstGeom>
        </p:spPr>
        <p:txBody>
          <a:bodyPr wrap="square">
            <a:spAutoFit/>
          </a:bodyPr>
          <a:lstStyle/>
          <a:p>
            <a:pPr algn="just"/>
            <a:r>
              <a:rPr lang="en-US" sz="2600" i="1" smtClean="0">
                <a:solidFill>
                  <a:srgbClr val="002060"/>
                </a:solidFill>
                <a:latin typeface="Times New Roman" pitchFamily="18" charset="0"/>
                <a:cs typeface="Times New Roman" pitchFamily="18" charset="0"/>
              </a:rPr>
              <a:t>Các đoàn thể, tổ chức quần chúng được tập hợp và đoàn kết trong Mặt trận Dân tộc thống nhất.</a:t>
            </a:r>
            <a:endParaRPr lang="en-US" sz="2600" i="1" dirty="0">
              <a:solidFill>
                <a:srgbClr val="002060"/>
              </a:solidFill>
              <a:latin typeface="Times New Roman" pitchFamily="18" charset="0"/>
              <a:cs typeface="Times New Roman" pitchFamily="18" charset="0"/>
            </a:endParaRPr>
          </a:p>
        </p:txBody>
      </p:sp>
      <p:cxnSp>
        <p:nvCxnSpPr>
          <p:cNvPr id="23" name="Straight Arrow Connector 22"/>
          <p:cNvCxnSpPr/>
          <p:nvPr/>
        </p:nvCxnSpPr>
        <p:spPr>
          <a:xfrm>
            <a:off x="3017933" y="52578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pic>
        <p:nvPicPr>
          <p:cNvPr id="20" name="Picture 19"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Connector 23"/>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5"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5</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355733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500" fill="hold"/>
                                        <p:tgtEl>
                                          <p:spTgt spid="23"/>
                                        </p:tgtEl>
                                        <p:attrNameLst>
                                          <p:attrName>ppt_x</p:attrName>
                                        </p:attrNameLst>
                                      </p:cBhvr>
                                      <p:tavLst>
                                        <p:tav tm="0">
                                          <p:val>
                                            <p:strVal val="#ppt_x"/>
                                          </p:val>
                                        </p:tav>
                                        <p:tav tm="100000">
                                          <p:val>
                                            <p:strVal val="#ppt_x"/>
                                          </p:val>
                                        </p:tav>
                                      </p:tavLst>
                                    </p:anim>
                                    <p:anim calcmode="lin" valueType="num">
                                      <p:cBhvr additive="base">
                                        <p:cTn id="18" dur="500" fill="hold"/>
                                        <p:tgtEl>
                                          <p:spTgt spid="23"/>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additive="base">
                                        <p:cTn id="21" dur="500" fill="hold"/>
                                        <p:tgtEl>
                                          <p:spTgt spid="22"/>
                                        </p:tgtEl>
                                        <p:attrNameLst>
                                          <p:attrName>ppt_x</p:attrName>
                                        </p:attrNameLst>
                                      </p:cBhvr>
                                      <p:tavLst>
                                        <p:tav tm="0">
                                          <p:val>
                                            <p:strVal val="#ppt_x"/>
                                          </p:val>
                                        </p:tav>
                                        <p:tav tm="100000">
                                          <p:val>
                                            <p:strVal val="#ppt_x"/>
                                          </p:val>
                                        </p:tav>
                                      </p:tavLst>
                                    </p:anim>
                                    <p:anim calcmode="lin" valueType="num">
                                      <p:cBhvr additive="base">
                                        <p:cTn id="2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26</a:t>
            </a:fld>
            <a:endParaRPr lang="en-US"/>
          </a:p>
        </p:txBody>
      </p:sp>
      <p:sp>
        <p:nvSpPr>
          <p:cNvPr id="7" name="Title 1"/>
          <p:cNvSpPr txBox="1">
            <a:spLocks/>
          </p:cNvSpPr>
          <p:nvPr/>
        </p:nvSpPr>
        <p:spPr>
          <a:xfrm>
            <a:off x="381000" y="3009900"/>
            <a:ext cx="8382000" cy="7239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spcBef>
                <a:spcPts val="0"/>
              </a:spcBef>
            </a:pPr>
            <a:r>
              <a:rPr lang="en-US" sz="2800" b="1" dirty="0" smtClean="0">
                <a:solidFill>
                  <a:srgbClr val="FF0000"/>
                </a:solidFill>
                <a:latin typeface="Times New Roman" pitchFamily="18" charset="0"/>
                <a:cs typeface="Times New Roman" pitchFamily="18" charset="0"/>
              </a:rPr>
              <a:t>II. </a:t>
            </a:r>
            <a:r>
              <a:rPr lang="en-US" sz="2800" b="1" dirty="0" smtClean="0">
                <a:solidFill>
                  <a:srgbClr val="FF0000"/>
                </a:solidFill>
                <a:latin typeface="Times New Roman" pitchFamily="18" charset="0"/>
                <a:cs typeface="Times New Roman" pitchFamily="18" charset="0"/>
              </a:rPr>
              <a:t>TƯ </a:t>
            </a:r>
            <a:r>
              <a:rPr lang="en-US" sz="2800" b="1" dirty="0">
                <a:solidFill>
                  <a:srgbClr val="FF0000"/>
                </a:solidFill>
                <a:latin typeface="Times New Roman" pitchFamily="18" charset="0"/>
                <a:cs typeface="Times New Roman" pitchFamily="18" charset="0"/>
              </a:rPr>
              <a:t>TƯỞNG HỒ CHÍ MINH </a:t>
            </a:r>
          </a:p>
          <a:p>
            <a:pPr>
              <a:lnSpc>
                <a:spcPct val="150000"/>
              </a:lnSpc>
              <a:spcBef>
                <a:spcPts val="0"/>
              </a:spcBef>
            </a:pPr>
            <a:r>
              <a:rPr lang="en-US" sz="2800" b="1" dirty="0" smtClean="0">
                <a:solidFill>
                  <a:srgbClr val="FF0000"/>
                </a:solidFill>
                <a:latin typeface="Times New Roman" pitchFamily="18" charset="0"/>
                <a:cs typeface="Times New Roman" pitchFamily="18" charset="0"/>
              </a:rPr>
              <a:t>VỀ </a:t>
            </a:r>
            <a:r>
              <a:rPr lang="en-US" sz="2800" b="1" dirty="0">
                <a:solidFill>
                  <a:srgbClr val="FF0000"/>
                </a:solidFill>
                <a:latin typeface="Times New Roman" pitchFamily="18" charset="0"/>
                <a:cs typeface="Times New Roman" pitchFamily="18" charset="0"/>
              </a:rPr>
              <a:t>ĐOÀN KẾT </a:t>
            </a:r>
            <a:r>
              <a:rPr lang="en-US" sz="2800" b="1" dirty="0" smtClean="0">
                <a:solidFill>
                  <a:srgbClr val="FF0000"/>
                </a:solidFill>
                <a:latin typeface="Times New Roman" pitchFamily="18" charset="0"/>
                <a:cs typeface="Times New Roman" pitchFamily="18" charset="0"/>
              </a:rPr>
              <a:t>QUỐC TẾ</a:t>
            </a:r>
            <a:endParaRPr lang="en-US" sz="2800" b="1" dirty="0">
              <a:solidFill>
                <a:srgbClr val="FF0000"/>
              </a:solidFill>
              <a:latin typeface="Times New Roman" pitchFamily="18" charset="0"/>
              <a:cs typeface="Times New Roman" pitchFamily="18" charset="0"/>
            </a:endParaRPr>
          </a:p>
        </p:txBody>
      </p:sp>
      <p:sp>
        <p:nvSpPr>
          <p:cNvPr id="9"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0" name="Rectangle 9"/>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pic>
        <p:nvPicPr>
          <p:cNvPr id="12" name="Picture 11"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Connector 12"/>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5</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57794389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D3018F1E-720D-4B7A-9D03-B5F7EFACBCD0}" type="datetime1">
              <a:rPr lang="en-US" smtClean="0"/>
              <a:t>12/22/2024</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27</a:t>
            </a:fld>
            <a:endParaRPr lang="en-US"/>
          </a:p>
        </p:txBody>
      </p:sp>
      <p:sp>
        <p:nvSpPr>
          <p:cNvPr id="10" name="Text Box 36"/>
          <p:cNvSpPr txBox="1">
            <a:spLocks noChangeArrowheads="1"/>
          </p:cNvSpPr>
          <p:nvPr/>
        </p:nvSpPr>
        <p:spPr bwMode="auto">
          <a:xfrm>
            <a:off x="-25270" y="2133600"/>
            <a:ext cx="2082670" cy="2677656"/>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800" dirty="0" smtClean="0">
                <a:solidFill>
                  <a:srgbClr val="FF0000"/>
                </a:solidFill>
                <a:latin typeface="Times New Roman"/>
                <a:cs typeface="Times New Roman"/>
              </a:rPr>
              <a:t>II. </a:t>
            </a:r>
            <a:r>
              <a:rPr lang="en-US" sz="2800" dirty="0" err="1" smtClean="0">
                <a:solidFill>
                  <a:srgbClr val="FF0000"/>
                </a:solidFill>
                <a:latin typeface="Times New Roman"/>
                <a:cs typeface="Times New Roman"/>
              </a:rPr>
              <a:t>Tư</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tưởng</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Hồ</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Chí</a:t>
            </a:r>
            <a:r>
              <a:rPr lang="en-US" sz="2800" dirty="0" smtClean="0">
                <a:solidFill>
                  <a:srgbClr val="FF0000"/>
                </a:solidFill>
                <a:latin typeface="Times New Roman"/>
                <a:cs typeface="Times New Roman"/>
              </a:rPr>
              <a:t> Minh </a:t>
            </a:r>
            <a:r>
              <a:rPr lang="en-US" sz="2800" dirty="0" err="1" smtClean="0">
                <a:solidFill>
                  <a:srgbClr val="FF0000"/>
                </a:solidFill>
                <a:latin typeface="Times New Roman"/>
                <a:cs typeface="Times New Roman"/>
              </a:rPr>
              <a:t>về</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đoàn</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kết</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quốc</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tế</a:t>
            </a:r>
            <a:endParaRPr lang="en-US" sz="2800" dirty="0">
              <a:solidFill>
                <a:srgbClr val="FF0000"/>
              </a:solidFill>
              <a:latin typeface="Times New Roman"/>
              <a:cs typeface="Times New Roman"/>
            </a:endParaRPr>
          </a:p>
        </p:txBody>
      </p:sp>
      <p:sp>
        <p:nvSpPr>
          <p:cNvPr id="11" name="Text Box 36"/>
          <p:cNvSpPr txBox="1">
            <a:spLocks noChangeArrowheads="1"/>
          </p:cNvSpPr>
          <p:nvPr/>
        </p:nvSpPr>
        <p:spPr bwMode="auto">
          <a:xfrm>
            <a:off x="2996705" y="1107757"/>
            <a:ext cx="5105765"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mtClean="0">
                <a:solidFill>
                  <a:srgbClr val="FF0000"/>
                </a:solidFill>
                <a:latin typeface="Times New Roman"/>
                <a:cs typeface="Times New Roman"/>
              </a:rPr>
              <a:t>1. Sự cần thiết phải đoàn kết quốc tế</a:t>
            </a:r>
            <a:endParaRPr lang="en-US" sz="2600" dirty="0">
              <a:solidFill>
                <a:srgbClr val="FF0000"/>
              </a:solidFill>
              <a:latin typeface="Times New Roman"/>
              <a:cs typeface="Times New Roman"/>
            </a:endParaRPr>
          </a:p>
        </p:txBody>
      </p:sp>
      <p:cxnSp>
        <p:nvCxnSpPr>
          <p:cNvPr id="15" name="Straight Connector 14"/>
          <p:cNvCxnSpPr/>
          <p:nvPr/>
        </p:nvCxnSpPr>
        <p:spPr>
          <a:xfrm>
            <a:off x="2092898" y="1261902"/>
            <a:ext cx="0" cy="3843498"/>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082670" y="12954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8" name="Rectangle 17"/>
          <p:cNvSpPr/>
          <p:nvPr/>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 Box 36"/>
          <p:cNvSpPr txBox="1">
            <a:spLocks noChangeArrowheads="1"/>
          </p:cNvSpPr>
          <p:nvPr/>
        </p:nvSpPr>
        <p:spPr bwMode="auto">
          <a:xfrm>
            <a:off x="2844670" y="2895600"/>
            <a:ext cx="652793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pc="-150">
                <a:solidFill>
                  <a:srgbClr val="FF0000"/>
                </a:solidFill>
                <a:latin typeface="Times New Roman"/>
                <a:cs typeface="Times New Roman"/>
              </a:rPr>
              <a:t>2</a:t>
            </a:r>
            <a:r>
              <a:rPr lang="en-US" sz="2600" spc="-150" smtClean="0">
                <a:solidFill>
                  <a:srgbClr val="FF0000"/>
                </a:solidFill>
                <a:latin typeface="Times New Roman"/>
                <a:cs typeface="Times New Roman"/>
              </a:rPr>
              <a:t>. Lực lượng đoàn kết quốc tế và hình thức tổ chức</a:t>
            </a:r>
            <a:endParaRPr lang="en-US" sz="2600" spc="-150" dirty="0">
              <a:solidFill>
                <a:srgbClr val="FF0000"/>
              </a:solidFill>
              <a:latin typeface="Times New Roman"/>
              <a:cs typeface="Times New Roman"/>
            </a:endParaRPr>
          </a:p>
        </p:txBody>
      </p:sp>
      <p:sp>
        <p:nvSpPr>
          <p:cNvPr id="22" name="Text Box 36"/>
          <p:cNvSpPr txBox="1">
            <a:spLocks noChangeArrowheads="1"/>
          </p:cNvSpPr>
          <p:nvPr/>
        </p:nvSpPr>
        <p:spPr bwMode="auto">
          <a:xfrm>
            <a:off x="2997070" y="4841557"/>
            <a:ext cx="454673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a:solidFill>
                  <a:srgbClr val="FF0000"/>
                </a:solidFill>
                <a:latin typeface="Times New Roman"/>
                <a:cs typeface="Times New Roman"/>
              </a:rPr>
              <a:t>3</a:t>
            </a:r>
            <a:r>
              <a:rPr lang="en-US" sz="2600" smtClean="0">
                <a:solidFill>
                  <a:srgbClr val="FF0000"/>
                </a:solidFill>
                <a:latin typeface="Times New Roman"/>
                <a:cs typeface="Times New Roman"/>
              </a:rPr>
              <a:t>. Nguyên tắc đoàn kết quốc tế</a:t>
            </a:r>
            <a:endParaRPr lang="en-US" sz="2600" dirty="0">
              <a:solidFill>
                <a:srgbClr val="FF0000"/>
              </a:solidFill>
              <a:latin typeface="Times New Roman"/>
              <a:cs typeface="Times New Roman"/>
            </a:endParaRPr>
          </a:p>
        </p:txBody>
      </p:sp>
      <p:cxnSp>
        <p:nvCxnSpPr>
          <p:cNvPr id="24" name="Straight Arrow Connector 23"/>
          <p:cNvCxnSpPr/>
          <p:nvPr/>
        </p:nvCxnSpPr>
        <p:spPr>
          <a:xfrm>
            <a:off x="2082670" y="32004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2082670" y="51054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7"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pic>
        <p:nvPicPr>
          <p:cNvPr id="19" name="Picture 18"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3"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5</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578614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fill="hold"/>
                                        <p:tgtEl>
                                          <p:spTgt spid="24"/>
                                        </p:tgtEl>
                                        <p:attrNameLst>
                                          <p:attrName>ppt_x</p:attrName>
                                        </p:attrNameLst>
                                      </p:cBhvr>
                                      <p:tavLst>
                                        <p:tav tm="0">
                                          <p:val>
                                            <p:strVal val="#ppt_x"/>
                                          </p:val>
                                        </p:tav>
                                        <p:tav tm="100000">
                                          <p:val>
                                            <p:strVal val="#ppt_x"/>
                                          </p:val>
                                        </p:tav>
                                      </p:tavLst>
                                    </p:anim>
                                    <p:anim calcmode="lin" valueType="num">
                                      <p:cBhvr additive="base">
                                        <p:cTn id="22" dur="500" fill="hold"/>
                                        <p:tgtEl>
                                          <p:spTgt spid="24"/>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 calcmode="lin" valueType="num">
                                      <p:cBhvr additive="base">
                                        <p:cTn id="25" dur="500" fill="hold"/>
                                        <p:tgtEl>
                                          <p:spTgt spid="21"/>
                                        </p:tgtEl>
                                        <p:attrNameLst>
                                          <p:attrName>ppt_x</p:attrName>
                                        </p:attrNameLst>
                                      </p:cBhvr>
                                      <p:tavLst>
                                        <p:tav tm="0">
                                          <p:val>
                                            <p:strVal val="#ppt_x"/>
                                          </p:val>
                                        </p:tav>
                                        <p:tav tm="100000">
                                          <p:val>
                                            <p:strVal val="#ppt_x"/>
                                          </p:val>
                                        </p:tav>
                                      </p:tavLst>
                                    </p:anim>
                                    <p:anim calcmode="lin" valueType="num">
                                      <p:cBhvr additive="base">
                                        <p:cTn id="2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anim calcmode="lin" valueType="num">
                                      <p:cBhvr additive="base">
                                        <p:cTn id="31" dur="500" fill="hold"/>
                                        <p:tgtEl>
                                          <p:spTgt spid="25"/>
                                        </p:tgtEl>
                                        <p:attrNameLst>
                                          <p:attrName>ppt_x</p:attrName>
                                        </p:attrNameLst>
                                      </p:cBhvr>
                                      <p:tavLst>
                                        <p:tav tm="0">
                                          <p:val>
                                            <p:strVal val="#ppt_x"/>
                                          </p:val>
                                        </p:tav>
                                        <p:tav tm="100000">
                                          <p:val>
                                            <p:strVal val="#ppt_x"/>
                                          </p:val>
                                        </p:tav>
                                      </p:tavLst>
                                    </p:anim>
                                    <p:anim calcmode="lin" valueType="num">
                                      <p:cBhvr additive="base">
                                        <p:cTn id="32" dur="500" fill="hold"/>
                                        <p:tgtEl>
                                          <p:spTgt spid="25"/>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 calcmode="lin" valueType="num">
                                      <p:cBhvr additive="base">
                                        <p:cTn id="35" dur="500" fill="hold"/>
                                        <p:tgtEl>
                                          <p:spTgt spid="22"/>
                                        </p:tgtEl>
                                        <p:attrNameLst>
                                          <p:attrName>ppt_x</p:attrName>
                                        </p:attrNameLst>
                                      </p:cBhvr>
                                      <p:tavLst>
                                        <p:tav tm="0">
                                          <p:val>
                                            <p:strVal val="#ppt_x"/>
                                          </p:val>
                                        </p:tav>
                                        <p:tav tm="100000">
                                          <p:val>
                                            <p:strVal val="#ppt_x"/>
                                          </p:val>
                                        </p:tav>
                                      </p:tavLst>
                                    </p:anim>
                                    <p:anim calcmode="lin" valueType="num">
                                      <p:cBhvr additive="base">
                                        <p:cTn id="3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1" grpId="0"/>
      <p:bldP spid="2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28</a:t>
            </a:fld>
            <a:endParaRPr lang="en-US"/>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1026" name="Picture 2" descr="http://www.baovinhlong.com.vn/dataimages/202001/original/images2262011_10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53818"/>
            <a:ext cx="2990160" cy="23336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628650" y="1447275"/>
            <a:ext cx="8516039" cy="55399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a:solidFill>
                  <a:srgbClr val="FF0000"/>
                </a:solidFill>
                <a:latin typeface="Times New Roman"/>
                <a:cs typeface="Times New Roman"/>
              </a:rPr>
              <a:t>1</a:t>
            </a:r>
            <a:r>
              <a:rPr lang="en-US" sz="3000" smtClean="0">
                <a:solidFill>
                  <a:srgbClr val="FF0000"/>
                </a:solidFill>
                <a:latin typeface="Times New Roman"/>
                <a:cs typeface="Times New Roman"/>
              </a:rPr>
              <a:t>. Sự cần thiết phải đoàn kết quốc tế</a:t>
            </a:r>
            <a:endParaRPr lang="en-US" sz="3000" dirty="0">
              <a:solidFill>
                <a:srgbClr val="FF0000"/>
              </a:solidFill>
              <a:latin typeface="Times New Roman"/>
              <a:cs typeface="Times New Roman"/>
            </a:endParaRPr>
          </a:p>
        </p:txBody>
      </p:sp>
      <p:sp>
        <p:nvSpPr>
          <p:cNvPr id="17" name="Rectangle 16"/>
          <p:cNvSpPr/>
          <p:nvPr/>
        </p:nvSpPr>
        <p:spPr>
          <a:xfrm>
            <a:off x="4191000" y="2286000"/>
            <a:ext cx="4800600" cy="2492990"/>
          </a:xfrm>
          <a:prstGeom prst="rect">
            <a:avLst/>
          </a:prstGeom>
        </p:spPr>
        <p:txBody>
          <a:bodyPr wrap="square">
            <a:spAutoFit/>
          </a:bodyPr>
          <a:lstStyle/>
          <a:p>
            <a:pPr algn="just">
              <a:lnSpc>
                <a:spcPct val="150000"/>
              </a:lnSpc>
            </a:pPr>
            <a:r>
              <a:rPr lang="en-US" sz="2600" i="1" smtClean="0">
                <a:solidFill>
                  <a:srgbClr val="002060"/>
                </a:solidFill>
                <a:latin typeface="Times New Roman" pitchFamily="18" charset="0"/>
                <a:cs typeface="Times New Roman" pitchFamily="18" charset="0"/>
              </a:rPr>
              <a:t>Thực hiện đoàn kết quốc tế nhằm kết hợp sức mạnh dân tộc với sức mạnh thời đại, tạo sức mạnh tổng hợp cho cách mạng.</a:t>
            </a:r>
            <a:endParaRPr lang="en-US" sz="2600" i="1" dirty="0">
              <a:solidFill>
                <a:srgbClr val="002060"/>
              </a:solidFill>
              <a:latin typeface="Times New Roman" pitchFamily="18" charset="0"/>
              <a:cs typeface="Times New Roman" pitchFamily="18" charset="0"/>
            </a:endParaRPr>
          </a:p>
        </p:txBody>
      </p:sp>
      <p:cxnSp>
        <p:nvCxnSpPr>
          <p:cNvPr id="18" name="Straight Connector 17"/>
          <p:cNvCxnSpPr/>
          <p:nvPr/>
        </p:nvCxnSpPr>
        <p:spPr>
          <a:xfrm>
            <a:off x="2990160" y="2133600"/>
            <a:ext cx="57840" cy="3972228"/>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048000" y="3452965"/>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pic>
        <p:nvPicPr>
          <p:cNvPr id="14" name="Picture 13"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5</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116731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29</a:t>
            </a:fld>
            <a:endParaRPr lang="en-US"/>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1026" name="Picture 2" descr="http://www.baovinhlong.com.vn/dataimages/202001/original/images2262011_10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53818"/>
            <a:ext cx="2990160" cy="23336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768493" y="1427202"/>
            <a:ext cx="8516039" cy="55399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dirty="0">
                <a:solidFill>
                  <a:srgbClr val="FF0000"/>
                </a:solidFill>
                <a:latin typeface="Times New Roman"/>
                <a:cs typeface="Times New Roman"/>
              </a:rPr>
              <a:t>1</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Sự</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cần</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thiết</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phải</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đoàn</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kết</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quốc</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tế</a:t>
            </a:r>
            <a:endParaRPr lang="en-US" sz="3000" dirty="0">
              <a:solidFill>
                <a:srgbClr val="FF0000"/>
              </a:solidFill>
              <a:latin typeface="Times New Roman"/>
              <a:cs typeface="Times New Roman"/>
            </a:endParaRPr>
          </a:p>
        </p:txBody>
      </p:sp>
      <p:sp>
        <p:nvSpPr>
          <p:cNvPr id="17" name="Rectangle 16"/>
          <p:cNvSpPr/>
          <p:nvPr/>
        </p:nvSpPr>
        <p:spPr>
          <a:xfrm>
            <a:off x="4191000" y="2286000"/>
            <a:ext cx="4800600" cy="2492990"/>
          </a:xfrm>
          <a:prstGeom prst="rect">
            <a:avLst/>
          </a:prstGeom>
        </p:spPr>
        <p:txBody>
          <a:bodyPr wrap="square">
            <a:spAutoFit/>
          </a:bodyPr>
          <a:lstStyle/>
          <a:p>
            <a:pPr algn="just">
              <a:lnSpc>
                <a:spcPct val="150000"/>
              </a:lnSpc>
            </a:pPr>
            <a:r>
              <a:rPr lang="en-US" sz="2600" i="1" smtClean="0">
                <a:solidFill>
                  <a:srgbClr val="002060"/>
                </a:solidFill>
                <a:latin typeface="Times New Roman" pitchFamily="18" charset="0"/>
                <a:cs typeface="Times New Roman" pitchFamily="18" charset="0"/>
              </a:rPr>
              <a:t>Thực hiện đoàn kết quốc tế nhằm góp phần cùng nhân dân thế giới thực hiện thắng lợi các mục tiêu cách mạng của thời đại.</a:t>
            </a:r>
            <a:endParaRPr lang="en-US" sz="2600" i="1" dirty="0">
              <a:solidFill>
                <a:srgbClr val="002060"/>
              </a:solidFill>
              <a:latin typeface="Times New Roman" pitchFamily="18" charset="0"/>
              <a:cs typeface="Times New Roman" pitchFamily="18" charset="0"/>
            </a:endParaRPr>
          </a:p>
        </p:txBody>
      </p:sp>
      <p:cxnSp>
        <p:nvCxnSpPr>
          <p:cNvPr id="18" name="Straight Connector 17"/>
          <p:cNvCxnSpPr/>
          <p:nvPr/>
        </p:nvCxnSpPr>
        <p:spPr>
          <a:xfrm>
            <a:off x="2990160" y="1981200"/>
            <a:ext cx="57840" cy="4124628"/>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048000" y="3452965"/>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pic>
        <p:nvPicPr>
          <p:cNvPr id="14" name="Picture 13"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5</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12272630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30</a:t>
            </a:fld>
            <a:endParaRPr lang="en-US"/>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1026" name="Picture 2" descr="http://www.baovinhlong.com.vn/dataimages/202001/original/images2262011_10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53818"/>
            <a:ext cx="2990160" cy="23336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741989" y="1240349"/>
            <a:ext cx="8516039" cy="55399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dirty="0">
                <a:solidFill>
                  <a:srgbClr val="FF0000"/>
                </a:solidFill>
                <a:latin typeface="Times New Roman"/>
                <a:cs typeface="Times New Roman"/>
              </a:rPr>
              <a:t>2</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Lực</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lượng</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đoàn</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kết</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quốc</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tế</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và</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hình</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thức</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tổ</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chức</a:t>
            </a:r>
            <a:endParaRPr lang="en-US" sz="3000" dirty="0">
              <a:solidFill>
                <a:srgbClr val="FF0000"/>
              </a:solidFill>
              <a:latin typeface="Times New Roman"/>
              <a:cs typeface="Times New Roman"/>
            </a:endParaRPr>
          </a:p>
        </p:txBody>
      </p:sp>
      <p:sp>
        <p:nvSpPr>
          <p:cNvPr id="17" name="Rectangle 16"/>
          <p:cNvSpPr/>
          <p:nvPr/>
        </p:nvSpPr>
        <p:spPr>
          <a:xfrm>
            <a:off x="4114800" y="1669703"/>
            <a:ext cx="4395836" cy="692497"/>
          </a:xfrm>
          <a:prstGeom prst="rect">
            <a:avLst/>
          </a:prstGeom>
        </p:spPr>
        <p:txBody>
          <a:bodyPr wrap="square">
            <a:spAutoFit/>
          </a:bodyPr>
          <a:lstStyle/>
          <a:p>
            <a:pPr algn="just">
              <a:lnSpc>
                <a:spcPct val="150000"/>
              </a:lnSpc>
            </a:pPr>
            <a:r>
              <a:rPr lang="en-US" sz="2600" i="1" smtClean="0">
                <a:solidFill>
                  <a:srgbClr val="002060"/>
                </a:solidFill>
                <a:latin typeface="Times New Roman" pitchFamily="18" charset="0"/>
                <a:cs typeface="Times New Roman" pitchFamily="18" charset="0"/>
              </a:rPr>
              <a:t>Các lực lượng cần đoàn kết</a:t>
            </a:r>
            <a:endParaRPr lang="en-US" sz="2600" i="1" dirty="0">
              <a:solidFill>
                <a:srgbClr val="002060"/>
              </a:solidFill>
              <a:latin typeface="Times New Roman" pitchFamily="18" charset="0"/>
              <a:cs typeface="Times New Roman" pitchFamily="18" charset="0"/>
            </a:endParaRPr>
          </a:p>
        </p:txBody>
      </p:sp>
      <p:cxnSp>
        <p:nvCxnSpPr>
          <p:cNvPr id="18" name="Straight Connector 17"/>
          <p:cNvCxnSpPr/>
          <p:nvPr/>
        </p:nvCxnSpPr>
        <p:spPr>
          <a:xfrm>
            <a:off x="3048000" y="1981200"/>
            <a:ext cx="0" cy="4124628"/>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048000" y="19812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3124200" y="2453818"/>
            <a:ext cx="6096000" cy="2492990"/>
          </a:xfrm>
          <a:prstGeom prst="rect">
            <a:avLst/>
          </a:prstGeom>
        </p:spPr>
        <p:txBody>
          <a:bodyPr wrap="square">
            <a:spAutoFit/>
          </a:bodyPr>
          <a:lstStyle/>
          <a:p>
            <a:pPr algn="just">
              <a:lnSpc>
                <a:spcPct val="150000"/>
              </a:lnSpc>
            </a:pPr>
            <a:r>
              <a:rPr lang="en-US" sz="2600" i="1" spc="-150" smtClean="0">
                <a:solidFill>
                  <a:srgbClr val="CC0066"/>
                </a:solidFill>
                <a:latin typeface="Times New Roman" pitchFamily="18" charset="0"/>
                <a:cs typeface="Times New Roman" pitchFamily="18" charset="0"/>
              </a:rPr>
              <a:t>- Phong trào cộng sản và công nhân quốc tế.</a:t>
            </a:r>
          </a:p>
          <a:p>
            <a:pPr algn="just">
              <a:lnSpc>
                <a:spcPct val="150000"/>
              </a:lnSpc>
            </a:pPr>
            <a:r>
              <a:rPr lang="en-US" sz="2600" i="1" smtClean="0">
                <a:solidFill>
                  <a:srgbClr val="CC0066"/>
                </a:solidFill>
                <a:latin typeface="Times New Roman" pitchFamily="18" charset="0"/>
                <a:cs typeface="Times New Roman" pitchFamily="18" charset="0"/>
              </a:rPr>
              <a:t>- Phong trào đấu tranh giải phóng dân tộc.</a:t>
            </a:r>
          </a:p>
          <a:p>
            <a:pPr algn="just">
              <a:lnSpc>
                <a:spcPct val="150000"/>
              </a:lnSpc>
            </a:pPr>
            <a:r>
              <a:rPr lang="en-US" sz="2600" i="1" smtClean="0">
                <a:solidFill>
                  <a:srgbClr val="CC0066"/>
                </a:solidFill>
                <a:latin typeface="Times New Roman" pitchFamily="18" charset="0"/>
                <a:cs typeface="Times New Roman" pitchFamily="18" charset="0"/>
              </a:rPr>
              <a:t>- Lực lượng tiến bộ, yêu chuộng hòa bình, dân chủ, tự do và công lý.</a:t>
            </a:r>
            <a:endParaRPr lang="en-US" sz="2600" i="1" dirty="0">
              <a:solidFill>
                <a:srgbClr val="CC0066"/>
              </a:solidFill>
              <a:latin typeface="Times New Roman" pitchFamily="18" charset="0"/>
              <a:cs typeface="Times New Roman" pitchFamily="18" charset="0"/>
            </a:endParaRPr>
          </a:p>
        </p:txBody>
      </p:sp>
      <p:sp>
        <p:nvSpPr>
          <p:cNvPr id="14"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pic>
        <p:nvPicPr>
          <p:cNvPr id="16" name="Picture 15"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1"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5</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727207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anim calcmode="lin" valueType="num">
                                      <p:cBhvr additive="base">
                                        <p:cTn id="1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3">
                                            <p:txEl>
                                              <p:pRg st="1" end="1"/>
                                            </p:txEl>
                                          </p:spTgt>
                                        </p:tgtEl>
                                        <p:attrNameLst>
                                          <p:attrName>style.visibility</p:attrName>
                                        </p:attrNameLst>
                                      </p:cBhvr>
                                      <p:to>
                                        <p:strVal val="visible"/>
                                      </p:to>
                                    </p:set>
                                    <p:anim calcmode="lin" valueType="num">
                                      <p:cBhvr additive="base">
                                        <p:cTn id="2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3">
                                            <p:txEl>
                                              <p:pRg st="2" end="2"/>
                                            </p:txEl>
                                          </p:spTgt>
                                        </p:tgtEl>
                                        <p:attrNameLst>
                                          <p:attrName>style.visibility</p:attrName>
                                        </p:attrNameLst>
                                      </p:cBhvr>
                                      <p:to>
                                        <p:strVal val="visible"/>
                                      </p:to>
                                    </p:set>
                                    <p:anim calcmode="lin" valueType="num">
                                      <p:cBhvr additive="base">
                                        <p:cTn id="29"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31</a:t>
            </a:fld>
            <a:endParaRPr lang="en-US"/>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1026" name="Picture 2" descr="http://www.baovinhlong.com.vn/dataimages/202001/original/images2262011_10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53818"/>
            <a:ext cx="2990160" cy="23336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741989" y="1228737"/>
            <a:ext cx="8516039" cy="55399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dirty="0">
                <a:solidFill>
                  <a:srgbClr val="FF0000"/>
                </a:solidFill>
                <a:latin typeface="Times New Roman"/>
                <a:cs typeface="Times New Roman"/>
              </a:rPr>
              <a:t>2</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Lực</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lượng</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đoàn</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kết</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quốc</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tế</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và</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hình</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thức</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tổ</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chức</a:t>
            </a:r>
            <a:endParaRPr lang="en-US" sz="3000" dirty="0">
              <a:solidFill>
                <a:srgbClr val="FF0000"/>
              </a:solidFill>
              <a:latin typeface="Times New Roman"/>
              <a:cs typeface="Times New Roman"/>
            </a:endParaRPr>
          </a:p>
        </p:txBody>
      </p:sp>
      <p:sp>
        <p:nvSpPr>
          <p:cNvPr id="17" name="Rectangle 16"/>
          <p:cNvSpPr/>
          <p:nvPr/>
        </p:nvSpPr>
        <p:spPr>
          <a:xfrm>
            <a:off x="4114800" y="1669703"/>
            <a:ext cx="4395836" cy="620619"/>
          </a:xfrm>
          <a:prstGeom prst="rect">
            <a:avLst/>
          </a:prstGeom>
        </p:spPr>
        <p:txBody>
          <a:bodyPr wrap="square">
            <a:spAutoFit/>
          </a:bodyPr>
          <a:lstStyle/>
          <a:p>
            <a:pPr algn="just">
              <a:lnSpc>
                <a:spcPct val="150000"/>
              </a:lnSpc>
            </a:pPr>
            <a:r>
              <a:rPr lang="en-US" sz="2600" i="1" smtClean="0">
                <a:solidFill>
                  <a:srgbClr val="002060"/>
                </a:solidFill>
                <a:latin typeface="Times New Roman" pitchFamily="18" charset="0"/>
                <a:cs typeface="Times New Roman" pitchFamily="18" charset="0"/>
              </a:rPr>
              <a:t>Hình thức tổ chức</a:t>
            </a:r>
            <a:endParaRPr lang="en-US" sz="2600" i="1" dirty="0">
              <a:solidFill>
                <a:srgbClr val="002060"/>
              </a:solidFill>
              <a:latin typeface="Times New Roman" pitchFamily="18" charset="0"/>
              <a:cs typeface="Times New Roman" pitchFamily="18" charset="0"/>
            </a:endParaRPr>
          </a:p>
        </p:txBody>
      </p:sp>
      <p:cxnSp>
        <p:nvCxnSpPr>
          <p:cNvPr id="18" name="Straight Connector 17"/>
          <p:cNvCxnSpPr/>
          <p:nvPr/>
        </p:nvCxnSpPr>
        <p:spPr>
          <a:xfrm>
            <a:off x="3048000" y="1981200"/>
            <a:ext cx="0" cy="4124628"/>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048000" y="19812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3657600" y="3274381"/>
            <a:ext cx="4853036" cy="830997"/>
          </a:xfrm>
          <a:prstGeom prst="rect">
            <a:avLst/>
          </a:prstGeom>
        </p:spPr>
        <p:txBody>
          <a:bodyPr wrap="square">
            <a:spAutoFit/>
          </a:bodyPr>
          <a:lstStyle/>
          <a:p>
            <a:pPr algn="ctr">
              <a:lnSpc>
                <a:spcPct val="150000"/>
              </a:lnSpc>
            </a:pPr>
            <a:r>
              <a:rPr lang="en-US" sz="3200" i="1" smtClean="0">
                <a:solidFill>
                  <a:srgbClr val="CC0066"/>
                </a:solidFill>
                <a:latin typeface="Times New Roman" pitchFamily="18" charset="0"/>
                <a:cs typeface="Times New Roman" pitchFamily="18" charset="0"/>
              </a:rPr>
              <a:t>Mặt trận đoàn kết quốc tế</a:t>
            </a:r>
            <a:endParaRPr lang="en-US" sz="3200" i="1" dirty="0">
              <a:solidFill>
                <a:srgbClr val="CC0066"/>
              </a:solidFill>
              <a:latin typeface="Times New Roman" pitchFamily="18" charset="0"/>
              <a:cs typeface="Times New Roman" pitchFamily="18" charset="0"/>
            </a:endParaRPr>
          </a:p>
        </p:txBody>
      </p:sp>
      <p:sp>
        <p:nvSpPr>
          <p:cNvPr id="14"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pic>
        <p:nvPicPr>
          <p:cNvPr id="16" name="Picture 15"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1"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5</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788661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32</a:t>
            </a:fld>
            <a:endParaRPr lang="en-US"/>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1026" name="Picture 2" descr="http://www.baovinhlong.com.vn/dataimages/202001/original/images2262011_10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53818"/>
            <a:ext cx="2990160" cy="23336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1981200" y="1096199"/>
            <a:ext cx="5638801" cy="55399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dirty="0">
                <a:solidFill>
                  <a:srgbClr val="FF0000"/>
                </a:solidFill>
                <a:latin typeface="Times New Roman"/>
                <a:cs typeface="Times New Roman"/>
              </a:rPr>
              <a:t>3</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Nguyên</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tắc</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đoàn</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kết</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quốc</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tế</a:t>
            </a:r>
            <a:endParaRPr lang="en-US" sz="3000" dirty="0">
              <a:solidFill>
                <a:srgbClr val="FF0000"/>
              </a:solidFill>
              <a:latin typeface="Times New Roman"/>
              <a:cs typeface="Times New Roman"/>
            </a:endParaRPr>
          </a:p>
        </p:txBody>
      </p:sp>
      <p:sp>
        <p:nvSpPr>
          <p:cNvPr id="17" name="Rectangle 16"/>
          <p:cNvSpPr/>
          <p:nvPr/>
        </p:nvSpPr>
        <p:spPr>
          <a:xfrm>
            <a:off x="4114800" y="1669703"/>
            <a:ext cx="4395836" cy="1292662"/>
          </a:xfrm>
          <a:prstGeom prst="rect">
            <a:avLst/>
          </a:prstGeom>
        </p:spPr>
        <p:txBody>
          <a:bodyPr wrap="square">
            <a:spAutoFit/>
          </a:bodyPr>
          <a:lstStyle/>
          <a:p>
            <a:pPr algn="just">
              <a:lnSpc>
                <a:spcPct val="150000"/>
              </a:lnSpc>
            </a:pPr>
            <a:r>
              <a:rPr lang="en-US" sz="2600" i="1" smtClean="0">
                <a:solidFill>
                  <a:srgbClr val="002060"/>
                </a:solidFill>
                <a:latin typeface="Times New Roman" pitchFamily="18" charset="0"/>
                <a:cs typeface="Times New Roman" pitchFamily="18" charset="0"/>
              </a:rPr>
              <a:t>Thống nhất mục tiêu, lợi ích; có lý, có tình</a:t>
            </a:r>
            <a:endParaRPr lang="en-US" sz="2600" i="1" dirty="0">
              <a:solidFill>
                <a:srgbClr val="002060"/>
              </a:solidFill>
              <a:latin typeface="Times New Roman" pitchFamily="18" charset="0"/>
              <a:cs typeface="Times New Roman" pitchFamily="18" charset="0"/>
            </a:endParaRPr>
          </a:p>
        </p:txBody>
      </p:sp>
      <p:cxnSp>
        <p:nvCxnSpPr>
          <p:cNvPr id="18" name="Straight Connector 17"/>
          <p:cNvCxnSpPr/>
          <p:nvPr/>
        </p:nvCxnSpPr>
        <p:spPr>
          <a:xfrm>
            <a:off x="3048000" y="1981200"/>
            <a:ext cx="0" cy="2600235"/>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048000" y="19812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4114800" y="4269938"/>
            <a:ext cx="5029200" cy="692497"/>
          </a:xfrm>
          <a:prstGeom prst="rect">
            <a:avLst/>
          </a:prstGeom>
        </p:spPr>
        <p:txBody>
          <a:bodyPr wrap="square">
            <a:spAutoFit/>
          </a:bodyPr>
          <a:lstStyle/>
          <a:p>
            <a:pPr algn="just">
              <a:lnSpc>
                <a:spcPct val="150000"/>
              </a:lnSpc>
            </a:pPr>
            <a:r>
              <a:rPr lang="en-US" sz="2600" i="1" smtClean="0">
                <a:solidFill>
                  <a:srgbClr val="002060"/>
                </a:solidFill>
                <a:latin typeface="Times New Roman" pitchFamily="18" charset="0"/>
                <a:cs typeface="Times New Roman" pitchFamily="18" charset="0"/>
              </a:rPr>
              <a:t>Đoàn kết trên cơ sở độc lập, tự chủ</a:t>
            </a:r>
            <a:endParaRPr lang="en-US" sz="2600" i="1" dirty="0">
              <a:solidFill>
                <a:srgbClr val="002060"/>
              </a:solidFill>
              <a:latin typeface="Times New Roman" pitchFamily="18" charset="0"/>
              <a:cs typeface="Times New Roman" pitchFamily="18" charset="0"/>
            </a:endParaRPr>
          </a:p>
        </p:txBody>
      </p:sp>
      <p:cxnSp>
        <p:nvCxnSpPr>
          <p:cNvPr id="20" name="Straight Arrow Connector 19"/>
          <p:cNvCxnSpPr/>
          <p:nvPr/>
        </p:nvCxnSpPr>
        <p:spPr>
          <a:xfrm>
            <a:off x="3048000" y="4581435"/>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pic>
        <p:nvPicPr>
          <p:cNvPr id="16" name="Picture 15"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Straight Connector 21"/>
          <p:cNvCxnSpPr/>
          <p:nvPr/>
        </p:nvCxnSpPr>
        <p:spPr>
          <a:xfrm>
            <a:off x="1061002" y="8382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3" name="Title 1"/>
          <p:cNvSpPr txBox="1">
            <a:spLocks/>
          </p:cNvSpPr>
          <p:nvPr/>
        </p:nvSpPr>
        <p:spPr>
          <a:xfrm>
            <a:off x="660952" y="-1524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5</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4074704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500" fill="hold"/>
                                        <p:tgtEl>
                                          <p:spTgt spid="20"/>
                                        </p:tgtEl>
                                        <p:attrNameLst>
                                          <p:attrName>ppt_x</p:attrName>
                                        </p:attrNameLst>
                                      </p:cBhvr>
                                      <p:tavLst>
                                        <p:tav tm="0">
                                          <p:val>
                                            <p:strVal val="#ppt_x"/>
                                          </p:val>
                                        </p:tav>
                                        <p:tav tm="100000">
                                          <p:val>
                                            <p:strVal val="#ppt_x"/>
                                          </p:val>
                                        </p:tav>
                                      </p:tavLst>
                                    </p:anim>
                                    <p:anim calcmode="lin" valueType="num">
                                      <p:cBhvr additive="base">
                                        <p:cTn id="22" dur="500" fill="hold"/>
                                        <p:tgtEl>
                                          <p:spTgt spid="20"/>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12/22/2024</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33</a:t>
            </a:fld>
            <a:endParaRPr lang="en-US"/>
          </a:p>
        </p:txBody>
      </p:sp>
      <p:sp>
        <p:nvSpPr>
          <p:cNvPr id="9"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0" name="Rectangle 9"/>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31954" y="152400"/>
            <a:ext cx="9112045" cy="14478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spcBef>
                <a:spcPts val="0"/>
              </a:spcBef>
            </a:pPr>
            <a:r>
              <a:rPr lang="en-US" sz="2700" b="1" smtClean="0">
                <a:solidFill>
                  <a:srgbClr val="FF0000"/>
                </a:solidFill>
                <a:latin typeface="Times New Roman" pitchFamily="18" charset="0"/>
                <a:cs typeface="Times New Roman" pitchFamily="18" charset="0"/>
              </a:rPr>
              <a:t>III. VẬN DỤNG TƯ </a:t>
            </a:r>
            <a:r>
              <a:rPr lang="en-US" sz="2700" b="1">
                <a:solidFill>
                  <a:srgbClr val="FF0000"/>
                </a:solidFill>
                <a:latin typeface="Times New Roman" pitchFamily="18" charset="0"/>
                <a:cs typeface="Times New Roman" pitchFamily="18" charset="0"/>
              </a:rPr>
              <a:t>TƯỞNG HỒ CHÍ MINH </a:t>
            </a:r>
          </a:p>
          <a:p>
            <a:pPr>
              <a:lnSpc>
                <a:spcPct val="100000"/>
              </a:lnSpc>
              <a:spcBef>
                <a:spcPts val="0"/>
              </a:spcBef>
            </a:pPr>
            <a:r>
              <a:rPr lang="en-US" sz="2700" b="1">
                <a:solidFill>
                  <a:srgbClr val="FF0000"/>
                </a:solidFill>
                <a:latin typeface="Times New Roman" pitchFamily="18" charset="0"/>
                <a:cs typeface="Times New Roman" pitchFamily="18" charset="0"/>
              </a:rPr>
              <a:t>VỀ ĐẠI ĐOÀN KẾT DÂN TỘC </a:t>
            </a:r>
            <a:r>
              <a:rPr lang="en-US" sz="2700" b="1" smtClean="0">
                <a:solidFill>
                  <a:srgbClr val="FF0000"/>
                </a:solidFill>
                <a:latin typeface="Times New Roman" pitchFamily="18" charset="0"/>
                <a:cs typeface="Times New Roman" pitchFamily="18" charset="0"/>
              </a:rPr>
              <a:t>VÀ </a:t>
            </a:r>
            <a:r>
              <a:rPr lang="en-US" sz="2700" b="1">
                <a:solidFill>
                  <a:srgbClr val="FF0000"/>
                </a:solidFill>
                <a:latin typeface="Times New Roman" pitchFamily="18" charset="0"/>
                <a:cs typeface="Times New Roman" pitchFamily="18" charset="0"/>
              </a:rPr>
              <a:t>ĐOÀN KẾT QUỐC </a:t>
            </a:r>
            <a:r>
              <a:rPr lang="en-US" sz="2700" b="1" smtClean="0">
                <a:solidFill>
                  <a:srgbClr val="FF0000"/>
                </a:solidFill>
                <a:latin typeface="Times New Roman" pitchFamily="18" charset="0"/>
                <a:cs typeface="Times New Roman" pitchFamily="18" charset="0"/>
              </a:rPr>
              <a:t>TẾ TRONG GIAI ĐOẠN HIỆN NAY</a:t>
            </a:r>
            <a:endParaRPr lang="en-US" sz="2700" b="1" dirty="0">
              <a:solidFill>
                <a:srgbClr val="FF0000"/>
              </a:solidFill>
              <a:latin typeface="Times New Roman" pitchFamily="18" charset="0"/>
              <a:cs typeface="Times New Roman" pitchFamily="18" charset="0"/>
            </a:endParaRPr>
          </a:p>
        </p:txBody>
      </p:sp>
      <p:cxnSp>
        <p:nvCxnSpPr>
          <p:cNvPr id="11" name="Straight Connector 10"/>
          <p:cNvCxnSpPr/>
          <p:nvPr/>
        </p:nvCxnSpPr>
        <p:spPr>
          <a:xfrm>
            <a:off x="609600" y="1541193"/>
            <a:ext cx="0" cy="4104304"/>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1700163" y="1981200"/>
            <a:ext cx="7443835" cy="1292662"/>
          </a:xfrm>
          <a:prstGeom prst="rect">
            <a:avLst/>
          </a:prstGeom>
        </p:spPr>
        <p:txBody>
          <a:bodyPr wrap="square">
            <a:spAutoFit/>
          </a:bodyPr>
          <a:lstStyle/>
          <a:p>
            <a:pPr algn="just"/>
            <a:r>
              <a:rPr lang="en-US" sz="2600" i="1" smtClean="0">
                <a:solidFill>
                  <a:srgbClr val="002060"/>
                </a:solidFill>
                <a:latin typeface="Times New Roman" pitchFamily="18" charset="0"/>
                <a:cs typeface="Times New Roman" pitchFamily="18" charset="0"/>
              </a:rPr>
              <a:t>Quán triệt tư tưởng Hồ Chí Minh về đại đoàn kết              dân tộc và đoàn kết quốc tế trong hoạch định                    chủ trương, đường lối của Đảng</a:t>
            </a:r>
            <a:endParaRPr lang="en-US" sz="2600" i="1" dirty="0">
              <a:solidFill>
                <a:srgbClr val="002060"/>
              </a:solidFill>
              <a:latin typeface="Times New Roman" pitchFamily="18" charset="0"/>
              <a:cs typeface="Times New Roman" pitchFamily="18" charset="0"/>
            </a:endParaRPr>
          </a:p>
        </p:txBody>
      </p:sp>
      <p:cxnSp>
        <p:nvCxnSpPr>
          <p:cNvPr id="13" name="Straight Arrow Connector 12"/>
          <p:cNvCxnSpPr/>
          <p:nvPr/>
        </p:nvCxnSpPr>
        <p:spPr>
          <a:xfrm>
            <a:off x="633364" y="24384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1700165" y="3886200"/>
            <a:ext cx="7443835" cy="892552"/>
          </a:xfrm>
          <a:prstGeom prst="rect">
            <a:avLst/>
          </a:prstGeom>
        </p:spPr>
        <p:txBody>
          <a:bodyPr wrap="square">
            <a:spAutoFit/>
          </a:bodyPr>
          <a:lstStyle/>
          <a:p>
            <a:pPr algn="just"/>
            <a:r>
              <a:rPr lang="en-US" sz="2600" i="1" smtClean="0">
                <a:solidFill>
                  <a:srgbClr val="002060"/>
                </a:solidFill>
                <a:latin typeface="Times New Roman" pitchFamily="18" charset="0"/>
                <a:cs typeface="Times New Roman" pitchFamily="18" charset="0"/>
              </a:rPr>
              <a:t>Xây dựng khối đại đoàn kết dân tộc trên nền tảng công-nông-trí dưới sự lãnh đạo của Đảng</a:t>
            </a:r>
            <a:endParaRPr lang="en-US" sz="2600" i="1" dirty="0">
              <a:solidFill>
                <a:srgbClr val="002060"/>
              </a:solidFill>
              <a:latin typeface="Times New Roman" pitchFamily="18" charset="0"/>
              <a:cs typeface="Times New Roman" pitchFamily="18" charset="0"/>
            </a:endParaRPr>
          </a:p>
        </p:txBody>
      </p:sp>
      <p:cxnSp>
        <p:nvCxnSpPr>
          <p:cNvPr id="15" name="Straight Arrow Connector 14"/>
          <p:cNvCxnSpPr/>
          <p:nvPr/>
        </p:nvCxnSpPr>
        <p:spPr>
          <a:xfrm>
            <a:off x="633366" y="4286071"/>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1676399" y="5334000"/>
            <a:ext cx="7443835" cy="892552"/>
          </a:xfrm>
          <a:prstGeom prst="rect">
            <a:avLst/>
          </a:prstGeom>
        </p:spPr>
        <p:txBody>
          <a:bodyPr wrap="square">
            <a:spAutoFit/>
          </a:bodyPr>
          <a:lstStyle/>
          <a:p>
            <a:pPr algn="just"/>
            <a:r>
              <a:rPr lang="en-US" sz="2600" i="1" smtClean="0">
                <a:solidFill>
                  <a:srgbClr val="002060"/>
                </a:solidFill>
                <a:latin typeface="Times New Roman" pitchFamily="18" charset="0"/>
                <a:cs typeface="Times New Roman" pitchFamily="18" charset="0"/>
              </a:rPr>
              <a:t>Đại đoàn kết toàn dân tộc phải kết hợp với đoàn kết quốc tế</a:t>
            </a:r>
            <a:endParaRPr lang="en-US" sz="2600" i="1" dirty="0">
              <a:solidFill>
                <a:srgbClr val="002060"/>
              </a:solidFill>
              <a:latin typeface="Times New Roman" pitchFamily="18" charset="0"/>
              <a:cs typeface="Times New Roman" pitchFamily="18" charset="0"/>
            </a:endParaRPr>
          </a:p>
        </p:txBody>
      </p:sp>
      <p:cxnSp>
        <p:nvCxnSpPr>
          <p:cNvPr id="17" name="Straight Arrow Connector 16"/>
          <p:cNvCxnSpPr/>
          <p:nvPr/>
        </p:nvCxnSpPr>
        <p:spPr>
          <a:xfrm>
            <a:off x="609600" y="5645497"/>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8"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đại đoàn kết dân tộc và đoàn kết quốc tế</a:t>
            </a:r>
            <a:endParaRPr lang="en-US" sz="2000" b="1" i="1" dirty="0">
              <a:solidFill>
                <a:srgbClr val="FFFF00"/>
              </a:solidFill>
              <a:latin typeface="Times New Roman"/>
              <a:cs typeface="Times New Roman"/>
            </a:endParaRPr>
          </a:p>
        </p:txBody>
      </p:sp>
    </p:spTree>
    <p:extLst>
      <p:ext uri="{BB962C8B-B14F-4D97-AF65-F5344CB8AC3E}">
        <p14:creationId xmlns:p14="http://schemas.microsoft.com/office/powerpoint/2010/main" val="3274446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fill="hold"/>
                                        <p:tgtEl>
                                          <p:spTgt spid="15"/>
                                        </p:tgtEl>
                                        <p:attrNameLst>
                                          <p:attrName>ppt_x</p:attrName>
                                        </p:attrNameLst>
                                      </p:cBhvr>
                                      <p:tavLst>
                                        <p:tav tm="0">
                                          <p:val>
                                            <p:strVal val="#ppt_x"/>
                                          </p:val>
                                        </p:tav>
                                        <p:tav tm="100000">
                                          <p:val>
                                            <p:strVal val="#ppt_x"/>
                                          </p:val>
                                        </p:tav>
                                      </p:tavLst>
                                    </p:anim>
                                    <p:anim calcmode="lin" valueType="num">
                                      <p:cBhvr additive="base">
                                        <p:cTn id="18" dur="500" fill="hold"/>
                                        <p:tgtEl>
                                          <p:spTgt spid="1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2913643"/>
            <a:ext cx="7467600" cy="667757"/>
          </a:xfrm>
        </p:spPr>
        <p:txBody>
          <a:bodyPr>
            <a:noAutofit/>
          </a:bodyPr>
          <a:lstStyle/>
          <a:p>
            <a:pPr marL="0" indent="0" algn="ctr">
              <a:lnSpc>
                <a:spcPct val="100000"/>
              </a:lnSpc>
              <a:spcBef>
                <a:spcPts val="0"/>
              </a:spcBef>
              <a:buNone/>
            </a:pPr>
            <a:r>
              <a:rPr lang="en-US" sz="4000" b="1" dirty="0" err="1" smtClean="0">
                <a:solidFill>
                  <a:srgbClr val="FF0000"/>
                </a:solidFill>
                <a:latin typeface="Times New Roman" pitchFamily="18" charset="0"/>
                <a:cs typeface="Times New Roman" pitchFamily="18" charset="0"/>
              </a:rPr>
              <a:t>Chúc</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các</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em</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vui</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khỏe</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và</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học</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tốt</a:t>
            </a:r>
            <a:r>
              <a:rPr lang="en-US" sz="4000" b="1" dirty="0" smtClean="0">
                <a:solidFill>
                  <a:srgbClr val="FF0000"/>
                </a:solidFill>
                <a:latin typeface="Times New Roman" pitchFamily="18" charset="0"/>
                <a:cs typeface="Times New Roman" pitchFamily="18" charset="0"/>
              </a:rPr>
              <a:t>!</a:t>
            </a:r>
          </a:p>
        </p:txBody>
      </p:sp>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A58A153D-734D-405D-8FB4-686C2D8CE407}" type="slidenum">
              <a:rPr lang="en-US" smtClean="0"/>
              <a:pPr/>
              <a:t>34</a:t>
            </a:fld>
            <a:endParaRPr lang="en-US"/>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Rectangle 11"/>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7"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5</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06239311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1520</TotalTime>
  <Words>2532</Words>
  <Application>Microsoft Office PowerPoint</Application>
  <PresentationFormat>On-screen Show (4:3)</PresentationFormat>
  <Paragraphs>281</Paragraphs>
  <Slides>34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F87</dc:creator>
  <cp:lastModifiedBy>PANASONIC</cp:lastModifiedBy>
  <cp:revision>686</cp:revision>
  <dcterms:created xsi:type="dcterms:W3CDTF">2014-12-31T03:01:48Z</dcterms:created>
  <dcterms:modified xsi:type="dcterms:W3CDTF">2024-12-22T03:03:57Z</dcterms:modified>
</cp:coreProperties>
</file>